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6348" r:id="rId1"/>
  </p:sldMasterIdLst>
  <p:notesMasterIdLst>
    <p:notesMasterId r:id="rId27"/>
  </p:notesMasterIdLst>
  <p:sldIdLst>
    <p:sldId id="256" r:id="rId2"/>
    <p:sldId id="257" r:id="rId3"/>
    <p:sldId id="258" r:id="rId4"/>
    <p:sldId id="261" r:id="rId5"/>
    <p:sldId id="280" r:id="rId6"/>
    <p:sldId id="281" r:id="rId7"/>
    <p:sldId id="282" r:id="rId8"/>
    <p:sldId id="283" r:id="rId9"/>
    <p:sldId id="262" r:id="rId10"/>
    <p:sldId id="263" r:id="rId11"/>
    <p:sldId id="266" r:id="rId12"/>
    <p:sldId id="264" r:id="rId13"/>
    <p:sldId id="267" r:id="rId14"/>
    <p:sldId id="265" r:id="rId15"/>
    <p:sldId id="268" r:id="rId16"/>
    <p:sldId id="270" r:id="rId17"/>
    <p:sldId id="271" r:id="rId18"/>
    <p:sldId id="272" r:id="rId19"/>
    <p:sldId id="273" r:id="rId20"/>
    <p:sldId id="274" r:id="rId21"/>
    <p:sldId id="276" r:id="rId22"/>
    <p:sldId id="269" r:id="rId23"/>
    <p:sldId id="277" r:id="rId24"/>
    <p:sldId id="278" r:id="rId25"/>
    <p:sldId id="279" r:id="rId2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1406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6C4F1E-BBA4-420C-AED2-3DE344FDDF59}" type="datetimeFigureOut">
              <a:rPr lang="en-IN" smtClean="0"/>
              <a:t>29-12-2022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45B26C-13BB-4264-84E3-88731E456F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360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3DAD65-B74D-47DA-A7C4-329A1F0800D3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3DAD65-B74D-47DA-A7C4-329A1F0800D3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3DAD65-B74D-47DA-A7C4-329A1F0800D3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3DAD65-B74D-47DA-A7C4-329A1F0800D3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3DAD65-B74D-47DA-A7C4-329A1F0800D3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3DAD65-B74D-47DA-A7C4-329A1F0800D3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3DAD65-B74D-47DA-A7C4-329A1F0800D3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3DAD65-B74D-47DA-A7C4-329A1F0800D3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3DAD65-B74D-47DA-A7C4-329A1F0800D3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3DAD65-B74D-47DA-A7C4-329A1F0800D3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3DAD65-B74D-47DA-A7C4-329A1F0800D3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3DAD65-B74D-47DA-A7C4-329A1F0800D3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3DAD65-B74D-47DA-A7C4-329A1F0800D3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3DAD65-B74D-47DA-A7C4-329A1F0800D3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3DAD65-B74D-47DA-A7C4-329A1F0800D3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3DAD65-B74D-47DA-A7C4-329A1F0800D3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3DAD65-B74D-47DA-A7C4-329A1F0800D3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3DAD65-B74D-47DA-A7C4-329A1F0800D3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3DAD65-B74D-47DA-A7C4-329A1F0800D3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3DAD65-B74D-47DA-A7C4-329A1F0800D3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3DAD65-B74D-47DA-A7C4-329A1F0800D3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3DAD65-B74D-47DA-A7C4-329A1F0800D3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6384CE5-D6B6-41AD-AA78-CBCDDE01CBD2}"/>
              </a:ext>
            </a:extLst>
          </p:cNvPr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006019-BBAE-428F-8C08-80C448AB734D}"/>
              </a:ext>
            </a:extLst>
          </p:cNvPr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901AC7-BA14-4EFD-BABD-21ED60F91679}"/>
              </a:ext>
            </a:extLst>
          </p:cNvPr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469A46-3CEF-4529-8006-E01397859019}"/>
              </a:ext>
            </a:extLst>
          </p:cNvPr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7" name="Picture 10" descr="BITS_university_logo_whitevert.png">
            <a:extLst>
              <a:ext uri="{FF2B5EF4-FFF2-40B4-BE49-F238E27FC236}">
                <a16:creationId xmlns:a16="http://schemas.microsoft.com/office/drawing/2014/main" id="{418DF661-7D9D-4F7A-B3F9-EC514BE6A5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797E6BC-C4F0-436A-9A65-B34A1114886D}"/>
              </a:ext>
            </a:extLst>
          </p:cNvPr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2A5B69-EB60-4578-A01C-3BAD93922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ctr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365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751D348-34E6-486F-9426-3D6E80F5BA9B}"/>
              </a:ext>
            </a:extLst>
          </p:cNvPr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ACD02F-0D6E-4F81-A5C4-216CFFDD69E8}"/>
              </a:ext>
            </a:extLst>
          </p:cNvPr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0EE234-B6CE-4E88-B6E6-191A48B3895E}"/>
              </a:ext>
            </a:extLst>
          </p:cNvPr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201BA3-0713-4AAE-AB1B-6197C1F583C7}"/>
              </a:ext>
            </a:extLst>
          </p:cNvPr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9" name="Picture 10" descr="BITS_university_logo_whitevert.png">
            <a:extLst>
              <a:ext uri="{FF2B5EF4-FFF2-40B4-BE49-F238E27FC236}">
                <a16:creationId xmlns:a16="http://schemas.microsoft.com/office/drawing/2014/main" id="{FC9089C7-B84A-444B-84B1-648951CD1F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9BFAD19-45FC-412C-85BF-3D9A5F7B582E}"/>
              </a:ext>
            </a:extLst>
          </p:cNvPr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DEF2A5-19EF-4AB3-B5C9-96E630D0A4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381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\\Server\D\jyoti\FI023_BITS_v1\styleguide img\IMG_5627_b.jpg">
            <a:extLst>
              <a:ext uri="{FF2B5EF4-FFF2-40B4-BE49-F238E27FC236}">
                <a16:creationId xmlns:a16="http://schemas.microsoft.com/office/drawing/2014/main" id="{838E8D51-2627-4004-9A09-829CEFF359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6FBB843-6AE9-4DC0-B426-545DDE681CD8}"/>
              </a:ext>
            </a:extLst>
          </p:cNvPr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5" name="Picture 8" descr="Picture 7.png">
            <a:extLst>
              <a:ext uri="{FF2B5EF4-FFF2-40B4-BE49-F238E27FC236}">
                <a16:creationId xmlns:a16="http://schemas.microsoft.com/office/drawing/2014/main" id="{D3D5DCE3-2234-44D9-97BB-6491E0D1E4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0B177E0-0AFE-4F51-B969-AE98A4C7B0D8}"/>
              </a:ext>
            </a:extLst>
          </p:cNvPr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8289F1-B31E-4437-AA82-5BDA6B39ADA0}"/>
              </a:ext>
            </a:extLst>
          </p:cNvPr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8DB9FE-CB80-433C-9331-4FDB2318FDB2}"/>
              </a:ext>
            </a:extLst>
          </p:cNvPr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FF6EB7-005F-49D6-9E2F-3D9DD5563B16}"/>
              </a:ext>
            </a:extLst>
          </p:cNvPr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3AE1F1-9882-44AB-B6DD-1B475436B1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436320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7E0B5AF-FB0E-4A14-AC4E-ABAFF702CE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100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1100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grpSp>
        <p:nvGrpSpPr>
          <p:cNvPr id="5" name="Group 11">
            <a:extLst>
              <a:ext uri="{FF2B5EF4-FFF2-40B4-BE49-F238E27FC236}">
                <a16:creationId xmlns:a16="http://schemas.microsoft.com/office/drawing/2014/main" id="{876118FD-8CC9-4FEC-97EE-7F56E6AE74BE}"/>
              </a:ext>
            </a:extLst>
          </p:cNvPr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8BAB967-5406-48C7-A8D3-67D129A475CF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003441-A452-4951-99DE-4D1A8F805CFC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F5FA81F-759E-4D61-B4E7-F0A03019C91A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9" name="Picture 11" descr="Picture 7.png">
            <a:extLst>
              <a:ext uri="{FF2B5EF4-FFF2-40B4-BE49-F238E27FC236}">
                <a16:creationId xmlns:a16="http://schemas.microsoft.com/office/drawing/2014/main" id="{74E9DEAB-12F3-435F-AE61-4FB7AF3D3C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18">
            <a:extLst>
              <a:ext uri="{FF2B5EF4-FFF2-40B4-BE49-F238E27FC236}">
                <a16:creationId xmlns:a16="http://schemas.microsoft.com/office/drawing/2014/main" id="{3140E80D-E22F-46F9-994D-0EEFF324ED04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3E903B3-410C-4977-AB80-622356CB8540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77A068E-EDBF-410C-8251-4002F6191335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C87DC4E-5C98-406B-9CF3-3D6AAEA65F45}"/>
                </a:ext>
              </a:extLst>
            </p:cNvPr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4" name="Group 22">
            <a:extLst>
              <a:ext uri="{FF2B5EF4-FFF2-40B4-BE49-F238E27FC236}">
                <a16:creationId xmlns:a16="http://schemas.microsoft.com/office/drawing/2014/main" id="{618EA329-86AA-48D5-921E-2DF620F66922}"/>
              </a:ext>
            </a:extLst>
          </p:cNvPr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A7C8894-6EED-490D-9FFB-3E96A25D5235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17BB22E-A917-4D0B-B459-183772CA8B7C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DC36EE6-E16C-4EFB-A3D8-449CFA295992}"/>
                </a:ext>
              </a:extLst>
            </p:cNvPr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55212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7.png">
            <a:extLst>
              <a:ext uri="{FF2B5EF4-FFF2-40B4-BE49-F238E27FC236}">
                <a16:creationId xmlns:a16="http://schemas.microsoft.com/office/drawing/2014/main" id="{33EC19EC-AC5F-45F8-8320-48550739F3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9">
            <a:extLst>
              <a:ext uri="{FF2B5EF4-FFF2-40B4-BE49-F238E27FC236}">
                <a16:creationId xmlns:a16="http://schemas.microsoft.com/office/drawing/2014/main" id="{606FF5C5-145D-4ED3-8309-9F6FEC6D4D29}"/>
              </a:ext>
            </a:extLst>
          </p:cNvPr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4D8BFBA-A1B9-491F-A1CE-CB1B0F8071C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1D92C71-CBA3-44AB-BD8E-754B56EE7A1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428A810-60AF-4962-B625-56E2AAE981AE}"/>
                </a:ext>
              </a:extLst>
            </p:cNvPr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0" name="Group 28">
            <a:extLst>
              <a:ext uri="{FF2B5EF4-FFF2-40B4-BE49-F238E27FC236}">
                <a16:creationId xmlns:a16="http://schemas.microsoft.com/office/drawing/2014/main" id="{9576CE1B-ABF7-4B26-AF4A-413DC04D18DF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6155EE3-8664-4EE7-A7A5-D4C7339BFE7C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4CF6B20-EC17-4C07-97A2-CF1DDB340208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D0F3460-A5CE-4756-B18B-F0C6AE83D6F7}"/>
                </a:ext>
              </a:extLst>
            </p:cNvPr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A683084-AA75-44BB-9EFF-7600830AB0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100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1100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4110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0">
            <a:extLst>
              <a:ext uri="{FF2B5EF4-FFF2-40B4-BE49-F238E27FC236}">
                <a16:creationId xmlns:a16="http://schemas.microsoft.com/office/drawing/2014/main" id="{CB13F555-807F-4FAC-9429-9C176635E9D5}"/>
              </a:ext>
            </a:extLst>
          </p:cNvPr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71B6BCE-2391-4FB5-8D75-C53C1C674C1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FC1BA02-77AD-46F2-915B-6F9051F1BCFB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5702F42-3500-4D78-87B4-70BA36DC08B4}"/>
                </a:ext>
              </a:extLst>
            </p:cNvPr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2" name="Group 15">
            <a:extLst>
              <a:ext uri="{FF2B5EF4-FFF2-40B4-BE49-F238E27FC236}">
                <a16:creationId xmlns:a16="http://schemas.microsoft.com/office/drawing/2014/main" id="{299B40E3-8A61-4A4F-971B-F839F6580965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4260FC3-FE54-4FA6-8810-90846188A2D3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CE47D-DEBC-4955-90F0-6F37DCF98535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8A8F96F-1F1B-42CB-A4E8-923244259EEE}"/>
                </a:ext>
              </a:extLst>
            </p:cNvPr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6" name="Picture 14" descr="Picture 7.png">
            <a:extLst>
              <a:ext uri="{FF2B5EF4-FFF2-40B4-BE49-F238E27FC236}">
                <a16:creationId xmlns:a16="http://schemas.microsoft.com/office/drawing/2014/main" id="{5C0905C2-E040-45CA-8AF4-C1F47FC46F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9B7B9AB-17DB-468E-A38A-54D6DCBAB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100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1100">
                <a:solidFill>
                  <a:srgbClr val="101141"/>
                </a:solidFill>
                <a:cs typeface="Arial" charset="0"/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3038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>
            <a:extLst>
              <a:ext uri="{FF2B5EF4-FFF2-40B4-BE49-F238E27FC236}">
                <a16:creationId xmlns:a16="http://schemas.microsoft.com/office/drawing/2014/main" id="{F1C23C1A-F563-4ABE-A2E1-D53EA5DABF89}"/>
              </a:ext>
            </a:extLst>
          </p:cNvPr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4C5DC76-1C2F-4018-A116-3C766E49B829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192F172-EF22-46AE-BDE4-8F6964487BF6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A5BA094-10A3-4EE9-A501-BE18161C3C01}"/>
                </a:ext>
              </a:extLst>
            </p:cNvPr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8" name="Group 10">
            <a:extLst>
              <a:ext uri="{FF2B5EF4-FFF2-40B4-BE49-F238E27FC236}">
                <a16:creationId xmlns:a16="http://schemas.microsoft.com/office/drawing/2014/main" id="{B6CB6912-B578-4923-904C-013779062439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4793F7F-4BE5-4FAA-8805-D37A0C2FF4FE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5F6574B-11E8-441A-99C8-98069459A516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543A61C-51F6-40BE-9E4E-B04B5AA44CD4}"/>
                </a:ext>
              </a:extLst>
            </p:cNvPr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2" name="Picture 14" descr="Picture 7.png">
            <a:extLst>
              <a:ext uri="{FF2B5EF4-FFF2-40B4-BE49-F238E27FC236}">
                <a16:creationId xmlns:a16="http://schemas.microsoft.com/office/drawing/2014/main" id="{8DBD2DFF-8423-41DF-88DF-888439B4B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167C60F-CDC0-4A04-8A93-BAE1635BB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100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1100">
                <a:solidFill>
                  <a:srgbClr val="101141"/>
                </a:solidFill>
                <a:cs typeface="Arial" charset="0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0895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>
            <a:extLst>
              <a:ext uri="{FF2B5EF4-FFF2-40B4-BE49-F238E27FC236}">
                <a16:creationId xmlns:a16="http://schemas.microsoft.com/office/drawing/2014/main" id="{A5DF8F88-3774-4855-9292-E01FEFB37655}"/>
              </a:ext>
            </a:extLst>
          </p:cNvPr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7FB3B03-EACD-4655-94FA-B58F36898917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80E632A-E619-40FD-8E98-1C8A851EB5E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26DC4D7-3F22-4896-8589-F2B4F9318DD1}"/>
                </a:ext>
              </a:extLst>
            </p:cNvPr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0" name="Group 13">
            <a:extLst>
              <a:ext uri="{FF2B5EF4-FFF2-40B4-BE49-F238E27FC236}">
                <a16:creationId xmlns:a16="http://schemas.microsoft.com/office/drawing/2014/main" id="{3C5AA7E7-028E-4215-B02B-A2781DF60AEB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C5A347A-4E40-46AB-AAB4-CFCB8C514A27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D6A2A0D-BC88-4219-95F5-5E9297C63D73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F48E503-5D06-43CB-AAF7-0019E20F1855}"/>
                </a:ext>
              </a:extLst>
            </p:cNvPr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4" name="Picture 14" descr="Picture 7.png">
            <a:extLst>
              <a:ext uri="{FF2B5EF4-FFF2-40B4-BE49-F238E27FC236}">
                <a16:creationId xmlns:a16="http://schemas.microsoft.com/office/drawing/2014/main" id="{CA30E6BD-9367-47ED-B323-F700AC9282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52987-0F17-4793-A073-2FED41C46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100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1100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8636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A1DFA90B-8E85-4212-B75B-6EC0CB8C2707}"/>
              </a:ext>
            </a:extLst>
          </p:cNvPr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E9DE007-2BE5-44C1-85E1-50160F4A0CAB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6DFEA64-4439-4FBF-8FBC-75B117261556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59792EC-A4A5-4738-A9A8-22B94333A636}"/>
                </a:ext>
              </a:extLst>
            </p:cNvPr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71D9ED9-D963-482E-A4B7-CBBEDCF1B301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3E6571-10FE-4D21-9DBB-36BAF3D3A13A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C78309D-B3D9-4B28-BC50-6B4E3EE458EE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98CBC73-6856-4736-9DAF-BF52BC81A3F4}"/>
                </a:ext>
              </a:extLst>
            </p:cNvPr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4" name="Picture 14" descr="Picture 7.png">
            <a:extLst>
              <a:ext uri="{FF2B5EF4-FFF2-40B4-BE49-F238E27FC236}">
                <a16:creationId xmlns:a16="http://schemas.microsoft.com/office/drawing/2014/main" id="{E467CD47-7427-43AE-B26A-6C1D8DE70C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E1A5252-8600-47DB-BC0D-2353F22966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100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1100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800" b="1" spc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00529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9">
            <a:extLst>
              <a:ext uri="{FF2B5EF4-FFF2-40B4-BE49-F238E27FC236}">
                <a16:creationId xmlns:a16="http://schemas.microsoft.com/office/drawing/2014/main" id="{BE76AE90-A281-4CBC-A94F-52AE07330806}"/>
              </a:ext>
            </a:extLst>
          </p:cNvPr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EF833B1-7CDA-4A09-8B1A-8764FF81226B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5E6B348-AA00-47B9-945B-CB2E7D1FF3B6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F7DE49D-382D-435E-BBC3-E6D126526486}"/>
                </a:ext>
              </a:extLst>
            </p:cNvPr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8" name="Group 24">
            <a:extLst>
              <a:ext uri="{FF2B5EF4-FFF2-40B4-BE49-F238E27FC236}">
                <a16:creationId xmlns:a16="http://schemas.microsoft.com/office/drawing/2014/main" id="{4E4EFE62-5BDA-44A8-A71C-A5572D9E8D60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5476866-B81A-4F32-A198-D20791A96394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CECAF92-66EF-4C6B-8AF8-CDCB5690CF9E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11073CD-CF34-4B23-BCDA-5934C9A64118}"/>
                </a:ext>
              </a:extLst>
            </p:cNvPr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2" name="Picture 14" descr="Picture 7.png">
            <a:extLst>
              <a:ext uri="{FF2B5EF4-FFF2-40B4-BE49-F238E27FC236}">
                <a16:creationId xmlns:a16="http://schemas.microsoft.com/office/drawing/2014/main" id="{C54ED0B7-CB49-471D-833A-BE96FE9CB8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93E5B99-0EB9-4790-8FE4-133FE0D3A8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100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1100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29879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>
            <a:extLst>
              <a:ext uri="{FF2B5EF4-FFF2-40B4-BE49-F238E27FC236}">
                <a16:creationId xmlns:a16="http://schemas.microsoft.com/office/drawing/2014/main" id="{426A4E42-775D-4E2E-893B-B5F87099EAEB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58BD10-E54C-4F8B-8877-A4F6F63940BE}"/>
                </a:ext>
              </a:extLst>
            </p:cNvPr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8773F6F-0E50-447E-9901-D758AE3DE7CB}"/>
                </a:ext>
              </a:extLst>
            </p:cNvPr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502AE37-8270-44B5-95F4-997DB3B39840}"/>
                </a:ext>
              </a:extLst>
            </p:cNvPr>
            <p:cNvSpPr/>
            <p:nvPr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9" name="Picture 10" descr="Picture 7.png">
            <a:extLst>
              <a:ext uri="{FF2B5EF4-FFF2-40B4-BE49-F238E27FC236}">
                <a16:creationId xmlns:a16="http://schemas.microsoft.com/office/drawing/2014/main" id="{91240847-CE01-416F-9BD8-94903633EA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6" t="1923"/>
          <a:stretch>
            <a:fillRect/>
          </a:stretch>
        </p:blipFill>
        <p:spPr bwMode="auto">
          <a:xfrm>
            <a:off x="-7938" y="381000"/>
            <a:ext cx="692151" cy="219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825EDA2-1B8F-4BE3-85B9-86E9CA00EE43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-2794793" y="3809206"/>
            <a:ext cx="5867400" cy="2301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900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900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5410200" y="2743200"/>
            <a:ext cx="58674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9629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12/29/2022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5234470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12/29/2022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006466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026A37-F5CE-4F67-9FBE-98DF86940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984208CE-5779-43DE-92BB-1BD5780461C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24DC0-5DBF-433B-B96D-341314D054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C2E0D-E1A6-4477-B684-67D3914B8F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593FE-9CF0-4ACF-887B-8A7D1E488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75E83062-A338-4EAB-93A8-164922B79CB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243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349" r:id="rId1"/>
    <p:sldLayoutId id="2147486350" r:id="rId2"/>
    <p:sldLayoutId id="2147486351" r:id="rId3"/>
    <p:sldLayoutId id="2147486352" r:id="rId4"/>
    <p:sldLayoutId id="2147486353" r:id="rId5"/>
    <p:sldLayoutId id="2147486354" r:id="rId6"/>
    <p:sldLayoutId id="2147486355" r:id="rId7"/>
    <p:sldLayoutId id="2147486356" r:id="rId8"/>
    <p:sldLayoutId id="2147486357" r:id="rId9"/>
    <p:sldLayoutId id="2147486358" r:id="rId10"/>
    <p:sldLayoutId id="2147486359" r:id="rId11"/>
    <p:sldLayoutId id="2147486360" r:id="rId12"/>
    <p:sldLayoutId id="2147486361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D2AA5-5130-4D0C-8F28-2F2EE4239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ACI – Lab Session 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6297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2077CA-0015-4498-B9C2-4D82456E4A9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1800" dirty="0"/>
              <a:t>Optimizing attributes for fuel economy</a:t>
            </a:r>
            <a:br>
              <a:rPr lang="en-US" dirty="0"/>
            </a:b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785F72-C5CF-4877-BA9C-AFA7C39FD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2800" b="1" dirty="0"/>
            </a:br>
            <a:r>
              <a:rPr lang="en-US" sz="2800" b="1" dirty="0"/>
              <a:t>Hill Climbing Algorithm</a:t>
            </a:r>
            <a:br>
              <a:rPr lang="en-US" sz="2800" b="1" dirty="0"/>
            </a:br>
            <a:r>
              <a:rPr lang="en-US" sz="2800" b="1" dirty="0"/>
              <a:t>Autonomous car driving agent </a:t>
            </a:r>
            <a:br>
              <a:rPr lang="en-US" sz="2800" b="1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1172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D47E090-B5C2-49F5-8E71-EFA0C0C7C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Hill climbing algorithm is a local search algorithm which continuously moves in the direction of increasing value to find the peak of the mountain or best solution to the problem. </a:t>
            </a:r>
          </a:p>
          <a:p>
            <a:r>
              <a:rPr lang="en-US" sz="2800" dirty="0"/>
              <a:t>It terminates when it reaches a peak value where no neighbor has a higher value.</a:t>
            </a:r>
          </a:p>
          <a:p>
            <a:r>
              <a:rPr lang="en-US" sz="2800" dirty="0"/>
              <a:t>One of the widely discussed examples of Hill climbing algorithm is Traveling-salesman Problem in which we need to minimize the distance traveled by the salesman.</a:t>
            </a:r>
          </a:p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E37CA-4BE5-4789-B8EC-4EA498BD57D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Hill Climbing Algorithm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1671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 is also called greedy local search as it only looks to its good immediate neighbor state and not beyond that.</a:t>
            </a:r>
          </a:p>
          <a:p>
            <a:r>
              <a:rPr lang="en-US" dirty="0"/>
              <a:t>A node of hill climbing algorithm has two components which are </a:t>
            </a:r>
            <a:r>
              <a:rPr lang="en-US" b="1" dirty="0"/>
              <a:t>state</a:t>
            </a:r>
            <a:r>
              <a:rPr lang="en-US" dirty="0"/>
              <a:t> and </a:t>
            </a:r>
            <a:r>
              <a:rPr lang="en-US" b="1" dirty="0"/>
              <a:t>value</a:t>
            </a:r>
            <a:r>
              <a:rPr lang="en-US" dirty="0"/>
              <a:t>.</a:t>
            </a:r>
          </a:p>
          <a:p>
            <a:r>
              <a:rPr lang="en-US" dirty="0"/>
              <a:t>Hill Climbing is mostly used when a good heuristic is available.</a:t>
            </a:r>
          </a:p>
          <a:p>
            <a:r>
              <a:rPr lang="en-US" dirty="0"/>
              <a:t>In this algorithm, we don't need to maintain and handle the search tree or graph as it only keeps a single current state.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DD2DB8-4D21-423E-BDF1-2699D45A9A1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Hill Climbing Algorithm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function HILL-CLIMBING(problem) returns a state that is a local maximum</a:t>
            </a:r>
          </a:p>
          <a:p>
            <a:r>
              <a:rPr lang="en-US" dirty="0"/>
              <a:t>current ←MAKE-NODE(</a:t>
            </a:r>
            <a:r>
              <a:rPr lang="en-US" dirty="0" err="1"/>
              <a:t>problem.INITIAL</a:t>
            </a:r>
            <a:r>
              <a:rPr lang="en-US" dirty="0"/>
              <a:t>-STATE)</a:t>
            </a:r>
          </a:p>
          <a:p>
            <a:r>
              <a:rPr lang="en-US" b="1" dirty="0"/>
              <a:t>loop do</a:t>
            </a:r>
          </a:p>
          <a:p>
            <a:r>
              <a:rPr lang="en-US" dirty="0"/>
              <a:t>neighbor ←a highest-valued successor of   current</a:t>
            </a:r>
          </a:p>
          <a:p>
            <a:r>
              <a:rPr lang="en-US" dirty="0"/>
              <a:t>if </a:t>
            </a:r>
            <a:r>
              <a:rPr lang="en-US" dirty="0" err="1"/>
              <a:t>neighbor.VALUE</a:t>
            </a:r>
            <a:r>
              <a:rPr lang="en-US" dirty="0"/>
              <a:t> ≤ </a:t>
            </a:r>
            <a:r>
              <a:rPr lang="en-US" dirty="0" err="1"/>
              <a:t>current.VALUE</a:t>
            </a:r>
            <a:r>
              <a:rPr lang="en-US" dirty="0"/>
              <a:t> then return </a:t>
            </a:r>
            <a:r>
              <a:rPr lang="en-US" dirty="0" err="1"/>
              <a:t>current.STATE</a:t>
            </a:r>
            <a:endParaRPr lang="en-US" dirty="0"/>
          </a:p>
          <a:p>
            <a:r>
              <a:rPr lang="en-US" dirty="0" err="1"/>
              <a:t>current←neighbor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32C51F-3187-406E-9B27-D51853BD419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Hill climbing - function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8455378" cy="5229578"/>
          </a:xfrm>
        </p:spPr>
        <p:txBody>
          <a:bodyPr>
            <a:noAutofit/>
          </a:bodyPr>
          <a:lstStyle/>
          <a:p>
            <a:r>
              <a:rPr lang="en-US" sz="2300" b="1" dirty="0"/>
              <a:t>Performance measure </a:t>
            </a:r>
            <a:r>
              <a:rPr lang="en-US" sz="2300" dirty="0"/>
              <a:t>of an automated driver</a:t>
            </a:r>
          </a:p>
          <a:p>
            <a:r>
              <a:rPr lang="en-US" sz="2300" dirty="0"/>
              <a:t>Desirable qualities include getting to the correct destination; </a:t>
            </a:r>
            <a:r>
              <a:rPr lang="en-US" sz="2300" b="1" dirty="0">
                <a:solidFill>
                  <a:schemeClr val="accent1"/>
                </a:solidFill>
              </a:rPr>
              <a:t>minimizing fuel consumption </a:t>
            </a:r>
            <a:r>
              <a:rPr lang="en-US" sz="2300" dirty="0"/>
              <a:t>and wear and tear; minimizing the trip time or cost; minimizing violations of traffic laws and disturbances to other drivers; maximizing safety and passenger comfort; maximizing profits. Obviously, some of these goals conflict, so tradeoffs will be required.</a:t>
            </a:r>
          </a:p>
          <a:p>
            <a:r>
              <a:rPr lang="en-US" sz="2300" dirty="0"/>
              <a:t>Fuel economy is calculated by using the formula</a:t>
            </a:r>
          </a:p>
          <a:p>
            <a:r>
              <a:rPr lang="en-US" sz="2300" dirty="0"/>
              <a:t>Average Fuel Consumption (Km/L) = Distance travelled / </a:t>
            </a:r>
            <a:r>
              <a:rPr lang="en-US" sz="2300" dirty="0" err="1"/>
              <a:t>Litres</a:t>
            </a:r>
            <a:r>
              <a:rPr lang="en-US" sz="2300" dirty="0"/>
              <a:t> of fuel consumed</a:t>
            </a:r>
          </a:p>
          <a:p>
            <a:r>
              <a:rPr lang="en-US" sz="2300" dirty="0"/>
              <a:t>Fuel consumption depends on other attributes like speed of the vehicle, time taken for the travel, type of roads, traffic, driving behavior, weather, weight, air conditioning, etc.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876A1F-7CA1-45A9-AC02-06BA93C1549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The problem - Attributes for fuel economy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 to travel</a:t>
            </a:r>
          </a:p>
          <a:p>
            <a:r>
              <a:rPr lang="en-US" dirty="0"/>
              <a:t>Speed</a:t>
            </a:r>
          </a:p>
          <a:p>
            <a:r>
              <a:rPr lang="en-US" dirty="0"/>
              <a:t>Fuel consumed</a:t>
            </a:r>
          </a:p>
          <a:p>
            <a:r>
              <a:rPr lang="en-US" dirty="0"/>
              <a:t>Distance travelled</a:t>
            </a:r>
          </a:p>
          <a:p>
            <a:endParaRPr lang="en-US" dirty="0"/>
          </a:p>
          <a:p>
            <a:r>
              <a:rPr lang="en-US" dirty="0"/>
              <a:t>Optimizing these objectives is known as Multi-objective optimization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399F54-E2A2-4129-B039-64ED4E46458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3600" dirty="0"/>
              <a:t>The attributes/objectives for optimization in the example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problem that takes more than one objective for optimization</a:t>
            </a:r>
          </a:p>
          <a:p>
            <a:r>
              <a:rPr lang="en-US" dirty="0"/>
              <a:t>The objectives can be contradicting ones</a:t>
            </a:r>
          </a:p>
          <a:p>
            <a:r>
              <a:rPr lang="en-US" dirty="0"/>
              <a:t>Meaning, it is desirable to increase the value of one objective while decreasing the value of others</a:t>
            </a:r>
          </a:p>
          <a:p>
            <a:r>
              <a:rPr lang="en-US" dirty="0"/>
              <a:t>The objectives are represented as a vector and can be evaluated using</a:t>
            </a:r>
          </a:p>
          <a:p>
            <a:pPr lvl="1"/>
            <a:r>
              <a:rPr lang="en-US" dirty="0"/>
              <a:t>The vector as a whole</a:t>
            </a:r>
          </a:p>
          <a:p>
            <a:pPr lvl="1"/>
            <a:r>
              <a:rPr lang="en-US" dirty="0"/>
              <a:t>Defining a evaluation function using the objectives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080320-89E8-4B1E-B804-DE59A2FF3AE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Multi-objective optimization problem</a:t>
            </a: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current autonomous car agent problem the cost or evaluation function is taken as follows:</a:t>
            </a:r>
          </a:p>
          <a:p>
            <a:r>
              <a:rPr lang="en-US" dirty="0"/>
              <a:t>Cost = Time + Speed + Fuel – Distance</a:t>
            </a:r>
          </a:p>
          <a:p>
            <a:r>
              <a:rPr lang="en-US" dirty="0"/>
              <a:t>Time travelled and fuel consumed must have lower values for cost reduction. </a:t>
            </a:r>
          </a:p>
          <a:p>
            <a:r>
              <a:rPr lang="en-US" dirty="0"/>
              <a:t>Speed must be average (not less not more)</a:t>
            </a:r>
          </a:p>
          <a:p>
            <a:r>
              <a:rPr lang="en-US" dirty="0"/>
              <a:t>Distance travelled must be maximum to reduce the cost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961F97-84E1-451C-8315-1CEB4BB4F63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Cost function / Evaluation function</a:t>
            </a: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Choose the optimal attribute values to get minimum cost</a:t>
            </a:r>
          </a:p>
          <a:p>
            <a:r>
              <a:rPr lang="en-US" dirty="0"/>
              <a:t>Goal = 0 cost</a:t>
            </a:r>
          </a:p>
          <a:p>
            <a:r>
              <a:rPr lang="en-US" dirty="0"/>
              <a:t>Heuristic – Hill climbing</a:t>
            </a:r>
          </a:p>
          <a:p>
            <a:r>
              <a:rPr lang="en-US" dirty="0"/>
              <a:t>Choose attribute vectors at random (Stochastic hill climbing) </a:t>
            </a:r>
          </a:p>
          <a:p>
            <a:r>
              <a:rPr lang="en-US" dirty="0"/>
              <a:t>Evaluate them</a:t>
            </a:r>
          </a:p>
          <a:p>
            <a:r>
              <a:rPr lang="en-US" dirty="0"/>
              <a:t>Retain the best while forgetting the less optimal values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B5E0F2-1D6E-4C26-B7E6-50019CE13A1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Heuristic</a:t>
            </a:r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b="1" dirty="0"/>
              <a:t>Performance</a:t>
            </a:r>
            <a:r>
              <a:rPr lang="en-US" sz="2400" dirty="0"/>
              <a:t> –  Safety, time, legal drive, comfort.</a:t>
            </a:r>
          </a:p>
          <a:p>
            <a:pPr lvl="1"/>
            <a:r>
              <a:rPr lang="en-US" sz="2000" dirty="0"/>
              <a:t>In the algorithm, reducing the cost of travel by optimizing the attributes taken</a:t>
            </a:r>
          </a:p>
          <a:p>
            <a:r>
              <a:rPr lang="en-US" sz="2400" dirty="0"/>
              <a:t>Environment – Roads, other cars, pedestrians, road signs.</a:t>
            </a:r>
          </a:p>
          <a:p>
            <a:pPr lvl="1"/>
            <a:r>
              <a:rPr lang="en-US" sz="2000" dirty="0"/>
              <a:t>Acceptable range of values for the attributes Time, Speed, Fuel and Distance travelled represented as vector of combination of these values </a:t>
            </a:r>
          </a:p>
          <a:p>
            <a:r>
              <a:rPr lang="en-US" sz="2400" dirty="0"/>
              <a:t>Actuators – Steering, accelerator, brake, signal, horn.</a:t>
            </a:r>
          </a:p>
          <a:p>
            <a:pPr lvl="1"/>
            <a:r>
              <a:rPr lang="en-US" sz="2000" dirty="0"/>
              <a:t>Initial solution, Candidate solution, Evaluation function.</a:t>
            </a:r>
          </a:p>
          <a:p>
            <a:r>
              <a:rPr lang="en-US" sz="2400" dirty="0"/>
              <a:t>Sensors – Fuel indicator, Speedometer, Digital clock in the display</a:t>
            </a:r>
          </a:p>
          <a:p>
            <a:pPr lvl="1"/>
            <a:r>
              <a:rPr lang="en-US" sz="2000" dirty="0"/>
              <a:t>Candidate solution with the acceptable range of values (from the sensors), number of iterations.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87B2E2-3C2D-4693-9A39-E2326517051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PEAS</a:t>
            </a:r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</a:t>
            </a:r>
            <a:r>
              <a:rPr lang="en-US" dirty="0"/>
              <a:t> 1: Evaluate the initial state, if it is goal state then return success and Stop.</a:t>
            </a:r>
          </a:p>
          <a:p>
            <a:r>
              <a:rPr lang="en-US" b="1" dirty="0"/>
              <a:t>Step</a:t>
            </a:r>
            <a:r>
              <a:rPr lang="en-US" dirty="0"/>
              <a:t> 2: Loop Until a solution is found or there is no new operator left to apply.</a:t>
            </a:r>
          </a:p>
          <a:p>
            <a:r>
              <a:rPr lang="en-US" b="1" dirty="0"/>
              <a:t>Step</a:t>
            </a:r>
            <a:r>
              <a:rPr lang="en-US" dirty="0"/>
              <a:t> 3: Select and apply an operator to the current state.</a:t>
            </a:r>
          </a:p>
          <a:p>
            <a:r>
              <a:rPr lang="en-US" b="1" dirty="0"/>
              <a:t>Step</a:t>
            </a:r>
            <a:r>
              <a:rPr lang="en-US" dirty="0"/>
              <a:t> 4: Check new state</a:t>
            </a:r>
          </a:p>
          <a:p>
            <a:r>
              <a:rPr lang="en-US" b="1" dirty="0"/>
              <a:t>Step</a:t>
            </a:r>
            <a:r>
              <a:rPr lang="en-US" dirty="0"/>
              <a:t> 5: Exit.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2BC860-CC8F-4BB4-8BF1-5C8DA0B8336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Hill climbing algorithm - Steps</a:t>
            </a:r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FE2A9E-3F80-44DD-A847-C21E4091C28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tx1"/>
                </a:solidFill>
              </a:rPr>
              <a:t>Code Walk through</a:t>
            </a:r>
          </a:p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371600" y="4406900"/>
            <a:ext cx="7772400" cy="1362075"/>
          </a:xfrm>
        </p:spPr>
        <p:txBody>
          <a:bodyPr/>
          <a:lstStyle/>
          <a:p>
            <a:r>
              <a:rPr lang="en-US" dirty="0"/>
              <a:t>Stochastic hill climbing in PYTHON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</a:t>
            </a:r>
            <a:r>
              <a:rPr lang="en-US" dirty="0" err="1"/>
              <a:t>np</a:t>
            </a:r>
            <a:endParaRPr lang="en-US" dirty="0"/>
          </a:p>
          <a:p>
            <a:r>
              <a:rPr lang="en-US" dirty="0"/>
              <a:t>import random;</a:t>
            </a:r>
          </a:p>
          <a:p>
            <a:r>
              <a:rPr lang="en-US" b="1" dirty="0"/>
              <a:t>#The PEAS</a:t>
            </a:r>
          </a:p>
          <a:p>
            <a:r>
              <a:rPr lang="en-US" dirty="0"/>
              <a:t>#Time, Speed, Fuel, Distance</a:t>
            </a:r>
          </a:p>
          <a:p>
            <a:r>
              <a:rPr lang="en-US" dirty="0"/>
              <a:t>#</a:t>
            </a:r>
            <a:r>
              <a:rPr lang="en-US" dirty="0" err="1"/>
              <a:t>Init_solution</a:t>
            </a:r>
            <a:r>
              <a:rPr lang="en-US" dirty="0"/>
              <a:t> = [10, 100, 25, 10];</a:t>
            </a:r>
          </a:p>
          <a:p>
            <a:r>
              <a:rPr lang="en-US" dirty="0"/>
              <a:t>#</a:t>
            </a:r>
            <a:r>
              <a:rPr lang="en-US" dirty="0" err="1"/>
              <a:t>Init_solution</a:t>
            </a:r>
            <a:r>
              <a:rPr lang="en-US" dirty="0"/>
              <a:t> = [2,10,5,100]</a:t>
            </a:r>
          </a:p>
          <a:p>
            <a:r>
              <a:rPr lang="en-US" dirty="0"/>
              <a:t>#</a:t>
            </a:r>
            <a:r>
              <a:rPr lang="en-US" dirty="0" err="1"/>
              <a:t>Init_solution</a:t>
            </a:r>
            <a:r>
              <a:rPr lang="en-US" dirty="0"/>
              <a:t> = [0, 0, 0, 0];</a:t>
            </a:r>
          </a:p>
          <a:p>
            <a:r>
              <a:rPr lang="en-US" dirty="0"/>
              <a:t>Iterations = 0</a:t>
            </a:r>
          </a:p>
          <a:p>
            <a:r>
              <a:rPr lang="en-US" dirty="0" err="1"/>
              <a:t>max_itr</a:t>
            </a:r>
            <a:r>
              <a:rPr lang="en-US" dirty="0"/>
              <a:t>=1000 #</a:t>
            </a:r>
            <a:r>
              <a:rPr lang="en-US" sz="2400" dirty="0"/>
              <a:t>Can be increased or decreased</a:t>
            </a:r>
          </a:p>
          <a:p>
            <a:r>
              <a:rPr lang="en-US" dirty="0" err="1"/>
              <a:t>Final_solution</a:t>
            </a:r>
            <a:r>
              <a:rPr lang="en-US" dirty="0"/>
              <a:t> = None #</a:t>
            </a:r>
            <a:r>
              <a:rPr lang="en-US" sz="2400" dirty="0"/>
              <a:t>Stores best of each iteration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4524CD-C6B7-49FD-81EA-0D3E0BDA301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#PEAS and the initial states</a:t>
            </a:r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#</a:t>
            </a:r>
            <a:r>
              <a:rPr lang="en-US" sz="2400" dirty="0"/>
              <a:t>Contains an objective vector of attributes to be optimized and the cost associated with the objectives</a:t>
            </a:r>
          </a:p>
          <a:p>
            <a:r>
              <a:rPr lang="en-US" dirty="0"/>
              <a:t>class </a:t>
            </a:r>
            <a:r>
              <a:rPr lang="en-US" dirty="0" err="1"/>
              <a:t>Solu_space</a:t>
            </a:r>
            <a:r>
              <a:rPr lang="en-US" dirty="0"/>
              <a:t>:</a:t>
            </a:r>
          </a:p>
          <a:p>
            <a:r>
              <a:rPr lang="en-US" dirty="0"/>
              <a:t>    def __init__(self):</a:t>
            </a:r>
          </a:p>
          <a:p>
            <a:r>
              <a:rPr lang="en-US" dirty="0"/>
              <a:t>        self.obj_vector = None</a:t>
            </a:r>
          </a:p>
          <a:p>
            <a:r>
              <a:rPr lang="en-US" dirty="0"/>
              <a:t>        </a:t>
            </a:r>
            <a:r>
              <a:rPr lang="en-US" dirty="0" err="1"/>
              <a:t>self.cost</a:t>
            </a:r>
            <a:r>
              <a:rPr lang="en-US" dirty="0"/>
              <a:t> = None</a:t>
            </a:r>
          </a:p>
          <a:p>
            <a:r>
              <a:rPr lang="en-US" dirty="0"/>
              <a:t>    def setObj_vector(self, </a:t>
            </a:r>
            <a:r>
              <a:rPr lang="en-US" dirty="0" err="1"/>
              <a:t>val</a:t>
            </a:r>
            <a:r>
              <a:rPr lang="en-US" dirty="0"/>
              <a:t>):</a:t>
            </a:r>
          </a:p>
          <a:p>
            <a:r>
              <a:rPr lang="en-US" dirty="0"/>
              <a:t>        self.obj_vector = </a:t>
            </a:r>
            <a:r>
              <a:rPr lang="en-US" dirty="0" err="1"/>
              <a:t>val</a:t>
            </a:r>
            <a:r>
              <a:rPr lang="en-US" dirty="0"/>
              <a:t>    </a:t>
            </a:r>
          </a:p>
          <a:p>
            <a:r>
              <a:rPr lang="en-US" dirty="0"/>
              <a:t>    def </a:t>
            </a:r>
            <a:r>
              <a:rPr lang="en-US" dirty="0" err="1"/>
              <a:t>setCost</a:t>
            </a:r>
            <a:r>
              <a:rPr lang="en-US" dirty="0"/>
              <a:t>(self, cost):</a:t>
            </a:r>
          </a:p>
          <a:p>
            <a:r>
              <a:rPr lang="en-US" dirty="0"/>
              <a:t>        </a:t>
            </a:r>
            <a:r>
              <a:rPr lang="en-US" dirty="0" err="1"/>
              <a:t>self.cost</a:t>
            </a:r>
            <a:r>
              <a:rPr lang="en-US" dirty="0"/>
              <a:t> = cost            </a:t>
            </a:r>
          </a:p>
          <a:p>
            <a:r>
              <a:rPr lang="en-US" dirty="0"/>
              <a:t>    def </a:t>
            </a:r>
            <a:r>
              <a:rPr lang="en-US" dirty="0" err="1"/>
              <a:t>getAttr</a:t>
            </a:r>
            <a:r>
              <a:rPr lang="en-US" dirty="0"/>
              <a:t>(self):</a:t>
            </a:r>
          </a:p>
          <a:p>
            <a:r>
              <a:rPr lang="en-US" dirty="0"/>
              <a:t>        return {'Time, Speed, Fuel, Distance': self.obj_vector, 'Cost': </a:t>
            </a:r>
            <a:r>
              <a:rPr lang="en-US" dirty="0" err="1"/>
              <a:t>self.cost</a:t>
            </a:r>
            <a:r>
              <a:rPr lang="en-US" dirty="0"/>
              <a:t> 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5E2102-76A3-42EA-8B90-A94B7E0D28B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#Class : Solution space </a:t>
            </a:r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# </a:t>
            </a:r>
            <a:r>
              <a:rPr lang="en-US" sz="2000" dirty="0"/>
              <a:t>Function for calculating the cost - The evaluation function</a:t>
            </a:r>
          </a:p>
          <a:p>
            <a:r>
              <a:rPr lang="en-US" dirty="0"/>
              <a:t>def </a:t>
            </a:r>
            <a:r>
              <a:rPr lang="en-US" dirty="0" err="1"/>
              <a:t>calc_cost</a:t>
            </a:r>
            <a:r>
              <a:rPr lang="en-US" dirty="0"/>
              <a:t>(</a:t>
            </a:r>
            <a:r>
              <a:rPr lang="en-US" dirty="0" err="1"/>
              <a:t>objVector</a:t>
            </a:r>
            <a:r>
              <a:rPr lang="en-US" dirty="0"/>
              <a:t>):</a:t>
            </a:r>
          </a:p>
          <a:p>
            <a:r>
              <a:rPr lang="en-US" dirty="0"/>
              <a:t>     cost = round((</a:t>
            </a:r>
            <a:r>
              <a:rPr lang="en-US" dirty="0" err="1"/>
              <a:t>objVector</a:t>
            </a:r>
            <a:r>
              <a:rPr lang="en-US" dirty="0"/>
              <a:t>[0]   + </a:t>
            </a:r>
            <a:r>
              <a:rPr lang="en-US" dirty="0" err="1"/>
              <a:t>objVector</a:t>
            </a:r>
            <a:r>
              <a:rPr lang="en-US" dirty="0"/>
              <a:t>[1]  +     </a:t>
            </a:r>
            <a:r>
              <a:rPr lang="en-US" dirty="0" err="1"/>
              <a:t>objVector</a:t>
            </a:r>
            <a:r>
              <a:rPr lang="en-US" dirty="0"/>
              <a:t>[2] - </a:t>
            </a:r>
            <a:r>
              <a:rPr lang="en-US" dirty="0" err="1"/>
              <a:t>objVector</a:t>
            </a:r>
            <a:r>
              <a:rPr lang="en-US" dirty="0"/>
              <a:t>[3]),2)</a:t>
            </a:r>
          </a:p>
          <a:p>
            <a:r>
              <a:rPr lang="en-US" dirty="0"/>
              <a:t>      #print("Cost"+</a:t>
            </a:r>
            <a:r>
              <a:rPr lang="en-US" dirty="0" err="1"/>
              <a:t>str</a:t>
            </a:r>
            <a:r>
              <a:rPr lang="en-US" dirty="0"/>
              <a:t>(cost))</a:t>
            </a:r>
          </a:p>
          <a:p>
            <a:r>
              <a:rPr lang="en-US" dirty="0"/>
              <a:t>       return abs(cost)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B9EC8F-48F1-4FAC-83DC-54320FA9694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#Function for cost evaluation</a:t>
            </a:r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8636000" cy="5286022"/>
          </a:xfrm>
        </p:spPr>
        <p:txBody>
          <a:bodyPr>
            <a:noAutofit/>
          </a:bodyPr>
          <a:lstStyle/>
          <a:p>
            <a:r>
              <a:rPr lang="en-US" sz="2300" dirty="0"/>
              <a:t>def </a:t>
            </a:r>
            <a:r>
              <a:rPr lang="en-US" sz="2300" dirty="0" err="1"/>
              <a:t>gen_new_solution</a:t>
            </a:r>
            <a:r>
              <a:rPr lang="en-US" sz="2300" dirty="0"/>
              <a:t>():</a:t>
            </a:r>
          </a:p>
          <a:p>
            <a:r>
              <a:rPr lang="en-US" sz="2300" dirty="0"/>
              <a:t>    </a:t>
            </a:r>
            <a:r>
              <a:rPr lang="en-US" sz="2300" dirty="0" err="1"/>
              <a:t>distance_step</a:t>
            </a:r>
            <a:r>
              <a:rPr lang="en-US" sz="2300" dirty="0"/>
              <a:t>=0</a:t>
            </a:r>
          </a:p>
          <a:p>
            <a:r>
              <a:rPr lang="en-US" sz="2300" dirty="0"/>
              <a:t>    </a:t>
            </a:r>
            <a:r>
              <a:rPr lang="en-US" sz="2300" dirty="0" err="1"/>
              <a:t>speed_step</a:t>
            </a:r>
            <a:r>
              <a:rPr lang="en-US" sz="2300" dirty="0"/>
              <a:t>=</a:t>
            </a:r>
            <a:r>
              <a:rPr lang="en-US" sz="2300" dirty="0" err="1"/>
              <a:t>random.randint</a:t>
            </a:r>
            <a:r>
              <a:rPr lang="en-US" sz="2300" dirty="0"/>
              <a:t>(10,100)</a:t>
            </a:r>
          </a:p>
          <a:p>
            <a:r>
              <a:rPr lang="en-US" sz="2300" dirty="0"/>
              <a:t>    </a:t>
            </a:r>
            <a:r>
              <a:rPr lang="en-US" sz="2300" dirty="0" err="1"/>
              <a:t>time_step</a:t>
            </a:r>
            <a:r>
              <a:rPr lang="en-US" sz="2300" dirty="0"/>
              <a:t>=round((</a:t>
            </a:r>
            <a:r>
              <a:rPr lang="en-US" sz="2300" dirty="0" err="1"/>
              <a:t>random.randint</a:t>
            </a:r>
            <a:r>
              <a:rPr lang="en-US" sz="2300" dirty="0"/>
              <a:t>(1,100))/60,2)</a:t>
            </a:r>
          </a:p>
          <a:p>
            <a:r>
              <a:rPr lang="en-US" sz="2300" dirty="0"/>
              <a:t>     try:</a:t>
            </a:r>
          </a:p>
          <a:p>
            <a:r>
              <a:rPr lang="en-US" sz="2300" dirty="0" err="1"/>
              <a:t>distance_step</a:t>
            </a:r>
            <a:r>
              <a:rPr lang="en-US" sz="2300" dirty="0"/>
              <a:t>=</a:t>
            </a:r>
            <a:r>
              <a:rPr lang="en-US" sz="2300" dirty="0" err="1"/>
              <a:t>random.randint</a:t>
            </a:r>
            <a:r>
              <a:rPr lang="en-US" sz="2300" dirty="0"/>
              <a:t>(1,round(</a:t>
            </a:r>
            <a:r>
              <a:rPr lang="en-US" sz="2300" dirty="0" err="1"/>
              <a:t>speed_step</a:t>
            </a:r>
            <a:r>
              <a:rPr lang="en-US" sz="2300" dirty="0"/>
              <a:t>*time_step,2))</a:t>
            </a:r>
          </a:p>
          <a:p>
            <a:r>
              <a:rPr lang="en-US" sz="2300" dirty="0"/>
              <a:t>    except:</a:t>
            </a:r>
          </a:p>
          <a:p>
            <a:r>
              <a:rPr lang="en-US" sz="2300" dirty="0"/>
              <a:t>        pass</a:t>
            </a:r>
          </a:p>
          <a:p>
            <a:r>
              <a:rPr lang="en-US" sz="2300" dirty="0"/>
              <a:t>    </a:t>
            </a:r>
            <a:r>
              <a:rPr lang="en-US" sz="2300" dirty="0" err="1"/>
              <a:t>fuel_step</a:t>
            </a:r>
            <a:r>
              <a:rPr lang="en-US" sz="2300" dirty="0"/>
              <a:t>=</a:t>
            </a:r>
            <a:r>
              <a:rPr lang="en-US" sz="2300" dirty="0" err="1"/>
              <a:t>random.randint</a:t>
            </a:r>
            <a:r>
              <a:rPr lang="en-US" sz="2300" dirty="0"/>
              <a:t>(1,25)</a:t>
            </a:r>
          </a:p>
          <a:p>
            <a:r>
              <a:rPr lang="en-US" sz="2300" dirty="0"/>
              <a:t>    </a:t>
            </a:r>
            <a:r>
              <a:rPr lang="en-US" sz="2300" dirty="0" err="1"/>
              <a:t>objVector</a:t>
            </a:r>
            <a:r>
              <a:rPr lang="en-US" sz="2300" dirty="0"/>
              <a:t>=[</a:t>
            </a:r>
            <a:r>
              <a:rPr lang="en-US" sz="2300" dirty="0" err="1"/>
              <a:t>time_step,speed_step,fuel_step,distance_step</a:t>
            </a:r>
            <a:r>
              <a:rPr lang="en-US" sz="2300" dirty="0"/>
              <a:t>]</a:t>
            </a:r>
          </a:p>
          <a:p>
            <a:r>
              <a:rPr lang="en-US" sz="2300" dirty="0"/>
              <a:t>    #print("new solution: "+</a:t>
            </a:r>
            <a:r>
              <a:rPr lang="en-US" sz="2300" dirty="0" err="1"/>
              <a:t>str</a:t>
            </a:r>
            <a:r>
              <a:rPr lang="en-US" sz="2300" dirty="0"/>
              <a:t>(</a:t>
            </a:r>
            <a:r>
              <a:rPr lang="en-US" sz="2300" dirty="0" err="1"/>
              <a:t>objVector</a:t>
            </a:r>
            <a:r>
              <a:rPr lang="en-US" sz="2300" dirty="0"/>
              <a:t>))</a:t>
            </a:r>
          </a:p>
          <a:p>
            <a:r>
              <a:rPr lang="en-US" sz="2300" dirty="0"/>
              <a:t>    return </a:t>
            </a:r>
            <a:r>
              <a:rPr lang="en-US" sz="2300" dirty="0" err="1"/>
              <a:t>objVector</a:t>
            </a:r>
            <a:endParaRPr lang="en-US" sz="23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DD5BD6-F66A-4592-BDC6-895D8456A38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#Function to generate new solution</a:t>
            </a:r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def </a:t>
            </a:r>
            <a:r>
              <a:rPr lang="en-US" dirty="0" err="1"/>
              <a:t>Hill_Climb</a:t>
            </a:r>
            <a:r>
              <a:rPr lang="en-US" dirty="0"/>
              <a:t>(</a:t>
            </a:r>
            <a:r>
              <a:rPr lang="en-US" dirty="0" err="1"/>
              <a:t>objVector</a:t>
            </a:r>
            <a:r>
              <a:rPr lang="en-US" dirty="0"/>
              <a:t>):</a:t>
            </a:r>
          </a:p>
          <a:p>
            <a:r>
              <a:rPr lang="en-US" dirty="0"/>
              <a:t>    </a:t>
            </a:r>
            <a:r>
              <a:rPr lang="en-US" dirty="0" err="1"/>
              <a:t>soln_space</a:t>
            </a:r>
            <a:r>
              <a:rPr lang="en-US" dirty="0"/>
              <a:t> = </a:t>
            </a:r>
            <a:r>
              <a:rPr lang="en-US" dirty="0" err="1"/>
              <a:t>Solu_space</a:t>
            </a:r>
            <a:r>
              <a:rPr lang="en-US" dirty="0"/>
              <a:t>()</a:t>
            </a:r>
          </a:p>
          <a:p>
            <a:r>
              <a:rPr lang="en-US" dirty="0"/>
              <a:t>    </a:t>
            </a:r>
            <a:r>
              <a:rPr lang="en-US" dirty="0" err="1"/>
              <a:t>soln_space.setObj_vector</a:t>
            </a:r>
            <a:r>
              <a:rPr lang="en-US" dirty="0"/>
              <a:t>(</a:t>
            </a:r>
            <a:r>
              <a:rPr lang="en-US" dirty="0" err="1"/>
              <a:t>objVector</a:t>
            </a:r>
            <a:r>
              <a:rPr lang="en-US" dirty="0"/>
              <a:t>)</a:t>
            </a:r>
          </a:p>
          <a:p>
            <a:r>
              <a:rPr lang="en-US" dirty="0"/>
              <a:t>    </a:t>
            </a:r>
            <a:r>
              <a:rPr lang="en-US" dirty="0" err="1"/>
              <a:t>oldCost</a:t>
            </a:r>
            <a:r>
              <a:rPr lang="en-US" dirty="0"/>
              <a:t> = </a:t>
            </a:r>
            <a:r>
              <a:rPr lang="en-US" dirty="0" err="1"/>
              <a:t>calc_cost</a:t>
            </a:r>
            <a:r>
              <a:rPr lang="en-US" dirty="0"/>
              <a:t>(</a:t>
            </a:r>
            <a:r>
              <a:rPr lang="en-US" dirty="0" err="1"/>
              <a:t>objVector</a:t>
            </a:r>
            <a:r>
              <a:rPr lang="en-US" dirty="0"/>
              <a:t>);</a:t>
            </a:r>
          </a:p>
          <a:p>
            <a:r>
              <a:rPr lang="en-US" dirty="0"/>
              <a:t>    </a:t>
            </a:r>
            <a:r>
              <a:rPr lang="en-US" dirty="0" err="1"/>
              <a:t>soln_space.setCost</a:t>
            </a:r>
            <a:r>
              <a:rPr lang="en-US" dirty="0"/>
              <a:t>(</a:t>
            </a:r>
            <a:r>
              <a:rPr lang="en-US" dirty="0" err="1"/>
              <a:t>oldCost</a:t>
            </a:r>
            <a:r>
              <a:rPr lang="en-US" dirty="0"/>
              <a:t>)   </a:t>
            </a:r>
          </a:p>
          <a:p>
            <a:r>
              <a:rPr lang="en-US" dirty="0"/>
              <a:t>    </a:t>
            </a:r>
            <a:r>
              <a:rPr lang="en-US" dirty="0" err="1"/>
              <a:t>newobjVector</a:t>
            </a:r>
            <a:r>
              <a:rPr lang="en-US" dirty="0"/>
              <a:t> = </a:t>
            </a:r>
            <a:r>
              <a:rPr lang="en-US" dirty="0" err="1"/>
              <a:t>gen_new_solution</a:t>
            </a:r>
            <a:r>
              <a:rPr lang="en-US" dirty="0"/>
              <a:t>()</a:t>
            </a:r>
          </a:p>
          <a:p>
            <a:r>
              <a:rPr lang="en-US" dirty="0"/>
              <a:t>    </a:t>
            </a:r>
            <a:r>
              <a:rPr lang="en-US" dirty="0" err="1"/>
              <a:t>newcost</a:t>
            </a:r>
            <a:r>
              <a:rPr lang="en-US" dirty="0"/>
              <a:t>= </a:t>
            </a:r>
            <a:r>
              <a:rPr lang="en-US" dirty="0" err="1"/>
              <a:t>calc_cost</a:t>
            </a:r>
            <a:r>
              <a:rPr lang="en-US" dirty="0"/>
              <a:t>(</a:t>
            </a:r>
            <a:r>
              <a:rPr lang="en-US" dirty="0" err="1"/>
              <a:t>newobjVector</a:t>
            </a:r>
            <a:r>
              <a:rPr lang="en-US" dirty="0"/>
              <a:t>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706D84-8834-4EF3-920A-C0BE76DEA68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#Function Hill climb</a:t>
            </a:r>
            <a:endParaRPr lang="en-I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if(</a:t>
            </a:r>
            <a:r>
              <a:rPr lang="en-US" dirty="0" err="1"/>
              <a:t>newcost</a:t>
            </a:r>
            <a:r>
              <a:rPr lang="en-US" dirty="0"/>
              <a:t> &lt; </a:t>
            </a:r>
            <a:r>
              <a:rPr lang="en-US" dirty="0" err="1"/>
              <a:t>oldCost</a:t>
            </a:r>
            <a:r>
              <a:rPr lang="en-US" dirty="0"/>
              <a:t>):</a:t>
            </a:r>
          </a:p>
          <a:p>
            <a:r>
              <a:rPr lang="en-US" dirty="0"/>
              <a:t>     </a:t>
            </a:r>
            <a:r>
              <a:rPr lang="en-US" dirty="0" err="1"/>
              <a:t>soln_space.setObj_vector</a:t>
            </a:r>
            <a:r>
              <a:rPr lang="en-US" dirty="0"/>
              <a:t>(</a:t>
            </a:r>
            <a:r>
              <a:rPr lang="en-US" dirty="0" err="1"/>
              <a:t>newobjVector</a:t>
            </a:r>
            <a:r>
              <a:rPr lang="en-US" dirty="0"/>
              <a:t>)</a:t>
            </a:r>
          </a:p>
          <a:p>
            <a:r>
              <a:rPr lang="en-US" dirty="0"/>
              <a:t>        </a:t>
            </a:r>
            <a:r>
              <a:rPr lang="en-US" dirty="0" err="1"/>
              <a:t>soln_space.setCost</a:t>
            </a:r>
            <a:r>
              <a:rPr lang="en-US" dirty="0"/>
              <a:t>(</a:t>
            </a:r>
            <a:r>
              <a:rPr lang="en-US" dirty="0" err="1"/>
              <a:t>newcost</a:t>
            </a:r>
            <a:r>
              <a:rPr lang="en-US" dirty="0"/>
              <a:t>)</a:t>
            </a:r>
          </a:p>
          <a:p>
            <a:r>
              <a:rPr lang="en-US" dirty="0"/>
              <a:t>        print(</a:t>
            </a:r>
            <a:r>
              <a:rPr lang="en-US" dirty="0" err="1"/>
              <a:t>str</a:t>
            </a:r>
            <a:r>
              <a:rPr lang="en-US" dirty="0"/>
              <a:t>(</a:t>
            </a:r>
            <a:r>
              <a:rPr lang="en-US" dirty="0" err="1"/>
              <a:t>soln_space.getAttr</a:t>
            </a:r>
            <a:r>
              <a:rPr lang="en-US" dirty="0"/>
              <a:t>()))</a:t>
            </a:r>
          </a:p>
          <a:p>
            <a:r>
              <a:rPr lang="en-US" dirty="0"/>
              <a:t>        return </a:t>
            </a:r>
            <a:r>
              <a:rPr lang="en-US" dirty="0" err="1"/>
              <a:t>soln_space.obj_vector</a:t>
            </a:r>
            <a:endParaRPr lang="en-US" dirty="0"/>
          </a:p>
          <a:p>
            <a:r>
              <a:rPr lang="en-US" dirty="0"/>
              <a:t> print(</a:t>
            </a:r>
            <a:r>
              <a:rPr lang="en-US" dirty="0" err="1"/>
              <a:t>str</a:t>
            </a:r>
            <a:r>
              <a:rPr lang="en-US" dirty="0"/>
              <a:t>(</a:t>
            </a:r>
            <a:r>
              <a:rPr lang="en-US" dirty="0" err="1"/>
              <a:t>soln_space.getAttr</a:t>
            </a:r>
            <a:r>
              <a:rPr lang="en-US" dirty="0"/>
              <a:t>()))</a:t>
            </a:r>
          </a:p>
          <a:p>
            <a:r>
              <a:rPr lang="en-US" dirty="0"/>
              <a:t> return </a:t>
            </a:r>
            <a:r>
              <a:rPr lang="en-US" dirty="0" err="1"/>
              <a:t>soln_space.obj_vector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EE9DBA-00D6-4149-ADAD-BD20A852600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#</a:t>
            </a:r>
            <a:r>
              <a:rPr lang="en-US" sz="3600" dirty="0"/>
              <a:t>Function Hill climb – compare solution costs</a:t>
            </a:r>
            <a:endParaRPr lang="en-I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def </a:t>
            </a:r>
            <a:r>
              <a:rPr lang="en-US" dirty="0" err="1"/>
              <a:t>stopit</a:t>
            </a:r>
            <a:r>
              <a:rPr lang="en-US" dirty="0"/>
              <a:t>():</a:t>
            </a:r>
          </a:p>
          <a:p>
            <a:r>
              <a:rPr lang="en-US" dirty="0"/>
              <a:t>    </a:t>
            </a:r>
            <a:r>
              <a:rPr lang="en-US" dirty="0" err="1"/>
              <a:t>globals</a:t>
            </a:r>
            <a:r>
              <a:rPr lang="en-US" dirty="0"/>
              <a:t>()</a:t>
            </a:r>
          </a:p>
          <a:p>
            <a:r>
              <a:rPr lang="en-US" dirty="0"/>
              <a:t>    cost=</a:t>
            </a:r>
            <a:r>
              <a:rPr lang="en-US" dirty="0" err="1"/>
              <a:t>calc_cost</a:t>
            </a:r>
            <a:r>
              <a:rPr lang="en-US" dirty="0"/>
              <a:t>(</a:t>
            </a:r>
            <a:r>
              <a:rPr lang="en-US" dirty="0" err="1"/>
              <a:t>Final_solution</a:t>
            </a:r>
            <a:r>
              <a:rPr lang="en-US" dirty="0"/>
              <a:t>)</a:t>
            </a:r>
          </a:p>
          <a:p>
            <a:r>
              <a:rPr lang="en-US" dirty="0"/>
              <a:t>    if cost == 0:</a:t>
            </a:r>
          </a:p>
          <a:p>
            <a:r>
              <a:rPr lang="en-US" dirty="0"/>
              <a:t>        return True</a:t>
            </a:r>
          </a:p>
          <a:p>
            <a:r>
              <a:rPr lang="en-US" dirty="0"/>
              <a:t>    if Iterations == </a:t>
            </a:r>
            <a:r>
              <a:rPr lang="en-US" dirty="0" err="1"/>
              <a:t>max_itr</a:t>
            </a:r>
            <a:r>
              <a:rPr lang="en-US" dirty="0"/>
              <a:t>:</a:t>
            </a:r>
          </a:p>
          <a:p>
            <a:r>
              <a:rPr lang="en-US" dirty="0"/>
              <a:t>        return True</a:t>
            </a:r>
          </a:p>
          <a:p>
            <a:r>
              <a:rPr lang="en-US" dirty="0"/>
              <a:t>    else: </a:t>
            </a:r>
          </a:p>
          <a:p>
            <a:r>
              <a:rPr lang="en-US" dirty="0"/>
              <a:t>        return False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21D178-68CE-4AEA-9F16-343DEE3CD9C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#Function – The stopping criterion</a:t>
            </a:r>
            <a:endParaRPr lang="en-I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Calling all the defined functions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44E118-8651-4D30-933B-B19D0E6DE7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#</a:t>
            </a:r>
            <a:r>
              <a:rPr lang="en-US" dirty="0" err="1"/>
              <a:t>Time,speed,fuel,distance</a:t>
            </a:r>
            <a:endParaRPr lang="en-US" dirty="0"/>
          </a:p>
          <a:p>
            <a:r>
              <a:rPr lang="en-US" dirty="0" err="1"/>
              <a:t>Init_soln</a:t>
            </a:r>
            <a:r>
              <a:rPr lang="en-US" dirty="0"/>
              <a:t>=</a:t>
            </a:r>
          </a:p>
          <a:p>
            <a:r>
              <a:rPr lang="en-US" dirty="0"/>
              <a:t>                  [</a:t>
            </a:r>
            <a:r>
              <a:rPr lang="en-US" dirty="0" err="1"/>
              <a:t>random.randint</a:t>
            </a:r>
            <a:r>
              <a:rPr lang="en-US" dirty="0"/>
              <a:t>(1,10),</a:t>
            </a:r>
          </a:p>
          <a:p>
            <a:r>
              <a:rPr lang="en-US" dirty="0"/>
              <a:t>                   </a:t>
            </a:r>
            <a:r>
              <a:rPr lang="en-US" dirty="0" err="1"/>
              <a:t>random.randint</a:t>
            </a:r>
            <a:r>
              <a:rPr lang="en-US" dirty="0"/>
              <a:t>(1,100),</a:t>
            </a:r>
          </a:p>
          <a:p>
            <a:r>
              <a:rPr lang="en-US" dirty="0"/>
              <a:t>                   </a:t>
            </a:r>
            <a:r>
              <a:rPr lang="en-US" dirty="0" err="1"/>
              <a:t>random.randint</a:t>
            </a:r>
            <a:r>
              <a:rPr lang="en-US" dirty="0"/>
              <a:t>(1,25),</a:t>
            </a:r>
          </a:p>
          <a:p>
            <a:r>
              <a:rPr lang="en-US" dirty="0"/>
              <a:t>                   </a:t>
            </a:r>
            <a:r>
              <a:rPr lang="en-US" dirty="0" err="1"/>
              <a:t>random.randint</a:t>
            </a:r>
            <a:r>
              <a:rPr lang="en-US" dirty="0"/>
              <a:t>(1,500)]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422C78-EA13-4FE6-B344-EA5B2BFE852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#Generate initial solution</a:t>
            </a:r>
            <a:endParaRPr lang="en-IN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Final_solution</a:t>
            </a:r>
            <a:r>
              <a:rPr lang="en-US" dirty="0"/>
              <a:t>= </a:t>
            </a:r>
            <a:r>
              <a:rPr lang="en-US" dirty="0" err="1"/>
              <a:t>Hill_Climb</a:t>
            </a:r>
            <a:r>
              <a:rPr lang="en-US" dirty="0"/>
              <a:t>(</a:t>
            </a:r>
            <a:r>
              <a:rPr lang="en-US" dirty="0" err="1"/>
              <a:t>Init_solution</a:t>
            </a:r>
            <a:r>
              <a:rPr lang="en-US" dirty="0"/>
              <a:t>) </a:t>
            </a:r>
            <a:r>
              <a:rPr lang="en-US" sz="1400" dirty="0"/>
              <a:t>#Initialize variable </a:t>
            </a:r>
            <a:r>
              <a:rPr lang="en-US" sz="1400" dirty="0" err="1"/>
              <a:t>Final_solution</a:t>
            </a:r>
            <a:endParaRPr lang="en-US" sz="1400" dirty="0"/>
          </a:p>
          <a:p>
            <a:r>
              <a:rPr lang="en-US" dirty="0"/>
              <a:t>print(</a:t>
            </a:r>
            <a:r>
              <a:rPr lang="en-US" dirty="0" err="1"/>
              <a:t>Final_solution</a:t>
            </a:r>
            <a:r>
              <a:rPr lang="en-US" dirty="0"/>
              <a:t>)</a:t>
            </a:r>
          </a:p>
          <a:p>
            <a:r>
              <a:rPr lang="en-US" dirty="0"/>
              <a:t>while not </a:t>
            </a:r>
            <a:r>
              <a:rPr lang="en-US" dirty="0" err="1"/>
              <a:t>stopit</a:t>
            </a:r>
            <a:r>
              <a:rPr lang="en-US" dirty="0"/>
              <a:t>():</a:t>
            </a:r>
          </a:p>
          <a:p>
            <a:r>
              <a:rPr lang="en-US" dirty="0"/>
              <a:t>    solution=</a:t>
            </a:r>
            <a:r>
              <a:rPr lang="en-US" dirty="0" err="1"/>
              <a:t>Final_solution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Final_solution</a:t>
            </a:r>
            <a:r>
              <a:rPr lang="en-US" dirty="0"/>
              <a:t>=</a:t>
            </a:r>
            <a:r>
              <a:rPr lang="en-US" dirty="0" err="1"/>
              <a:t>Hill_Climb</a:t>
            </a:r>
            <a:r>
              <a:rPr lang="en-US" dirty="0"/>
              <a:t>(solution)</a:t>
            </a:r>
          </a:p>
          <a:p>
            <a:r>
              <a:rPr lang="en-US" dirty="0"/>
              <a:t>    print("Iteration no: "+</a:t>
            </a:r>
            <a:r>
              <a:rPr lang="en-US" dirty="0" err="1"/>
              <a:t>str</a:t>
            </a:r>
            <a:r>
              <a:rPr lang="en-US" dirty="0"/>
              <a:t>(Iterations))</a:t>
            </a:r>
          </a:p>
          <a:p>
            <a:r>
              <a:rPr lang="en-US" dirty="0"/>
              <a:t>    Iterations+=1</a:t>
            </a:r>
          </a:p>
          <a:p>
            <a:r>
              <a:rPr lang="en-US" dirty="0"/>
              <a:t>print("Solution")    </a:t>
            </a:r>
          </a:p>
          <a:p>
            <a:r>
              <a:rPr lang="en-US" dirty="0"/>
              <a:t>print(</a:t>
            </a:r>
            <a:r>
              <a:rPr lang="en-US" dirty="0" err="1"/>
              <a:t>str</a:t>
            </a:r>
            <a:r>
              <a:rPr lang="en-US" dirty="0"/>
              <a:t>(</a:t>
            </a:r>
            <a:r>
              <a:rPr lang="en-US" dirty="0" err="1"/>
              <a:t>Final_solution</a:t>
            </a:r>
            <a:r>
              <a:rPr lang="en-US" dirty="0"/>
              <a:t>[0])+ "  Hrs  "        +</a:t>
            </a:r>
            <a:r>
              <a:rPr lang="en-US" dirty="0" err="1"/>
              <a:t>str</a:t>
            </a:r>
            <a:r>
              <a:rPr lang="en-US" dirty="0"/>
              <a:t>(</a:t>
            </a:r>
            <a:r>
              <a:rPr lang="en-US" dirty="0" err="1"/>
              <a:t>Final_solution</a:t>
            </a:r>
            <a:r>
              <a:rPr lang="en-US" dirty="0"/>
              <a:t>[1])+ "  Km/Hr  " + </a:t>
            </a:r>
            <a:r>
              <a:rPr lang="en-US" dirty="0" err="1"/>
              <a:t>str</a:t>
            </a:r>
            <a:r>
              <a:rPr lang="en-US" dirty="0"/>
              <a:t>(</a:t>
            </a:r>
            <a:r>
              <a:rPr lang="en-US" dirty="0" err="1"/>
              <a:t>Final_solution</a:t>
            </a:r>
            <a:r>
              <a:rPr lang="en-US" dirty="0"/>
              <a:t>[2]) + " </a:t>
            </a:r>
            <a:r>
              <a:rPr lang="en-US" dirty="0" err="1"/>
              <a:t>Litres</a:t>
            </a:r>
            <a:r>
              <a:rPr lang="en-US" dirty="0"/>
              <a:t> " + </a:t>
            </a:r>
          </a:p>
          <a:p>
            <a:pPr>
              <a:buNone/>
            </a:pPr>
            <a:r>
              <a:rPr lang="en-US" dirty="0"/>
              <a:t>     </a:t>
            </a:r>
            <a:r>
              <a:rPr lang="en-US" dirty="0" err="1"/>
              <a:t>str</a:t>
            </a:r>
            <a:r>
              <a:rPr lang="en-US" dirty="0"/>
              <a:t>(</a:t>
            </a:r>
            <a:r>
              <a:rPr lang="en-US" dirty="0" err="1"/>
              <a:t>Final_solution</a:t>
            </a:r>
            <a:r>
              <a:rPr lang="en-US" dirty="0"/>
              <a:t>[3]) + " </a:t>
            </a:r>
            <a:r>
              <a:rPr lang="en-US" dirty="0" err="1"/>
              <a:t>Kms</a:t>
            </a:r>
            <a:r>
              <a:rPr lang="en-US" dirty="0"/>
              <a:t>")</a:t>
            </a:r>
          </a:p>
          <a:p>
            <a:r>
              <a:rPr lang="en-US" dirty="0"/>
              <a:t>print("Cost" + </a:t>
            </a:r>
            <a:r>
              <a:rPr lang="en-US" dirty="0" err="1"/>
              <a:t>str</a:t>
            </a:r>
            <a:r>
              <a:rPr lang="en-US" dirty="0"/>
              <a:t>(</a:t>
            </a:r>
            <a:r>
              <a:rPr lang="en-US" dirty="0" err="1"/>
              <a:t>calc_cost</a:t>
            </a:r>
            <a:r>
              <a:rPr lang="en-US" dirty="0"/>
              <a:t>(</a:t>
            </a:r>
            <a:r>
              <a:rPr lang="en-US" dirty="0" err="1"/>
              <a:t>Final_solution</a:t>
            </a:r>
            <a:r>
              <a:rPr lang="en-US" dirty="0"/>
              <a:t>)))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002F3-F19D-4527-BE3B-E41F7035F60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#Loop the Hill Climb</a:t>
            </a:r>
            <a:endParaRPr lang="en-IN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94691"/>
            <a:ext cx="8229600" cy="5116945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/>
              <a:t>{'Time, Speed, Fuel, Distance': [1.3, 70, 12, 55], 'Cost': 28.3} Iteration no: 35 </a:t>
            </a:r>
          </a:p>
          <a:p>
            <a:pPr>
              <a:buNone/>
            </a:pPr>
            <a:r>
              <a:rPr lang="en-US" dirty="0"/>
              <a:t>{'Time, Speed, Fuel, Distance': [1.3, 70, 12, 55], 'Cost': 28.3} Iteration no: 36 </a:t>
            </a:r>
          </a:p>
          <a:p>
            <a:pPr>
              <a:buNone/>
            </a:pPr>
            <a:r>
              <a:rPr lang="en-US" dirty="0"/>
              <a:t>{'Time, Speed, Fuel, Distance': [1.3, 70, 12, 55], 'Cost': 28.3} Iteration no: 37</a:t>
            </a:r>
          </a:p>
          <a:p>
            <a:pPr>
              <a:buNone/>
            </a:pPr>
            <a:r>
              <a:rPr lang="en-US" dirty="0"/>
              <a:t>{'Time, Speed, Fuel, Distance': [0.13, 10, 2, 0], 'Cost': 12.13} Iteration no: 172 </a:t>
            </a:r>
          </a:p>
          <a:p>
            <a:pPr>
              <a:buNone/>
            </a:pPr>
            <a:r>
              <a:rPr lang="en-US" dirty="0"/>
              <a:t>{'Time, Speed, Fuel, Distance': [0.13, 10, 2, 0], 'Cost': 12.13} Iteration no: 173 </a:t>
            </a:r>
          </a:p>
          <a:p>
            <a:pPr>
              <a:buNone/>
            </a:pPr>
            <a:r>
              <a:rPr lang="en-US" dirty="0"/>
              <a:t>{'Time, Speed, Fuel, Distance': [0.13, 10, 2, 0], 'Cost': 12.13} Iteration no: 174</a:t>
            </a:r>
          </a:p>
          <a:p>
            <a:pPr>
              <a:buNone/>
            </a:pPr>
            <a:r>
              <a:rPr lang="en-US" dirty="0"/>
              <a:t>{'Time, Speed, Fuel, Distance': [0.13, 10, 2, 0], 'Cost': 12.13} Iteration no: 175</a:t>
            </a:r>
          </a:p>
          <a:p>
            <a:pPr>
              <a:buNone/>
            </a:pPr>
            <a:r>
              <a:rPr lang="en-US" dirty="0"/>
              <a:t>{'Time, Speed, Fuel, Distance': [1.5, 66, 2, 70], 'Cost': 0.5} Iteration no: 991</a:t>
            </a:r>
          </a:p>
          <a:p>
            <a:pPr>
              <a:buNone/>
            </a:pPr>
            <a:r>
              <a:rPr lang="en-US" dirty="0"/>
              <a:t> {'Time, Speed, Fuel, Distance': [1.5, 66, 2, 70], 'Cost': 0.5} Iteration no: 992</a:t>
            </a:r>
          </a:p>
          <a:p>
            <a:pPr>
              <a:buNone/>
            </a:pPr>
            <a:r>
              <a:rPr lang="en-US" dirty="0"/>
              <a:t> {'Time, Speed, Fuel, Distance': [1.5, 66, 2, 70], 'Cost': 0.5} Iteration no: 993 </a:t>
            </a:r>
          </a:p>
          <a:p>
            <a:pPr>
              <a:buNone/>
            </a:pPr>
            <a:r>
              <a:rPr lang="en-US" dirty="0"/>
              <a:t>{'Time, Speed, Fuel, Distance': [1.5, 66, 2, 70], 'Cost': 0.5} Iteration no: 994 </a:t>
            </a:r>
          </a:p>
          <a:p>
            <a:pPr>
              <a:buNone/>
            </a:pPr>
            <a:r>
              <a:rPr lang="en-US" dirty="0"/>
              <a:t>{'Time, Speed, Fuel, Distance': [1.5, 66, 2, 70], 'Cost': 0.5} Iteration no: 995</a:t>
            </a:r>
          </a:p>
          <a:p>
            <a:pPr>
              <a:buNone/>
            </a:pPr>
            <a:r>
              <a:rPr lang="en-US" dirty="0"/>
              <a:t>{'Time, Speed, Fuel, Distance': [1.5, 66, 2, 70], 'Cost': 0.5} Iteration no: 996 </a:t>
            </a:r>
          </a:p>
          <a:p>
            <a:pPr>
              <a:buNone/>
            </a:pPr>
            <a:r>
              <a:rPr lang="en-US" dirty="0"/>
              <a:t>{'Time, Speed, </a:t>
            </a:r>
            <a:r>
              <a:rPr lang="en-US" dirty="0" err="1"/>
              <a:t>Fuel,Distance</a:t>
            </a:r>
            <a:r>
              <a:rPr lang="en-US" dirty="0"/>
              <a:t>': [1.5, 66, 2, 70], 'Cost': 0.5} Iteration no: 997 </a:t>
            </a:r>
          </a:p>
          <a:p>
            <a:pPr>
              <a:buNone/>
            </a:pPr>
            <a:r>
              <a:rPr lang="en-US" dirty="0"/>
              <a:t>{'Time, Speed, Fuel, Distance': [1.5, 66, 2, 70], 'Cost': 0.5} Iteration no: 998 </a:t>
            </a:r>
          </a:p>
          <a:p>
            <a:pPr>
              <a:buNone/>
            </a:pPr>
            <a:r>
              <a:rPr lang="en-US" dirty="0"/>
              <a:t>{'Time, Speed, Fuel, Distance': [1.5, 66, 2, 70], 'Cost': 0.5} Iteration no: 999 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Solution 1.5 Hrs 66 Km/Hr 2 </a:t>
            </a:r>
            <a:r>
              <a:rPr lang="en-US" dirty="0" err="1"/>
              <a:t>Litres</a:t>
            </a:r>
            <a:r>
              <a:rPr lang="en-US" dirty="0"/>
              <a:t> 70 </a:t>
            </a:r>
            <a:r>
              <a:rPr lang="en-US" dirty="0" err="1"/>
              <a:t>Kms</a:t>
            </a:r>
            <a:r>
              <a:rPr lang="en-US" dirty="0"/>
              <a:t> Cost 0.5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DBC805-AF27-4F10-B131-55ACE127E5E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Partial sample output</a:t>
            </a:r>
            <a:endParaRPr lang="en-IN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code to convert stochastic hill climb into Random restart hill climb</a:t>
            </a:r>
          </a:p>
          <a:p>
            <a:r>
              <a:rPr lang="en-US" dirty="0"/>
              <a:t>Solve the problem using Simulated annealing</a:t>
            </a:r>
          </a:p>
          <a:p>
            <a:r>
              <a:rPr lang="en-US" dirty="0"/>
              <a:t>Implement the solution for the given problem using </a:t>
            </a:r>
            <a:r>
              <a:rPr lang="en-US"/>
              <a:t>genetic algorithm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/>
            <a:r>
              <a:rPr lang="en-US" b="1" dirty="0"/>
              <a:t>That’s all for Hill Climbing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3EA86-8A0D-4518-8DCC-4E1F7F5166A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Food for thought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TSConten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ITSContent" id="{24BD7313-BEDE-40B9-B316-DB9B4F9BAF59}" vid="{F4B3B687-0692-4E32-9A24-F927B7FDEAD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BITSContent</Template>
  <TotalTime>208</TotalTime>
  <Words>1977</Words>
  <Application>Microsoft Office PowerPoint</Application>
  <PresentationFormat>On-screen Show (4:3)</PresentationFormat>
  <Paragraphs>205</Paragraphs>
  <Slides>25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BITSContent</vt:lpstr>
      <vt:lpstr>ACI – Lab Session 2</vt:lpstr>
      <vt:lpstr> Hill Climbing Algorithm Autonomous car driving agent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Stochastic hill climbing in PYTHON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Calling all the defined functions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ACI – Lab Session 2</dc:title>
  <dc:creator>sujatha s</dc:creator>
  <cp:lastModifiedBy>sujatha s</cp:lastModifiedBy>
  <cp:revision>10</cp:revision>
  <dcterms:created xsi:type="dcterms:W3CDTF">2021-12-14T04:21:45Z</dcterms:created>
  <dcterms:modified xsi:type="dcterms:W3CDTF">2022-12-29T05:29:26Z</dcterms:modified>
</cp:coreProperties>
</file>