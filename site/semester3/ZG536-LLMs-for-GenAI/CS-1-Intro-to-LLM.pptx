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674" r:id="rId2"/>
  </p:sldMasterIdLst>
  <p:notesMasterIdLst>
    <p:notesMasterId r:id="rId49"/>
  </p:notesMasterIdLst>
  <p:sldIdLst>
    <p:sldId id="257" r:id="rId3"/>
    <p:sldId id="262" r:id="rId4"/>
    <p:sldId id="487" r:id="rId5"/>
    <p:sldId id="486" r:id="rId6"/>
    <p:sldId id="389" r:id="rId7"/>
    <p:sldId id="345" r:id="rId8"/>
    <p:sldId id="344" r:id="rId9"/>
    <p:sldId id="522" r:id="rId10"/>
    <p:sldId id="263" r:id="rId11"/>
    <p:sldId id="343" r:id="rId12"/>
    <p:sldId id="264" r:id="rId13"/>
    <p:sldId id="288" r:id="rId14"/>
    <p:sldId id="283" r:id="rId15"/>
    <p:sldId id="287" r:id="rId16"/>
    <p:sldId id="499" r:id="rId17"/>
    <p:sldId id="290" r:id="rId18"/>
    <p:sldId id="495" r:id="rId19"/>
    <p:sldId id="496" r:id="rId20"/>
    <p:sldId id="303" r:id="rId21"/>
    <p:sldId id="304" r:id="rId22"/>
    <p:sldId id="498" r:id="rId23"/>
    <p:sldId id="311" r:id="rId24"/>
    <p:sldId id="492" r:id="rId25"/>
    <p:sldId id="515" r:id="rId26"/>
    <p:sldId id="520" r:id="rId27"/>
    <p:sldId id="501" r:id="rId28"/>
    <p:sldId id="502" r:id="rId29"/>
    <p:sldId id="503" r:id="rId30"/>
    <p:sldId id="504" r:id="rId31"/>
    <p:sldId id="519" r:id="rId32"/>
    <p:sldId id="507" r:id="rId33"/>
    <p:sldId id="508" r:id="rId34"/>
    <p:sldId id="509" r:id="rId35"/>
    <p:sldId id="521" r:id="rId36"/>
    <p:sldId id="285" r:id="rId37"/>
    <p:sldId id="518" r:id="rId38"/>
    <p:sldId id="356" r:id="rId39"/>
    <p:sldId id="512" r:id="rId40"/>
    <p:sldId id="513" r:id="rId41"/>
    <p:sldId id="514" r:id="rId42"/>
    <p:sldId id="306" r:id="rId43"/>
    <p:sldId id="267" r:id="rId44"/>
    <p:sldId id="357" r:id="rId45"/>
    <p:sldId id="366" r:id="rId46"/>
    <p:sldId id="376" r:id="rId47"/>
    <p:sldId id="38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057" autoAdjust="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311DD-96BC-48D8-A887-C0241ACEBCEC}"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D1180-89B7-4B77-82A2-F71C55345F5A}" type="slidenum">
              <a:rPr lang="en-IN" smtClean="0"/>
              <a:t>‹#›</a:t>
            </a:fld>
            <a:endParaRPr lang="en-IN"/>
          </a:p>
        </p:txBody>
      </p:sp>
    </p:spTree>
    <p:extLst>
      <p:ext uri="{BB962C8B-B14F-4D97-AF65-F5344CB8AC3E}">
        <p14:creationId xmlns:p14="http://schemas.microsoft.com/office/powerpoint/2010/main" val="67548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7</a:t>
            </a:fld>
            <a:endParaRPr lang="en-IN"/>
          </a:p>
        </p:txBody>
      </p:sp>
    </p:spTree>
    <p:extLst>
      <p:ext uri="{BB962C8B-B14F-4D97-AF65-F5344CB8AC3E}">
        <p14:creationId xmlns:p14="http://schemas.microsoft.com/office/powerpoint/2010/main" val="86736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10</a:t>
            </a:fld>
            <a:endParaRPr lang="en-IN"/>
          </a:p>
        </p:txBody>
      </p:sp>
    </p:spTree>
    <p:extLst>
      <p:ext uri="{BB962C8B-B14F-4D97-AF65-F5344CB8AC3E}">
        <p14:creationId xmlns:p14="http://schemas.microsoft.com/office/powerpoint/2010/main" val="2351016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16</a:t>
            </a:fld>
            <a:endParaRPr lang="en-IN"/>
          </a:p>
        </p:txBody>
      </p:sp>
    </p:spTree>
    <p:extLst>
      <p:ext uri="{BB962C8B-B14F-4D97-AF65-F5344CB8AC3E}">
        <p14:creationId xmlns:p14="http://schemas.microsoft.com/office/powerpoint/2010/main" val="1971190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185625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783942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850087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31</a:t>
            </a:fld>
            <a:endParaRPr lang="en-IN"/>
          </a:p>
        </p:txBody>
      </p:sp>
    </p:spTree>
    <p:extLst>
      <p:ext uri="{BB962C8B-B14F-4D97-AF65-F5344CB8AC3E}">
        <p14:creationId xmlns:p14="http://schemas.microsoft.com/office/powerpoint/2010/main" val="4203079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IN"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Training</a:t>
                </a:r>
              </a:p>
              <a:p>
                <a:r>
                  <a:rPr lang="en-US" sz="1200" b="0" i="0" kern="1200" dirty="0">
                    <a:solidFill>
                      <a:schemeClr val="tx1"/>
                    </a:solidFill>
                    <a:effectLst/>
                    <a:latin typeface="+mn-lt"/>
                    <a:ea typeface="+mn-ea"/>
                    <a:cs typeface="+mn-cs"/>
                  </a:rPr>
                  <a:t>For an input sequence of length </a:t>
                </a:r>
                <a:r>
                  <a:rPr lang="en-US" sz="1200" i="0" kern="1200">
                    <a:solidFill>
                      <a:schemeClr val="tx1"/>
                    </a:solidFill>
                    <a:latin typeface="+mn-lt"/>
                    <a:ea typeface="+mn-ea"/>
                    <a:cs typeface="+mn-cs"/>
                  </a:rPr>
                  <a:t>𝑁</a:t>
                </a:r>
                <a:r>
                  <a:rPr lang="en-US" sz="1200" b="0" i="0" kern="1200" dirty="0">
                    <a:solidFill>
                      <a:schemeClr val="tx1"/>
                    </a:solidFill>
                    <a:effectLst/>
                    <a:latin typeface="+mn-lt"/>
                    <a:ea typeface="+mn-ea"/>
                    <a:cs typeface="+mn-cs"/>
                  </a:rPr>
                  <a:t>, the model produces one logits vector at each position, and each position is trained to predict the token that comes immediately after it.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means the targets are just the input sequence shifted by one position, so the model gets learning signal from many positions in parallel within a single forward pass.</a:t>
                </a:r>
              </a:p>
              <a:p>
                <a:r>
                  <a:rPr lang="en-US" sz="1200" b="0" i="0" kern="1200" dirty="0">
                    <a:solidFill>
                      <a:schemeClr val="tx1"/>
                    </a:solidFill>
                    <a:effectLst/>
                    <a:latin typeface="+mn-lt"/>
                    <a:ea typeface="+mn-ea"/>
                    <a:cs typeface="+mn-cs"/>
                  </a:rPr>
                  <a:t>Generation</a:t>
                </a:r>
              </a:p>
              <a:p>
                <a:r>
                  <a:rPr lang="en-US" sz="1200" b="0" i="0" kern="1200" dirty="0">
                    <a:solidFill>
                      <a:schemeClr val="tx1"/>
                    </a:solidFill>
                    <a:effectLst/>
                    <a:latin typeface="+mn-lt"/>
                    <a:ea typeface="+mn-ea"/>
                    <a:cs typeface="+mn-cs"/>
                  </a:rPr>
                  <a:t>At inference time, the model still computes logits for all positions in the current prefix, but only the logits from the last position are used to pick the next token.</a:t>
                </a:r>
              </a:p>
              <a:p>
                <a:r>
                  <a:rPr lang="en-US" sz="1200" b="0" i="0" kern="1200" dirty="0">
                    <a:solidFill>
                      <a:schemeClr val="tx1"/>
                    </a:solidFill>
                    <a:effectLst/>
                    <a:latin typeface="+mn-lt"/>
                    <a:ea typeface="+mn-ea"/>
                    <a:cs typeface="+mn-cs"/>
                  </a:rPr>
                  <a:t>During training, self-attention is computed for all positions in the sequence in parallel, whereas during inference the initial prompt is also processed across all its tokens, and only the ongoing decoding step focuses on the current last position to produce the next token.</a:t>
                </a:r>
              </a:p>
              <a:p>
                <a:endParaRPr lang="en-IN" dirty="0"/>
              </a:p>
            </p:txBody>
          </p:sp>
        </mc:Fallback>
      </mc:AlternateContent>
      <p:sp>
        <p:nvSpPr>
          <p:cNvPr id="4" name="Slide Number Placeholder 3"/>
          <p:cNvSpPr>
            <a:spLocks noGrp="1"/>
          </p:cNvSpPr>
          <p:nvPr>
            <p:ph type="sldNum" sz="quarter" idx="5"/>
          </p:nvPr>
        </p:nvSpPr>
        <p:spPr/>
        <p:txBody>
          <a:bodyPr/>
          <a:lstStyle/>
          <a:p>
            <a:fld id="{9AAD1180-89B7-4B77-82A2-F71C55345F5A}" type="slidenum">
              <a:rPr lang="en-IN" smtClean="0"/>
              <a:t>35</a:t>
            </a:fld>
            <a:endParaRPr lang="en-IN"/>
          </a:p>
        </p:txBody>
      </p:sp>
    </p:spTree>
    <p:extLst>
      <p:ext uri="{BB962C8B-B14F-4D97-AF65-F5344CB8AC3E}">
        <p14:creationId xmlns:p14="http://schemas.microsoft.com/office/powerpoint/2010/main" val="2673588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37</a:t>
            </a:fld>
            <a:endParaRPr lang="en-IN"/>
          </a:p>
        </p:txBody>
      </p:sp>
    </p:spTree>
    <p:extLst>
      <p:ext uri="{BB962C8B-B14F-4D97-AF65-F5344CB8AC3E}">
        <p14:creationId xmlns:p14="http://schemas.microsoft.com/office/powerpoint/2010/main" val="1131606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1881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76519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268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79321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1548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204951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5124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3790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0272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7330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04842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64727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10/23/2026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160521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624647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10/23/2026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4160371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10/23/2026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123496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10/23/2026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393775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113836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32303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44096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260030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012528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59413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107751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05202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736898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124679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342621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37734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790751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100179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7826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4281767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9655394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6534896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8617908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0956022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11922613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85559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837422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203813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122424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672207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482822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43335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964877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583519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96658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9001868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FFFFFF"/>
        </a:solidFill>
        <a:effectLst/>
      </p:bgPr>
    </p:bg>
    <p:spTree>
      <p:nvGrpSpPr>
        <p:cNvPr id="1" name=""/>
        <p:cNvGrpSpPr/>
        <p:nvPr/>
      </p:nvGrpSpPr>
      <p:grpSpPr>
        <a:xfrm>
          <a:off x="0" y="0"/>
          <a:ext cx="0" cy="0"/>
          <a:chOff x="0" y="0"/>
          <a:chExt cx="0" cy="0"/>
        </a:xfrm>
      </p:grpSpPr>
      <p:sp>
        <p:nvSpPr>
          <p:cNvPr id="100" name="Body Level One…"/>
          <p:cNvSpPr txBox="1">
            <a:spLocks noGrp="1"/>
          </p:cNvSpPr>
          <p:nvPr>
            <p:ph type="body" sz="quarter" idx="1"/>
          </p:nvPr>
        </p:nvSpPr>
        <p:spPr>
          <a:xfrm>
            <a:off x="406400" y="152400"/>
            <a:ext cx="84328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xfrm>
            <a:off x="5892800" y="6172201"/>
            <a:ext cx="2844800" cy="368301"/>
          </a:xfrm>
          <a:prstGeom prst="rect">
            <a:avLst/>
          </a:prstGeom>
        </p:spPr>
        <p:txBody>
          <a:bodyPr/>
          <a:lstStyle/>
          <a:p>
            <a:fld id="{86CB4B4D-7CA3-9044-876B-883B54F8677D}" type="slidenum">
              <a:rPr>
                <a:solidFill>
                  <a:prstClr val="black"/>
                </a:solidFill>
              </a:rPr>
              <a:pPr/>
              <a:t>‹#›</a:t>
            </a:fld>
            <a:endParaRPr>
              <a:solidFill>
                <a:prstClr val="black"/>
              </a:solidFill>
            </a:endParaRPr>
          </a:p>
        </p:txBody>
      </p:sp>
    </p:spTree>
    <p:extLst>
      <p:ext uri="{BB962C8B-B14F-4D97-AF65-F5344CB8AC3E}">
        <p14:creationId xmlns:p14="http://schemas.microsoft.com/office/powerpoint/2010/main" val="178551615"/>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TITLE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170432"/>
            <a:ext cx="3145536" cy="42672"/>
          </a:xfrm>
          <a:prstGeom prst="rect">
            <a:avLst/>
          </a:prstGeom>
          <a:solidFill>
            <a:srgbClr val="F2A93B"/>
          </a:solidFill>
          <a:ln/>
        </p:spPr>
      </p:sp>
      <p:sp>
        <p:nvSpPr>
          <p:cNvPr id="3" name="Shape 1"/>
          <p:cNvSpPr/>
          <p:nvPr/>
        </p:nvSpPr>
        <p:spPr>
          <a:xfrm>
            <a:off x="3145536" y="1170432"/>
            <a:ext cx="3096768" cy="42672"/>
          </a:xfrm>
          <a:prstGeom prst="rect">
            <a:avLst/>
          </a:prstGeom>
          <a:solidFill>
            <a:srgbClr val="6EC1E4"/>
          </a:solidFill>
          <a:ln/>
        </p:spPr>
      </p:sp>
      <p:sp>
        <p:nvSpPr>
          <p:cNvPr id="4" name="Shape 2"/>
          <p:cNvSpPr/>
          <p:nvPr/>
        </p:nvSpPr>
        <p:spPr>
          <a:xfrm>
            <a:off x="6242304" y="1170432"/>
            <a:ext cx="3108960" cy="42672"/>
          </a:xfrm>
          <a:prstGeom prst="rect">
            <a:avLst/>
          </a:prstGeom>
          <a:solidFill>
            <a:srgbClr val="C8102E"/>
          </a:solidFill>
          <a:ln/>
        </p:spPr>
      </p:sp>
      <p:sp>
        <p:nvSpPr>
          <p:cNvPr id="5" name="Shape 3"/>
          <p:cNvSpPr/>
          <p:nvPr/>
        </p:nvSpPr>
        <p:spPr>
          <a:xfrm>
            <a:off x="2779776" y="6534912"/>
            <a:ext cx="3169920" cy="36576"/>
          </a:xfrm>
          <a:prstGeom prst="rect">
            <a:avLst/>
          </a:prstGeom>
          <a:solidFill>
            <a:srgbClr val="F2A93B"/>
          </a:solidFill>
          <a:ln/>
        </p:spPr>
      </p:sp>
      <p:sp>
        <p:nvSpPr>
          <p:cNvPr id="6" name="Shape 4"/>
          <p:cNvSpPr/>
          <p:nvPr/>
        </p:nvSpPr>
        <p:spPr>
          <a:xfrm>
            <a:off x="5949696" y="6534912"/>
            <a:ext cx="3121152" cy="36576"/>
          </a:xfrm>
          <a:prstGeom prst="rect">
            <a:avLst/>
          </a:prstGeom>
          <a:solidFill>
            <a:srgbClr val="6EC1E4"/>
          </a:solidFill>
          <a:ln/>
        </p:spPr>
      </p:sp>
      <p:sp>
        <p:nvSpPr>
          <p:cNvPr id="7" name="Shape 5"/>
          <p:cNvSpPr/>
          <p:nvPr/>
        </p:nvSpPr>
        <p:spPr>
          <a:xfrm>
            <a:off x="9070848" y="6534912"/>
            <a:ext cx="3121152" cy="36576"/>
          </a:xfrm>
          <a:prstGeom prst="rect">
            <a:avLst/>
          </a:prstGeom>
          <a:solidFill>
            <a:srgbClr val="C8102E"/>
          </a:solidFill>
          <a:ln/>
        </p:spPr>
      </p:sp>
      <p:sp>
        <p:nvSpPr>
          <p:cNvPr id="8" name="Text 6"/>
          <p:cNvSpPr>
            <a:spLocks noGrp="1"/>
          </p:cNvSpPr>
          <p:nvPr>
            <p:ph type="title" idx="106" hasCustomPrompt="1"/>
          </p:nvPr>
        </p:nvSpPr>
        <p:spPr>
          <a:xfrm>
            <a:off x="426720" y="243840"/>
            <a:ext cx="8900160" cy="853440"/>
          </a:xfrm>
          <a:prstGeom prst="rect">
            <a:avLst/>
          </a:prstGeom>
          <a:noFill/>
          <a:ln/>
        </p:spPr>
        <p:txBody>
          <a:bodyPr wrap="square" rtlCol="0"/>
          <a:lstStyle>
            <a:lvl1pPr marL="0" indent="0" algn="l">
              <a:buNone/>
              <a:defRPr lang="en-US" sz="3467" b="1" dirty="0">
                <a:solidFill>
                  <a:srgbClr val="1A1A1A"/>
                </a:solidFill>
                <a:latin typeface="Cambria" pitchFamily="34" charset="0"/>
                <a:ea typeface="Cambria" pitchFamily="34" charset="-122"/>
                <a:cs typeface="Cambria" pitchFamily="34" charset="-120"/>
              </a:defRPr>
            </a:lvl1pPr>
          </a:lstStyle>
          <a:p>
            <a:pPr marL="0" indent="0" algn="l">
              <a:buNone/>
            </a:pPr>
            <a:endParaRPr lang="en-US" sz="3467" dirty="0"/>
          </a:p>
        </p:txBody>
      </p:sp>
      <p:sp>
        <p:nvSpPr>
          <p:cNvPr id="25" name="Slide Number Placeholder 0"/>
          <p:cNvSpPr>
            <a:spLocks noGrp="1"/>
          </p:cNvSpPr>
          <p:nvPr>
            <p:ph type="sldNum" sz="quarter" idx="4294967295"/>
          </p:nvPr>
        </p:nvSpPr>
        <p:spPr>
          <a:xfrm>
            <a:off x="11338560" y="6608064"/>
            <a:ext cx="609600" cy="24384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A7A7A"/>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499594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CF500-1D26-44BC-BC6C-88E98416E58A}" type="datetimeFigureOut">
              <a:rPr lang="en-IN" smtClean="0">
                <a:solidFill>
                  <a:prstClr val="black">
                    <a:tint val="75000"/>
                  </a:prstClr>
                </a:solidFill>
              </a:rPr>
              <a:pPr/>
              <a:t>23-10-2026</a:t>
            </a:fld>
            <a:endParaRPr lang="en-IN">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725909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1"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3821528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4" r:id="rId38"/>
    <p:sldLayoutId id="2147483717" r:id="rId39"/>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0.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2" Type="http://schemas.openxmlformats.org/officeDocument/2006/relationships/hyperlink" Target="https://huggingface.co/learn/llm-course/en/chapter6/5" TargetMode="Externa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0.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jp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sp>
        <p:nvSpPr>
          <p:cNvPr id="14339" name="Content Placeholder 5"/>
          <p:cNvSpPr>
            <a:spLocks noGrp="1"/>
          </p:cNvSpPr>
          <p:nvPr>
            <p:ph sz="quarter" idx="13"/>
          </p:nvPr>
        </p:nvSpPr>
        <p:spPr>
          <a:xfrm>
            <a:off x="3198056" y="5140863"/>
            <a:ext cx="8026400" cy="533400"/>
          </a:xfrm>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
        <p:nvSpPr>
          <p:cNvPr id="4" name="Title 4"/>
          <p:cNvSpPr txBox="1">
            <a:spLocks/>
          </p:cNvSpPr>
          <p:nvPr/>
        </p:nvSpPr>
        <p:spPr>
          <a:xfrm>
            <a:off x="3329835" y="3562110"/>
            <a:ext cx="7113271" cy="1143000"/>
          </a:xfrm>
          <a:prstGeom prst="rect">
            <a:avLst/>
          </a:prstGeom>
        </p:spPr>
        <p:txBody>
          <a:bodyPr vert="horz" lIns="91440" tIns="45720" rIns="91440" bIns="45720" rtlCol="0" anchor="ctr" anchorCtr="0">
            <a:noAutofit/>
          </a:bodyPr>
          <a:lstStyle>
            <a:lvl1pPr algn="l" defTabSz="914400" rtl="0" eaLnBrk="1" latinLnBrk="0" hangingPunct="1">
              <a:lnSpc>
                <a:spcPts val="3000"/>
              </a:lnSpc>
              <a:spcBef>
                <a:spcPct val="0"/>
              </a:spcBef>
              <a:buNone/>
              <a:defRPr sz="3300" kern="1200" baseline="0">
                <a:solidFill>
                  <a:schemeClr val="bg1"/>
                </a:solidFill>
                <a:latin typeface="+mj-lt"/>
                <a:ea typeface="+mj-ea"/>
                <a:cs typeface="+mj-cs"/>
              </a:defRPr>
            </a:lvl1pPr>
          </a:lstStyle>
          <a:p>
            <a:pPr>
              <a:defRPr/>
            </a:pPr>
            <a:br>
              <a:rPr lang="en-US" sz="3000" dirty="0">
                <a:solidFill>
                  <a:prstClr val="white"/>
                </a:solidFill>
                <a:latin typeface="Times New Roman" panose="02020603050405020304" pitchFamily="18" charset="0"/>
                <a:cs typeface="Times New Roman" panose="02020603050405020304" pitchFamily="18" charset="0"/>
              </a:rPr>
            </a:br>
            <a:r>
              <a:rPr lang="en-US" sz="3000" dirty="0">
                <a:solidFill>
                  <a:prstClr val="white"/>
                </a:solidFill>
                <a:latin typeface="Times New Roman" panose="02020603050405020304" pitchFamily="18" charset="0"/>
                <a:cs typeface="Times New Roman" panose="02020603050405020304" pitchFamily="18" charset="0"/>
              </a:rPr>
              <a:t>Large Language Models for Generative AI</a:t>
            </a:r>
          </a:p>
          <a:p>
            <a:pPr>
              <a:defRPr/>
            </a:pPr>
            <a:r>
              <a:rPr lang="en-IN" sz="3200" dirty="0">
                <a:solidFill>
                  <a:prstClr val="white"/>
                </a:solidFill>
              </a:rPr>
              <a:t>AIML* ZG536</a:t>
            </a:r>
            <a:endParaRPr lang="en-US" sz="3000" dirty="0">
              <a:solidFill>
                <a:prstClr val="whit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182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latin typeface="Times New Roman" panose="02020603050405020304" pitchFamily="18" charset="0"/>
                <a:cs typeface="Times New Roman" panose="02020603050405020304" pitchFamily="18" charset="0"/>
              </a:rPr>
              <a:t>Large Language Models for Generative AI</a:t>
            </a:r>
            <a:endParaRPr lang="en-IN" dirty="0"/>
          </a:p>
          <a:p>
            <a:endParaRPr lang="en-IN" dirty="0"/>
          </a:p>
        </p:txBody>
      </p:sp>
      <p:sp>
        <p:nvSpPr>
          <p:cNvPr id="11" name="object 3">
            <a:extLst>
              <a:ext uri="{FF2B5EF4-FFF2-40B4-BE49-F238E27FC236}">
                <a16:creationId xmlns:a16="http://schemas.microsoft.com/office/drawing/2014/main" id="{71559224-CCC8-4C16-D35A-4A3643423349}"/>
              </a:ext>
            </a:extLst>
          </p:cNvPr>
          <p:cNvSpPr txBox="1"/>
          <p:nvPr/>
        </p:nvSpPr>
        <p:spPr>
          <a:xfrm>
            <a:off x="2758786" y="4133141"/>
            <a:ext cx="6777644" cy="848137"/>
          </a:xfrm>
          <a:prstGeom prst="rect">
            <a:avLst/>
          </a:prstGeom>
        </p:spPr>
        <p:txBody>
          <a:bodyPr vert="horz" wrap="square" lIns="0" tIns="24595" rIns="0" bIns="0" rtlCol="0">
            <a:spAutoFit/>
          </a:bodyPr>
          <a:lstStyle/>
          <a:p>
            <a:pPr marL="99961" marR="29325" indent="-93969" fontAlgn="base">
              <a:lnSpc>
                <a:spcPts val="1153"/>
              </a:lnSpc>
              <a:spcBef>
                <a:spcPts val="194"/>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The </a:t>
            </a:r>
            <a:r>
              <a:rPr sz="1200" spc="-8" dirty="0">
                <a:solidFill>
                  <a:prstClr val="black"/>
                </a:solidFill>
                <a:latin typeface="Cambria" panose="02040503050406030204" pitchFamily="18" charset="0"/>
                <a:ea typeface="Cambria" panose="02040503050406030204" pitchFamily="18" charset="0"/>
                <a:cs typeface="Calibri"/>
              </a:rPr>
              <a:t>content </a:t>
            </a:r>
            <a:r>
              <a:rPr sz="1200" spc="-10" dirty="0">
                <a:solidFill>
                  <a:prstClr val="black"/>
                </a:solidFill>
                <a:latin typeface="Cambria" panose="02040503050406030204" pitchFamily="18" charset="0"/>
                <a:ea typeface="Cambria" panose="02040503050406030204" pitchFamily="18" charset="0"/>
                <a:cs typeface="Calibri"/>
              </a:rPr>
              <a:t>for </a:t>
            </a:r>
            <a:r>
              <a:rPr sz="1200" spc="-2" dirty="0">
                <a:solidFill>
                  <a:prstClr val="black"/>
                </a:solidFill>
                <a:latin typeface="Cambria" panose="02040503050406030204" pitchFamily="18" charset="0"/>
                <a:ea typeface="Cambria" panose="02040503050406030204" pitchFamily="18" charset="0"/>
                <a:cs typeface="Calibri"/>
              </a:rPr>
              <a:t>these slides has been </a:t>
            </a:r>
            <a:r>
              <a:rPr sz="1200" spc="-5" dirty="0">
                <a:solidFill>
                  <a:prstClr val="black"/>
                </a:solidFill>
                <a:latin typeface="Cambria" panose="02040503050406030204" pitchFamily="18" charset="0"/>
                <a:ea typeface="Cambria" panose="02040503050406030204" pitchFamily="18" charset="0"/>
                <a:cs typeface="Calibri"/>
              </a:rPr>
              <a:t>obtained </a:t>
            </a:r>
            <a:r>
              <a:rPr sz="1200" spc="-8" dirty="0">
                <a:solidFill>
                  <a:prstClr val="black"/>
                </a:solidFill>
                <a:latin typeface="Cambria" panose="02040503050406030204" pitchFamily="18" charset="0"/>
                <a:ea typeface="Cambria" panose="02040503050406030204" pitchFamily="18" charset="0"/>
                <a:cs typeface="Calibri"/>
              </a:rPr>
              <a:t>from </a:t>
            </a:r>
            <a:r>
              <a:rPr sz="1200" spc="-5" dirty="0">
                <a:solidFill>
                  <a:prstClr val="black"/>
                </a:solidFill>
                <a:latin typeface="Cambria" panose="02040503050406030204" pitchFamily="18" charset="0"/>
                <a:ea typeface="Cambria" panose="02040503050406030204" pitchFamily="18" charset="0"/>
                <a:cs typeface="Calibri"/>
              </a:rPr>
              <a:t>books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various other </a:t>
            </a:r>
            <a:r>
              <a:rPr sz="1200" spc="-236"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1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on the </a:t>
            </a:r>
            <a:r>
              <a:rPr sz="1200" spc="-8" dirty="0">
                <a:solidFill>
                  <a:prstClr val="black"/>
                </a:solidFill>
                <a:latin typeface="Cambria" panose="02040503050406030204" pitchFamily="18" charset="0"/>
                <a:ea typeface="Cambria" panose="02040503050406030204" pitchFamily="18" charset="0"/>
                <a:cs typeface="Calibri"/>
              </a:rPr>
              <a:t>Internet</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58"/>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a:t>
            </a:r>
            <a:r>
              <a:rPr sz="1200"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here</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by</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acknowledge</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all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contributors</a:t>
            </a:r>
            <a:r>
              <a:rPr sz="1200" dirty="0">
                <a:solidFill>
                  <a:prstClr val="black"/>
                </a:solidFill>
                <a:latin typeface="Cambria" panose="02040503050406030204" pitchFamily="18" charset="0"/>
                <a:ea typeface="Cambria" panose="02040503050406030204" pitchFamily="18" charset="0"/>
                <a:cs typeface="Calibri"/>
              </a:rPr>
              <a:t> </a:t>
            </a:r>
            <a:r>
              <a:rPr sz="1200" spc="-10" dirty="0">
                <a:solidFill>
                  <a:prstClr val="black"/>
                </a:solidFill>
                <a:latin typeface="Cambria" panose="02040503050406030204" pitchFamily="18" charset="0"/>
                <a:ea typeface="Cambria" panose="02040503050406030204" pitchFamily="18" charset="0"/>
                <a:cs typeface="Calibri"/>
              </a:rPr>
              <a:t>for</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their</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material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inputs.</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provided</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8" dirty="0">
                <a:solidFill>
                  <a:prstClr val="black"/>
                </a:solidFill>
                <a:latin typeface="Cambria" panose="02040503050406030204" pitchFamily="18" charset="0"/>
                <a:ea typeface="Cambria" panose="02040503050406030204" pitchFamily="18" charset="0"/>
                <a:cs typeface="Calibri"/>
              </a:rPr>
              <a:t> information</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wherever </a:t>
            </a:r>
            <a:r>
              <a:rPr sz="1200" spc="-2" dirty="0">
                <a:solidFill>
                  <a:prstClr val="black"/>
                </a:solidFill>
                <a:latin typeface="Cambria" panose="02040503050406030204" pitchFamily="18" charset="0"/>
                <a:ea typeface="Cambria" panose="02040503050406030204" pitchFamily="18" charset="0"/>
                <a:cs typeface="Calibri"/>
              </a:rPr>
              <a:t>necessary</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added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modified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8" dirty="0">
                <a:solidFill>
                  <a:prstClr val="black"/>
                </a:solidFill>
                <a:latin typeface="Cambria" panose="02040503050406030204" pitchFamily="18" charset="0"/>
                <a:ea typeface="Cambria" panose="02040503050406030204" pitchFamily="18" charset="0"/>
                <a:cs typeface="Calibri"/>
              </a:rPr>
              <a:t> content to</a:t>
            </a:r>
            <a:r>
              <a:rPr sz="1200" spc="-2" dirty="0">
                <a:solidFill>
                  <a:prstClr val="black"/>
                </a:solidFill>
                <a:latin typeface="Cambria" panose="02040503050406030204" pitchFamily="18" charset="0"/>
                <a:ea typeface="Cambria" panose="02040503050406030204" pitchFamily="18" charset="0"/>
                <a:cs typeface="Calibri"/>
              </a:rPr>
              <a:t> suit the</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requirements</a:t>
            </a:r>
            <a:r>
              <a:rPr sz="1200" spc="-12"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of the</a:t>
            </a:r>
            <a:r>
              <a:rPr sz="1200" spc="-8" dirty="0">
                <a:solidFill>
                  <a:prstClr val="black"/>
                </a:solidFill>
                <a:latin typeface="Cambria" panose="02040503050406030204" pitchFamily="18" charset="0"/>
                <a:ea typeface="Cambria" panose="02040503050406030204" pitchFamily="18" charset="0"/>
                <a:cs typeface="Calibri"/>
              </a:rPr>
              <a:t> course</a:t>
            </a:r>
            <a:endParaRPr sz="1200" dirty="0">
              <a:solidFill>
                <a:prstClr val="black"/>
              </a:solidFill>
              <a:latin typeface="Cambria" panose="02040503050406030204" pitchFamily="18" charset="0"/>
              <a:ea typeface="Cambria" panose="02040503050406030204" pitchFamily="18" charset="0"/>
              <a:cs typeface="Calibri"/>
            </a:endParaRPr>
          </a:p>
        </p:txBody>
      </p:sp>
      <p:sp>
        <p:nvSpPr>
          <p:cNvPr id="12" name="object 4">
            <a:extLst>
              <a:ext uri="{FF2B5EF4-FFF2-40B4-BE49-F238E27FC236}">
                <a16:creationId xmlns:a16="http://schemas.microsoft.com/office/drawing/2014/main" id="{9A90E0B6-F04D-52C8-030F-1CE337EA31C8}"/>
              </a:ext>
            </a:extLst>
          </p:cNvPr>
          <p:cNvSpPr txBox="1"/>
          <p:nvPr/>
        </p:nvSpPr>
        <p:spPr>
          <a:xfrm>
            <a:off x="4467389" y="2171701"/>
            <a:ext cx="4274196" cy="233216"/>
          </a:xfrm>
          <a:prstGeom prst="rect">
            <a:avLst/>
          </a:prstGeom>
        </p:spPr>
        <p:txBody>
          <a:bodyPr vert="horz" wrap="square" lIns="0" tIns="7568" rIns="0" bIns="0" rtlCol="0">
            <a:spAutoFit/>
          </a:bodyPr>
          <a:lstStyle/>
          <a:p>
            <a:pPr marL="6306" fontAlgn="base">
              <a:spcBef>
                <a:spcPts val="59"/>
              </a:spcBef>
              <a:spcAft>
                <a:spcPct val="0"/>
              </a:spcAft>
            </a:pPr>
            <a:r>
              <a:rPr sz="1466" spc="-8" dirty="0">
                <a:solidFill>
                  <a:srgbClr val="1C1572"/>
                </a:solidFill>
                <a:latin typeface="Cambria" panose="02040503050406030204" pitchFamily="18" charset="0"/>
                <a:ea typeface="Cambria" panose="02040503050406030204" pitchFamily="18" charset="0"/>
                <a:cs typeface="Calibri Light"/>
              </a:rPr>
              <a:t>Disclaimer</a:t>
            </a:r>
            <a:r>
              <a:rPr sz="1466" spc="-35" dirty="0">
                <a:solidFill>
                  <a:srgbClr val="1C1572"/>
                </a:solidFill>
                <a:latin typeface="Cambria" panose="02040503050406030204" pitchFamily="18" charset="0"/>
                <a:ea typeface="Cambria" panose="02040503050406030204" pitchFamily="18" charset="0"/>
                <a:cs typeface="Calibri Light"/>
              </a:rPr>
              <a:t> </a:t>
            </a:r>
            <a:r>
              <a:rPr sz="1466" spc="-5" dirty="0">
                <a:solidFill>
                  <a:srgbClr val="1C1572"/>
                </a:solidFill>
                <a:latin typeface="Cambria" panose="02040503050406030204" pitchFamily="18" charset="0"/>
                <a:ea typeface="Cambria" panose="02040503050406030204" pitchFamily="18" charset="0"/>
                <a:cs typeface="Calibri Light"/>
              </a:rPr>
              <a:t>and</a:t>
            </a:r>
            <a:r>
              <a:rPr sz="1466" spc="-35" dirty="0">
                <a:solidFill>
                  <a:srgbClr val="1C1572"/>
                </a:solidFill>
                <a:latin typeface="Cambria" panose="02040503050406030204" pitchFamily="18" charset="0"/>
                <a:ea typeface="Cambria" panose="02040503050406030204" pitchFamily="18" charset="0"/>
                <a:cs typeface="Calibri Light"/>
              </a:rPr>
              <a:t> </a:t>
            </a:r>
            <a:r>
              <a:rPr sz="1466" spc="-12" dirty="0">
                <a:solidFill>
                  <a:srgbClr val="1C1572"/>
                </a:solidFill>
                <a:latin typeface="Cambria" panose="02040503050406030204" pitchFamily="18" charset="0"/>
                <a:ea typeface="Cambria" panose="02040503050406030204" pitchFamily="18" charset="0"/>
                <a:cs typeface="Calibri Light"/>
              </a:rPr>
              <a:t>Acknowledgement</a:t>
            </a:r>
            <a:endParaRPr sz="1466" dirty="0">
              <a:solidFill>
                <a:prstClr val="black"/>
              </a:solidFill>
              <a:latin typeface="Cambria" panose="02040503050406030204" pitchFamily="18" charset="0"/>
              <a:ea typeface="Cambria" panose="02040503050406030204" pitchFamily="18" charset="0"/>
              <a:cs typeface="Calibri Light"/>
            </a:endParaRPr>
          </a:p>
        </p:txBody>
      </p:sp>
      <p:pic>
        <p:nvPicPr>
          <p:cNvPr id="13" name="object 5">
            <a:extLst>
              <a:ext uri="{FF2B5EF4-FFF2-40B4-BE49-F238E27FC236}">
                <a16:creationId xmlns:a16="http://schemas.microsoft.com/office/drawing/2014/main" id="{4251F471-DEA0-6983-32A0-6AD5B097A233}"/>
              </a:ext>
            </a:extLst>
          </p:cNvPr>
          <p:cNvPicPr/>
          <p:nvPr/>
        </p:nvPicPr>
        <p:blipFill>
          <a:blip r:embed="rId2" cstate="print"/>
          <a:stretch>
            <a:fillRect/>
          </a:stretch>
        </p:blipFill>
        <p:spPr>
          <a:xfrm>
            <a:off x="5280598" y="2823275"/>
            <a:ext cx="815403" cy="891476"/>
          </a:xfrm>
          <a:prstGeom prst="rect">
            <a:avLst/>
          </a:prstGeom>
        </p:spPr>
      </p:pic>
    </p:spTree>
    <p:extLst>
      <p:ext uri="{BB962C8B-B14F-4D97-AF65-F5344CB8AC3E}">
        <p14:creationId xmlns:p14="http://schemas.microsoft.com/office/powerpoint/2010/main" val="402558075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34AFB2-160D-6657-A257-BB0F20901964}"/>
              </a:ext>
            </a:extLst>
          </p:cNvPr>
          <p:cNvSpPr>
            <a:spLocks noGrp="1"/>
          </p:cNvSpPr>
          <p:nvPr>
            <p:ph type="body" sz="quarter" idx="1"/>
          </p:nvPr>
        </p:nvSpPr>
        <p:spPr/>
        <p:txBody>
          <a:bodyPr/>
          <a:lstStyle/>
          <a:p>
            <a:r>
              <a:rPr lang="en-US" dirty="0"/>
              <a:t>Handout</a:t>
            </a:r>
            <a:endParaRPr lang="en-IN" dirty="0"/>
          </a:p>
        </p:txBody>
      </p:sp>
    </p:spTree>
    <p:extLst>
      <p:ext uri="{BB962C8B-B14F-4D97-AF65-F5344CB8AC3E}">
        <p14:creationId xmlns:p14="http://schemas.microsoft.com/office/powerpoint/2010/main" val="289335161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39201" y="84"/>
            <a:ext cx="2925233" cy="692149"/>
          </a:xfrm>
          <a:prstGeom prst="rect">
            <a:avLst/>
          </a:prstGeom>
        </p:spPr>
      </p:pic>
      <p:grpSp>
        <p:nvGrpSpPr>
          <p:cNvPr id="3" name="object 3"/>
          <p:cNvGrpSpPr/>
          <p:nvPr/>
        </p:nvGrpSpPr>
        <p:grpSpPr>
          <a:xfrm>
            <a:off x="0" y="1295421"/>
            <a:ext cx="9347200" cy="46567"/>
            <a:chOff x="0" y="971565"/>
            <a:chExt cx="7010400" cy="34925"/>
          </a:xfrm>
        </p:grpSpPr>
        <p:sp>
          <p:nvSpPr>
            <p:cNvPr id="4" name="object 4"/>
            <p:cNvSpPr/>
            <p:nvPr/>
          </p:nvSpPr>
          <p:spPr>
            <a:xfrm>
              <a:off x="2362200" y="971565"/>
              <a:ext cx="2329180" cy="34925"/>
            </a:xfrm>
            <a:custGeom>
              <a:avLst/>
              <a:gdLst/>
              <a:ahLst/>
              <a:cxnLst/>
              <a:rect l="l" t="t" r="r" b="b"/>
              <a:pathLst>
                <a:path w="2329179" h="34925">
                  <a:moveTo>
                    <a:pt x="2328926" y="0"/>
                  </a:moveTo>
                  <a:lnTo>
                    <a:pt x="0" y="0"/>
                  </a:lnTo>
                  <a:lnTo>
                    <a:pt x="0" y="34528"/>
                  </a:lnTo>
                  <a:lnTo>
                    <a:pt x="2328926" y="34528"/>
                  </a:lnTo>
                  <a:lnTo>
                    <a:pt x="2328926" y="0"/>
                  </a:lnTo>
                  <a:close/>
                </a:path>
              </a:pathLst>
            </a:custGeom>
            <a:solidFill>
              <a:srgbClr val="76C2E4"/>
            </a:solidFill>
          </p:spPr>
          <p:txBody>
            <a:bodyPr wrap="square" lIns="0" tIns="0" rIns="0" bIns="0" rtlCol="0"/>
            <a:lstStyle/>
            <a:p>
              <a:endParaRPr sz="2400"/>
            </a:p>
          </p:txBody>
        </p:sp>
        <p:sp>
          <p:nvSpPr>
            <p:cNvPr id="5" name="object 5"/>
            <p:cNvSpPr/>
            <p:nvPr/>
          </p:nvSpPr>
          <p:spPr>
            <a:xfrm>
              <a:off x="0" y="971565"/>
              <a:ext cx="2362200" cy="34925"/>
            </a:xfrm>
            <a:custGeom>
              <a:avLst/>
              <a:gdLst/>
              <a:ahLst/>
              <a:cxnLst/>
              <a:rect l="l" t="t" r="r" b="b"/>
              <a:pathLst>
                <a:path w="2362200" h="34925">
                  <a:moveTo>
                    <a:pt x="2362200" y="0"/>
                  </a:moveTo>
                  <a:lnTo>
                    <a:pt x="0" y="0"/>
                  </a:lnTo>
                  <a:lnTo>
                    <a:pt x="0" y="34528"/>
                  </a:lnTo>
                  <a:lnTo>
                    <a:pt x="2362200" y="34528"/>
                  </a:lnTo>
                  <a:lnTo>
                    <a:pt x="2362200" y="0"/>
                  </a:lnTo>
                  <a:close/>
                </a:path>
              </a:pathLst>
            </a:custGeom>
            <a:solidFill>
              <a:srgbClr val="FBAF17"/>
            </a:solidFill>
          </p:spPr>
          <p:txBody>
            <a:bodyPr wrap="square" lIns="0" tIns="0" rIns="0" bIns="0" rtlCol="0"/>
            <a:lstStyle/>
            <a:p>
              <a:endParaRPr sz="2400"/>
            </a:p>
          </p:txBody>
        </p:sp>
        <p:sp>
          <p:nvSpPr>
            <p:cNvPr id="6" name="object 6"/>
            <p:cNvSpPr/>
            <p:nvPr/>
          </p:nvSpPr>
          <p:spPr>
            <a:xfrm>
              <a:off x="4681601" y="971565"/>
              <a:ext cx="2329180" cy="34925"/>
            </a:xfrm>
            <a:custGeom>
              <a:avLst/>
              <a:gdLst/>
              <a:ahLst/>
              <a:cxnLst/>
              <a:rect l="l" t="t" r="r" b="b"/>
              <a:pathLst>
                <a:path w="2329179" h="34925">
                  <a:moveTo>
                    <a:pt x="2328799" y="0"/>
                  </a:moveTo>
                  <a:lnTo>
                    <a:pt x="0" y="0"/>
                  </a:lnTo>
                  <a:lnTo>
                    <a:pt x="0" y="34528"/>
                  </a:lnTo>
                  <a:lnTo>
                    <a:pt x="2328799" y="34528"/>
                  </a:lnTo>
                  <a:lnTo>
                    <a:pt x="2328799" y="0"/>
                  </a:lnTo>
                  <a:close/>
                </a:path>
              </a:pathLst>
            </a:custGeom>
            <a:solidFill>
              <a:srgbClr val="FF0000"/>
            </a:solidFill>
          </p:spPr>
          <p:txBody>
            <a:bodyPr wrap="square" lIns="0" tIns="0" rIns="0" bIns="0" rtlCol="0"/>
            <a:lstStyle/>
            <a:p>
              <a:endParaRPr sz="2400"/>
            </a:p>
          </p:txBody>
        </p:sp>
      </p:grpSp>
      <p:sp>
        <p:nvSpPr>
          <p:cNvPr id="9" name="object 9"/>
          <p:cNvSpPr txBox="1">
            <a:spLocks noGrp="1"/>
          </p:cNvSpPr>
          <p:nvPr>
            <p:ph type="ftr" sz="quarter" idx="5"/>
          </p:nvPr>
        </p:nvSpPr>
        <p:spPr>
          <a:prstGeom prst="rect">
            <a:avLst/>
          </a:prstGeom>
        </p:spPr>
        <p:txBody>
          <a:bodyPr vert="horz" wrap="square" lIns="0" tIns="8467" rIns="0" bIns="0" rtlCol="0">
            <a:spAutoFit/>
          </a:bodyPr>
          <a:lstStyle/>
          <a:p>
            <a:pPr marL="577412">
              <a:spcBef>
                <a:spcPts val="67"/>
              </a:spcBef>
            </a:pPr>
            <a:r>
              <a:rPr sz="1067" b="1" dirty="0">
                <a:latin typeface="Arial"/>
                <a:cs typeface="Arial"/>
              </a:rPr>
              <a:t>BITS</a:t>
            </a:r>
            <a:r>
              <a:rPr sz="1067" b="1" spc="13" dirty="0">
                <a:latin typeface="Arial"/>
                <a:cs typeface="Arial"/>
              </a:rPr>
              <a:t> </a:t>
            </a:r>
            <a:r>
              <a:rPr sz="1067" dirty="0"/>
              <a:t>Pilani,</a:t>
            </a:r>
            <a:r>
              <a:rPr sz="1067" spc="87" dirty="0"/>
              <a:t> </a:t>
            </a:r>
            <a:r>
              <a:rPr sz="1067" dirty="0"/>
              <a:t>Pilani</a:t>
            </a:r>
            <a:r>
              <a:rPr sz="1067" spc="107" dirty="0"/>
              <a:t> </a:t>
            </a:r>
            <a:r>
              <a:rPr sz="1067" spc="-13" dirty="0"/>
              <a:t>Campus</a:t>
            </a:r>
            <a:endParaRPr sz="1067">
              <a:latin typeface="Arial"/>
              <a:cs typeface="Arial"/>
            </a:endParaRPr>
          </a:p>
        </p:txBody>
      </p:sp>
      <p:sp>
        <p:nvSpPr>
          <p:cNvPr id="7" name="object 7"/>
          <p:cNvSpPr txBox="1">
            <a:spLocks noGrp="1"/>
          </p:cNvSpPr>
          <p:nvPr>
            <p:ph type="title"/>
          </p:nvPr>
        </p:nvSpPr>
        <p:spPr>
          <a:prstGeom prst="rect">
            <a:avLst/>
          </a:prstGeom>
        </p:spPr>
        <p:txBody>
          <a:bodyPr vert="horz" wrap="square" lIns="0" tIns="16933" rIns="0" bIns="0" rtlCol="0" anchor="ctr">
            <a:spAutoFit/>
          </a:bodyPr>
          <a:lstStyle/>
          <a:p>
            <a:pPr marL="507987">
              <a:spcBef>
                <a:spcPts val="133"/>
              </a:spcBef>
            </a:pPr>
            <a:r>
              <a:rPr spc="-133" dirty="0"/>
              <a:t>Evaluation</a:t>
            </a:r>
            <a:endParaRPr/>
          </a:p>
        </p:txBody>
      </p:sp>
      <p:graphicFrame>
        <p:nvGraphicFramePr>
          <p:cNvPr id="8" name="object 8"/>
          <p:cNvGraphicFramePr>
            <a:graphicFrameLocks noGrp="1"/>
          </p:cNvGraphicFramePr>
          <p:nvPr>
            <p:extLst>
              <p:ext uri="{D42A27DB-BD31-4B8C-83A1-F6EECF244321}">
                <p14:modId xmlns:p14="http://schemas.microsoft.com/office/powerpoint/2010/main" val="2811819163"/>
              </p:ext>
            </p:extLst>
          </p:nvPr>
        </p:nvGraphicFramePr>
        <p:xfrm>
          <a:off x="797933" y="1615949"/>
          <a:ext cx="10261599" cy="3030221"/>
        </p:xfrm>
        <a:graphic>
          <a:graphicData uri="http://schemas.openxmlformats.org/drawingml/2006/table">
            <a:tbl>
              <a:tblPr firstRow="1" bandRow="1">
                <a:tableStyleId>{2D5ABB26-0587-4C30-8999-92F81FD0307C}</a:tableStyleId>
              </a:tblPr>
              <a:tblGrid>
                <a:gridCol w="3306233">
                  <a:extLst>
                    <a:ext uri="{9D8B030D-6E8A-4147-A177-3AD203B41FA5}">
                      <a16:colId xmlns:a16="http://schemas.microsoft.com/office/drawing/2014/main" val="20000"/>
                    </a:ext>
                  </a:extLst>
                </a:gridCol>
                <a:gridCol w="4903047">
                  <a:extLst>
                    <a:ext uri="{9D8B030D-6E8A-4147-A177-3AD203B41FA5}">
                      <a16:colId xmlns:a16="http://schemas.microsoft.com/office/drawing/2014/main" val="20001"/>
                    </a:ext>
                  </a:extLst>
                </a:gridCol>
                <a:gridCol w="2052319">
                  <a:extLst>
                    <a:ext uri="{9D8B030D-6E8A-4147-A177-3AD203B41FA5}">
                      <a16:colId xmlns:a16="http://schemas.microsoft.com/office/drawing/2014/main" val="20002"/>
                    </a:ext>
                  </a:extLst>
                </a:gridCol>
              </a:tblGrid>
              <a:tr h="909320">
                <a:tc>
                  <a:txBody>
                    <a:bodyPr/>
                    <a:lstStyle/>
                    <a:p>
                      <a:pPr marL="593725">
                        <a:lnSpc>
                          <a:spcPct val="100000"/>
                        </a:lnSpc>
                        <a:spcBef>
                          <a:spcPts val="1585"/>
                        </a:spcBef>
                      </a:pPr>
                      <a:r>
                        <a:rPr sz="2400" b="1" spc="-10" dirty="0">
                          <a:solidFill>
                            <a:srgbClr val="006FC0"/>
                          </a:solidFill>
                          <a:latin typeface="Arial"/>
                          <a:cs typeface="Arial"/>
                        </a:rPr>
                        <a:t>Component</a:t>
                      </a:r>
                      <a:endParaRPr sz="2400" dirty="0">
                        <a:latin typeface="Arial"/>
                        <a:cs typeface="Arial"/>
                      </a:endParaRPr>
                    </a:p>
                  </a:txBody>
                  <a:tcPr marL="0" marR="0" marT="26839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R="31750" algn="ctr">
                        <a:lnSpc>
                          <a:spcPct val="100000"/>
                        </a:lnSpc>
                        <a:spcBef>
                          <a:spcPts val="1580"/>
                        </a:spcBef>
                      </a:pPr>
                      <a:r>
                        <a:rPr sz="2400" b="1" spc="-10" dirty="0">
                          <a:solidFill>
                            <a:srgbClr val="006FC0"/>
                          </a:solidFill>
                          <a:latin typeface="Calibri"/>
                          <a:cs typeface="Calibri"/>
                        </a:rPr>
                        <a:t>Details</a:t>
                      </a:r>
                      <a:endParaRPr sz="2400">
                        <a:latin typeface="Calibri"/>
                        <a:cs typeface="Calibri"/>
                      </a:endParaRPr>
                    </a:p>
                  </a:txBody>
                  <a:tcPr marL="0" marR="0" marT="26754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161925">
                        <a:lnSpc>
                          <a:spcPct val="100000"/>
                        </a:lnSpc>
                        <a:spcBef>
                          <a:spcPts val="1585"/>
                        </a:spcBef>
                      </a:pPr>
                      <a:r>
                        <a:rPr sz="2400" b="1" spc="-10" dirty="0">
                          <a:solidFill>
                            <a:srgbClr val="006FC0"/>
                          </a:solidFill>
                          <a:latin typeface="Arial"/>
                          <a:cs typeface="Arial"/>
                        </a:rPr>
                        <a:t>Weightage</a:t>
                      </a:r>
                      <a:endParaRPr sz="2400">
                        <a:latin typeface="Arial"/>
                        <a:cs typeface="Arial"/>
                      </a:endParaRPr>
                    </a:p>
                  </a:txBody>
                  <a:tcPr marL="0" marR="0" marT="26839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0"/>
                  </a:ext>
                </a:extLst>
              </a:tr>
              <a:tr h="706967">
                <a:tc>
                  <a:txBody>
                    <a:bodyPr/>
                    <a:lstStyle/>
                    <a:p>
                      <a:pPr marL="87630">
                        <a:lnSpc>
                          <a:spcPct val="100000"/>
                        </a:lnSpc>
                        <a:spcBef>
                          <a:spcPts val="335"/>
                        </a:spcBef>
                      </a:pPr>
                      <a:r>
                        <a:rPr sz="2000" dirty="0">
                          <a:latin typeface="Arial MT"/>
                          <a:cs typeface="Arial MT"/>
                        </a:rPr>
                        <a:t>Assignment</a:t>
                      </a:r>
                      <a:r>
                        <a:rPr lang="en-US" sz="2000" spc="-80" dirty="0">
                          <a:latin typeface="Arial MT"/>
                          <a:cs typeface="Arial MT"/>
                        </a:rPr>
                        <a:t>s</a:t>
                      </a:r>
                      <a:r>
                        <a:rPr lang="en-US" sz="2000" spc="-80" baseline="0" dirty="0">
                          <a:latin typeface="Arial MT"/>
                          <a:cs typeface="Arial MT"/>
                        </a:rPr>
                        <a:t> </a:t>
                      </a:r>
                      <a:endParaRPr sz="2000" dirty="0">
                        <a:latin typeface="Arial MT"/>
                        <a:cs typeface="Arial MT"/>
                      </a:endParaRPr>
                    </a:p>
                  </a:txBody>
                  <a:tcPr marL="0" marR="0" marT="56727"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7EAEC"/>
                    </a:solidFill>
                  </a:tcPr>
                </a:tc>
                <a:tc>
                  <a:txBody>
                    <a:bodyPr/>
                    <a:lstStyle/>
                    <a:p>
                      <a:pPr marL="36195">
                        <a:lnSpc>
                          <a:spcPct val="100000"/>
                        </a:lnSpc>
                        <a:spcBef>
                          <a:spcPts val="335"/>
                        </a:spcBef>
                      </a:pPr>
                      <a:r>
                        <a:rPr lang="en-US" sz="2000" dirty="0">
                          <a:latin typeface="Calibri"/>
                          <a:cs typeface="Calibri"/>
                        </a:rPr>
                        <a:t>Plan will  be shared by second week</a:t>
                      </a:r>
                      <a:endParaRPr sz="2000" dirty="0">
                        <a:latin typeface="Calibri"/>
                        <a:cs typeface="Calibri"/>
                      </a:endParaRPr>
                    </a:p>
                  </a:txBody>
                  <a:tcPr marL="0" marR="0" marT="56727"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7EAEC"/>
                    </a:solidFill>
                  </a:tcPr>
                </a:tc>
                <a:tc>
                  <a:txBody>
                    <a:bodyPr/>
                    <a:lstStyle/>
                    <a:p>
                      <a:pPr marL="36195">
                        <a:lnSpc>
                          <a:spcPct val="100000"/>
                        </a:lnSpc>
                        <a:spcBef>
                          <a:spcPts val="335"/>
                        </a:spcBef>
                      </a:pPr>
                      <a:r>
                        <a:rPr lang="en-US" sz="2000" spc="-25" dirty="0">
                          <a:latin typeface="Arial MT"/>
                          <a:cs typeface="Arial MT"/>
                        </a:rPr>
                        <a:t>35</a:t>
                      </a:r>
                      <a:r>
                        <a:rPr sz="2000" spc="-25" dirty="0">
                          <a:latin typeface="Arial MT"/>
                          <a:cs typeface="Arial MT"/>
                        </a:rPr>
                        <a:t>%</a:t>
                      </a:r>
                      <a:endParaRPr sz="2000" dirty="0">
                        <a:latin typeface="Arial MT"/>
                        <a:cs typeface="Arial MT"/>
                      </a:endParaRPr>
                    </a:p>
                  </a:txBody>
                  <a:tcPr marL="0" marR="0" marT="56727"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7EAEC"/>
                    </a:solidFill>
                  </a:tcPr>
                </a:tc>
                <a:extLst>
                  <a:ext uri="{0D108BD9-81ED-4DB2-BD59-A6C34878D82A}">
                    <a16:rowId xmlns:a16="http://schemas.microsoft.com/office/drawing/2014/main" val="10001"/>
                  </a:ext>
                </a:extLst>
              </a:tr>
              <a:tr h="706967">
                <a:tc>
                  <a:txBody>
                    <a:bodyPr/>
                    <a:lstStyle/>
                    <a:p>
                      <a:pPr marL="87630">
                        <a:lnSpc>
                          <a:spcPct val="100000"/>
                        </a:lnSpc>
                        <a:spcBef>
                          <a:spcPts val="335"/>
                        </a:spcBef>
                      </a:pPr>
                      <a:r>
                        <a:rPr sz="2000" spc="-10" dirty="0">
                          <a:latin typeface="Arial MT"/>
                          <a:cs typeface="Arial MT"/>
                        </a:rPr>
                        <a:t>Mid-</a:t>
                      </a:r>
                      <a:r>
                        <a:rPr sz="2000" dirty="0">
                          <a:latin typeface="Arial MT"/>
                          <a:cs typeface="Arial MT"/>
                        </a:rPr>
                        <a:t>term</a:t>
                      </a:r>
                      <a:r>
                        <a:rPr sz="2000" spc="-20" dirty="0">
                          <a:latin typeface="Arial MT"/>
                          <a:cs typeface="Arial MT"/>
                        </a:rPr>
                        <a:t> Exam</a:t>
                      </a:r>
                      <a:endParaRPr sz="200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dirty="0">
                          <a:latin typeface="Calibri"/>
                          <a:cs typeface="Calibri"/>
                        </a:rPr>
                        <a:t>Closed</a:t>
                      </a:r>
                      <a:r>
                        <a:rPr sz="2000" spc="-30" dirty="0">
                          <a:latin typeface="Calibri"/>
                          <a:cs typeface="Calibri"/>
                        </a:rPr>
                        <a:t> </a:t>
                      </a:r>
                      <a:r>
                        <a:rPr sz="2000" spc="-20" dirty="0">
                          <a:latin typeface="Calibri"/>
                          <a:cs typeface="Calibri"/>
                        </a:rPr>
                        <a:t>Book</a:t>
                      </a:r>
                      <a:endParaRPr sz="2000">
                        <a:latin typeface="Calibri"/>
                        <a:cs typeface="Calibri"/>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spc="-25" dirty="0">
                          <a:latin typeface="Arial MT"/>
                          <a:cs typeface="Arial MT"/>
                        </a:rPr>
                        <a:t>30%</a:t>
                      </a:r>
                      <a:endParaRPr sz="2000" dirty="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706967">
                <a:tc>
                  <a:txBody>
                    <a:bodyPr/>
                    <a:lstStyle/>
                    <a:p>
                      <a:pPr marL="87630">
                        <a:lnSpc>
                          <a:spcPct val="100000"/>
                        </a:lnSpc>
                        <a:spcBef>
                          <a:spcPts val="335"/>
                        </a:spcBef>
                      </a:pPr>
                      <a:r>
                        <a:rPr sz="2000" dirty="0">
                          <a:latin typeface="Arial MT"/>
                          <a:cs typeface="Arial MT"/>
                        </a:rPr>
                        <a:t>End</a:t>
                      </a:r>
                      <a:r>
                        <a:rPr sz="2000" spc="-40" dirty="0">
                          <a:latin typeface="Arial MT"/>
                          <a:cs typeface="Arial MT"/>
                        </a:rPr>
                        <a:t> </a:t>
                      </a:r>
                      <a:r>
                        <a:rPr sz="2000" dirty="0">
                          <a:latin typeface="Arial MT"/>
                          <a:cs typeface="Arial MT"/>
                        </a:rPr>
                        <a:t>Semester</a:t>
                      </a:r>
                      <a:r>
                        <a:rPr sz="2000" spc="-70" dirty="0">
                          <a:latin typeface="Arial MT"/>
                          <a:cs typeface="Arial MT"/>
                        </a:rPr>
                        <a:t> </a:t>
                      </a:r>
                      <a:r>
                        <a:rPr sz="2000" spc="-20" dirty="0">
                          <a:latin typeface="Arial MT"/>
                          <a:cs typeface="Arial MT"/>
                        </a:rPr>
                        <a:t>Exam</a:t>
                      </a:r>
                      <a:endParaRPr sz="200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dirty="0">
                          <a:latin typeface="Calibri"/>
                          <a:cs typeface="Calibri"/>
                        </a:rPr>
                        <a:t>Open</a:t>
                      </a:r>
                      <a:r>
                        <a:rPr sz="2000" spc="-40" dirty="0">
                          <a:latin typeface="Calibri"/>
                          <a:cs typeface="Calibri"/>
                        </a:rPr>
                        <a:t> </a:t>
                      </a:r>
                      <a:r>
                        <a:rPr sz="2000" spc="-20" dirty="0">
                          <a:latin typeface="Calibri"/>
                          <a:cs typeface="Calibri"/>
                        </a:rPr>
                        <a:t>Book</a:t>
                      </a:r>
                      <a:endParaRPr sz="2000">
                        <a:latin typeface="Calibri"/>
                        <a:cs typeface="Calibri"/>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spc="-25" dirty="0">
                          <a:latin typeface="Arial MT"/>
                          <a:cs typeface="Arial MT"/>
                        </a:rPr>
                        <a:t>3</a:t>
                      </a:r>
                      <a:r>
                        <a:rPr lang="en-US" sz="2000" spc="-25" dirty="0">
                          <a:latin typeface="Arial MT"/>
                          <a:cs typeface="Arial MT"/>
                        </a:rPr>
                        <a:t>5</a:t>
                      </a:r>
                      <a:r>
                        <a:rPr sz="2000" spc="-25" dirty="0">
                          <a:latin typeface="Arial MT"/>
                          <a:cs typeface="Arial MT"/>
                        </a:rPr>
                        <a:t>%</a:t>
                      </a:r>
                      <a:endParaRPr sz="2000" dirty="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69254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D2006-F0E0-0B9B-8C1D-D3D76CF8F43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14D52F-B04F-5630-3B25-04BF6B5F5AC1}"/>
              </a:ext>
            </a:extLst>
          </p:cNvPr>
          <p:cNvSpPr>
            <a:spLocks noGrp="1"/>
          </p:cNvSpPr>
          <p:nvPr>
            <p:ph type="body" sz="quarter" idx="1"/>
          </p:nvPr>
        </p:nvSpPr>
        <p:spPr/>
        <p:txBody>
          <a:bodyPr/>
          <a:lstStyle/>
          <a:p>
            <a:r>
              <a:rPr lang="en-US" dirty="0"/>
              <a:t>Agenda</a:t>
            </a:r>
            <a:endParaRPr lang="en-IN" dirty="0"/>
          </a:p>
          <a:p>
            <a:endParaRPr lang="en-IN" dirty="0"/>
          </a:p>
        </p:txBody>
      </p:sp>
      <p:sp>
        <p:nvSpPr>
          <p:cNvPr id="3" name="Rectangle 2">
            <a:extLst>
              <a:ext uri="{FF2B5EF4-FFF2-40B4-BE49-F238E27FC236}">
                <a16:creationId xmlns:a16="http://schemas.microsoft.com/office/drawing/2014/main" id="{428CF338-556A-4413-D261-3FBCBEEBBC52}"/>
              </a:ext>
            </a:extLst>
          </p:cNvPr>
          <p:cNvSpPr/>
          <p:nvPr/>
        </p:nvSpPr>
        <p:spPr>
          <a:xfrm>
            <a:off x="0" y="1295400"/>
            <a:ext cx="11010836" cy="3970318"/>
          </a:xfrm>
          <a:prstGeom prst="rect">
            <a:avLst/>
          </a:prstGeom>
        </p:spPr>
        <p:txBody>
          <a:bodyPr wrap="square">
            <a:spAutoFit/>
          </a:bodyPr>
          <a:lstStyle/>
          <a:p>
            <a:pPr marL="285750" indent="-285750">
              <a:buFont typeface="Arial" panose="020B0604020202020204" pitchFamily="34" charset="0"/>
              <a:buChar char="•"/>
            </a:pPr>
            <a:r>
              <a:rPr lang="en-IN" sz="2800" dirty="0">
                <a:latin typeface="Cambria" panose="02040503050406030204" pitchFamily="18" charset="0"/>
                <a:ea typeface="Cambria" panose="02040503050406030204" pitchFamily="18" charset="0"/>
              </a:rPr>
              <a:t>Introduction to LLMs and Generative AI</a:t>
            </a:r>
          </a:p>
          <a:p>
            <a:pPr marL="742950" lvl="1" indent="-285750">
              <a:buFont typeface="Arial" panose="020B0604020202020204" pitchFamily="34" charset="0"/>
              <a:buChar char="•"/>
            </a:pPr>
            <a:r>
              <a:rPr lang="en-IN" sz="2800" spc="-4" dirty="0">
                <a:latin typeface="Cambria" panose="02040503050406030204" pitchFamily="18" charset="0"/>
                <a:ea typeface="Cambria" panose="02040503050406030204" pitchFamily="18" charset="0"/>
                <a:cs typeface="Calibri"/>
              </a:rPr>
              <a:t>Probabilistic</a:t>
            </a:r>
            <a:r>
              <a:rPr lang="en-IN" sz="2800" spc="-23" dirty="0">
                <a:latin typeface="Cambria" panose="02040503050406030204" pitchFamily="18" charset="0"/>
                <a:ea typeface="Cambria" panose="02040503050406030204" pitchFamily="18" charset="0"/>
                <a:cs typeface="Calibri"/>
              </a:rPr>
              <a:t> </a:t>
            </a:r>
            <a:r>
              <a:rPr lang="en-IN" sz="2800" spc="-4" dirty="0">
                <a:latin typeface="Cambria" panose="02040503050406030204" pitchFamily="18" charset="0"/>
                <a:ea typeface="Cambria" panose="02040503050406030204" pitchFamily="18" charset="0"/>
                <a:cs typeface="Calibri"/>
              </a:rPr>
              <a:t>Language</a:t>
            </a:r>
            <a:r>
              <a:rPr lang="en-IN" sz="2800" spc="-23" dirty="0">
                <a:latin typeface="Cambria" panose="02040503050406030204" pitchFamily="18" charset="0"/>
                <a:ea typeface="Cambria" panose="02040503050406030204" pitchFamily="18" charset="0"/>
                <a:cs typeface="Calibri"/>
              </a:rPr>
              <a:t> </a:t>
            </a:r>
            <a:r>
              <a:rPr lang="en-IN" sz="2800" spc="-4" dirty="0">
                <a:latin typeface="Cambria" panose="02040503050406030204" pitchFamily="18" charset="0"/>
                <a:ea typeface="Cambria" panose="02040503050406030204" pitchFamily="18" charset="0"/>
                <a:cs typeface="Calibri"/>
              </a:rPr>
              <a:t>Models</a:t>
            </a:r>
          </a:p>
          <a:p>
            <a:pPr marL="742950" lvl="1" indent="-285750">
              <a:buFont typeface="Arial" panose="020B0604020202020204" pitchFamily="34" charset="0"/>
              <a:buChar char="•"/>
            </a:pPr>
            <a:r>
              <a:rPr lang="en-US" sz="2800" dirty="0">
                <a:latin typeface="Cambria" panose="02040503050406030204" pitchFamily="18" charset="0"/>
                <a:ea typeface="Cambria" panose="02040503050406030204" pitchFamily="18" charset="0"/>
              </a:rPr>
              <a:t>Conditional generation of text</a:t>
            </a:r>
            <a:endParaRPr lang="en-IN" sz="2800"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IN" sz="2800" dirty="0">
                <a:latin typeface="Cambria" panose="02040503050406030204" pitchFamily="18" charset="0"/>
                <a:ea typeface="Cambria" panose="02040503050406030204" pitchFamily="18" charset="0"/>
              </a:rPr>
              <a:t>LLM and Generative AI</a:t>
            </a:r>
          </a:p>
          <a:p>
            <a:pPr marL="285750" indent="-285750">
              <a:buFont typeface="Arial" panose="020B0604020202020204" pitchFamily="34" charset="0"/>
              <a:buChar char="•"/>
            </a:pPr>
            <a:r>
              <a:rPr lang="en-IN" sz="2800" dirty="0">
                <a:latin typeface="Cambria" panose="02040503050406030204" pitchFamily="18" charset="0"/>
                <a:ea typeface="Cambria" panose="02040503050406030204" pitchFamily="18" charset="0"/>
              </a:rPr>
              <a:t>Building blocks of LLM</a:t>
            </a:r>
          </a:p>
          <a:p>
            <a:pPr marL="742950" lvl="1" indent="-285750">
              <a:buFont typeface="Arial" panose="020B0604020202020204" pitchFamily="34" charset="0"/>
              <a:buChar char="•"/>
            </a:pPr>
            <a:r>
              <a:rPr lang="en-IN" sz="2800" dirty="0">
                <a:latin typeface="Cambria" panose="02040503050406030204" pitchFamily="18" charset="0"/>
                <a:ea typeface="Cambria" panose="02040503050406030204" pitchFamily="18" charset="0"/>
              </a:rPr>
              <a:t>Tokenization: BPE, Byte-level BPE</a:t>
            </a:r>
          </a:p>
          <a:p>
            <a:pPr marL="742950" lvl="1" indent="-285750">
              <a:buFont typeface="Arial" panose="020B0604020202020204" pitchFamily="34" charset="0"/>
              <a:buChar char="•"/>
            </a:pPr>
            <a:r>
              <a:rPr lang="en-US" sz="2800" dirty="0">
                <a:latin typeface="Cambria" panose="02040503050406030204" pitchFamily="18" charset="0"/>
                <a:ea typeface="Cambria" panose="02040503050406030204" pitchFamily="18" charset="0"/>
              </a:rPr>
              <a:t>Token Embeddings and positional encoding</a:t>
            </a:r>
            <a:endParaRPr lang="en-IN" sz="2800"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US" sz="2800" dirty="0">
                <a:latin typeface="Cambria" panose="02040503050406030204" pitchFamily="18" charset="0"/>
                <a:ea typeface="Cambria" panose="02040503050406030204" pitchFamily="18" charset="0"/>
              </a:rPr>
              <a:t>Language Modelling Head</a:t>
            </a:r>
            <a:endParaRPr lang="en-IN" sz="2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2800" dirty="0">
                <a:latin typeface="Cambria" panose="02040503050406030204" pitchFamily="18" charset="0"/>
                <a:ea typeface="Cambria" panose="02040503050406030204" pitchFamily="18" charset="0"/>
              </a:rPr>
              <a:t>LLM landscape</a:t>
            </a:r>
          </a:p>
        </p:txBody>
      </p:sp>
    </p:spTree>
    <p:extLst>
      <p:ext uri="{BB962C8B-B14F-4D97-AF65-F5344CB8AC3E}">
        <p14:creationId xmlns:p14="http://schemas.microsoft.com/office/powerpoint/2010/main" val="19672336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179133" y="3075905"/>
            <a:ext cx="8432800" cy="1143000"/>
          </a:xfrm>
        </p:spPr>
        <p:txBody>
          <a:bodyPr/>
          <a:lstStyle/>
          <a:p>
            <a:r>
              <a:rPr lang="en-IN" dirty="0"/>
              <a:t>Introduction to LLMs and Generative AI</a:t>
            </a:r>
          </a:p>
          <a:p>
            <a:endParaRPr lang="en-IN" dirty="0"/>
          </a:p>
        </p:txBody>
      </p:sp>
    </p:spTree>
    <p:extLst>
      <p:ext uri="{BB962C8B-B14F-4D97-AF65-F5344CB8AC3E}">
        <p14:creationId xmlns:p14="http://schemas.microsoft.com/office/powerpoint/2010/main" val="74363425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Language AI</a:t>
            </a:r>
          </a:p>
        </p:txBody>
      </p:sp>
      <p:pic>
        <p:nvPicPr>
          <p:cNvPr id="3" name="Picture 2"/>
          <p:cNvPicPr>
            <a:picLocks noChangeAspect="1"/>
          </p:cNvPicPr>
          <p:nvPr/>
        </p:nvPicPr>
        <p:blipFill>
          <a:blip r:embed="rId3"/>
          <a:stretch>
            <a:fillRect/>
          </a:stretch>
        </p:blipFill>
        <p:spPr>
          <a:xfrm>
            <a:off x="2038350" y="1138908"/>
            <a:ext cx="8705850" cy="4889900"/>
          </a:xfrm>
          <a:prstGeom prst="rect">
            <a:avLst/>
          </a:prstGeom>
        </p:spPr>
      </p:pic>
    </p:spTree>
    <p:extLst>
      <p:ext uri="{BB962C8B-B14F-4D97-AF65-F5344CB8AC3E}">
        <p14:creationId xmlns:p14="http://schemas.microsoft.com/office/powerpoint/2010/main" val="324661601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6"/>
          <p:cNvSpPr>
            <a:spLocks noGrp="1"/>
          </p:cNvSpPr>
          <p:nvPr>
            <p:ph type="title" hasCustomPrompt="1"/>
          </p:nvPr>
        </p:nvSpPr>
        <p:spPr>
          <a:prstGeom prst="rect">
            <a:avLst/>
          </a:prstGeom>
          <a:noFill/>
          <a:ln/>
        </p:spPr>
        <p:txBody>
          <a:bodyPr vert="horz" wrap="square" lIns="0" tIns="0" rIns="0" bIns="0" rtlCol="0" anchor="ctr">
            <a:normAutofit/>
          </a:bodyPr>
          <a:lstStyle/>
          <a:p>
            <a:r>
              <a:rPr lang="en-US" dirty="0"/>
              <a:t>Probabilistic Language Models</a:t>
            </a:r>
          </a:p>
        </p:txBody>
      </p:sp>
      <p:sp>
        <p:nvSpPr>
          <p:cNvPr id="25" name="Slide Number Placeholder 0"/>
          <p:cNvSpPr>
            <a:spLocks noGrp="1"/>
          </p:cNvSpPr>
          <p:nvPr>
            <p:ph type="sldNum" sz="quarter" idx="4294967295"/>
          </p:nvPr>
        </p:nvSpPr>
        <p:spPr>
          <a:xfrm>
            <a:off x="11734800" y="4956175"/>
            <a:ext cx="457200" cy="182563"/>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7A7A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z="2000" smtClean="0"/>
              <a:pPr/>
              <a:t>8</a:t>
            </a:fld>
            <a:endParaRPr lang="en-US" sz="2000"/>
          </a:p>
        </p:txBody>
      </p:sp>
      <p:sp>
        <p:nvSpPr>
          <p:cNvPr id="3" name="Text 1"/>
          <p:cNvSpPr txBox="1"/>
          <p:nvPr/>
        </p:nvSpPr>
        <p:spPr>
          <a:xfrm>
            <a:off x="426720" y="1316736"/>
            <a:ext cx="11338560" cy="390144"/>
          </a:xfrm>
          <a:prstGeom prst="rect">
            <a:avLst/>
          </a:prstGeom>
          <a:noFill/>
          <a:ln/>
        </p:spPr>
        <p:txBody>
          <a:bodyPr wrap="square" lIns="847" tIns="847" rIns="847" bIns="847" rtlCol="0" anchor="ctr"/>
          <a:lstStyle/>
          <a:p>
            <a:r>
              <a:rPr lang="en-US" sz="2000" b="1" dirty="0">
                <a:solidFill>
                  <a:srgbClr val="C8102E"/>
                </a:solidFill>
                <a:latin typeface="Calibri" pitchFamily="34" charset="0"/>
                <a:ea typeface="Calibri" pitchFamily="34" charset="-122"/>
                <a:cs typeface="Calibri" pitchFamily="34" charset="-120"/>
              </a:rPr>
              <a:t>A language model</a:t>
            </a:r>
            <a:r>
              <a:rPr lang="en-US" sz="2000" dirty="0">
                <a:solidFill>
                  <a:srgbClr val="1A1A1A"/>
                </a:solidFill>
                <a:latin typeface="Calibri" pitchFamily="34" charset="0"/>
                <a:ea typeface="Calibri" pitchFamily="34" charset="-122"/>
                <a:cs typeface="Calibri" pitchFamily="34" charset="-120"/>
              </a:rPr>
              <a:t> assigns probabilities to sequences of tokens. It can compute either:</a:t>
            </a:r>
            <a:endParaRPr lang="en-US" sz="2000" dirty="0"/>
          </a:p>
        </p:txBody>
      </p:sp>
      <p:sp>
        <p:nvSpPr>
          <p:cNvPr id="4" name="1  Probability of a sentence"/>
          <p:cNvSpPr/>
          <p:nvPr/>
        </p:nvSpPr>
        <p:spPr>
          <a:xfrm>
            <a:off x="426720" y="1828800"/>
            <a:ext cx="5486400" cy="1085215"/>
          </a:xfrm>
          <a:prstGeom prst="roundRect">
            <a:avLst>
              <a:gd name="adj" fmla="val 7619"/>
            </a:avLst>
          </a:prstGeom>
          <a:solidFill>
            <a:srgbClr val="E3EEF9"/>
          </a:solidFill>
          <a:ln w="12700">
            <a:solidFill>
              <a:srgbClr val="E3EEF9"/>
            </a:solidFill>
            <a:prstDash val="solid"/>
          </a:ln>
        </p:spPr>
        <p:txBody>
          <a:bodyPr/>
          <a:lstStyle/>
          <a:p>
            <a:r>
              <a:rPr lang="en-US" sz="2000" b="1" dirty="0">
                <a:solidFill>
                  <a:srgbClr val="1A1A1A"/>
                </a:solidFill>
                <a:latin typeface="Calibri" pitchFamily="34" charset="0"/>
                <a:ea typeface="Calibri" pitchFamily="34" charset="-122"/>
                <a:cs typeface="Calibri" pitchFamily="34" charset="-120"/>
              </a:rPr>
              <a:t>1  Probability of a sentence</a:t>
            </a:r>
            <a:endParaRPr lang="en-US" sz="2000" dirty="0"/>
          </a:p>
          <a:p>
            <a:pPr algn="ctr"/>
            <a:endParaRPr lang="en-US" sz="2000" dirty="0">
              <a:solidFill>
                <a:srgbClr val="1A1A1A"/>
              </a:solidFill>
              <a:latin typeface="Cambria" pitchFamily="34" charset="0"/>
              <a:ea typeface="Cambria" pitchFamily="34" charset="-122"/>
              <a:cs typeface="Cambria" pitchFamily="34" charset="-120"/>
            </a:endParaRPr>
          </a:p>
          <a:p>
            <a:pPr algn="ctr"/>
            <a:r>
              <a:rPr lang="en-US" sz="2000" dirty="0">
                <a:solidFill>
                  <a:srgbClr val="1A1A1A"/>
                </a:solidFill>
                <a:latin typeface="Cambria" pitchFamily="34" charset="0"/>
                <a:ea typeface="Cambria" pitchFamily="34" charset="-122"/>
                <a:cs typeface="Cambria" pitchFamily="34" charset="-120"/>
              </a:rPr>
              <a:t>P(W) = P(w</a:t>
            </a:r>
            <a:r>
              <a:rPr lang="en-US" sz="2000" baseline="-40000" dirty="0">
                <a:solidFill>
                  <a:srgbClr val="1A1A1A"/>
                </a:solidFill>
                <a:latin typeface="Cambria" pitchFamily="34" charset="0"/>
                <a:ea typeface="Cambria" pitchFamily="34" charset="-122"/>
                <a:cs typeface="Cambria" pitchFamily="34" charset="-120"/>
              </a:rPr>
              <a:t>1</a:t>
            </a:r>
            <a:r>
              <a:rPr lang="en-US" sz="2000" dirty="0">
                <a:solidFill>
                  <a:srgbClr val="1A1A1A"/>
                </a:solidFill>
                <a:latin typeface="Cambria" pitchFamily="34" charset="0"/>
                <a:ea typeface="Cambria" pitchFamily="34" charset="-122"/>
                <a:cs typeface="Cambria" pitchFamily="34" charset="-120"/>
              </a:rPr>
              <a:t>, w</a:t>
            </a:r>
            <a:r>
              <a:rPr lang="en-US" sz="2000" baseline="-40000" dirty="0">
                <a:solidFill>
                  <a:srgbClr val="1A1A1A"/>
                </a:solidFill>
                <a:latin typeface="Cambria" pitchFamily="34" charset="0"/>
                <a:ea typeface="Cambria" pitchFamily="34" charset="-122"/>
                <a:cs typeface="Cambria" pitchFamily="34" charset="-120"/>
              </a:rPr>
              <a:t>2</a:t>
            </a:r>
            <a:r>
              <a:rPr lang="en-US" sz="2000" dirty="0">
                <a:solidFill>
                  <a:srgbClr val="1A1A1A"/>
                </a:solidFill>
                <a:latin typeface="Cambria" pitchFamily="34" charset="0"/>
                <a:ea typeface="Cambria" pitchFamily="34" charset="-122"/>
                <a:cs typeface="Cambria" pitchFamily="34" charset="-120"/>
              </a:rPr>
              <a:t>, …, </a:t>
            </a:r>
            <a:r>
              <a:rPr lang="en-US" sz="2000" dirty="0" err="1">
                <a:solidFill>
                  <a:srgbClr val="1A1A1A"/>
                </a:solidFill>
                <a:latin typeface="Cambria" pitchFamily="34" charset="0"/>
                <a:ea typeface="Cambria" pitchFamily="34" charset="-122"/>
                <a:cs typeface="Cambria" pitchFamily="34" charset="-120"/>
              </a:rPr>
              <a:t>w</a:t>
            </a:r>
            <a:r>
              <a:rPr lang="en-US" sz="2000" baseline="-40000" dirty="0" err="1">
                <a:solidFill>
                  <a:srgbClr val="1A1A1A"/>
                </a:solidFill>
                <a:latin typeface="Cambria" pitchFamily="34" charset="0"/>
                <a:ea typeface="Cambria" pitchFamily="34" charset="-122"/>
                <a:cs typeface="Cambria" pitchFamily="34" charset="-120"/>
              </a:rPr>
              <a:t>n</a:t>
            </a:r>
            <a:r>
              <a:rPr lang="en-US" sz="2000" dirty="0">
                <a:solidFill>
                  <a:srgbClr val="1A1A1A"/>
                </a:solidFill>
                <a:latin typeface="Cambria" pitchFamily="34" charset="0"/>
                <a:ea typeface="Cambria" pitchFamily="34" charset="-122"/>
                <a:cs typeface="Cambria" pitchFamily="34" charset="-120"/>
              </a:rPr>
              <a:t>)</a:t>
            </a:r>
            <a:endParaRPr lang="en-US" sz="2000" dirty="0"/>
          </a:p>
        </p:txBody>
      </p:sp>
      <p:sp>
        <p:nvSpPr>
          <p:cNvPr id="7" name="2  Probability of the next token"/>
          <p:cNvSpPr/>
          <p:nvPr/>
        </p:nvSpPr>
        <p:spPr>
          <a:xfrm>
            <a:off x="6278880" y="1828800"/>
            <a:ext cx="5486400" cy="1085215"/>
          </a:xfrm>
          <a:prstGeom prst="roundRect">
            <a:avLst>
              <a:gd name="adj" fmla="val 7619"/>
            </a:avLst>
          </a:prstGeom>
          <a:solidFill>
            <a:srgbClr val="FDF2E2"/>
          </a:solidFill>
          <a:ln w="12700">
            <a:solidFill>
              <a:srgbClr val="FDF2E2"/>
            </a:solidFill>
            <a:prstDash val="solid"/>
          </a:ln>
        </p:spPr>
        <p:txBody>
          <a:bodyPr/>
          <a:lstStyle/>
          <a:p>
            <a:pPr marL="457200" indent="-457200">
              <a:buAutoNum type="arabicPlain" startAt="2"/>
            </a:pPr>
            <a:r>
              <a:rPr lang="en-US" sz="2000" b="1" dirty="0">
                <a:solidFill>
                  <a:srgbClr val="1A1A1A"/>
                </a:solidFill>
                <a:latin typeface="Calibri" pitchFamily="34" charset="0"/>
                <a:ea typeface="Calibri" pitchFamily="34" charset="-122"/>
                <a:cs typeface="Calibri" pitchFamily="34" charset="-120"/>
              </a:rPr>
              <a:t>Probability of the next token</a:t>
            </a:r>
          </a:p>
          <a:p>
            <a:pPr algn="ctr"/>
            <a:endParaRPr lang="en-US" sz="2000" dirty="0">
              <a:solidFill>
                <a:srgbClr val="1A1A1A"/>
              </a:solidFill>
              <a:latin typeface="Cambria" pitchFamily="34" charset="0"/>
              <a:ea typeface="Cambria" pitchFamily="34" charset="-122"/>
              <a:cs typeface="Cambria" pitchFamily="34" charset="-120"/>
            </a:endParaRPr>
          </a:p>
          <a:p>
            <a:pPr algn="ctr"/>
            <a:r>
              <a:rPr lang="en-US" sz="2000" dirty="0">
                <a:solidFill>
                  <a:srgbClr val="1A1A1A"/>
                </a:solidFill>
                <a:latin typeface="Cambria" pitchFamily="34" charset="0"/>
                <a:ea typeface="Cambria" pitchFamily="34" charset="-122"/>
                <a:cs typeface="Cambria" pitchFamily="34" charset="-120"/>
              </a:rPr>
              <a:t>P(</a:t>
            </a:r>
            <a:r>
              <a:rPr lang="en-US" sz="2000" dirty="0" err="1">
                <a:solidFill>
                  <a:srgbClr val="1A1A1A"/>
                </a:solidFill>
                <a:latin typeface="Cambria" pitchFamily="34" charset="0"/>
                <a:ea typeface="Cambria" pitchFamily="34" charset="-122"/>
                <a:cs typeface="Cambria" pitchFamily="34" charset="-120"/>
              </a:rPr>
              <a:t>w</a:t>
            </a:r>
            <a:r>
              <a:rPr lang="en-US" sz="2000" baseline="-40000" dirty="0" err="1">
                <a:solidFill>
                  <a:srgbClr val="1A1A1A"/>
                </a:solidFill>
                <a:latin typeface="Cambria" pitchFamily="34" charset="0"/>
                <a:ea typeface="Cambria" pitchFamily="34" charset="-122"/>
                <a:cs typeface="Cambria" pitchFamily="34" charset="-120"/>
              </a:rPr>
              <a:t>n</a:t>
            </a:r>
            <a:r>
              <a:rPr lang="en-US" sz="2000" dirty="0">
                <a:solidFill>
                  <a:srgbClr val="1A1A1A"/>
                </a:solidFill>
                <a:latin typeface="Cambria" pitchFamily="34" charset="0"/>
                <a:ea typeface="Cambria" pitchFamily="34" charset="-122"/>
                <a:cs typeface="Cambria" pitchFamily="34" charset="-120"/>
              </a:rPr>
              <a:t> | w</a:t>
            </a:r>
            <a:r>
              <a:rPr lang="en-US" sz="2000" baseline="-40000" dirty="0">
                <a:solidFill>
                  <a:srgbClr val="1A1A1A"/>
                </a:solidFill>
                <a:latin typeface="Cambria" pitchFamily="34" charset="0"/>
                <a:ea typeface="Cambria" pitchFamily="34" charset="-122"/>
                <a:cs typeface="Cambria" pitchFamily="34" charset="-120"/>
              </a:rPr>
              <a:t>1</a:t>
            </a:r>
            <a:r>
              <a:rPr lang="en-US" sz="2000" dirty="0">
                <a:solidFill>
                  <a:srgbClr val="1A1A1A"/>
                </a:solidFill>
                <a:latin typeface="Cambria" pitchFamily="34" charset="0"/>
                <a:ea typeface="Cambria" pitchFamily="34" charset="-122"/>
                <a:cs typeface="Cambria" pitchFamily="34" charset="-120"/>
              </a:rPr>
              <a:t>, …, w</a:t>
            </a:r>
            <a:r>
              <a:rPr lang="en-US" sz="2000" baseline="-40000" dirty="0">
                <a:solidFill>
                  <a:srgbClr val="1A1A1A"/>
                </a:solidFill>
                <a:latin typeface="Cambria" pitchFamily="34" charset="0"/>
                <a:ea typeface="Cambria" pitchFamily="34" charset="-122"/>
                <a:cs typeface="Cambria" pitchFamily="34" charset="-120"/>
              </a:rPr>
              <a:t>n−1</a:t>
            </a:r>
            <a:r>
              <a:rPr lang="en-US" sz="2000" dirty="0">
                <a:solidFill>
                  <a:srgbClr val="1A1A1A"/>
                </a:solidFill>
                <a:latin typeface="Cambria" pitchFamily="34" charset="0"/>
                <a:ea typeface="Cambria" pitchFamily="34" charset="-122"/>
                <a:cs typeface="Cambria" pitchFamily="34" charset="-120"/>
              </a:rPr>
              <a:t>)</a:t>
            </a:r>
            <a:endParaRPr lang="en-US" sz="2000" dirty="0"/>
          </a:p>
          <a:p>
            <a:pPr marL="457200" indent="-457200">
              <a:buAutoNum type="arabicPlain" startAt="2"/>
            </a:pPr>
            <a:endParaRPr lang="en-US" sz="2000" dirty="0"/>
          </a:p>
          <a:p>
            <a:endParaRPr lang="en-IN" sz="2000" dirty="0"/>
          </a:p>
        </p:txBody>
      </p:sp>
      <p:sp>
        <p:nvSpPr>
          <p:cNvPr id="10" name="Text 8"/>
          <p:cNvSpPr txBox="1"/>
          <p:nvPr/>
        </p:nvSpPr>
        <p:spPr>
          <a:xfrm>
            <a:off x="426720" y="3084512"/>
            <a:ext cx="11338560" cy="518161"/>
          </a:xfrm>
          <a:prstGeom prst="rect">
            <a:avLst/>
          </a:prstGeom>
          <a:noFill/>
          <a:ln/>
        </p:spPr>
        <p:txBody>
          <a:bodyPr wrap="square" lIns="847" tIns="847" rIns="847" bIns="847" rtlCol="0" anchor="ctr"/>
          <a:lstStyle/>
          <a:p>
            <a:r>
              <a:rPr lang="en-US" sz="2000" b="1" dirty="0">
                <a:solidFill>
                  <a:srgbClr val="0E6E7E"/>
                </a:solidFill>
                <a:latin typeface="Calibri" pitchFamily="34" charset="0"/>
                <a:ea typeface="Calibri" pitchFamily="34" charset="-122"/>
                <a:cs typeface="Calibri" pitchFamily="34" charset="-120"/>
              </a:rPr>
              <a:t>They are equivalent (chain rule):  </a:t>
            </a:r>
            <a:r>
              <a:rPr lang="en-US" sz="2000" dirty="0">
                <a:solidFill>
                  <a:srgbClr val="1A1A1A"/>
                </a:solidFill>
                <a:latin typeface="Cambria" pitchFamily="34" charset="0"/>
                <a:ea typeface="Cambria" pitchFamily="34" charset="-122"/>
                <a:cs typeface="Cambria" pitchFamily="34" charset="-120"/>
              </a:rPr>
              <a:t>P(w</a:t>
            </a:r>
            <a:r>
              <a:rPr lang="en-US" sz="2000" baseline="-40000" dirty="0">
                <a:solidFill>
                  <a:srgbClr val="1A1A1A"/>
                </a:solidFill>
                <a:latin typeface="Calibri" pitchFamily="34" charset="0"/>
                <a:ea typeface="Calibri" pitchFamily="34" charset="-122"/>
                <a:cs typeface="Calibri" pitchFamily="34" charset="-120"/>
              </a:rPr>
              <a:t>1</a:t>
            </a:r>
            <a:r>
              <a:rPr lang="en-US" sz="2000" dirty="0">
                <a:solidFill>
                  <a:srgbClr val="1A1A1A"/>
                </a:solidFill>
                <a:latin typeface="Cambria" pitchFamily="34" charset="0"/>
                <a:ea typeface="Cambria" pitchFamily="34" charset="-122"/>
                <a:cs typeface="Cambria" pitchFamily="34" charset="-120"/>
              </a:rPr>
              <a:t>, …, w</a:t>
            </a:r>
            <a:r>
              <a:rPr lang="en-US" sz="2000" baseline="-40000" dirty="0">
                <a:solidFill>
                  <a:srgbClr val="1A1A1A"/>
                </a:solidFill>
                <a:latin typeface="Calibri" pitchFamily="34" charset="0"/>
                <a:ea typeface="Calibri" pitchFamily="34" charset="-122"/>
                <a:cs typeface="Calibri" pitchFamily="34" charset="-120"/>
              </a:rPr>
              <a:t>n</a:t>
            </a:r>
            <a:r>
              <a:rPr lang="en-US" sz="2000" dirty="0">
                <a:solidFill>
                  <a:srgbClr val="1A1A1A"/>
                </a:solidFill>
                <a:latin typeface="Cambria" pitchFamily="34" charset="0"/>
                <a:ea typeface="Cambria" pitchFamily="34" charset="-122"/>
                <a:cs typeface="Cambria" pitchFamily="34" charset="-120"/>
              </a:rPr>
              <a:t>) = ∏ P(w</a:t>
            </a:r>
            <a:r>
              <a:rPr lang="en-US" sz="2000" baseline="-40000" dirty="0">
                <a:solidFill>
                  <a:srgbClr val="1A1A1A"/>
                </a:solidFill>
                <a:latin typeface="Calibri" pitchFamily="34" charset="0"/>
                <a:ea typeface="Calibri" pitchFamily="34" charset="-122"/>
                <a:cs typeface="Calibri" pitchFamily="34" charset="-120"/>
              </a:rPr>
              <a:t>i</a:t>
            </a:r>
            <a:r>
              <a:rPr lang="en-US" sz="2000" dirty="0">
                <a:solidFill>
                  <a:srgbClr val="1A1A1A"/>
                </a:solidFill>
                <a:latin typeface="Cambria" pitchFamily="34" charset="0"/>
                <a:ea typeface="Cambria" pitchFamily="34" charset="-122"/>
                <a:cs typeface="Cambria" pitchFamily="34" charset="-120"/>
              </a:rPr>
              <a:t> | w</a:t>
            </a:r>
            <a:r>
              <a:rPr lang="en-US" sz="2000" baseline="-40000" dirty="0">
                <a:solidFill>
                  <a:srgbClr val="1A1A1A"/>
                </a:solidFill>
                <a:latin typeface="Calibri" pitchFamily="34" charset="0"/>
                <a:ea typeface="Calibri" pitchFamily="34" charset="-122"/>
                <a:cs typeface="Calibri" pitchFamily="34" charset="-120"/>
              </a:rPr>
              <a:t>1</a:t>
            </a:r>
            <a:r>
              <a:rPr lang="en-US" sz="2000" dirty="0">
                <a:solidFill>
                  <a:srgbClr val="1A1A1A"/>
                </a:solidFill>
                <a:latin typeface="Cambria" pitchFamily="34" charset="0"/>
                <a:ea typeface="Cambria" pitchFamily="34" charset="-122"/>
                <a:cs typeface="Cambria" pitchFamily="34" charset="-120"/>
              </a:rPr>
              <a:t>, …, w</a:t>
            </a:r>
            <a:r>
              <a:rPr lang="en-US" sz="2000" baseline="-40000" dirty="0">
                <a:solidFill>
                  <a:srgbClr val="1A1A1A"/>
                </a:solidFill>
                <a:latin typeface="Calibri" pitchFamily="34" charset="0"/>
                <a:ea typeface="Calibri" pitchFamily="34" charset="-122"/>
                <a:cs typeface="Calibri" pitchFamily="34" charset="-120"/>
              </a:rPr>
              <a:t>i−1</a:t>
            </a:r>
            <a:r>
              <a:rPr lang="en-US" sz="2000" dirty="0">
                <a:solidFill>
                  <a:srgbClr val="1A1A1A"/>
                </a:solidFill>
                <a:latin typeface="Cambria" pitchFamily="34" charset="0"/>
                <a:ea typeface="Cambria" pitchFamily="34" charset="-122"/>
                <a:cs typeface="Cambria" pitchFamily="34" charset="-120"/>
              </a:rPr>
              <a:t>)</a:t>
            </a:r>
            <a:r>
              <a:rPr lang="en-US" sz="2000" i="1" dirty="0">
                <a:solidFill>
                  <a:srgbClr val="4A4A4A"/>
                </a:solidFill>
                <a:latin typeface="Calibri" pitchFamily="34" charset="0"/>
                <a:ea typeface="Calibri" pitchFamily="34" charset="-122"/>
                <a:cs typeface="Calibri" pitchFamily="34" charset="-120"/>
              </a:rPr>
              <a:t>   → predict the next token well, and you can score any sentence</a:t>
            </a:r>
            <a:endParaRPr lang="en-US" sz="2000" dirty="0"/>
          </a:p>
        </p:txBody>
      </p:sp>
      <p:sp>
        <p:nvSpPr>
          <p:cNvPr id="12" name="Text 10"/>
          <p:cNvSpPr txBox="1"/>
          <p:nvPr/>
        </p:nvSpPr>
        <p:spPr>
          <a:xfrm>
            <a:off x="426720" y="3889248"/>
            <a:ext cx="11338560" cy="804672"/>
          </a:xfrm>
          <a:prstGeom prst="rect">
            <a:avLst/>
          </a:prstGeom>
          <a:solidFill>
            <a:srgbClr val="F3F5F7"/>
          </a:solidFill>
          <a:ln/>
        </p:spPr>
        <p:txBody>
          <a:bodyPr wrap="square" lIns="50800" tIns="135467" rIns="135467" bIns="50800" rtlCol="0" anchor="ctr"/>
          <a:lstStyle/>
          <a:p>
            <a:pPr>
              <a:spcAft>
                <a:spcPts val="267"/>
              </a:spcAft>
            </a:pPr>
            <a:r>
              <a:rPr lang="en-US" sz="2000" b="1" dirty="0">
                <a:solidFill>
                  <a:srgbClr val="1A1A1A"/>
                </a:solidFill>
                <a:latin typeface="Calibri" pitchFamily="34" charset="0"/>
                <a:ea typeface="Calibri" pitchFamily="34" charset="-122"/>
                <a:cs typeface="Calibri" pitchFamily="34" charset="-120"/>
              </a:rPr>
              <a:t>Example:   </a:t>
            </a:r>
            <a:r>
              <a:rPr lang="en-US" sz="2000" dirty="0">
                <a:solidFill>
                  <a:srgbClr val="1A1A1A"/>
                </a:solidFill>
                <a:latin typeface="Cambria" pitchFamily="34" charset="0"/>
                <a:ea typeface="Cambria" pitchFamily="34" charset="-122"/>
                <a:cs typeface="Cambria" pitchFamily="34" charset="-120"/>
              </a:rPr>
              <a:t>P(</a:t>
            </a:r>
            <a:r>
              <a:rPr lang="en-US" sz="2000" i="1" dirty="0">
                <a:solidFill>
                  <a:srgbClr val="2E7D32"/>
                </a:solidFill>
                <a:latin typeface="Cambria" pitchFamily="34" charset="0"/>
                <a:ea typeface="Cambria" pitchFamily="34" charset="-122"/>
                <a:cs typeface="Cambria" pitchFamily="34" charset="-120"/>
              </a:rPr>
              <a:t>all of a sudden I notice three guys standing on the sidewalk</a:t>
            </a:r>
            <a:r>
              <a:rPr lang="en-US" sz="2000" dirty="0">
                <a:solidFill>
                  <a:srgbClr val="1A1A1A"/>
                </a:solidFill>
                <a:latin typeface="Cambria" pitchFamily="34" charset="0"/>
                <a:ea typeface="Cambria" pitchFamily="34" charset="-122"/>
                <a:cs typeface="Cambria" pitchFamily="34" charset="-120"/>
              </a:rPr>
              <a:t>)</a:t>
            </a:r>
            <a:r>
              <a:rPr lang="en-US" sz="2000" b="1" dirty="0">
                <a:solidFill>
                  <a:srgbClr val="2E7D32"/>
                </a:solidFill>
                <a:latin typeface="Calibri" pitchFamily="34" charset="0"/>
                <a:ea typeface="Calibri" pitchFamily="34" charset="-122"/>
                <a:cs typeface="Calibri" pitchFamily="34" charset="-120"/>
              </a:rPr>
              <a:t>   high</a:t>
            </a:r>
            <a:endParaRPr lang="en-US" sz="2000" dirty="0"/>
          </a:p>
          <a:p>
            <a:pPr>
              <a:spcAft>
                <a:spcPts val="267"/>
              </a:spcAft>
            </a:pPr>
            <a:r>
              <a:rPr lang="en-US" sz="2000" dirty="0">
                <a:solidFill>
                  <a:srgbClr val="1A1A1A"/>
                </a:solidFill>
                <a:latin typeface="Cambria" pitchFamily="34" charset="0"/>
                <a:ea typeface="Cambria" pitchFamily="34" charset="-122"/>
                <a:cs typeface="Cambria" pitchFamily="34" charset="-120"/>
              </a:rPr>
              <a:t>                   &gt;  P(</a:t>
            </a:r>
            <a:r>
              <a:rPr lang="en-US" sz="2000" i="1" dirty="0">
                <a:solidFill>
                  <a:srgbClr val="C8102E"/>
                </a:solidFill>
                <a:latin typeface="Cambria" pitchFamily="34" charset="0"/>
                <a:ea typeface="Cambria" pitchFamily="34" charset="-122"/>
                <a:cs typeface="Cambria" pitchFamily="34" charset="-120"/>
              </a:rPr>
              <a:t>on guys all I of notice sidewalk three a sudden standing the</a:t>
            </a:r>
            <a:r>
              <a:rPr lang="en-US" sz="2000" dirty="0">
                <a:solidFill>
                  <a:srgbClr val="1A1A1A"/>
                </a:solidFill>
                <a:latin typeface="Cambria" pitchFamily="34" charset="0"/>
                <a:ea typeface="Cambria" pitchFamily="34" charset="-122"/>
                <a:cs typeface="Cambria" pitchFamily="34" charset="-120"/>
              </a:rPr>
              <a:t>)</a:t>
            </a:r>
            <a:r>
              <a:rPr lang="en-US" sz="2000" b="1" dirty="0">
                <a:solidFill>
                  <a:srgbClr val="C8102E"/>
                </a:solidFill>
                <a:latin typeface="Calibri" pitchFamily="34" charset="0"/>
                <a:ea typeface="Calibri" pitchFamily="34" charset="-122"/>
                <a:cs typeface="Calibri" pitchFamily="34" charset="-120"/>
              </a:rPr>
              <a:t>   low</a:t>
            </a:r>
            <a:endParaRPr lang="en-US" sz="2000" dirty="0"/>
          </a:p>
        </p:txBody>
      </p:sp>
      <p:sp>
        <p:nvSpPr>
          <p:cNvPr id="13" name="Text 11"/>
          <p:cNvSpPr txBox="1"/>
          <p:nvPr/>
        </p:nvSpPr>
        <p:spPr>
          <a:xfrm>
            <a:off x="527304" y="4757738"/>
            <a:ext cx="3657600" cy="316992"/>
          </a:xfrm>
          <a:prstGeom prst="rect">
            <a:avLst/>
          </a:prstGeom>
          <a:noFill/>
          <a:ln/>
        </p:spPr>
        <p:txBody>
          <a:bodyPr wrap="square" lIns="847" tIns="847" rIns="847" bIns="847" rtlCol="0" anchor="ctr"/>
          <a:lstStyle/>
          <a:p>
            <a:r>
              <a:rPr lang="en-US" sz="2000" b="1" dirty="0">
                <a:solidFill>
                  <a:srgbClr val="0E6E7E"/>
                </a:solidFill>
                <a:latin typeface="Calibri" pitchFamily="34" charset="0"/>
                <a:ea typeface="Calibri" pitchFamily="34" charset="-122"/>
                <a:cs typeface="Calibri" pitchFamily="34" charset="-120"/>
              </a:rPr>
              <a:t>How LMs evolved</a:t>
            </a:r>
            <a:endParaRPr lang="en-US" sz="2000" dirty="0"/>
          </a:p>
        </p:txBody>
      </p:sp>
      <p:sp>
        <p:nvSpPr>
          <p:cNvPr id="14" name="Text 12"/>
          <p:cNvSpPr txBox="1"/>
          <p:nvPr/>
        </p:nvSpPr>
        <p:spPr>
          <a:xfrm>
            <a:off x="426720" y="5486400"/>
            <a:ext cx="2023872" cy="877824"/>
          </a:xfrm>
          <a:prstGeom prst="rect">
            <a:avLst/>
          </a:prstGeom>
          <a:solidFill>
            <a:srgbClr val="FFFFFF"/>
          </a:solidFill>
          <a:ln w="12700">
            <a:solidFill>
              <a:srgbClr val="9AA5B1"/>
            </a:solidFill>
          </a:ln>
        </p:spPr>
        <p:txBody>
          <a:bodyPr wrap="square" lIns="847" tIns="847" rIns="847" bIns="847" rtlCol="0" anchor="ctr"/>
          <a:lstStyle/>
          <a:p>
            <a:pPr algn="ctr"/>
            <a:r>
              <a:rPr lang="en-US" sz="2000" b="1" dirty="0">
                <a:solidFill>
                  <a:srgbClr val="1A1A1A"/>
                </a:solidFill>
                <a:latin typeface="Calibri" pitchFamily="34" charset="0"/>
                <a:ea typeface="Calibri" pitchFamily="34" charset="-122"/>
                <a:cs typeface="Calibri" pitchFamily="34" charset="-120"/>
              </a:rPr>
              <a:t>n-gram</a:t>
            </a:r>
            <a:endParaRPr lang="en-US" sz="2000" dirty="0"/>
          </a:p>
          <a:p>
            <a:pPr algn="ctr"/>
            <a:r>
              <a:rPr lang="en-US" sz="2000" dirty="0">
                <a:solidFill>
                  <a:srgbClr val="4A4A4A"/>
                </a:solidFill>
                <a:latin typeface="Calibri" pitchFamily="34" charset="0"/>
                <a:ea typeface="Calibri" pitchFamily="34" charset="-122"/>
                <a:cs typeface="Calibri" pitchFamily="34" charset="-120"/>
              </a:rPr>
              <a:t>count last n−1 words</a:t>
            </a:r>
            <a:endParaRPr lang="en-US" sz="2000" dirty="0"/>
          </a:p>
        </p:txBody>
      </p:sp>
      <p:sp>
        <p:nvSpPr>
          <p:cNvPr id="15" name="Shape 13"/>
          <p:cNvSpPr/>
          <p:nvPr/>
        </p:nvSpPr>
        <p:spPr>
          <a:xfrm>
            <a:off x="2474976" y="5925312"/>
            <a:ext cx="256032" cy="0"/>
          </a:xfrm>
          <a:prstGeom prst="line">
            <a:avLst/>
          </a:prstGeom>
          <a:noFill/>
          <a:ln w="15875">
            <a:solidFill>
              <a:srgbClr val="6A6A6A"/>
            </a:solidFill>
            <a:prstDash val="solid"/>
            <a:tailEnd type="triangle"/>
          </a:ln>
        </p:spPr>
        <p:txBody>
          <a:bodyPr/>
          <a:lstStyle/>
          <a:p>
            <a:endParaRPr lang="en-IN" sz="2000"/>
          </a:p>
        </p:txBody>
      </p:sp>
      <p:sp>
        <p:nvSpPr>
          <p:cNvPr id="16" name="Text 14"/>
          <p:cNvSpPr txBox="1"/>
          <p:nvPr/>
        </p:nvSpPr>
        <p:spPr>
          <a:xfrm>
            <a:off x="2755392" y="5486400"/>
            <a:ext cx="2023872" cy="877824"/>
          </a:xfrm>
          <a:prstGeom prst="rect">
            <a:avLst/>
          </a:prstGeom>
          <a:solidFill>
            <a:srgbClr val="FFFFFF"/>
          </a:solidFill>
          <a:ln w="12700">
            <a:solidFill>
              <a:srgbClr val="9AA5B1"/>
            </a:solidFill>
          </a:ln>
        </p:spPr>
        <p:txBody>
          <a:bodyPr wrap="square" lIns="847" tIns="847" rIns="847" bIns="847" rtlCol="0" anchor="ctr"/>
          <a:lstStyle/>
          <a:p>
            <a:pPr algn="ctr"/>
            <a:r>
              <a:rPr lang="en-US" sz="2000" b="1" dirty="0">
                <a:solidFill>
                  <a:srgbClr val="1A1A1A"/>
                </a:solidFill>
                <a:latin typeface="Calibri" pitchFamily="34" charset="0"/>
                <a:ea typeface="Calibri" pitchFamily="34" charset="-122"/>
                <a:cs typeface="Calibri" pitchFamily="34" charset="-120"/>
              </a:rPr>
              <a:t>Neural LM</a:t>
            </a:r>
            <a:endParaRPr lang="en-US" sz="2000" dirty="0"/>
          </a:p>
          <a:p>
            <a:pPr algn="ctr"/>
            <a:r>
              <a:rPr lang="en-US" sz="2000" dirty="0">
                <a:solidFill>
                  <a:srgbClr val="4A4A4A"/>
                </a:solidFill>
                <a:latin typeface="Calibri" pitchFamily="34" charset="0"/>
                <a:ea typeface="Calibri" pitchFamily="34" charset="-122"/>
                <a:cs typeface="Calibri" pitchFamily="34" charset="-120"/>
              </a:rPr>
              <a:t>learned embeddings</a:t>
            </a:r>
            <a:endParaRPr lang="en-US" sz="2000" dirty="0"/>
          </a:p>
        </p:txBody>
      </p:sp>
      <p:sp>
        <p:nvSpPr>
          <p:cNvPr id="17" name="Shape 15"/>
          <p:cNvSpPr/>
          <p:nvPr/>
        </p:nvSpPr>
        <p:spPr>
          <a:xfrm>
            <a:off x="4803648" y="5925312"/>
            <a:ext cx="256032" cy="0"/>
          </a:xfrm>
          <a:prstGeom prst="line">
            <a:avLst/>
          </a:prstGeom>
          <a:noFill/>
          <a:ln w="15875">
            <a:solidFill>
              <a:srgbClr val="6A6A6A"/>
            </a:solidFill>
            <a:prstDash val="solid"/>
            <a:tailEnd type="triangle"/>
          </a:ln>
        </p:spPr>
        <p:txBody>
          <a:bodyPr/>
          <a:lstStyle/>
          <a:p>
            <a:endParaRPr lang="en-IN" sz="2000"/>
          </a:p>
        </p:txBody>
      </p:sp>
      <p:sp>
        <p:nvSpPr>
          <p:cNvPr id="18" name="Text 16"/>
          <p:cNvSpPr txBox="1"/>
          <p:nvPr/>
        </p:nvSpPr>
        <p:spPr>
          <a:xfrm>
            <a:off x="5084064" y="5486400"/>
            <a:ext cx="2023872" cy="877824"/>
          </a:xfrm>
          <a:prstGeom prst="rect">
            <a:avLst/>
          </a:prstGeom>
          <a:solidFill>
            <a:srgbClr val="FFFFFF"/>
          </a:solidFill>
          <a:ln w="12700">
            <a:solidFill>
              <a:srgbClr val="9AA5B1"/>
            </a:solidFill>
          </a:ln>
        </p:spPr>
        <p:txBody>
          <a:bodyPr wrap="square" lIns="847" tIns="847" rIns="847" bIns="847" rtlCol="0" anchor="ctr"/>
          <a:lstStyle/>
          <a:p>
            <a:pPr algn="ctr"/>
            <a:r>
              <a:rPr lang="en-US" sz="2000" b="1" dirty="0">
                <a:solidFill>
                  <a:srgbClr val="1A1A1A"/>
                </a:solidFill>
                <a:latin typeface="Calibri" pitchFamily="34" charset="0"/>
                <a:ea typeface="Calibri" pitchFamily="34" charset="-122"/>
                <a:cs typeface="Calibri" pitchFamily="34" charset="-120"/>
              </a:rPr>
              <a:t>RNN / LSTM</a:t>
            </a:r>
            <a:endParaRPr lang="en-US" sz="2000" dirty="0"/>
          </a:p>
          <a:p>
            <a:pPr algn="ctr"/>
            <a:r>
              <a:rPr lang="en-US" sz="2000" dirty="0">
                <a:solidFill>
                  <a:srgbClr val="4A4A4A"/>
                </a:solidFill>
                <a:latin typeface="Calibri" pitchFamily="34" charset="0"/>
                <a:ea typeface="Calibri" pitchFamily="34" charset="-122"/>
                <a:cs typeface="Calibri" pitchFamily="34" charset="-120"/>
              </a:rPr>
              <a:t>sequential memory</a:t>
            </a:r>
            <a:endParaRPr lang="en-US" sz="2000" dirty="0"/>
          </a:p>
        </p:txBody>
      </p:sp>
      <p:sp>
        <p:nvSpPr>
          <p:cNvPr id="19" name="Shape 17"/>
          <p:cNvSpPr/>
          <p:nvPr/>
        </p:nvSpPr>
        <p:spPr>
          <a:xfrm>
            <a:off x="7132320" y="5925312"/>
            <a:ext cx="256032" cy="0"/>
          </a:xfrm>
          <a:prstGeom prst="line">
            <a:avLst/>
          </a:prstGeom>
          <a:noFill/>
          <a:ln w="15875">
            <a:solidFill>
              <a:srgbClr val="6A6A6A"/>
            </a:solidFill>
            <a:prstDash val="solid"/>
            <a:tailEnd type="triangle"/>
          </a:ln>
        </p:spPr>
        <p:txBody>
          <a:bodyPr/>
          <a:lstStyle/>
          <a:p>
            <a:endParaRPr lang="en-IN" sz="2000"/>
          </a:p>
        </p:txBody>
      </p:sp>
      <p:sp>
        <p:nvSpPr>
          <p:cNvPr id="20" name="Text 18"/>
          <p:cNvSpPr txBox="1"/>
          <p:nvPr/>
        </p:nvSpPr>
        <p:spPr>
          <a:xfrm>
            <a:off x="7412736" y="5486400"/>
            <a:ext cx="2023872" cy="877824"/>
          </a:xfrm>
          <a:prstGeom prst="rect">
            <a:avLst/>
          </a:prstGeom>
          <a:solidFill>
            <a:srgbClr val="D3ECD5"/>
          </a:solidFill>
          <a:ln w="12700">
            <a:solidFill>
              <a:srgbClr val="9AA5B1"/>
            </a:solidFill>
          </a:ln>
        </p:spPr>
        <p:txBody>
          <a:bodyPr wrap="square" lIns="847" tIns="847" rIns="847" bIns="847" rtlCol="0" anchor="ctr"/>
          <a:lstStyle/>
          <a:p>
            <a:pPr algn="ctr"/>
            <a:r>
              <a:rPr lang="en-US" sz="2000" b="1" dirty="0">
                <a:solidFill>
                  <a:srgbClr val="1A1A1A"/>
                </a:solidFill>
                <a:latin typeface="Calibri" pitchFamily="34" charset="0"/>
                <a:ea typeface="Calibri" pitchFamily="34" charset="-122"/>
                <a:cs typeface="Calibri" pitchFamily="34" charset="-120"/>
              </a:rPr>
              <a:t>Transformer</a:t>
            </a:r>
            <a:endParaRPr lang="en-US" sz="2000" dirty="0"/>
          </a:p>
          <a:p>
            <a:pPr algn="ctr"/>
            <a:r>
              <a:rPr lang="en-US" sz="2000" dirty="0">
                <a:solidFill>
                  <a:srgbClr val="4A4A4A"/>
                </a:solidFill>
                <a:latin typeface="Calibri" pitchFamily="34" charset="0"/>
                <a:ea typeface="Calibri" pitchFamily="34" charset="-122"/>
                <a:cs typeface="Calibri" pitchFamily="34" charset="-120"/>
              </a:rPr>
              <a:t>attention: GPT, Llama, Qwen</a:t>
            </a:r>
            <a:endParaRPr lang="en-US" sz="2000" dirty="0"/>
          </a:p>
        </p:txBody>
      </p:sp>
      <p:sp>
        <p:nvSpPr>
          <p:cNvPr id="21" name="Shape 19"/>
          <p:cNvSpPr/>
          <p:nvPr/>
        </p:nvSpPr>
        <p:spPr>
          <a:xfrm>
            <a:off x="9460992" y="5925312"/>
            <a:ext cx="256032" cy="0"/>
          </a:xfrm>
          <a:prstGeom prst="line">
            <a:avLst/>
          </a:prstGeom>
          <a:noFill/>
          <a:ln w="15875">
            <a:solidFill>
              <a:srgbClr val="6A6A6A"/>
            </a:solidFill>
            <a:prstDash val="solid"/>
            <a:tailEnd type="triangle"/>
          </a:ln>
        </p:spPr>
        <p:txBody>
          <a:bodyPr/>
          <a:lstStyle/>
          <a:p>
            <a:endParaRPr lang="en-IN" sz="2000"/>
          </a:p>
        </p:txBody>
      </p:sp>
      <p:sp>
        <p:nvSpPr>
          <p:cNvPr id="22" name="Text 20"/>
          <p:cNvSpPr txBox="1"/>
          <p:nvPr/>
        </p:nvSpPr>
        <p:spPr>
          <a:xfrm>
            <a:off x="9741408" y="5486400"/>
            <a:ext cx="2023872" cy="877824"/>
          </a:xfrm>
          <a:prstGeom prst="rect">
            <a:avLst/>
          </a:prstGeom>
          <a:solidFill>
            <a:srgbClr val="FFFFFF"/>
          </a:solidFill>
          <a:ln w="12700">
            <a:solidFill>
              <a:srgbClr val="9AA5B1"/>
            </a:solidFill>
          </a:ln>
        </p:spPr>
        <p:txBody>
          <a:bodyPr wrap="square" lIns="847" tIns="847" rIns="847" bIns="847" rtlCol="0" anchor="ctr"/>
          <a:lstStyle/>
          <a:p>
            <a:pPr algn="ctr"/>
            <a:r>
              <a:rPr lang="en-US" sz="2000" b="1" dirty="0">
                <a:solidFill>
                  <a:srgbClr val="1A1A1A"/>
                </a:solidFill>
                <a:latin typeface="Calibri" pitchFamily="34" charset="0"/>
                <a:ea typeface="Calibri" pitchFamily="34" charset="-122"/>
                <a:cs typeface="Calibri" pitchFamily="34" charset="-120"/>
              </a:rPr>
              <a:t>Hybrid</a:t>
            </a:r>
            <a:endParaRPr lang="en-US" sz="2000" dirty="0"/>
          </a:p>
          <a:p>
            <a:pPr algn="ctr"/>
            <a:r>
              <a:rPr lang="en-US" sz="2000" dirty="0">
                <a:solidFill>
                  <a:srgbClr val="4A4A4A"/>
                </a:solidFill>
                <a:latin typeface="Calibri" pitchFamily="34" charset="0"/>
                <a:ea typeface="Calibri" pitchFamily="34" charset="-122"/>
                <a:cs typeface="Calibri" pitchFamily="34" charset="-120"/>
              </a:rPr>
              <a:t>attention + Mamba (Jamba)</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What is a Large Language Model?</a:t>
            </a:r>
          </a:p>
        </p:txBody>
      </p:sp>
      <p:sp>
        <p:nvSpPr>
          <p:cNvPr id="3" name="Rectangle 2"/>
          <p:cNvSpPr/>
          <p:nvPr/>
        </p:nvSpPr>
        <p:spPr>
          <a:xfrm>
            <a:off x="278270" y="1334815"/>
            <a:ext cx="11682082" cy="2554545"/>
          </a:xfrm>
          <a:prstGeom prst="rect">
            <a:avLst/>
          </a:prstGeom>
        </p:spPr>
        <p:txBody>
          <a:bodyPr wrap="square">
            <a:spAutoFit/>
          </a:bodyPr>
          <a:lstStyle/>
          <a:p>
            <a:pPr marL="342900" indent="-342900">
              <a:buFont typeface="Arial" panose="020B0604020202020204" pitchFamily="34" charset="0"/>
              <a:buChar char="•"/>
            </a:pPr>
            <a:r>
              <a:rPr lang="en-IN" sz="2000" b="1" dirty="0"/>
              <a:t>LLMs</a:t>
            </a:r>
            <a:r>
              <a:rPr lang="en-IN" sz="2000" dirty="0"/>
              <a:t> are deep neural networks (Transformers) trained with </a:t>
            </a:r>
            <a:r>
              <a:rPr lang="en-IN" sz="2000" b="1" dirty="0"/>
              <a:t>self-supervised next-token prediction</a:t>
            </a:r>
            <a:r>
              <a:rPr lang="en-IN" sz="2000" dirty="0"/>
              <a:t> on massive, filtered text corpora: web data, code, books and papers (e.g. </a:t>
            </a:r>
            <a:r>
              <a:rPr lang="en-IN" sz="2000" b="1" dirty="0"/>
              <a:t>~15T tokens</a:t>
            </a:r>
            <a:r>
              <a:rPr lang="en-IN" sz="2000" dirty="0"/>
              <a:t> for Llama 3, </a:t>
            </a:r>
            <a:r>
              <a:rPr lang="en-IN" sz="2000" b="1" dirty="0"/>
              <a:t>~36T</a:t>
            </a:r>
            <a:r>
              <a:rPr lang="en-IN" sz="2000" dirty="0"/>
              <a:t> for Qwen3).</a:t>
            </a:r>
          </a:p>
          <a:p>
            <a:pPr marL="342900" indent="-342900">
              <a:buFont typeface="Arial" panose="020B0604020202020204" pitchFamily="34" charset="0"/>
              <a:buChar char="•"/>
            </a:pPr>
            <a:r>
              <a:rPr lang="en-IN" sz="2000" b="1" dirty="0"/>
              <a:t>“Large” refers to:</a:t>
            </a:r>
          </a:p>
          <a:p>
            <a:pPr marL="800100" lvl="1" indent="-342900">
              <a:buFont typeface="Arial" panose="020B0604020202020204" pitchFamily="34" charset="0"/>
              <a:buChar char="•"/>
            </a:pPr>
            <a:r>
              <a:rPr lang="en-IN" sz="2000" b="1" dirty="0"/>
              <a:t>Parameters:</a:t>
            </a:r>
            <a:r>
              <a:rPr lang="en-IN" sz="2000" dirty="0"/>
              <a:t> billions (Llama 3: 8B–405B; DeepSeek-V3: 671B total, ~37B active per token)</a:t>
            </a:r>
          </a:p>
          <a:p>
            <a:pPr marL="800100" lvl="1" indent="-342900">
              <a:buFont typeface="Arial" panose="020B0604020202020204" pitchFamily="34" charset="0"/>
              <a:buChar char="•"/>
            </a:pPr>
            <a:r>
              <a:rPr lang="en-IN" sz="2000" b="1" dirty="0"/>
              <a:t>Training data:</a:t>
            </a:r>
            <a:r>
              <a:rPr lang="en-IN" sz="2000" dirty="0"/>
              <a:t> trillions of tokens</a:t>
            </a:r>
          </a:p>
          <a:p>
            <a:pPr marL="800100" lvl="1" indent="-342900">
              <a:buFont typeface="Arial" panose="020B0604020202020204" pitchFamily="34" charset="0"/>
              <a:buChar char="•"/>
            </a:pPr>
            <a:r>
              <a:rPr lang="en-IN" sz="2000" b="1" dirty="0"/>
              <a:t>Context window</a:t>
            </a:r>
            <a:r>
              <a:rPr lang="en-IN" sz="2000" dirty="0"/>
              <a:t> (often also implied): from 2K tokens (GPT-3) to 128K+ (Llama 3.1, Qwen3)</a:t>
            </a:r>
          </a:p>
          <a:p>
            <a:pPr marL="342900" indent="-342900">
              <a:buFont typeface="Arial" panose="020B0604020202020204" pitchFamily="34" charset="0"/>
              <a:buChar char="•"/>
            </a:pPr>
            <a:endParaRPr lang="en-US" sz="2000" b="1" i="1" dirty="0"/>
          </a:p>
        </p:txBody>
      </p:sp>
      <p:pic>
        <p:nvPicPr>
          <p:cNvPr id="4" name="Picture 3"/>
          <p:cNvPicPr>
            <a:picLocks noChangeAspect="1"/>
          </p:cNvPicPr>
          <p:nvPr/>
        </p:nvPicPr>
        <p:blipFill>
          <a:blip r:embed="rId2"/>
          <a:stretch>
            <a:fillRect/>
          </a:stretch>
        </p:blipFill>
        <p:spPr>
          <a:xfrm>
            <a:off x="2194559" y="3645383"/>
            <a:ext cx="6728243" cy="2987065"/>
          </a:xfrm>
          <a:prstGeom prst="rect">
            <a:avLst/>
          </a:prstGeom>
        </p:spPr>
      </p:pic>
    </p:spTree>
    <p:extLst>
      <p:ext uri="{BB962C8B-B14F-4D97-AF65-F5344CB8AC3E}">
        <p14:creationId xmlns:p14="http://schemas.microsoft.com/office/powerpoint/2010/main" val="229125842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Conditional generation of text</a:t>
            </a:r>
            <a:endParaRPr lang="en-IN" dirty="0"/>
          </a:p>
        </p:txBody>
      </p:sp>
      <p:pic>
        <p:nvPicPr>
          <p:cNvPr id="3" name="Picture 2"/>
          <p:cNvPicPr>
            <a:picLocks noChangeAspect="1"/>
          </p:cNvPicPr>
          <p:nvPr/>
        </p:nvPicPr>
        <p:blipFill>
          <a:blip r:embed="rId3"/>
          <a:stretch>
            <a:fillRect/>
          </a:stretch>
        </p:blipFill>
        <p:spPr>
          <a:xfrm>
            <a:off x="220969" y="3110607"/>
            <a:ext cx="5804927" cy="2308448"/>
          </a:xfrm>
          <a:prstGeom prst="rect">
            <a:avLst/>
          </a:prstGeom>
        </p:spPr>
      </p:pic>
      <p:sp>
        <p:nvSpPr>
          <p:cNvPr id="4" name="Rectangle 3"/>
          <p:cNvSpPr/>
          <p:nvPr/>
        </p:nvSpPr>
        <p:spPr>
          <a:xfrm>
            <a:off x="97307" y="1499726"/>
            <a:ext cx="11243257" cy="830997"/>
          </a:xfrm>
          <a:prstGeom prst="rect">
            <a:avLst/>
          </a:prstGeom>
        </p:spPr>
        <p:txBody>
          <a:bodyPr wrap="square">
            <a:spAutoFit/>
          </a:bodyPr>
          <a:lstStyle/>
          <a:p>
            <a:r>
              <a:rPr lang="en-US" sz="2400" b="1" i="1" dirty="0"/>
              <a:t>Almost any NLP task can be modeled as word prediction in a large language model</a:t>
            </a:r>
          </a:p>
          <a:p>
            <a:endParaRPr lang="en-US" sz="2400" dirty="0"/>
          </a:p>
        </p:txBody>
      </p:sp>
      <p:sp>
        <p:nvSpPr>
          <p:cNvPr id="5" name="Rectangle 4"/>
          <p:cNvSpPr/>
          <p:nvPr/>
        </p:nvSpPr>
        <p:spPr>
          <a:xfrm>
            <a:off x="337125" y="1970833"/>
            <a:ext cx="11517750" cy="1015663"/>
          </a:xfrm>
          <a:prstGeom prst="rect">
            <a:avLst/>
          </a:prstGeom>
          <a:solidFill>
            <a:schemeClr val="tx2">
              <a:lumMod val="20000"/>
              <a:lumOff val="80000"/>
            </a:schemeClr>
          </a:solidFill>
        </p:spPr>
        <p:txBody>
          <a:bodyPr wrap="square">
            <a:spAutoFit/>
          </a:bodyPr>
          <a:lstStyle/>
          <a:p>
            <a:r>
              <a:rPr lang="en-US" sz="2000" dirty="0"/>
              <a:t>E.g. Sentiment classification: </a:t>
            </a:r>
          </a:p>
          <a:p>
            <a:r>
              <a:rPr lang="en-US" sz="2000" dirty="0"/>
              <a:t>P(“</a:t>
            </a:r>
            <a:r>
              <a:rPr lang="en-US" sz="2000" dirty="0" err="1"/>
              <a:t>positive”|“The</a:t>
            </a:r>
            <a:r>
              <a:rPr lang="en-US" sz="2000" dirty="0"/>
              <a:t> sentiment of the sentence ‘I like Jackie Chan’ is:”) </a:t>
            </a:r>
          </a:p>
          <a:p>
            <a:r>
              <a:rPr lang="en-US" sz="2000" dirty="0"/>
              <a:t>P(“</a:t>
            </a:r>
            <a:r>
              <a:rPr lang="en-US" sz="2000" dirty="0" err="1"/>
              <a:t>negative”|“The</a:t>
            </a:r>
            <a:r>
              <a:rPr lang="en-US" sz="2000" dirty="0"/>
              <a:t> sentiment of the sentence ‘I like Jackie Chan’ is:”)</a:t>
            </a:r>
            <a:endParaRPr lang="en-IN" sz="2000" dirty="0"/>
          </a:p>
        </p:txBody>
      </p:sp>
      <p:sp>
        <p:nvSpPr>
          <p:cNvPr id="6" name="Rectangle 5"/>
          <p:cNvSpPr/>
          <p:nvPr/>
        </p:nvSpPr>
        <p:spPr>
          <a:xfrm>
            <a:off x="7726919" y="3363673"/>
            <a:ext cx="3940389" cy="1015663"/>
          </a:xfrm>
          <a:prstGeom prst="rect">
            <a:avLst/>
          </a:prstGeom>
          <a:solidFill>
            <a:schemeClr val="accent2">
              <a:lumMod val="20000"/>
              <a:lumOff val="80000"/>
            </a:schemeClr>
          </a:solidFill>
        </p:spPr>
        <p:txBody>
          <a:bodyPr wrap="square">
            <a:spAutoFit/>
          </a:bodyPr>
          <a:lstStyle/>
          <a:p>
            <a:r>
              <a:rPr lang="en-US" sz="2000" dirty="0"/>
              <a:t>E.g. Question Answering</a:t>
            </a:r>
          </a:p>
          <a:p>
            <a:r>
              <a:rPr lang="en-US" sz="2000" dirty="0"/>
              <a:t>P(</a:t>
            </a:r>
            <a:r>
              <a:rPr lang="en-US" sz="2000" dirty="0" err="1"/>
              <a:t>w|Q</a:t>
            </a:r>
            <a:r>
              <a:rPr lang="en-US" sz="2000" dirty="0"/>
              <a:t>: Who wrote the book ‘‘The Origin of Species"? A:)</a:t>
            </a:r>
            <a:endParaRPr lang="en-IN" sz="2000" dirty="0"/>
          </a:p>
        </p:txBody>
      </p:sp>
      <p:sp>
        <p:nvSpPr>
          <p:cNvPr id="9" name="TextBox 8">
            <a:extLst>
              <a:ext uri="{FF2B5EF4-FFF2-40B4-BE49-F238E27FC236}">
                <a16:creationId xmlns:a16="http://schemas.microsoft.com/office/drawing/2014/main" id="{919B7009-89DD-50F0-FF2A-B21BDE32FB4F}"/>
              </a:ext>
            </a:extLst>
          </p:cNvPr>
          <p:cNvSpPr txBox="1"/>
          <p:nvPr/>
        </p:nvSpPr>
        <p:spPr>
          <a:xfrm>
            <a:off x="220969" y="5798829"/>
            <a:ext cx="12000205" cy="400110"/>
          </a:xfrm>
          <a:prstGeom prst="rect">
            <a:avLst/>
          </a:prstGeom>
          <a:noFill/>
        </p:spPr>
        <p:txBody>
          <a:bodyPr wrap="square">
            <a:spAutoFit/>
          </a:bodyPr>
          <a:lstStyle/>
          <a:p>
            <a:pPr rtl="0"/>
            <a:r>
              <a:rPr lang="en-IN" sz="2000" b="1" dirty="0"/>
              <a:t>Then vs now:</a:t>
            </a:r>
            <a:r>
              <a:rPr lang="en-IN" sz="2000" dirty="0"/>
              <a:t> one fine-tuned model per task (e.g. BERT + classifier) → </a:t>
            </a:r>
            <a:r>
              <a:rPr lang="en-IN" sz="2000" b="1" dirty="0"/>
              <a:t>one LLM, many tasks, via the prompt</a:t>
            </a:r>
            <a:endParaRPr lang="en-IN" sz="2000" dirty="0"/>
          </a:p>
        </p:txBody>
      </p:sp>
    </p:spTree>
    <p:extLst>
      <p:ext uri="{BB962C8B-B14F-4D97-AF65-F5344CB8AC3E}">
        <p14:creationId xmlns:p14="http://schemas.microsoft.com/office/powerpoint/2010/main" val="119019766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pPr indent="0"/>
            <a:r>
              <a:rPr lang="en-US" dirty="0"/>
              <a:t>Generative AI</a:t>
            </a:r>
            <a:endParaRPr lang="en-IN" dirty="0"/>
          </a:p>
        </p:txBody>
      </p:sp>
      <p:pic>
        <p:nvPicPr>
          <p:cNvPr id="3" name="Picture 2"/>
          <p:cNvPicPr>
            <a:picLocks noChangeAspect="1"/>
          </p:cNvPicPr>
          <p:nvPr/>
        </p:nvPicPr>
        <p:blipFill>
          <a:blip r:embed="rId2"/>
          <a:stretch>
            <a:fillRect/>
          </a:stretch>
        </p:blipFill>
        <p:spPr>
          <a:xfrm>
            <a:off x="6917340" y="1376977"/>
            <a:ext cx="5138469" cy="3387047"/>
          </a:xfrm>
          <a:prstGeom prst="rect">
            <a:avLst/>
          </a:prstGeom>
        </p:spPr>
      </p:pic>
      <p:sp>
        <p:nvSpPr>
          <p:cNvPr id="4" name="Rectangle 3"/>
          <p:cNvSpPr/>
          <p:nvPr/>
        </p:nvSpPr>
        <p:spPr>
          <a:xfrm>
            <a:off x="248940" y="1538987"/>
            <a:ext cx="6581628" cy="3900042"/>
          </a:xfrm>
          <a:prstGeom prst="rect">
            <a:avLst/>
          </a:prstGeom>
        </p:spPr>
        <p:txBody>
          <a:bodyPr wrap="square">
            <a:spAutoFit/>
          </a:bodyPr>
          <a:lstStyle/>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Fundamental intuition of language models </a:t>
            </a:r>
          </a:p>
          <a:p>
            <a:pPr marL="742950" lvl="1"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A model that can predict text (assigning a distribution over following words) can also be used to </a:t>
            </a:r>
            <a:r>
              <a:rPr lang="en-US" sz="2000" b="1" i="1" dirty="0">
                <a:latin typeface="Cambria" panose="02040503050406030204" pitchFamily="18" charset="0"/>
                <a:ea typeface="Cambria" panose="02040503050406030204" pitchFamily="18" charset="0"/>
              </a:rPr>
              <a:t>generate</a:t>
            </a:r>
            <a:r>
              <a:rPr lang="en-US" sz="2000" dirty="0">
                <a:latin typeface="Cambria" panose="02040503050406030204" pitchFamily="18" charset="0"/>
                <a:ea typeface="Cambria" panose="02040503050406030204" pitchFamily="18" charset="0"/>
              </a:rPr>
              <a:t> text by </a:t>
            </a:r>
            <a:r>
              <a:rPr lang="en-US" sz="2000" b="1" i="1" dirty="0">
                <a:latin typeface="Cambria" panose="02040503050406030204" pitchFamily="18" charset="0"/>
                <a:ea typeface="Cambria" panose="02040503050406030204" pitchFamily="18" charset="0"/>
              </a:rPr>
              <a:t>sampling </a:t>
            </a:r>
            <a:r>
              <a:rPr lang="en-US" sz="2000" dirty="0">
                <a:latin typeface="Cambria" panose="02040503050406030204" pitchFamily="18" charset="0"/>
                <a:ea typeface="Cambria" panose="02040503050406030204" pitchFamily="18" charset="0"/>
              </a:rPr>
              <a:t>from the distribution. (sampling means to choose a word from a distribution)</a:t>
            </a:r>
          </a:p>
          <a:p>
            <a:pPr marL="742950" lvl="1" indent="-285750">
              <a:buFont typeface="Arial" panose="020B0604020202020204" pitchFamily="34" charset="0"/>
              <a:buChar char="•"/>
            </a:pPr>
            <a:r>
              <a:rPr lang="en-IN" sz="2000" dirty="0">
                <a:latin typeface="Cambria" panose="02040503050406030204" pitchFamily="18" charset="0"/>
                <a:ea typeface="Cambria" panose="02040503050406030204" pitchFamily="18" charset="0"/>
              </a:rPr>
              <a:t>Called as autoregressive language model</a:t>
            </a:r>
          </a:p>
          <a:p>
            <a:pPr marL="324994" marR="678483" indent="-317678" algn="just">
              <a:lnSpc>
                <a:spcPct val="113199"/>
              </a:lnSpc>
              <a:spcBef>
                <a:spcPts val="58"/>
              </a:spcBef>
              <a:buChar char="•"/>
              <a:tabLst>
                <a:tab pos="324994" algn="l"/>
                <a:tab pos="325764" algn="l"/>
              </a:tabLst>
            </a:pPr>
            <a:r>
              <a:rPr lang="en-US" sz="2000" dirty="0">
                <a:latin typeface="Cambria" panose="02040503050406030204" pitchFamily="18" charset="0"/>
                <a:ea typeface="Cambria" panose="02040503050406030204" pitchFamily="18" charset="0"/>
                <a:cs typeface="Arial MT"/>
              </a:rPr>
              <a:t>	The</a:t>
            </a:r>
            <a:r>
              <a:rPr lang="en-US" sz="2000" spc="-52" dirty="0">
                <a:latin typeface="Cambria" panose="02040503050406030204" pitchFamily="18" charset="0"/>
                <a:ea typeface="Cambria" panose="02040503050406030204" pitchFamily="18" charset="0"/>
                <a:cs typeface="Arial MT"/>
              </a:rPr>
              <a:t> </a:t>
            </a:r>
            <a:r>
              <a:rPr lang="en-US" sz="2000" dirty="0">
                <a:latin typeface="Cambria" panose="02040503050406030204" pitchFamily="18" charset="0"/>
                <a:ea typeface="Cambria" panose="02040503050406030204" pitchFamily="18" charset="0"/>
                <a:cs typeface="Arial MT"/>
              </a:rPr>
              <a:t>process</a:t>
            </a:r>
            <a:r>
              <a:rPr lang="en-US" sz="2000" spc="-49" dirty="0">
                <a:latin typeface="Cambria" panose="02040503050406030204" pitchFamily="18" charset="0"/>
                <a:ea typeface="Cambria" panose="02040503050406030204" pitchFamily="18" charset="0"/>
                <a:cs typeface="Arial MT"/>
              </a:rPr>
              <a:t> </a:t>
            </a:r>
            <a:r>
              <a:rPr lang="en-US" sz="2000" spc="67" dirty="0">
                <a:latin typeface="Cambria" panose="02040503050406030204" pitchFamily="18" charset="0"/>
                <a:ea typeface="Cambria" panose="02040503050406030204" pitchFamily="18" charset="0"/>
                <a:cs typeface="Arial MT"/>
              </a:rPr>
              <a:t>of</a:t>
            </a:r>
            <a:r>
              <a:rPr lang="en-US" sz="2000" spc="-3" dirty="0">
                <a:latin typeface="Cambria" panose="02040503050406030204" pitchFamily="18" charset="0"/>
                <a:ea typeface="Cambria" panose="02040503050406030204" pitchFamily="18" charset="0"/>
                <a:cs typeface="Arial MT"/>
              </a:rPr>
              <a:t> </a:t>
            </a:r>
            <a:r>
              <a:rPr lang="en-US" sz="2000" spc="55" dirty="0">
                <a:latin typeface="Cambria" panose="02040503050406030204" pitchFamily="18" charset="0"/>
                <a:ea typeface="Cambria" panose="02040503050406030204" pitchFamily="18" charset="0"/>
                <a:cs typeface="Arial MT"/>
              </a:rPr>
              <a:t>generating</a:t>
            </a:r>
            <a:r>
              <a:rPr lang="en-US" sz="2000" spc="-49" dirty="0">
                <a:latin typeface="Cambria" panose="02040503050406030204" pitchFamily="18" charset="0"/>
                <a:ea typeface="Cambria" panose="02040503050406030204" pitchFamily="18" charset="0"/>
                <a:cs typeface="Arial MT"/>
              </a:rPr>
              <a:t> </a:t>
            </a:r>
            <a:r>
              <a:rPr lang="en-US" sz="2000" spc="-6" dirty="0">
                <a:latin typeface="Cambria" panose="02040503050406030204" pitchFamily="18" charset="0"/>
                <a:ea typeface="Cambria" panose="02040503050406030204" pitchFamily="18" charset="0"/>
                <a:cs typeface="Arial MT"/>
              </a:rPr>
              <a:t>natural </a:t>
            </a:r>
            <a:r>
              <a:rPr lang="en-US" sz="2000" spc="52" dirty="0">
                <a:latin typeface="Cambria" panose="02040503050406030204" pitchFamily="18" charset="0"/>
                <a:ea typeface="Cambria" panose="02040503050406030204" pitchFamily="18" charset="0"/>
                <a:cs typeface="Arial MT"/>
              </a:rPr>
              <a:t>language</a:t>
            </a:r>
            <a:r>
              <a:rPr lang="en-US" sz="2000" spc="-55" dirty="0">
                <a:latin typeface="Cambria" panose="02040503050406030204" pitchFamily="18" charset="0"/>
                <a:ea typeface="Cambria" panose="02040503050406030204" pitchFamily="18" charset="0"/>
                <a:cs typeface="Arial MT"/>
              </a:rPr>
              <a:t> </a:t>
            </a:r>
            <a:r>
              <a:rPr lang="en-US" sz="2000" dirty="0">
                <a:latin typeface="Cambria" panose="02040503050406030204" pitchFamily="18" charset="0"/>
                <a:ea typeface="Cambria" panose="02040503050406030204" pitchFamily="18" charset="0"/>
                <a:cs typeface="Arial MT"/>
              </a:rPr>
              <a:t>text</a:t>
            </a:r>
            <a:r>
              <a:rPr lang="en-US" sz="2000" spc="-52" dirty="0">
                <a:latin typeface="Cambria" panose="02040503050406030204" pitchFamily="18" charset="0"/>
                <a:ea typeface="Cambria" panose="02040503050406030204" pitchFamily="18" charset="0"/>
                <a:cs typeface="Arial MT"/>
              </a:rPr>
              <a:t> </a:t>
            </a:r>
            <a:r>
              <a:rPr lang="en-US" sz="2000" spc="55" dirty="0">
                <a:latin typeface="Cambria" panose="02040503050406030204" pitchFamily="18" charset="0"/>
                <a:ea typeface="Cambria" panose="02040503050406030204" pitchFamily="18" charset="0"/>
                <a:cs typeface="Arial MT"/>
              </a:rPr>
              <a:t>with</a:t>
            </a:r>
            <a:r>
              <a:rPr lang="en-US" sz="2000" spc="-52" dirty="0">
                <a:latin typeface="Cambria" panose="02040503050406030204" pitchFamily="18" charset="0"/>
                <a:ea typeface="Cambria" panose="02040503050406030204" pitchFamily="18" charset="0"/>
                <a:cs typeface="Arial MT"/>
              </a:rPr>
              <a:t> </a:t>
            </a:r>
            <a:r>
              <a:rPr lang="en-US" sz="2000" spc="-39" dirty="0">
                <a:latin typeface="Cambria" panose="02040503050406030204" pitchFamily="18" charset="0"/>
                <a:ea typeface="Cambria" panose="02040503050406030204" pitchFamily="18" charset="0"/>
                <a:cs typeface="Arial MT"/>
              </a:rPr>
              <a:t>LLMs</a:t>
            </a:r>
            <a:r>
              <a:rPr lang="en-US" sz="2000" spc="-52" dirty="0">
                <a:latin typeface="Cambria" panose="02040503050406030204" pitchFamily="18" charset="0"/>
                <a:ea typeface="Cambria" panose="02040503050406030204" pitchFamily="18" charset="0"/>
                <a:cs typeface="Arial MT"/>
              </a:rPr>
              <a:t> </a:t>
            </a:r>
            <a:r>
              <a:rPr lang="en-US" sz="2000" dirty="0">
                <a:latin typeface="Cambria" panose="02040503050406030204" pitchFamily="18" charset="0"/>
                <a:ea typeface="Cambria" panose="02040503050406030204" pitchFamily="18" charset="0"/>
                <a:cs typeface="Arial MT"/>
              </a:rPr>
              <a:t>is</a:t>
            </a:r>
            <a:r>
              <a:rPr lang="en-US" sz="2000" spc="-52" dirty="0">
                <a:latin typeface="Cambria" panose="02040503050406030204" pitchFamily="18" charset="0"/>
                <a:ea typeface="Cambria" panose="02040503050406030204" pitchFamily="18" charset="0"/>
                <a:cs typeface="Arial MT"/>
              </a:rPr>
              <a:t> </a:t>
            </a:r>
            <a:r>
              <a:rPr lang="en-US" sz="2000" spc="36" dirty="0">
                <a:latin typeface="Cambria" panose="02040503050406030204" pitchFamily="18" charset="0"/>
                <a:ea typeface="Cambria" panose="02040503050406030204" pitchFamily="18" charset="0"/>
                <a:cs typeface="Arial MT"/>
              </a:rPr>
              <a:t>called </a:t>
            </a:r>
            <a:r>
              <a:rPr lang="en-US" sz="2000" b="1" spc="-6" dirty="0">
                <a:latin typeface="Cambria" panose="02040503050406030204" pitchFamily="18" charset="0"/>
                <a:ea typeface="Cambria" panose="02040503050406030204" pitchFamily="18" charset="0"/>
                <a:cs typeface="Tahoma"/>
              </a:rPr>
              <a:t>decoding.</a:t>
            </a:r>
            <a:endParaRPr lang="en-US" sz="2000" dirty="0">
              <a:latin typeface="Cambria" panose="02040503050406030204" pitchFamily="18" charset="0"/>
              <a:ea typeface="Cambria" panose="02040503050406030204" pitchFamily="18" charset="0"/>
              <a:cs typeface="Tahoma"/>
            </a:endParaRP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The idea of using computational models to generate text, code, speech, images, video, audio,  constitutes the important new area called </a:t>
            </a:r>
            <a:r>
              <a:rPr lang="en-US" sz="2000" b="1" i="1" dirty="0">
                <a:latin typeface="Cambria" panose="02040503050406030204" pitchFamily="18" charset="0"/>
                <a:ea typeface="Cambria" panose="02040503050406030204" pitchFamily="18" charset="0"/>
              </a:rPr>
              <a:t>Generative AI</a:t>
            </a:r>
            <a:endParaRPr lang="en-IN" sz="2000" b="1"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568440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292338" y="1790464"/>
            <a:ext cx="8432800" cy="3277072"/>
          </a:xfrm>
        </p:spPr>
        <p:txBody>
          <a:bodyPr>
            <a:normAutofit/>
          </a:bodyPr>
          <a:lstStyle/>
          <a:p>
            <a:r>
              <a:rPr lang="en-IN" b="0" dirty="0"/>
              <a:t>Building blocks of LLM</a:t>
            </a:r>
          </a:p>
          <a:p>
            <a:pPr marL="742950" lvl="1" indent="-285750">
              <a:buFont typeface="Arial" panose="020B0604020202020204" pitchFamily="34" charset="0"/>
              <a:buChar char="•"/>
            </a:pPr>
            <a:r>
              <a:rPr lang="en-IN" sz="2800" b="0" dirty="0"/>
              <a:t>Tokenization: BPE, Byte-level BPE</a:t>
            </a:r>
          </a:p>
          <a:p>
            <a:pPr marL="742950" lvl="1" indent="-285750">
              <a:buFont typeface="Arial" panose="020B0604020202020204" pitchFamily="34" charset="0"/>
              <a:buChar char="•"/>
            </a:pPr>
            <a:r>
              <a:rPr lang="en-US" sz="2800" b="0" dirty="0"/>
              <a:t>Token Embeddings and positional encoding</a:t>
            </a:r>
            <a:endParaRPr lang="en-IN" sz="2800" b="0" dirty="0"/>
          </a:p>
          <a:p>
            <a:pPr marL="742950" lvl="1" indent="-285750">
              <a:buFont typeface="Arial" panose="020B0604020202020204" pitchFamily="34" charset="0"/>
              <a:buChar char="•"/>
            </a:pPr>
            <a:r>
              <a:rPr lang="en-IN" sz="2800" b="0" dirty="0"/>
              <a:t>Attention Mechanism &amp; Transformer </a:t>
            </a:r>
          </a:p>
          <a:p>
            <a:pPr marL="742950" lvl="1" indent="-285750">
              <a:buFont typeface="Arial" panose="020B0604020202020204" pitchFamily="34" charset="0"/>
              <a:buChar char="•"/>
            </a:pPr>
            <a:r>
              <a:rPr lang="en-US" sz="2800" b="0" dirty="0"/>
              <a:t>Language Modelling Head</a:t>
            </a:r>
            <a:endParaRPr lang="en-IN" sz="2800" b="0" dirty="0"/>
          </a:p>
          <a:p>
            <a:endParaRPr lang="en-IN" b="0" dirty="0"/>
          </a:p>
          <a:p>
            <a:endParaRPr lang="en-IN" b="0" dirty="0"/>
          </a:p>
        </p:txBody>
      </p:sp>
    </p:spTree>
    <p:extLst>
      <p:ext uri="{BB962C8B-B14F-4D97-AF65-F5344CB8AC3E}">
        <p14:creationId xmlns:p14="http://schemas.microsoft.com/office/powerpoint/2010/main" val="87306233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Transformer LLM</a:t>
            </a:r>
            <a:endParaRPr lang="en-IN" dirty="0"/>
          </a:p>
        </p:txBody>
      </p:sp>
      <p:pic>
        <p:nvPicPr>
          <p:cNvPr id="3" name="Picture 2"/>
          <p:cNvPicPr>
            <a:picLocks noChangeAspect="1"/>
          </p:cNvPicPr>
          <p:nvPr/>
        </p:nvPicPr>
        <p:blipFill>
          <a:blip r:embed="rId2"/>
          <a:stretch>
            <a:fillRect/>
          </a:stretch>
        </p:blipFill>
        <p:spPr>
          <a:xfrm>
            <a:off x="128893" y="1655064"/>
            <a:ext cx="5967107" cy="2805726"/>
          </a:xfrm>
          <a:prstGeom prst="rect">
            <a:avLst/>
          </a:prstGeom>
        </p:spPr>
      </p:pic>
      <p:pic>
        <p:nvPicPr>
          <p:cNvPr id="6" name="Picture 5">
            <a:extLst>
              <a:ext uri="{FF2B5EF4-FFF2-40B4-BE49-F238E27FC236}">
                <a16:creationId xmlns:a16="http://schemas.microsoft.com/office/drawing/2014/main" id="{6E1BD80E-1234-5AEE-3943-B4A131951473}"/>
              </a:ext>
            </a:extLst>
          </p:cNvPr>
          <p:cNvPicPr>
            <a:picLocks noChangeAspect="1"/>
          </p:cNvPicPr>
          <p:nvPr/>
        </p:nvPicPr>
        <p:blipFill>
          <a:blip r:embed="rId3"/>
          <a:stretch>
            <a:fillRect/>
          </a:stretch>
        </p:blipFill>
        <p:spPr>
          <a:xfrm>
            <a:off x="6698533" y="1458481"/>
            <a:ext cx="4903953" cy="4247250"/>
          </a:xfrm>
          <a:prstGeom prst="rect">
            <a:avLst/>
          </a:prstGeom>
        </p:spPr>
      </p:pic>
      <p:pic>
        <p:nvPicPr>
          <p:cNvPr id="8" name="Picture 7">
            <a:extLst>
              <a:ext uri="{FF2B5EF4-FFF2-40B4-BE49-F238E27FC236}">
                <a16:creationId xmlns:a16="http://schemas.microsoft.com/office/drawing/2014/main" id="{E672FF65-19E7-908F-012A-42D8A31D8684}"/>
              </a:ext>
            </a:extLst>
          </p:cNvPr>
          <p:cNvPicPr>
            <a:picLocks noChangeAspect="1"/>
          </p:cNvPicPr>
          <p:nvPr/>
        </p:nvPicPr>
        <p:blipFill>
          <a:blip r:embed="rId4"/>
          <a:stretch>
            <a:fillRect/>
          </a:stretch>
        </p:blipFill>
        <p:spPr>
          <a:xfrm>
            <a:off x="6698533" y="5696587"/>
            <a:ext cx="4903953" cy="894882"/>
          </a:xfrm>
          <a:prstGeom prst="rect">
            <a:avLst/>
          </a:prstGeom>
        </p:spPr>
      </p:pic>
      <p:sp>
        <p:nvSpPr>
          <p:cNvPr id="10" name="Rectangle 9">
            <a:extLst>
              <a:ext uri="{FF2B5EF4-FFF2-40B4-BE49-F238E27FC236}">
                <a16:creationId xmlns:a16="http://schemas.microsoft.com/office/drawing/2014/main" id="{2141DC77-3C17-8EC2-F943-643AB300C6A4}"/>
              </a:ext>
            </a:extLst>
          </p:cNvPr>
          <p:cNvSpPr/>
          <p:nvPr/>
        </p:nvSpPr>
        <p:spPr>
          <a:xfrm>
            <a:off x="5845767" y="778470"/>
            <a:ext cx="5756719" cy="707886"/>
          </a:xfrm>
          <a:prstGeom prst="rect">
            <a:avLst/>
          </a:prstGeom>
          <a:solidFill>
            <a:schemeClr val="accent2">
              <a:lumMod val="40000"/>
              <a:lumOff val="60000"/>
            </a:schemeClr>
          </a:solidFill>
        </p:spPr>
        <p:txBody>
          <a:bodyPr wrap="square">
            <a:spAutoFit/>
          </a:bodyPr>
          <a:lstStyle/>
          <a:p>
            <a:r>
              <a:rPr lang="en-US" sz="2000" dirty="0">
                <a:solidFill>
                  <a:srgbClr val="363737"/>
                </a:solidFill>
                <a:latin typeface="Spectral"/>
              </a:rPr>
              <a:t>We use transformers to create generative models </a:t>
            </a:r>
          </a:p>
          <a:p>
            <a:r>
              <a:rPr lang="en-US" sz="2000" dirty="0">
                <a:solidFill>
                  <a:srgbClr val="363737"/>
                </a:solidFill>
                <a:latin typeface="Spectral"/>
              </a:rPr>
              <a:t>by using only decoders</a:t>
            </a:r>
            <a:endParaRPr lang="en-IN" sz="2000" dirty="0"/>
          </a:p>
        </p:txBody>
      </p:sp>
      <p:sp>
        <p:nvSpPr>
          <p:cNvPr id="12" name="Text 5">
            <a:extLst>
              <a:ext uri="{FF2B5EF4-FFF2-40B4-BE49-F238E27FC236}">
                <a16:creationId xmlns:a16="http://schemas.microsoft.com/office/drawing/2014/main" id="{25FFE368-F84E-C2E9-8E40-B60BDF5438B2}"/>
              </a:ext>
            </a:extLst>
          </p:cNvPr>
          <p:cNvSpPr txBox="1"/>
          <p:nvPr/>
        </p:nvSpPr>
        <p:spPr>
          <a:xfrm>
            <a:off x="432803" y="4966744"/>
            <a:ext cx="6198674" cy="1177284"/>
          </a:xfrm>
          <a:prstGeom prst="rect">
            <a:avLst/>
          </a:prstGeom>
          <a:noFill/>
          <a:ln/>
        </p:spPr>
        <p:txBody>
          <a:bodyPr wrap="square" lIns="635" tIns="635" rIns="635" bIns="635"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dirty="0">
                <a:solidFill>
                  <a:srgbClr val="B8860B"/>
                </a:solidFill>
                <a:latin typeface="Cambria" panose="02040503050406030204" pitchFamily="18" charset="0"/>
                <a:ea typeface="Cambria" panose="02040503050406030204" pitchFamily="18" charset="0"/>
                <a:cs typeface="Calibri" pitchFamily="34" charset="-120"/>
              </a:rPr>
              <a:t>Attention</a:t>
            </a:r>
            <a:r>
              <a:rPr lang="en-US" sz="2000" dirty="0">
                <a:solidFill>
                  <a:srgbClr val="1A1A1A"/>
                </a:solidFill>
                <a:latin typeface="Cambria" panose="02040503050406030204" pitchFamily="18" charset="0"/>
                <a:ea typeface="Cambria" panose="02040503050406030204" pitchFamily="18" charset="0"/>
                <a:cs typeface="Calibri" pitchFamily="34" charset="-120"/>
              </a:rPr>
              <a:t> = talk between tokens.  </a:t>
            </a:r>
          </a:p>
          <a:p>
            <a:pPr marL="0" indent="0">
              <a:buNone/>
            </a:pPr>
            <a:r>
              <a:rPr lang="en-US" sz="2000" b="1" dirty="0">
                <a:solidFill>
                  <a:srgbClr val="2F7FB5"/>
                </a:solidFill>
                <a:latin typeface="Cambria" panose="02040503050406030204" pitchFamily="18" charset="0"/>
                <a:ea typeface="Cambria" panose="02040503050406030204" pitchFamily="18" charset="0"/>
                <a:cs typeface="Calibri" pitchFamily="34" charset="-120"/>
              </a:rPr>
              <a:t>FFN</a:t>
            </a:r>
            <a:r>
              <a:rPr lang="en-US" sz="2000" dirty="0">
                <a:solidFill>
                  <a:srgbClr val="1A1A1A"/>
                </a:solidFill>
                <a:latin typeface="Cambria" panose="02040503050406030204" pitchFamily="18" charset="0"/>
                <a:ea typeface="Cambria" panose="02040503050406030204" pitchFamily="18" charset="0"/>
                <a:cs typeface="Calibri" pitchFamily="34" charset="-120"/>
              </a:rPr>
              <a:t> = think per token. </a:t>
            </a:r>
          </a:p>
          <a:p>
            <a:pPr marL="0" indent="0">
              <a:buNone/>
            </a:pPr>
            <a:r>
              <a:rPr lang="en-US" sz="2000" dirty="0">
                <a:solidFill>
                  <a:srgbClr val="1A1A1A"/>
                </a:solidFill>
                <a:latin typeface="Cambria" panose="02040503050406030204" pitchFamily="18" charset="0"/>
                <a:ea typeface="Cambria" panose="02040503050406030204" pitchFamily="18" charset="0"/>
                <a:cs typeface="Calibri" pitchFamily="34" charset="-120"/>
              </a:rPr>
              <a:t> </a:t>
            </a:r>
            <a:r>
              <a:rPr lang="en-US" sz="2000" b="1" dirty="0">
                <a:solidFill>
                  <a:srgbClr val="2E7D32"/>
                </a:solidFill>
                <a:latin typeface="Cambria" panose="02040503050406030204" pitchFamily="18" charset="0"/>
                <a:ea typeface="Cambria" panose="02040503050406030204" pitchFamily="18" charset="0"/>
                <a:cs typeface="Calibri" pitchFamily="34" charset="-120"/>
              </a:rPr>
              <a:t>Residual stream</a:t>
            </a:r>
            <a:r>
              <a:rPr lang="en-US" sz="2000" dirty="0">
                <a:solidFill>
                  <a:srgbClr val="1A1A1A"/>
                </a:solidFill>
                <a:latin typeface="Cambria" panose="02040503050406030204" pitchFamily="18" charset="0"/>
                <a:ea typeface="Cambria" panose="02040503050406030204" pitchFamily="18" charset="0"/>
                <a:cs typeface="Calibri" pitchFamily="34" charset="-120"/>
              </a:rPr>
              <a:t> = each sub-layer adds to X, never replaces it.</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5258787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2183684" y="2676660"/>
            <a:ext cx="8432800" cy="1143000"/>
          </a:xfrm>
        </p:spPr>
        <p:txBody>
          <a:bodyPr/>
          <a:lstStyle/>
          <a:p>
            <a:r>
              <a:rPr lang="en-US" dirty="0"/>
              <a:t>Tokenization</a:t>
            </a:r>
            <a:endParaRPr lang="en-IN" dirty="0"/>
          </a:p>
        </p:txBody>
      </p:sp>
    </p:spTree>
    <p:extLst>
      <p:ext uri="{BB962C8B-B14F-4D97-AF65-F5344CB8AC3E}">
        <p14:creationId xmlns:p14="http://schemas.microsoft.com/office/powerpoint/2010/main" val="211729131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Vocabulary Building</a:t>
            </a:r>
          </a:p>
        </p:txBody>
      </p:sp>
      <p:pic>
        <p:nvPicPr>
          <p:cNvPr id="3" name="Picture 2"/>
          <p:cNvPicPr>
            <a:picLocks noChangeAspect="1"/>
          </p:cNvPicPr>
          <p:nvPr/>
        </p:nvPicPr>
        <p:blipFill>
          <a:blip r:embed="rId2"/>
          <a:stretch>
            <a:fillRect/>
          </a:stretch>
        </p:blipFill>
        <p:spPr>
          <a:xfrm>
            <a:off x="4928984" y="277835"/>
            <a:ext cx="7112761" cy="5836717"/>
          </a:xfrm>
          <a:prstGeom prst="rect">
            <a:avLst/>
          </a:prstGeom>
        </p:spPr>
      </p:pic>
    </p:spTree>
    <p:extLst>
      <p:ext uri="{BB962C8B-B14F-4D97-AF65-F5344CB8AC3E}">
        <p14:creationId xmlns:p14="http://schemas.microsoft.com/office/powerpoint/2010/main" val="399362771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ontent Placeholder 40"/>
          <p:cNvSpPr>
            <a:spLocks noGrp="1"/>
          </p:cNvSpPr>
          <p:nvPr>
            <p:ph type="body" sz="quarter" idx="1"/>
          </p:nvPr>
        </p:nvSpPr>
        <p:spPr>
          <a:xfrm>
            <a:off x="86636" y="1302888"/>
            <a:ext cx="12016874" cy="1975242"/>
          </a:xfrm>
        </p:spPr>
        <p:txBody>
          <a:bodyPr>
            <a:normAutofit/>
          </a:bodyPr>
          <a:lstStyle/>
          <a:p>
            <a:pPr marL="342900" indent="-342900" algn="l" rtl="0">
              <a:lnSpc>
                <a:spcPct val="100000"/>
              </a:lnSpc>
              <a:buFont typeface="Arial" panose="020B0604020202020204" pitchFamily="34" charset="0"/>
              <a:buChar char="•"/>
            </a:pPr>
            <a:r>
              <a:rPr lang="en-US" sz="2400" b="0" dirty="0"/>
              <a:t>Common words get their own token; rare words are split into (sometimes intuitive, sometimes not) pieces.</a:t>
            </a:r>
          </a:p>
          <a:p>
            <a:pPr marL="342900" indent="-342900" algn="l" rtl="0">
              <a:lnSpc>
                <a:spcPct val="100000"/>
              </a:lnSpc>
              <a:buFont typeface="Arial" panose="020B0604020202020204" pitchFamily="34" charset="0"/>
              <a:buChar char="•"/>
            </a:pPr>
            <a:r>
              <a:rPr lang="en-US" sz="2400" b="0" dirty="0"/>
              <a:t>Worst case: a word splits into as many tokens as it has characters (or bytes).</a:t>
            </a:r>
          </a:p>
          <a:p>
            <a:pPr marL="342900" indent="-342900" algn="l" rtl="0">
              <a:buFont typeface="Arial" panose="020B0604020202020204" pitchFamily="34" charset="0"/>
              <a:buChar char="•"/>
            </a:pPr>
            <a:endParaRPr lang="en-US" sz="2400" b="0" dirty="0"/>
          </a:p>
        </p:txBody>
      </p:sp>
      <p:sp>
        <p:nvSpPr>
          <p:cNvPr id="40" name="Title 39"/>
          <p:cNvSpPr>
            <a:spLocks noGrp="1"/>
          </p:cNvSpPr>
          <p:nvPr>
            <p:ph type="title" idx="4294967295"/>
          </p:nvPr>
        </p:nvSpPr>
        <p:spPr>
          <a:xfrm>
            <a:off x="0" y="130175"/>
            <a:ext cx="10880725" cy="1219200"/>
          </a:xfrm>
        </p:spPr>
        <p:txBody>
          <a:bodyPr/>
          <a:lstStyle/>
          <a:p>
            <a:r>
              <a:rPr lang="en-US" dirty="0">
                <a:cs typeface="Calibri"/>
              </a:rPr>
              <a:t>Word</a:t>
            </a:r>
            <a:r>
              <a:rPr lang="en-US" spc="-5" dirty="0">
                <a:cs typeface="Calibri"/>
              </a:rPr>
              <a:t> structure </a:t>
            </a:r>
            <a:r>
              <a:rPr lang="en-US" dirty="0">
                <a:cs typeface="Calibri"/>
              </a:rPr>
              <a:t>and </a:t>
            </a:r>
            <a:r>
              <a:rPr lang="en-US" spc="-5" dirty="0" err="1">
                <a:cs typeface="Calibri"/>
              </a:rPr>
              <a:t>subword</a:t>
            </a:r>
            <a:r>
              <a:rPr lang="en-US" spc="-10" dirty="0">
                <a:cs typeface="Calibri"/>
              </a:rPr>
              <a:t> </a:t>
            </a:r>
            <a:r>
              <a:rPr lang="en-US" dirty="0">
                <a:cs typeface="Calibri"/>
              </a:rPr>
              <a:t>models</a:t>
            </a:r>
            <a:br>
              <a:rPr lang="en-IN" dirty="0"/>
            </a:br>
            <a:endParaRPr lang="en-IN" dirty="0"/>
          </a:p>
        </p:txBody>
      </p:sp>
      <p:sp>
        <p:nvSpPr>
          <p:cNvPr id="4" name="object 4"/>
          <p:cNvSpPr txBox="1"/>
          <p:nvPr/>
        </p:nvSpPr>
        <p:spPr>
          <a:xfrm>
            <a:off x="2314194" y="3211195"/>
            <a:ext cx="67119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word</a:t>
            </a:r>
            <a:endParaRPr sz="2400">
              <a:latin typeface="Calibri"/>
              <a:cs typeface="Calibri"/>
            </a:endParaRPr>
          </a:p>
        </p:txBody>
      </p:sp>
      <p:sp>
        <p:nvSpPr>
          <p:cNvPr id="5" name="object 5"/>
          <p:cNvSpPr txBox="1"/>
          <p:nvPr/>
        </p:nvSpPr>
        <p:spPr>
          <a:xfrm>
            <a:off x="5057647" y="3134741"/>
            <a:ext cx="2242820" cy="2666365"/>
          </a:xfrm>
          <a:prstGeom prst="rect">
            <a:avLst/>
          </a:prstGeom>
        </p:spPr>
        <p:txBody>
          <a:bodyPr vert="horz" wrap="square" lIns="0" tIns="12700" rIns="0" bIns="0" rtlCol="0">
            <a:spAutoFit/>
          </a:bodyPr>
          <a:lstStyle/>
          <a:p>
            <a:pPr marL="12700" marR="336550">
              <a:lnSpc>
                <a:spcPct val="120900"/>
              </a:lnSpc>
              <a:spcBef>
                <a:spcPts val="100"/>
              </a:spcBef>
            </a:pPr>
            <a:r>
              <a:rPr sz="2400" spc="-5" dirty="0">
                <a:latin typeface="Calibri"/>
                <a:cs typeface="Calibri"/>
              </a:rPr>
              <a:t>vocab</a:t>
            </a:r>
            <a:r>
              <a:rPr sz="2400" spc="-65" dirty="0">
                <a:latin typeface="Calibri"/>
                <a:cs typeface="Calibri"/>
              </a:rPr>
              <a:t> </a:t>
            </a:r>
            <a:r>
              <a:rPr sz="2400" spc="-5" dirty="0">
                <a:latin typeface="Calibri"/>
                <a:cs typeface="Calibri"/>
              </a:rPr>
              <a:t>mapping </a:t>
            </a:r>
            <a:r>
              <a:rPr sz="2400" spc="-530" dirty="0">
                <a:latin typeface="Calibri"/>
                <a:cs typeface="Calibri"/>
              </a:rPr>
              <a:t> </a:t>
            </a:r>
            <a:r>
              <a:rPr sz="2400" spc="-5" dirty="0">
                <a:solidFill>
                  <a:srgbClr val="007B92"/>
                </a:solidFill>
                <a:latin typeface="Calibri"/>
                <a:cs typeface="Calibri"/>
              </a:rPr>
              <a:t>hat</a:t>
            </a:r>
            <a:endParaRPr sz="2400">
              <a:latin typeface="Calibri"/>
              <a:cs typeface="Calibri"/>
            </a:endParaRPr>
          </a:p>
          <a:p>
            <a:pPr marL="12700">
              <a:lnSpc>
                <a:spcPct val="100000"/>
              </a:lnSpc>
              <a:spcBef>
                <a:spcPts val="575"/>
              </a:spcBef>
            </a:pPr>
            <a:r>
              <a:rPr sz="2400" dirty="0">
                <a:solidFill>
                  <a:srgbClr val="007B92"/>
                </a:solidFill>
                <a:latin typeface="Calibri"/>
                <a:cs typeface="Calibri"/>
              </a:rPr>
              <a:t>learn</a:t>
            </a:r>
            <a:endParaRPr sz="2400">
              <a:latin typeface="Calibri"/>
              <a:cs typeface="Calibri"/>
            </a:endParaRPr>
          </a:p>
          <a:p>
            <a:pPr marL="12700" marR="5080">
              <a:lnSpc>
                <a:spcPct val="120000"/>
              </a:lnSpc>
            </a:pPr>
            <a:r>
              <a:rPr sz="2400" dirty="0">
                <a:solidFill>
                  <a:srgbClr val="007B92"/>
                </a:solidFill>
                <a:latin typeface="Calibri"/>
                <a:cs typeface="Calibri"/>
              </a:rPr>
              <a:t>taa## aaa## </a:t>
            </a:r>
            <a:r>
              <a:rPr sz="2400" spc="-5" dirty="0">
                <a:solidFill>
                  <a:srgbClr val="007B92"/>
                </a:solidFill>
                <a:latin typeface="Calibri"/>
                <a:cs typeface="Calibri"/>
              </a:rPr>
              <a:t>sty </a:t>
            </a:r>
            <a:r>
              <a:rPr sz="2400" dirty="0">
                <a:solidFill>
                  <a:srgbClr val="007B92"/>
                </a:solidFill>
                <a:latin typeface="Calibri"/>
                <a:cs typeface="Calibri"/>
              </a:rPr>
              <a:t> la## ern## </a:t>
            </a:r>
            <a:r>
              <a:rPr sz="2400" spc="5" dirty="0">
                <a:solidFill>
                  <a:srgbClr val="007B92"/>
                </a:solidFill>
                <a:latin typeface="Calibri"/>
                <a:cs typeface="Calibri"/>
              </a:rPr>
              <a:t> </a:t>
            </a:r>
            <a:r>
              <a:rPr sz="2400" spc="-5" dirty="0">
                <a:solidFill>
                  <a:srgbClr val="007B92"/>
                </a:solidFill>
                <a:latin typeface="Calibri"/>
                <a:cs typeface="Calibri"/>
              </a:rPr>
              <a:t>Transformer##</a:t>
            </a:r>
            <a:r>
              <a:rPr sz="2400" spc="-50" dirty="0">
                <a:solidFill>
                  <a:srgbClr val="007B92"/>
                </a:solidFill>
                <a:latin typeface="Calibri"/>
                <a:cs typeface="Calibri"/>
              </a:rPr>
              <a:t> </a:t>
            </a:r>
            <a:r>
              <a:rPr sz="2400" dirty="0">
                <a:solidFill>
                  <a:srgbClr val="007B92"/>
                </a:solidFill>
                <a:latin typeface="Calibri"/>
                <a:cs typeface="Calibri"/>
              </a:rPr>
              <a:t>ify</a:t>
            </a:r>
            <a:endParaRPr sz="2400">
              <a:latin typeface="Calibri"/>
              <a:cs typeface="Calibri"/>
            </a:endParaRPr>
          </a:p>
        </p:txBody>
      </p:sp>
      <p:sp>
        <p:nvSpPr>
          <p:cNvPr id="6" name="object 6"/>
          <p:cNvSpPr txBox="1"/>
          <p:nvPr/>
        </p:nvSpPr>
        <p:spPr>
          <a:xfrm>
            <a:off x="7801102" y="3211195"/>
            <a:ext cx="14274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embedding</a:t>
            </a:r>
            <a:endParaRPr sz="2400">
              <a:latin typeface="Calibri"/>
              <a:cs typeface="Calibri"/>
            </a:endParaRPr>
          </a:p>
        </p:txBody>
      </p:sp>
      <p:sp>
        <p:nvSpPr>
          <p:cNvPr id="7" name="object 7"/>
          <p:cNvSpPr txBox="1"/>
          <p:nvPr/>
        </p:nvSpPr>
        <p:spPr>
          <a:xfrm>
            <a:off x="2314194" y="3580257"/>
            <a:ext cx="1217930" cy="1781175"/>
          </a:xfrm>
          <a:prstGeom prst="rect">
            <a:avLst/>
          </a:prstGeom>
        </p:spPr>
        <p:txBody>
          <a:bodyPr vert="horz" wrap="square" lIns="0" tIns="12700" rIns="0" bIns="0" rtlCol="0">
            <a:spAutoFit/>
          </a:bodyPr>
          <a:lstStyle/>
          <a:p>
            <a:pPr marL="12700" marR="561340">
              <a:lnSpc>
                <a:spcPct val="120000"/>
              </a:lnSpc>
              <a:spcBef>
                <a:spcPts val="100"/>
              </a:spcBef>
            </a:pPr>
            <a:r>
              <a:rPr sz="2400" spc="-5" dirty="0">
                <a:solidFill>
                  <a:srgbClr val="007B92"/>
                </a:solidFill>
                <a:latin typeface="Calibri"/>
                <a:cs typeface="Calibri"/>
              </a:rPr>
              <a:t>hat </a:t>
            </a:r>
            <a:r>
              <a:rPr sz="2400" dirty="0">
                <a:solidFill>
                  <a:srgbClr val="007B92"/>
                </a:solidFill>
                <a:latin typeface="Calibri"/>
                <a:cs typeface="Calibri"/>
              </a:rPr>
              <a:t> le</a:t>
            </a:r>
            <a:r>
              <a:rPr sz="2400" spc="5" dirty="0">
                <a:solidFill>
                  <a:srgbClr val="007B92"/>
                </a:solidFill>
                <a:latin typeface="Calibri"/>
                <a:cs typeface="Calibri"/>
              </a:rPr>
              <a:t>a</a:t>
            </a:r>
            <a:r>
              <a:rPr sz="2400" dirty="0">
                <a:solidFill>
                  <a:srgbClr val="007B92"/>
                </a:solidFill>
                <a:latin typeface="Calibri"/>
                <a:cs typeface="Calibri"/>
              </a:rPr>
              <a:t>rn</a:t>
            </a:r>
            <a:endParaRPr sz="2400">
              <a:latin typeface="Calibri"/>
              <a:cs typeface="Calibri"/>
            </a:endParaRPr>
          </a:p>
          <a:p>
            <a:pPr marL="12700" marR="5080">
              <a:lnSpc>
                <a:spcPct val="120000"/>
              </a:lnSpc>
            </a:pPr>
            <a:r>
              <a:rPr sz="2400" dirty="0">
                <a:solidFill>
                  <a:srgbClr val="007B92"/>
                </a:solidFill>
                <a:latin typeface="Calibri"/>
                <a:cs typeface="Calibri"/>
              </a:rPr>
              <a:t>taaaaasty  laern</a:t>
            </a:r>
            <a:endParaRPr sz="2400">
              <a:latin typeface="Calibri"/>
              <a:cs typeface="Calibri"/>
            </a:endParaRPr>
          </a:p>
        </p:txBody>
      </p:sp>
      <p:sp>
        <p:nvSpPr>
          <p:cNvPr id="8" name="object 8"/>
          <p:cNvSpPr txBox="1"/>
          <p:nvPr/>
        </p:nvSpPr>
        <p:spPr>
          <a:xfrm>
            <a:off x="4143247" y="3580257"/>
            <a:ext cx="324485" cy="1781175"/>
          </a:xfrm>
          <a:prstGeom prst="rect">
            <a:avLst/>
          </a:prstGeom>
        </p:spPr>
        <p:txBody>
          <a:bodyPr vert="horz" wrap="square" lIns="0" tIns="85725" rIns="0" bIns="0" rtlCol="0">
            <a:spAutoFit/>
          </a:bodyPr>
          <a:lstStyle/>
          <a:p>
            <a:pPr marL="12700">
              <a:lnSpc>
                <a:spcPct val="100000"/>
              </a:lnSpc>
              <a:spcBef>
                <a:spcPts val="675"/>
              </a:spcBef>
            </a:pPr>
            <a:r>
              <a:rPr sz="2400" dirty="0">
                <a:solidFill>
                  <a:srgbClr val="007B92"/>
                </a:solidFill>
                <a:latin typeface="Wingdings"/>
                <a:cs typeface="Wingdings"/>
              </a:rPr>
              <a:t></a:t>
            </a:r>
            <a:endParaRPr sz="2400">
              <a:latin typeface="Wingdings"/>
              <a:cs typeface="Wingdings"/>
            </a:endParaRPr>
          </a:p>
          <a:p>
            <a:pPr marL="12700">
              <a:lnSpc>
                <a:spcPct val="100000"/>
              </a:lnSpc>
              <a:spcBef>
                <a:spcPts val="575"/>
              </a:spcBef>
            </a:pPr>
            <a:r>
              <a:rPr sz="2400" dirty="0">
                <a:solidFill>
                  <a:srgbClr val="007B92"/>
                </a:solidFill>
                <a:latin typeface="Wingdings"/>
                <a:cs typeface="Wingdings"/>
              </a:rPr>
              <a:t></a:t>
            </a:r>
            <a:endParaRPr sz="2400">
              <a:latin typeface="Wingdings"/>
              <a:cs typeface="Wingdings"/>
            </a:endParaRPr>
          </a:p>
          <a:p>
            <a:pPr marL="12700">
              <a:lnSpc>
                <a:spcPct val="100000"/>
              </a:lnSpc>
              <a:spcBef>
                <a:spcPts val="575"/>
              </a:spcBef>
            </a:pPr>
            <a:r>
              <a:rPr sz="2400" dirty="0">
                <a:solidFill>
                  <a:srgbClr val="007B92"/>
                </a:solidFill>
                <a:latin typeface="Wingdings"/>
                <a:cs typeface="Wingdings"/>
              </a:rPr>
              <a:t></a:t>
            </a:r>
            <a:endParaRPr sz="2400">
              <a:latin typeface="Wingdings"/>
              <a:cs typeface="Wingdings"/>
            </a:endParaRPr>
          </a:p>
          <a:p>
            <a:pPr marL="12700">
              <a:lnSpc>
                <a:spcPct val="100000"/>
              </a:lnSpc>
              <a:spcBef>
                <a:spcPts val="575"/>
              </a:spcBef>
            </a:pPr>
            <a:r>
              <a:rPr sz="2400" dirty="0">
                <a:solidFill>
                  <a:srgbClr val="007B92"/>
                </a:solidFill>
                <a:latin typeface="Wingdings"/>
                <a:cs typeface="Wingdings"/>
              </a:rPr>
              <a:t></a:t>
            </a:r>
            <a:endParaRPr sz="2400">
              <a:latin typeface="Wingdings"/>
              <a:cs typeface="Wingdings"/>
            </a:endParaRPr>
          </a:p>
        </p:txBody>
      </p:sp>
      <p:sp>
        <p:nvSpPr>
          <p:cNvPr id="9" name="object 9"/>
          <p:cNvSpPr txBox="1"/>
          <p:nvPr/>
        </p:nvSpPr>
        <p:spPr>
          <a:xfrm>
            <a:off x="2314194" y="5409387"/>
            <a:ext cx="223710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7B92"/>
                </a:solidFill>
                <a:latin typeface="Calibri"/>
                <a:cs typeface="Calibri"/>
              </a:rPr>
              <a:t>Transformerify</a:t>
            </a:r>
            <a:r>
              <a:rPr sz="2400" spc="-45" dirty="0">
                <a:solidFill>
                  <a:srgbClr val="007B92"/>
                </a:solidFill>
                <a:latin typeface="Calibri"/>
                <a:cs typeface="Calibri"/>
              </a:rPr>
              <a:t> </a:t>
            </a:r>
            <a:r>
              <a:rPr sz="2400" dirty="0">
                <a:solidFill>
                  <a:srgbClr val="007B92"/>
                </a:solidFill>
                <a:latin typeface="Wingdings"/>
                <a:cs typeface="Wingdings"/>
              </a:rPr>
              <a:t></a:t>
            </a:r>
            <a:endParaRPr sz="2400">
              <a:latin typeface="Wingdings"/>
              <a:cs typeface="Wingdings"/>
            </a:endParaRPr>
          </a:p>
        </p:txBody>
      </p:sp>
      <p:sp>
        <p:nvSpPr>
          <p:cNvPr id="10" name="object 10"/>
          <p:cNvSpPr/>
          <p:nvPr/>
        </p:nvSpPr>
        <p:spPr>
          <a:xfrm>
            <a:off x="7770876" y="3928871"/>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8B1515"/>
          </a:solidFill>
        </p:spPr>
        <p:txBody>
          <a:bodyPr wrap="square" lIns="0" tIns="0" rIns="0" bIns="0" rtlCol="0"/>
          <a:lstStyle/>
          <a:p>
            <a:endParaRPr/>
          </a:p>
        </p:txBody>
      </p:sp>
      <p:sp>
        <p:nvSpPr>
          <p:cNvPr id="11" name="object 11"/>
          <p:cNvSpPr/>
          <p:nvPr/>
        </p:nvSpPr>
        <p:spPr>
          <a:xfrm>
            <a:off x="7770876" y="4343400"/>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8B1515"/>
          </a:solidFill>
        </p:spPr>
        <p:txBody>
          <a:bodyPr wrap="square" lIns="0" tIns="0" rIns="0" bIns="0" rtlCol="0"/>
          <a:lstStyle/>
          <a:p>
            <a:endParaRPr/>
          </a:p>
        </p:txBody>
      </p:sp>
      <p:grpSp>
        <p:nvGrpSpPr>
          <p:cNvPr id="12" name="object 12"/>
          <p:cNvGrpSpPr/>
          <p:nvPr/>
        </p:nvGrpSpPr>
        <p:grpSpPr>
          <a:xfrm>
            <a:off x="7772209" y="4769929"/>
            <a:ext cx="466725" cy="197485"/>
            <a:chOff x="7772209" y="4769929"/>
            <a:chExt cx="466725" cy="197485"/>
          </a:xfrm>
        </p:grpSpPr>
        <p:sp>
          <p:nvSpPr>
            <p:cNvPr id="13" name="object 13"/>
            <p:cNvSpPr/>
            <p:nvPr/>
          </p:nvSpPr>
          <p:spPr>
            <a:xfrm>
              <a:off x="7776971" y="4774691"/>
              <a:ext cx="457200" cy="187960"/>
            </a:xfrm>
            <a:custGeom>
              <a:avLst/>
              <a:gdLst/>
              <a:ahLst/>
              <a:cxnLst/>
              <a:rect l="l" t="t" r="r" b="b"/>
              <a:pathLst>
                <a:path w="457200" h="187960">
                  <a:moveTo>
                    <a:pt x="457200" y="0"/>
                  </a:moveTo>
                  <a:lnTo>
                    <a:pt x="0" y="0"/>
                  </a:lnTo>
                  <a:lnTo>
                    <a:pt x="0" y="187451"/>
                  </a:lnTo>
                  <a:lnTo>
                    <a:pt x="457200" y="187451"/>
                  </a:lnTo>
                  <a:lnTo>
                    <a:pt x="457200" y="0"/>
                  </a:lnTo>
                  <a:close/>
                </a:path>
              </a:pathLst>
            </a:custGeom>
            <a:solidFill>
              <a:srgbClr val="A30408"/>
            </a:solidFill>
          </p:spPr>
          <p:txBody>
            <a:bodyPr wrap="square" lIns="0" tIns="0" rIns="0" bIns="0" rtlCol="0"/>
            <a:lstStyle/>
            <a:p>
              <a:endParaRPr/>
            </a:p>
          </p:txBody>
        </p:sp>
        <p:sp>
          <p:nvSpPr>
            <p:cNvPr id="14" name="object 14"/>
            <p:cNvSpPr/>
            <p:nvPr/>
          </p:nvSpPr>
          <p:spPr>
            <a:xfrm>
              <a:off x="7776971" y="4774691"/>
              <a:ext cx="457200" cy="187960"/>
            </a:xfrm>
            <a:custGeom>
              <a:avLst/>
              <a:gdLst/>
              <a:ahLst/>
              <a:cxnLst/>
              <a:rect l="l" t="t" r="r" b="b"/>
              <a:pathLst>
                <a:path w="457200" h="187960">
                  <a:moveTo>
                    <a:pt x="0" y="187451"/>
                  </a:moveTo>
                  <a:lnTo>
                    <a:pt x="457200" y="187451"/>
                  </a:lnTo>
                  <a:lnTo>
                    <a:pt x="457200" y="0"/>
                  </a:lnTo>
                  <a:lnTo>
                    <a:pt x="0" y="0"/>
                  </a:lnTo>
                  <a:lnTo>
                    <a:pt x="0" y="187451"/>
                  </a:lnTo>
                  <a:close/>
                </a:path>
              </a:pathLst>
            </a:custGeom>
            <a:ln w="9524">
              <a:solidFill>
                <a:srgbClr val="7E7E7E"/>
              </a:solidFill>
            </a:ln>
          </p:spPr>
          <p:txBody>
            <a:bodyPr wrap="square" lIns="0" tIns="0" rIns="0" bIns="0" rtlCol="0"/>
            <a:lstStyle/>
            <a:p>
              <a:endParaRPr/>
            </a:p>
          </p:txBody>
        </p:sp>
      </p:grpSp>
      <p:sp>
        <p:nvSpPr>
          <p:cNvPr id="15" name="object 15"/>
          <p:cNvSpPr/>
          <p:nvPr/>
        </p:nvSpPr>
        <p:spPr>
          <a:xfrm>
            <a:off x="1786127" y="3854196"/>
            <a:ext cx="228600" cy="609600"/>
          </a:xfrm>
          <a:custGeom>
            <a:avLst/>
            <a:gdLst/>
            <a:ahLst/>
            <a:cxnLst/>
            <a:rect l="l" t="t" r="r" b="b"/>
            <a:pathLst>
              <a:path w="228600" h="609600">
                <a:moveTo>
                  <a:pt x="228600" y="609599"/>
                </a:moveTo>
                <a:lnTo>
                  <a:pt x="184112" y="608105"/>
                </a:lnTo>
                <a:lnTo>
                  <a:pt x="147780" y="604027"/>
                </a:lnTo>
                <a:lnTo>
                  <a:pt x="123283" y="597973"/>
                </a:lnTo>
                <a:lnTo>
                  <a:pt x="114300" y="590549"/>
                </a:lnTo>
                <a:lnTo>
                  <a:pt x="114300" y="323849"/>
                </a:lnTo>
                <a:lnTo>
                  <a:pt x="105316" y="316426"/>
                </a:lnTo>
                <a:lnTo>
                  <a:pt x="80819" y="310372"/>
                </a:lnTo>
                <a:lnTo>
                  <a:pt x="44487" y="306294"/>
                </a:lnTo>
                <a:lnTo>
                  <a:pt x="0" y="304799"/>
                </a:lnTo>
                <a:lnTo>
                  <a:pt x="44487" y="303305"/>
                </a:lnTo>
                <a:lnTo>
                  <a:pt x="80819" y="299227"/>
                </a:lnTo>
                <a:lnTo>
                  <a:pt x="105316" y="293173"/>
                </a:lnTo>
                <a:lnTo>
                  <a:pt x="114300" y="285749"/>
                </a:lnTo>
                <a:lnTo>
                  <a:pt x="114300" y="19049"/>
                </a:lnTo>
                <a:lnTo>
                  <a:pt x="123283" y="11626"/>
                </a:lnTo>
                <a:lnTo>
                  <a:pt x="147780" y="5572"/>
                </a:lnTo>
                <a:lnTo>
                  <a:pt x="184112" y="1494"/>
                </a:lnTo>
                <a:lnTo>
                  <a:pt x="228600" y="0"/>
                </a:lnTo>
              </a:path>
            </a:pathLst>
          </a:custGeom>
          <a:ln w="9525">
            <a:solidFill>
              <a:srgbClr val="000000"/>
            </a:solidFill>
          </a:ln>
        </p:spPr>
        <p:txBody>
          <a:bodyPr wrap="square" lIns="0" tIns="0" rIns="0" bIns="0" rtlCol="0"/>
          <a:lstStyle/>
          <a:p>
            <a:endParaRPr/>
          </a:p>
        </p:txBody>
      </p:sp>
      <p:sp>
        <p:nvSpPr>
          <p:cNvPr id="16" name="object 16"/>
          <p:cNvSpPr txBox="1"/>
          <p:nvPr/>
        </p:nvSpPr>
        <p:spPr>
          <a:xfrm>
            <a:off x="763016" y="3809822"/>
            <a:ext cx="874394" cy="57467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7B92"/>
                </a:solidFill>
                <a:latin typeface="Calibri"/>
                <a:cs typeface="Calibri"/>
              </a:rPr>
              <a:t>Common</a:t>
            </a:r>
            <a:endParaRPr sz="1800">
              <a:latin typeface="Calibri"/>
              <a:cs typeface="Calibri"/>
            </a:endParaRPr>
          </a:p>
          <a:p>
            <a:pPr marL="12700">
              <a:lnSpc>
                <a:spcPct val="100000"/>
              </a:lnSpc>
              <a:spcBef>
                <a:spcPts val="5"/>
              </a:spcBef>
            </a:pPr>
            <a:r>
              <a:rPr sz="1800" spc="-15" dirty="0">
                <a:solidFill>
                  <a:srgbClr val="007B92"/>
                </a:solidFill>
                <a:latin typeface="Calibri"/>
                <a:cs typeface="Calibri"/>
              </a:rPr>
              <a:t>words</a:t>
            </a:r>
            <a:endParaRPr sz="1800">
              <a:latin typeface="Calibri"/>
              <a:cs typeface="Calibri"/>
            </a:endParaRPr>
          </a:p>
        </p:txBody>
      </p:sp>
      <p:sp>
        <p:nvSpPr>
          <p:cNvPr id="17" name="object 17"/>
          <p:cNvSpPr/>
          <p:nvPr/>
        </p:nvSpPr>
        <p:spPr>
          <a:xfrm>
            <a:off x="1748027" y="4594859"/>
            <a:ext cx="241300" cy="1320165"/>
          </a:xfrm>
          <a:custGeom>
            <a:avLst/>
            <a:gdLst/>
            <a:ahLst/>
            <a:cxnLst/>
            <a:rect l="l" t="t" r="r" b="b"/>
            <a:pathLst>
              <a:path w="241300" h="1320164">
                <a:moveTo>
                  <a:pt x="240792" y="429767"/>
                </a:moveTo>
                <a:lnTo>
                  <a:pt x="197477" y="428317"/>
                </a:lnTo>
                <a:lnTo>
                  <a:pt x="162115" y="424354"/>
                </a:lnTo>
                <a:lnTo>
                  <a:pt x="138279" y="418463"/>
                </a:lnTo>
                <a:lnTo>
                  <a:pt x="129540" y="411225"/>
                </a:lnTo>
                <a:lnTo>
                  <a:pt x="129540" y="233425"/>
                </a:lnTo>
                <a:lnTo>
                  <a:pt x="120800" y="226188"/>
                </a:lnTo>
                <a:lnTo>
                  <a:pt x="96964" y="220297"/>
                </a:lnTo>
                <a:lnTo>
                  <a:pt x="61602" y="216334"/>
                </a:lnTo>
                <a:lnTo>
                  <a:pt x="18288" y="214883"/>
                </a:lnTo>
                <a:lnTo>
                  <a:pt x="61602" y="213433"/>
                </a:lnTo>
                <a:lnTo>
                  <a:pt x="96964" y="209470"/>
                </a:lnTo>
                <a:lnTo>
                  <a:pt x="120800" y="203579"/>
                </a:lnTo>
                <a:lnTo>
                  <a:pt x="129540" y="196341"/>
                </a:lnTo>
                <a:lnTo>
                  <a:pt x="129540" y="18541"/>
                </a:lnTo>
                <a:lnTo>
                  <a:pt x="138279" y="11304"/>
                </a:lnTo>
                <a:lnTo>
                  <a:pt x="162115" y="5413"/>
                </a:lnTo>
                <a:lnTo>
                  <a:pt x="197477" y="1450"/>
                </a:lnTo>
                <a:lnTo>
                  <a:pt x="240792" y="0"/>
                </a:lnTo>
              </a:path>
              <a:path w="241300" h="1320164">
                <a:moveTo>
                  <a:pt x="230124" y="886967"/>
                </a:moveTo>
                <a:lnTo>
                  <a:pt x="186809" y="885517"/>
                </a:lnTo>
                <a:lnTo>
                  <a:pt x="151447" y="881554"/>
                </a:lnTo>
                <a:lnTo>
                  <a:pt x="127611" y="875663"/>
                </a:lnTo>
                <a:lnTo>
                  <a:pt x="118872" y="868426"/>
                </a:lnTo>
                <a:lnTo>
                  <a:pt x="118872" y="690626"/>
                </a:lnTo>
                <a:lnTo>
                  <a:pt x="110132" y="683388"/>
                </a:lnTo>
                <a:lnTo>
                  <a:pt x="86296" y="677497"/>
                </a:lnTo>
                <a:lnTo>
                  <a:pt x="50934" y="673534"/>
                </a:lnTo>
                <a:lnTo>
                  <a:pt x="7620" y="672083"/>
                </a:lnTo>
                <a:lnTo>
                  <a:pt x="50934" y="670633"/>
                </a:lnTo>
                <a:lnTo>
                  <a:pt x="86296" y="666670"/>
                </a:lnTo>
                <a:lnTo>
                  <a:pt x="110132" y="660779"/>
                </a:lnTo>
                <a:lnTo>
                  <a:pt x="118872" y="653541"/>
                </a:lnTo>
                <a:lnTo>
                  <a:pt x="118872" y="475741"/>
                </a:lnTo>
                <a:lnTo>
                  <a:pt x="127611" y="468504"/>
                </a:lnTo>
                <a:lnTo>
                  <a:pt x="151447" y="462613"/>
                </a:lnTo>
                <a:lnTo>
                  <a:pt x="186809" y="458650"/>
                </a:lnTo>
                <a:lnTo>
                  <a:pt x="230124" y="457200"/>
                </a:lnTo>
              </a:path>
              <a:path w="241300" h="1320164">
                <a:moveTo>
                  <a:pt x="220980" y="1319783"/>
                </a:moveTo>
                <a:lnTo>
                  <a:pt x="177998" y="1318337"/>
                </a:lnTo>
                <a:lnTo>
                  <a:pt x="142875" y="1314391"/>
                </a:lnTo>
                <a:lnTo>
                  <a:pt x="119181" y="1308537"/>
                </a:lnTo>
                <a:lnTo>
                  <a:pt x="110490" y="1301368"/>
                </a:lnTo>
                <a:lnTo>
                  <a:pt x="110490" y="1123314"/>
                </a:lnTo>
                <a:lnTo>
                  <a:pt x="101798" y="1116146"/>
                </a:lnTo>
                <a:lnTo>
                  <a:pt x="78105" y="1110292"/>
                </a:lnTo>
                <a:lnTo>
                  <a:pt x="42981" y="1106346"/>
                </a:lnTo>
                <a:lnTo>
                  <a:pt x="0" y="1104899"/>
                </a:lnTo>
                <a:lnTo>
                  <a:pt x="42981" y="1103453"/>
                </a:lnTo>
                <a:lnTo>
                  <a:pt x="78105" y="1099507"/>
                </a:lnTo>
                <a:lnTo>
                  <a:pt x="101798" y="1093653"/>
                </a:lnTo>
                <a:lnTo>
                  <a:pt x="110490" y="1086484"/>
                </a:lnTo>
                <a:lnTo>
                  <a:pt x="110490" y="908430"/>
                </a:lnTo>
                <a:lnTo>
                  <a:pt x="119181" y="901267"/>
                </a:lnTo>
                <a:lnTo>
                  <a:pt x="142875" y="895413"/>
                </a:lnTo>
                <a:lnTo>
                  <a:pt x="177998" y="891464"/>
                </a:lnTo>
                <a:lnTo>
                  <a:pt x="220980" y="890015"/>
                </a:lnTo>
              </a:path>
            </a:pathLst>
          </a:custGeom>
          <a:ln w="9525">
            <a:solidFill>
              <a:srgbClr val="000000"/>
            </a:solidFill>
          </a:ln>
        </p:spPr>
        <p:txBody>
          <a:bodyPr wrap="square" lIns="0" tIns="0" rIns="0" bIns="0" rtlCol="0"/>
          <a:lstStyle/>
          <a:p>
            <a:endParaRPr/>
          </a:p>
        </p:txBody>
      </p:sp>
      <p:sp>
        <p:nvSpPr>
          <p:cNvPr id="18" name="object 18"/>
          <p:cNvSpPr txBox="1"/>
          <p:nvPr/>
        </p:nvSpPr>
        <p:spPr>
          <a:xfrm>
            <a:off x="722172" y="4634610"/>
            <a:ext cx="949325"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007B92"/>
                </a:solidFill>
                <a:latin typeface="Calibri"/>
                <a:cs typeface="Calibri"/>
              </a:rPr>
              <a:t>V</a:t>
            </a:r>
            <a:r>
              <a:rPr sz="1800" dirty="0">
                <a:solidFill>
                  <a:srgbClr val="007B92"/>
                </a:solidFill>
                <a:latin typeface="Calibri"/>
                <a:cs typeface="Calibri"/>
              </a:rPr>
              <a:t>ar</a:t>
            </a:r>
            <a:r>
              <a:rPr sz="1800" spc="-10" dirty="0">
                <a:solidFill>
                  <a:srgbClr val="007B92"/>
                </a:solidFill>
                <a:latin typeface="Calibri"/>
                <a:cs typeface="Calibri"/>
              </a:rPr>
              <a:t>i</a:t>
            </a:r>
            <a:r>
              <a:rPr sz="1800" spc="-15" dirty="0">
                <a:solidFill>
                  <a:srgbClr val="007B92"/>
                </a:solidFill>
                <a:latin typeface="Calibri"/>
                <a:cs typeface="Calibri"/>
              </a:rPr>
              <a:t>a</a:t>
            </a:r>
            <a:r>
              <a:rPr sz="1800" dirty="0">
                <a:solidFill>
                  <a:srgbClr val="007B92"/>
                </a:solidFill>
                <a:latin typeface="Calibri"/>
                <a:cs typeface="Calibri"/>
              </a:rPr>
              <a:t>t</a:t>
            </a:r>
            <a:r>
              <a:rPr sz="1800" spc="-10" dirty="0">
                <a:solidFill>
                  <a:srgbClr val="007B92"/>
                </a:solidFill>
                <a:latin typeface="Calibri"/>
                <a:cs typeface="Calibri"/>
              </a:rPr>
              <a:t>i</a:t>
            </a:r>
            <a:r>
              <a:rPr sz="1800" spc="-5" dirty="0">
                <a:solidFill>
                  <a:srgbClr val="007B92"/>
                </a:solidFill>
                <a:latin typeface="Calibri"/>
                <a:cs typeface="Calibri"/>
              </a:rPr>
              <a:t>ons</a:t>
            </a:r>
            <a:endParaRPr sz="1800">
              <a:latin typeface="Calibri"/>
              <a:cs typeface="Calibri"/>
            </a:endParaRPr>
          </a:p>
        </p:txBody>
      </p:sp>
      <p:sp>
        <p:nvSpPr>
          <p:cNvPr id="19" name="object 19"/>
          <p:cNvSpPr txBox="1"/>
          <p:nvPr/>
        </p:nvSpPr>
        <p:spPr>
          <a:xfrm>
            <a:off x="520700" y="5092065"/>
            <a:ext cx="114808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7B92"/>
                </a:solidFill>
                <a:latin typeface="Calibri"/>
                <a:cs typeface="Calibri"/>
              </a:rPr>
              <a:t>misspellings</a:t>
            </a:r>
            <a:endParaRPr sz="1800">
              <a:latin typeface="Calibri"/>
              <a:cs typeface="Calibri"/>
            </a:endParaRPr>
          </a:p>
        </p:txBody>
      </p:sp>
      <p:grpSp>
        <p:nvGrpSpPr>
          <p:cNvPr id="20" name="object 20"/>
          <p:cNvGrpSpPr/>
          <p:nvPr/>
        </p:nvGrpSpPr>
        <p:grpSpPr>
          <a:xfrm>
            <a:off x="7772209" y="5211889"/>
            <a:ext cx="466725" cy="195580"/>
            <a:chOff x="7772209" y="5211889"/>
            <a:chExt cx="466725" cy="195580"/>
          </a:xfrm>
        </p:grpSpPr>
        <p:sp>
          <p:nvSpPr>
            <p:cNvPr id="21" name="object 21"/>
            <p:cNvSpPr/>
            <p:nvPr/>
          </p:nvSpPr>
          <p:spPr>
            <a:xfrm>
              <a:off x="7776971" y="5216652"/>
              <a:ext cx="457200" cy="186055"/>
            </a:xfrm>
            <a:custGeom>
              <a:avLst/>
              <a:gdLst/>
              <a:ahLst/>
              <a:cxnLst/>
              <a:rect l="l" t="t" r="r" b="b"/>
              <a:pathLst>
                <a:path w="457200" h="186054">
                  <a:moveTo>
                    <a:pt x="457200" y="0"/>
                  </a:moveTo>
                  <a:lnTo>
                    <a:pt x="0" y="0"/>
                  </a:lnTo>
                  <a:lnTo>
                    <a:pt x="0" y="185928"/>
                  </a:lnTo>
                  <a:lnTo>
                    <a:pt x="457200" y="185928"/>
                  </a:lnTo>
                  <a:lnTo>
                    <a:pt x="457200" y="0"/>
                  </a:lnTo>
                  <a:close/>
                </a:path>
              </a:pathLst>
            </a:custGeom>
            <a:solidFill>
              <a:srgbClr val="A30408"/>
            </a:solidFill>
          </p:spPr>
          <p:txBody>
            <a:bodyPr wrap="square" lIns="0" tIns="0" rIns="0" bIns="0" rtlCol="0"/>
            <a:lstStyle/>
            <a:p>
              <a:endParaRPr/>
            </a:p>
          </p:txBody>
        </p:sp>
        <p:sp>
          <p:nvSpPr>
            <p:cNvPr id="22" name="object 22"/>
            <p:cNvSpPr/>
            <p:nvPr/>
          </p:nvSpPr>
          <p:spPr>
            <a:xfrm>
              <a:off x="7776971" y="5216652"/>
              <a:ext cx="457200" cy="186055"/>
            </a:xfrm>
            <a:custGeom>
              <a:avLst/>
              <a:gdLst/>
              <a:ahLst/>
              <a:cxnLst/>
              <a:rect l="l" t="t" r="r" b="b"/>
              <a:pathLst>
                <a:path w="457200" h="186054">
                  <a:moveTo>
                    <a:pt x="0" y="185928"/>
                  </a:moveTo>
                  <a:lnTo>
                    <a:pt x="457200" y="185928"/>
                  </a:lnTo>
                  <a:lnTo>
                    <a:pt x="457200" y="0"/>
                  </a:lnTo>
                  <a:lnTo>
                    <a:pt x="0" y="0"/>
                  </a:lnTo>
                  <a:lnTo>
                    <a:pt x="0" y="185928"/>
                  </a:lnTo>
                  <a:close/>
                </a:path>
              </a:pathLst>
            </a:custGeom>
            <a:ln w="9525">
              <a:solidFill>
                <a:srgbClr val="7E7E7E"/>
              </a:solidFill>
            </a:ln>
          </p:spPr>
          <p:txBody>
            <a:bodyPr wrap="square" lIns="0" tIns="0" rIns="0" bIns="0" rtlCol="0"/>
            <a:lstStyle/>
            <a:p>
              <a:endParaRPr/>
            </a:p>
          </p:txBody>
        </p:sp>
      </p:grpSp>
      <p:sp>
        <p:nvSpPr>
          <p:cNvPr id="23" name="object 23"/>
          <p:cNvSpPr txBox="1"/>
          <p:nvPr/>
        </p:nvSpPr>
        <p:spPr>
          <a:xfrm>
            <a:off x="512165" y="5525211"/>
            <a:ext cx="109791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7B92"/>
                </a:solidFill>
                <a:latin typeface="Calibri"/>
                <a:cs typeface="Calibri"/>
              </a:rPr>
              <a:t>novel</a:t>
            </a:r>
            <a:r>
              <a:rPr sz="1800" spc="-60" dirty="0">
                <a:solidFill>
                  <a:srgbClr val="007B92"/>
                </a:solidFill>
                <a:latin typeface="Calibri"/>
                <a:cs typeface="Calibri"/>
              </a:rPr>
              <a:t> </a:t>
            </a:r>
            <a:r>
              <a:rPr sz="1800" spc="-10" dirty="0">
                <a:solidFill>
                  <a:srgbClr val="007B92"/>
                </a:solidFill>
                <a:latin typeface="Calibri"/>
                <a:cs typeface="Calibri"/>
              </a:rPr>
              <a:t>items</a:t>
            </a:r>
            <a:endParaRPr sz="1800">
              <a:latin typeface="Calibri"/>
              <a:cs typeface="Calibri"/>
            </a:endParaRPr>
          </a:p>
        </p:txBody>
      </p:sp>
      <p:grpSp>
        <p:nvGrpSpPr>
          <p:cNvPr id="24" name="object 24"/>
          <p:cNvGrpSpPr/>
          <p:nvPr/>
        </p:nvGrpSpPr>
        <p:grpSpPr>
          <a:xfrm>
            <a:off x="7772209" y="5618797"/>
            <a:ext cx="466725" cy="195580"/>
            <a:chOff x="7772209" y="5618797"/>
            <a:chExt cx="466725" cy="195580"/>
          </a:xfrm>
        </p:grpSpPr>
        <p:sp>
          <p:nvSpPr>
            <p:cNvPr id="25" name="object 25"/>
            <p:cNvSpPr/>
            <p:nvPr/>
          </p:nvSpPr>
          <p:spPr>
            <a:xfrm>
              <a:off x="7776971" y="5623559"/>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A30408"/>
            </a:solidFill>
          </p:spPr>
          <p:txBody>
            <a:bodyPr wrap="square" lIns="0" tIns="0" rIns="0" bIns="0" rtlCol="0"/>
            <a:lstStyle/>
            <a:p>
              <a:endParaRPr/>
            </a:p>
          </p:txBody>
        </p:sp>
        <p:sp>
          <p:nvSpPr>
            <p:cNvPr id="26" name="object 26"/>
            <p:cNvSpPr/>
            <p:nvPr/>
          </p:nvSpPr>
          <p:spPr>
            <a:xfrm>
              <a:off x="7776971" y="5623559"/>
              <a:ext cx="457200" cy="186055"/>
            </a:xfrm>
            <a:custGeom>
              <a:avLst/>
              <a:gdLst/>
              <a:ahLst/>
              <a:cxnLst/>
              <a:rect l="l" t="t" r="r" b="b"/>
              <a:pathLst>
                <a:path w="457200" h="186054">
                  <a:moveTo>
                    <a:pt x="0" y="185927"/>
                  </a:moveTo>
                  <a:lnTo>
                    <a:pt x="457200" y="185927"/>
                  </a:lnTo>
                  <a:lnTo>
                    <a:pt x="457200" y="0"/>
                  </a:lnTo>
                  <a:lnTo>
                    <a:pt x="0" y="0"/>
                  </a:lnTo>
                  <a:lnTo>
                    <a:pt x="0" y="185927"/>
                  </a:lnTo>
                  <a:close/>
                </a:path>
              </a:pathLst>
            </a:custGeom>
            <a:ln w="9525">
              <a:solidFill>
                <a:srgbClr val="7E7E7E"/>
              </a:solidFill>
            </a:ln>
          </p:spPr>
          <p:txBody>
            <a:bodyPr wrap="square" lIns="0" tIns="0" rIns="0" bIns="0" rtlCol="0"/>
            <a:lstStyle/>
            <a:p>
              <a:endParaRPr/>
            </a:p>
          </p:txBody>
        </p:sp>
      </p:grpSp>
      <p:grpSp>
        <p:nvGrpSpPr>
          <p:cNvPr id="27" name="object 27"/>
          <p:cNvGrpSpPr/>
          <p:nvPr/>
        </p:nvGrpSpPr>
        <p:grpSpPr>
          <a:xfrm>
            <a:off x="8528113" y="4768405"/>
            <a:ext cx="466725" cy="197485"/>
            <a:chOff x="8528113" y="4768405"/>
            <a:chExt cx="466725" cy="197485"/>
          </a:xfrm>
        </p:grpSpPr>
        <p:sp>
          <p:nvSpPr>
            <p:cNvPr id="28" name="object 28"/>
            <p:cNvSpPr/>
            <p:nvPr/>
          </p:nvSpPr>
          <p:spPr>
            <a:xfrm>
              <a:off x="8532876" y="4773167"/>
              <a:ext cx="457200" cy="187960"/>
            </a:xfrm>
            <a:custGeom>
              <a:avLst/>
              <a:gdLst/>
              <a:ahLst/>
              <a:cxnLst/>
              <a:rect l="l" t="t" r="r" b="b"/>
              <a:pathLst>
                <a:path w="457200" h="187960">
                  <a:moveTo>
                    <a:pt x="457200" y="0"/>
                  </a:moveTo>
                  <a:lnTo>
                    <a:pt x="0" y="0"/>
                  </a:lnTo>
                  <a:lnTo>
                    <a:pt x="0" y="187451"/>
                  </a:lnTo>
                  <a:lnTo>
                    <a:pt x="457200" y="187451"/>
                  </a:lnTo>
                  <a:lnTo>
                    <a:pt x="457200" y="0"/>
                  </a:lnTo>
                  <a:close/>
                </a:path>
              </a:pathLst>
            </a:custGeom>
            <a:solidFill>
              <a:srgbClr val="A30408"/>
            </a:solidFill>
          </p:spPr>
          <p:txBody>
            <a:bodyPr wrap="square" lIns="0" tIns="0" rIns="0" bIns="0" rtlCol="0"/>
            <a:lstStyle/>
            <a:p>
              <a:endParaRPr/>
            </a:p>
          </p:txBody>
        </p:sp>
        <p:sp>
          <p:nvSpPr>
            <p:cNvPr id="29" name="object 29"/>
            <p:cNvSpPr/>
            <p:nvPr/>
          </p:nvSpPr>
          <p:spPr>
            <a:xfrm>
              <a:off x="8532876" y="4773167"/>
              <a:ext cx="457200" cy="187960"/>
            </a:xfrm>
            <a:custGeom>
              <a:avLst/>
              <a:gdLst/>
              <a:ahLst/>
              <a:cxnLst/>
              <a:rect l="l" t="t" r="r" b="b"/>
              <a:pathLst>
                <a:path w="457200" h="187960">
                  <a:moveTo>
                    <a:pt x="0" y="187451"/>
                  </a:moveTo>
                  <a:lnTo>
                    <a:pt x="457200" y="187451"/>
                  </a:lnTo>
                  <a:lnTo>
                    <a:pt x="457200" y="0"/>
                  </a:lnTo>
                  <a:lnTo>
                    <a:pt x="0" y="0"/>
                  </a:lnTo>
                  <a:lnTo>
                    <a:pt x="0" y="187451"/>
                  </a:lnTo>
                  <a:close/>
                </a:path>
              </a:pathLst>
            </a:custGeom>
            <a:ln w="9524">
              <a:solidFill>
                <a:srgbClr val="7E7E7E"/>
              </a:solidFill>
            </a:ln>
          </p:spPr>
          <p:txBody>
            <a:bodyPr wrap="square" lIns="0" tIns="0" rIns="0" bIns="0" rtlCol="0"/>
            <a:lstStyle/>
            <a:p>
              <a:endParaRPr/>
            </a:p>
          </p:txBody>
        </p:sp>
      </p:grpSp>
      <p:grpSp>
        <p:nvGrpSpPr>
          <p:cNvPr id="30" name="object 30"/>
          <p:cNvGrpSpPr/>
          <p:nvPr/>
        </p:nvGrpSpPr>
        <p:grpSpPr>
          <a:xfrm>
            <a:off x="8528113" y="5210365"/>
            <a:ext cx="466725" cy="195580"/>
            <a:chOff x="8528113" y="5210365"/>
            <a:chExt cx="466725" cy="195580"/>
          </a:xfrm>
        </p:grpSpPr>
        <p:sp>
          <p:nvSpPr>
            <p:cNvPr id="31" name="object 31"/>
            <p:cNvSpPr/>
            <p:nvPr/>
          </p:nvSpPr>
          <p:spPr>
            <a:xfrm>
              <a:off x="8532876" y="5215128"/>
              <a:ext cx="457200" cy="186055"/>
            </a:xfrm>
            <a:custGeom>
              <a:avLst/>
              <a:gdLst/>
              <a:ahLst/>
              <a:cxnLst/>
              <a:rect l="l" t="t" r="r" b="b"/>
              <a:pathLst>
                <a:path w="457200" h="186054">
                  <a:moveTo>
                    <a:pt x="457200" y="0"/>
                  </a:moveTo>
                  <a:lnTo>
                    <a:pt x="0" y="0"/>
                  </a:lnTo>
                  <a:lnTo>
                    <a:pt x="0" y="185928"/>
                  </a:lnTo>
                  <a:lnTo>
                    <a:pt x="457200" y="185928"/>
                  </a:lnTo>
                  <a:lnTo>
                    <a:pt x="457200" y="0"/>
                  </a:lnTo>
                  <a:close/>
                </a:path>
              </a:pathLst>
            </a:custGeom>
            <a:solidFill>
              <a:srgbClr val="A30408"/>
            </a:solidFill>
          </p:spPr>
          <p:txBody>
            <a:bodyPr wrap="square" lIns="0" tIns="0" rIns="0" bIns="0" rtlCol="0"/>
            <a:lstStyle/>
            <a:p>
              <a:endParaRPr/>
            </a:p>
          </p:txBody>
        </p:sp>
        <p:sp>
          <p:nvSpPr>
            <p:cNvPr id="32" name="object 32"/>
            <p:cNvSpPr/>
            <p:nvPr/>
          </p:nvSpPr>
          <p:spPr>
            <a:xfrm>
              <a:off x="8532876" y="5215128"/>
              <a:ext cx="457200" cy="186055"/>
            </a:xfrm>
            <a:custGeom>
              <a:avLst/>
              <a:gdLst/>
              <a:ahLst/>
              <a:cxnLst/>
              <a:rect l="l" t="t" r="r" b="b"/>
              <a:pathLst>
                <a:path w="457200" h="186054">
                  <a:moveTo>
                    <a:pt x="0" y="185928"/>
                  </a:moveTo>
                  <a:lnTo>
                    <a:pt x="457200" y="185928"/>
                  </a:lnTo>
                  <a:lnTo>
                    <a:pt x="457200" y="0"/>
                  </a:lnTo>
                  <a:lnTo>
                    <a:pt x="0" y="0"/>
                  </a:lnTo>
                  <a:lnTo>
                    <a:pt x="0" y="185928"/>
                  </a:lnTo>
                  <a:close/>
                </a:path>
              </a:pathLst>
            </a:custGeom>
            <a:ln w="9525">
              <a:solidFill>
                <a:srgbClr val="7E7E7E"/>
              </a:solidFill>
            </a:ln>
          </p:spPr>
          <p:txBody>
            <a:bodyPr wrap="square" lIns="0" tIns="0" rIns="0" bIns="0" rtlCol="0"/>
            <a:lstStyle/>
            <a:p>
              <a:endParaRPr/>
            </a:p>
          </p:txBody>
        </p:sp>
      </p:grpSp>
      <p:grpSp>
        <p:nvGrpSpPr>
          <p:cNvPr id="33" name="object 33"/>
          <p:cNvGrpSpPr/>
          <p:nvPr/>
        </p:nvGrpSpPr>
        <p:grpSpPr>
          <a:xfrm>
            <a:off x="8528113" y="5617273"/>
            <a:ext cx="466725" cy="195580"/>
            <a:chOff x="8528113" y="5617273"/>
            <a:chExt cx="466725" cy="195580"/>
          </a:xfrm>
        </p:grpSpPr>
        <p:sp>
          <p:nvSpPr>
            <p:cNvPr id="34" name="object 34"/>
            <p:cNvSpPr/>
            <p:nvPr/>
          </p:nvSpPr>
          <p:spPr>
            <a:xfrm>
              <a:off x="8532876" y="5622035"/>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A30408"/>
            </a:solidFill>
          </p:spPr>
          <p:txBody>
            <a:bodyPr wrap="square" lIns="0" tIns="0" rIns="0" bIns="0" rtlCol="0"/>
            <a:lstStyle/>
            <a:p>
              <a:endParaRPr/>
            </a:p>
          </p:txBody>
        </p:sp>
        <p:sp>
          <p:nvSpPr>
            <p:cNvPr id="35" name="object 35"/>
            <p:cNvSpPr/>
            <p:nvPr/>
          </p:nvSpPr>
          <p:spPr>
            <a:xfrm>
              <a:off x="8532876" y="5622035"/>
              <a:ext cx="457200" cy="186055"/>
            </a:xfrm>
            <a:custGeom>
              <a:avLst/>
              <a:gdLst/>
              <a:ahLst/>
              <a:cxnLst/>
              <a:rect l="l" t="t" r="r" b="b"/>
              <a:pathLst>
                <a:path w="457200" h="186054">
                  <a:moveTo>
                    <a:pt x="0" y="185927"/>
                  </a:moveTo>
                  <a:lnTo>
                    <a:pt x="457200" y="185927"/>
                  </a:lnTo>
                  <a:lnTo>
                    <a:pt x="457200" y="0"/>
                  </a:lnTo>
                  <a:lnTo>
                    <a:pt x="0" y="0"/>
                  </a:lnTo>
                  <a:lnTo>
                    <a:pt x="0" y="185927"/>
                  </a:lnTo>
                  <a:close/>
                </a:path>
              </a:pathLst>
            </a:custGeom>
            <a:ln w="9525">
              <a:solidFill>
                <a:srgbClr val="7E7E7E"/>
              </a:solidFill>
            </a:ln>
          </p:spPr>
          <p:txBody>
            <a:bodyPr wrap="square" lIns="0" tIns="0" rIns="0" bIns="0" rtlCol="0"/>
            <a:lstStyle/>
            <a:p>
              <a:endParaRPr/>
            </a:p>
          </p:txBody>
        </p:sp>
      </p:grpSp>
      <p:grpSp>
        <p:nvGrpSpPr>
          <p:cNvPr id="36" name="object 36"/>
          <p:cNvGrpSpPr/>
          <p:nvPr/>
        </p:nvGrpSpPr>
        <p:grpSpPr>
          <a:xfrm>
            <a:off x="9282493" y="4768405"/>
            <a:ext cx="466725" cy="197485"/>
            <a:chOff x="9282493" y="4768405"/>
            <a:chExt cx="466725" cy="197485"/>
          </a:xfrm>
        </p:grpSpPr>
        <p:sp>
          <p:nvSpPr>
            <p:cNvPr id="37" name="object 37"/>
            <p:cNvSpPr/>
            <p:nvPr/>
          </p:nvSpPr>
          <p:spPr>
            <a:xfrm>
              <a:off x="9287256" y="4773167"/>
              <a:ext cx="457200" cy="187960"/>
            </a:xfrm>
            <a:custGeom>
              <a:avLst/>
              <a:gdLst/>
              <a:ahLst/>
              <a:cxnLst/>
              <a:rect l="l" t="t" r="r" b="b"/>
              <a:pathLst>
                <a:path w="457200" h="187960">
                  <a:moveTo>
                    <a:pt x="457200" y="0"/>
                  </a:moveTo>
                  <a:lnTo>
                    <a:pt x="0" y="0"/>
                  </a:lnTo>
                  <a:lnTo>
                    <a:pt x="0" y="187451"/>
                  </a:lnTo>
                  <a:lnTo>
                    <a:pt x="457200" y="187451"/>
                  </a:lnTo>
                  <a:lnTo>
                    <a:pt x="457200" y="0"/>
                  </a:lnTo>
                  <a:close/>
                </a:path>
              </a:pathLst>
            </a:custGeom>
            <a:solidFill>
              <a:srgbClr val="A30408"/>
            </a:solidFill>
          </p:spPr>
          <p:txBody>
            <a:bodyPr wrap="square" lIns="0" tIns="0" rIns="0" bIns="0" rtlCol="0"/>
            <a:lstStyle/>
            <a:p>
              <a:endParaRPr/>
            </a:p>
          </p:txBody>
        </p:sp>
        <p:sp>
          <p:nvSpPr>
            <p:cNvPr id="38" name="object 38"/>
            <p:cNvSpPr/>
            <p:nvPr/>
          </p:nvSpPr>
          <p:spPr>
            <a:xfrm>
              <a:off x="9287256" y="4773167"/>
              <a:ext cx="457200" cy="187960"/>
            </a:xfrm>
            <a:custGeom>
              <a:avLst/>
              <a:gdLst/>
              <a:ahLst/>
              <a:cxnLst/>
              <a:rect l="l" t="t" r="r" b="b"/>
              <a:pathLst>
                <a:path w="457200" h="187960">
                  <a:moveTo>
                    <a:pt x="0" y="187451"/>
                  </a:moveTo>
                  <a:lnTo>
                    <a:pt x="457200" y="187451"/>
                  </a:lnTo>
                  <a:lnTo>
                    <a:pt x="457200" y="0"/>
                  </a:lnTo>
                  <a:lnTo>
                    <a:pt x="0" y="0"/>
                  </a:lnTo>
                  <a:lnTo>
                    <a:pt x="0" y="187451"/>
                  </a:lnTo>
                  <a:close/>
                </a:path>
              </a:pathLst>
            </a:custGeom>
            <a:ln w="9524">
              <a:solidFill>
                <a:srgbClr val="7E7E7E"/>
              </a:solidFill>
            </a:ln>
          </p:spPr>
          <p:txBody>
            <a:bodyPr wrap="square" lIns="0" tIns="0" rIns="0" bIns="0" rtlCol="0"/>
            <a:lstStyle/>
            <a:p>
              <a:endParaRPr/>
            </a:p>
          </p:txBody>
        </p:sp>
      </p:grpSp>
      <p:sp>
        <p:nvSpPr>
          <p:cNvPr id="39" name="Text 36">
            <a:extLst>
              <a:ext uri="{FF2B5EF4-FFF2-40B4-BE49-F238E27FC236}">
                <a16:creationId xmlns:a16="http://schemas.microsoft.com/office/drawing/2014/main" id="{72CE9043-D4B4-E976-CD11-E94214AE882A}"/>
              </a:ext>
            </a:extLst>
          </p:cNvPr>
          <p:cNvSpPr txBox="1"/>
          <p:nvPr/>
        </p:nvSpPr>
        <p:spPr>
          <a:xfrm>
            <a:off x="9949964" y="2130170"/>
            <a:ext cx="2048256" cy="1975242"/>
          </a:xfrm>
          <a:prstGeom prst="rect">
            <a:avLst/>
          </a:prstGeom>
          <a:solidFill>
            <a:schemeClr val="tx2">
              <a:lumMod val="20000"/>
              <a:lumOff val="80000"/>
            </a:schemeClr>
          </a:solidFill>
          <a:ln/>
        </p:spPr>
        <p:txBody>
          <a:bodyPr wrap="square" lIns="847" tIns="847" rIns="847" bIns="847" rtlCol="0" anchor="t"/>
          <a:lstStyle/>
          <a:p>
            <a:pPr>
              <a:spcAft>
                <a:spcPts val="533"/>
              </a:spcAft>
            </a:pPr>
            <a:r>
              <a:rPr lang="en-US" sz="1600" b="1" dirty="0">
                <a:solidFill>
                  <a:srgbClr val="0E6E7E"/>
                </a:solidFill>
                <a:latin typeface="Calibri" pitchFamily="34" charset="0"/>
                <a:ea typeface="Calibri" pitchFamily="34" charset="-122"/>
                <a:cs typeface="Calibri" pitchFamily="34" charset="-120"/>
              </a:rPr>
              <a:t>Notation note</a:t>
            </a:r>
            <a:endParaRPr lang="en-US" sz="1600" dirty="0"/>
          </a:p>
          <a:p>
            <a:pPr>
              <a:spcAft>
                <a:spcPts val="533"/>
              </a:spcAft>
            </a:pPr>
            <a:r>
              <a:rPr lang="en-US" sz="1600" dirty="0">
                <a:solidFill>
                  <a:srgbClr val="1A1A1A"/>
                </a:solidFill>
                <a:latin typeface="Calibri" pitchFamily="34" charset="0"/>
                <a:ea typeface="Calibri" pitchFamily="34" charset="-122"/>
                <a:cs typeface="Calibri" pitchFamily="34" charset="-120"/>
              </a:rPr>
              <a:t>## marks a continuation in WordPiece (BERT).</a:t>
            </a:r>
            <a:endParaRPr lang="en-US" sz="1600" dirty="0"/>
          </a:p>
          <a:p>
            <a:pPr>
              <a:spcAft>
                <a:spcPts val="533"/>
              </a:spcAft>
            </a:pPr>
            <a:r>
              <a:rPr lang="en-US" sz="1600" dirty="0">
                <a:solidFill>
                  <a:srgbClr val="1A1A1A"/>
                </a:solidFill>
                <a:latin typeface="Calibri" pitchFamily="34" charset="0"/>
                <a:ea typeface="Calibri" pitchFamily="34" charset="-122"/>
                <a:cs typeface="Calibri" pitchFamily="34" charset="-120"/>
              </a:rPr>
              <a:t>Byte-level BPE (GPT, Llama, Qwen) marks a leading space instead: </a:t>
            </a:r>
            <a:r>
              <a:rPr lang="en-US" sz="1600" dirty="0">
                <a:solidFill>
                  <a:srgbClr val="1A1A1A"/>
                </a:solidFill>
                <a:latin typeface="Courier New" pitchFamily="34" charset="0"/>
                <a:ea typeface="Courier New" pitchFamily="34" charset="-122"/>
                <a:cs typeface="Courier New" pitchFamily="34" charset="-120"/>
              </a:rPr>
              <a:t>Ġtasty</a:t>
            </a:r>
            <a:endParaRPr lang="en-US" sz="1600" dirty="0"/>
          </a:p>
        </p:txBody>
      </p:sp>
    </p:spTree>
    <p:extLst>
      <p:ext uri="{BB962C8B-B14F-4D97-AF65-F5344CB8AC3E}">
        <p14:creationId xmlns:p14="http://schemas.microsoft.com/office/powerpoint/2010/main" val="161193073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0"/>
          <p:cNvSpPr>
            <a:spLocks noGrp="1"/>
          </p:cNvSpPr>
          <p:nvPr>
            <p:ph type="sldNum" sz="quarter" idx="14"/>
          </p:nvPr>
        </p:nvSpPr>
        <p:spPr>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7A7A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17</a:t>
            </a:fld>
            <a:endParaRPr lang="en-US"/>
          </a:p>
        </p:txBody>
      </p:sp>
      <p:sp>
        <p:nvSpPr>
          <p:cNvPr id="2" name="Text 6"/>
          <p:cNvSpPr>
            <a:spLocks noGrp="1"/>
          </p:cNvSpPr>
          <p:nvPr>
            <p:ph type="title" idx="4294967295" hasCustomPrompt="1"/>
          </p:nvPr>
        </p:nvSpPr>
        <p:spPr>
          <a:xfrm>
            <a:off x="2031777" y="195913"/>
            <a:ext cx="6348413" cy="852488"/>
          </a:xfrm>
          <a:prstGeom prst="rect">
            <a:avLst/>
          </a:prstGeom>
          <a:noFill/>
          <a:ln/>
        </p:spPr>
        <p:txBody>
          <a:bodyPr vert="horz" wrap="square" lIns="0" tIns="0" rIns="0" bIns="0" rtlCol="0" anchor="ctr">
            <a:normAutofit/>
          </a:bodyPr>
          <a:lstStyle/>
          <a:p>
            <a:r>
              <a:rPr lang="en-US" dirty="0"/>
              <a:t>Types of tokens</a:t>
            </a:r>
          </a:p>
        </p:txBody>
      </p:sp>
      <p:sp>
        <p:nvSpPr>
          <p:cNvPr id="3" name="Text 1"/>
          <p:cNvSpPr txBox="1"/>
          <p:nvPr/>
        </p:nvSpPr>
        <p:spPr>
          <a:xfrm>
            <a:off x="423672" y="1432560"/>
            <a:ext cx="6096000" cy="365760"/>
          </a:xfrm>
          <a:prstGeom prst="rect">
            <a:avLst/>
          </a:prstGeom>
          <a:noFill/>
          <a:ln/>
        </p:spPr>
        <p:txBody>
          <a:bodyPr wrap="square" lIns="847" tIns="847" rIns="847" bIns="847" rtlCol="0" anchor="ctr"/>
          <a:lstStyle/>
          <a:p>
            <a:r>
              <a:rPr lang="en-US" sz="1733" b="1" dirty="0">
                <a:latin typeface="Courier New" pitchFamily="34" charset="0"/>
                <a:ea typeface="Courier New" pitchFamily="34" charset="-122"/>
                <a:cs typeface="Courier New" pitchFamily="34" charset="-120"/>
              </a:rPr>
              <a:t>Text:  unhappiness!</a:t>
            </a:r>
            <a:endParaRPr lang="en-US" sz="1733" b="1" dirty="0"/>
          </a:p>
        </p:txBody>
      </p:sp>
      <p:sp>
        <p:nvSpPr>
          <p:cNvPr id="4" name="Text 2"/>
          <p:cNvSpPr txBox="1"/>
          <p:nvPr/>
        </p:nvSpPr>
        <p:spPr>
          <a:xfrm>
            <a:off x="426720" y="1889760"/>
            <a:ext cx="1219200" cy="365760"/>
          </a:xfrm>
          <a:prstGeom prst="rect">
            <a:avLst/>
          </a:prstGeom>
          <a:noFill/>
          <a:ln/>
        </p:spPr>
        <p:txBody>
          <a:bodyPr wrap="square" lIns="847" tIns="847" rIns="847" bIns="847" rtlCol="0" anchor="ctr"/>
          <a:lstStyle/>
          <a:p>
            <a:r>
              <a:rPr lang="en-US" sz="1733" b="1" dirty="0">
                <a:solidFill>
                  <a:srgbClr val="C8102E"/>
                </a:solidFill>
                <a:latin typeface="Calibri" pitchFamily="34" charset="0"/>
                <a:ea typeface="Calibri" pitchFamily="34" charset="-122"/>
                <a:cs typeface="Calibri" pitchFamily="34" charset="-120"/>
              </a:rPr>
              <a:t>Word</a:t>
            </a:r>
            <a:endParaRPr lang="en-US" sz="1733" dirty="0"/>
          </a:p>
        </p:txBody>
      </p:sp>
      <p:sp>
        <p:nvSpPr>
          <p:cNvPr id="5" name="Text 3"/>
          <p:cNvSpPr txBox="1"/>
          <p:nvPr/>
        </p:nvSpPr>
        <p:spPr>
          <a:xfrm>
            <a:off x="1706880" y="1889760"/>
            <a:ext cx="1469136" cy="365760"/>
          </a:xfrm>
          <a:prstGeom prst="rect">
            <a:avLst/>
          </a:prstGeom>
          <a:solidFill>
            <a:srgbClr val="FBE9EC"/>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unhappiness</a:t>
            </a:r>
            <a:endParaRPr lang="en-US" sz="1600" dirty="0"/>
          </a:p>
        </p:txBody>
      </p:sp>
      <p:sp>
        <p:nvSpPr>
          <p:cNvPr id="6" name="Text 4"/>
          <p:cNvSpPr txBox="1"/>
          <p:nvPr/>
        </p:nvSpPr>
        <p:spPr>
          <a:xfrm>
            <a:off x="3224784" y="1889760"/>
            <a:ext cx="365760" cy="365760"/>
          </a:xfrm>
          <a:prstGeom prst="rect">
            <a:avLst/>
          </a:prstGeom>
          <a:solidFill>
            <a:srgbClr val="FBE9EC"/>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a:t>
            </a:r>
            <a:endParaRPr lang="en-US" sz="1600" dirty="0"/>
          </a:p>
        </p:txBody>
      </p:sp>
      <p:sp>
        <p:nvSpPr>
          <p:cNvPr id="7" name="Text 5"/>
          <p:cNvSpPr txBox="1"/>
          <p:nvPr/>
        </p:nvSpPr>
        <p:spPr>
          <a:xfrm>
            <a:off x="426720" y="2438400"/>
            <a:ext cx="1219200" cy="365760"/>
          </a:xfrm>
          <a:prstGeom prst="rect">
            <a:avLst/>
          </a:prstGeom>
          <a:noFill/>
          <a:ln/>
        </p:spPr>
        <p:txBody>
          <a:bodyPr wrap="square" lIns="847" tIns="847" rIns="847" bIns="847" rtlCol="0" anchor="ctr"/>
          <a:lstStyle/>
          <a:p>
            <a:r>
              <a:rPr lang="en-US" sz="1733" b="1" dirty="0">
                <a:solidFill>
                  <a:srgbClr val="C8102E"/>
                </a:solidFill>
                <a:latin typeface="Calibri" pitchFamily="34" charset="0"/>
                <a:ea typeface="Calibri" pitchFamily="34" charset="-122"/>
                <a:cs typeface="Calibri" pitchFamily="34" charset="-120"/>
              </a:rPr>
              <a:t>Subword</a:t>
            </a:r>
            <a:endParaRPr lang="en-US" sz="1733" dirty="0"/>
          </a:p>
        </p:txBody>
      </p:sp>
      <p:sp>
        <p:nvSpPr>
          <p:cNvPr id="8" name="Text 6"/>
          <p:cNvSpPr txBox="1"/>
          <p:nvPr/>
        </p:nvSpPr>
        <p:spPr>
          <a:xfrm>
            <a:off x="1706880" y="2438400"/>
            <a:ext cx="426720" cy="365760"/>
          </a:xfrm>
          <a:prstGeom prst="rect">
            <a:avLst/>
          </a:prstGeom>
          <a:solidFill>
            <a:srgbClr val="FDF3E3"/>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un</a:t>
            </a:r>
            <a:endParaRPr lang="en-US" sz="1600" dirty="0"/>
          </a:p>
        </p:txBody>
      </p:sp>
      <p:sp>
        <p:nvSpPr>
          <p:cNvPr id="9" name="Text 7"/>
          <p:cNvSpPr txBox="1"/>
          <p:nvPr/>
        </p:nvSpPr>
        <p:spPr>
          <a:xfrm>
            <a:off x="2182368" y="2438400"/>
            <a:ext cx="774192" cy="365760"/>
          </a:xfrm>
          <a:prstGeom prst="rect">
            <a:avLst/>
          </a:prstGeom>
          <a:solidFill>
            <a:srgbClr val="FDF3E3"/>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happi</a:t>
            </a:r>
            <a:endParaRPr lang="en-US" sz="1600" dirty="0"/>
          </a:p>
        </p:txBody>
      </p:sp>
      <p:sp>
        <p:nvSpPr>
          <p:cNvPr id="10" name="Text 8"/>
          <p:cNvSpPr txBox="1"/>
          <p:nvPr/>
        </p:nvSpPr>
        <p:spPr>
          <a:xfrm>
            <a:off x="3005328" y="2438400"/>
            <a:ext cx="658368" cy="365760"/>
          </a:xfrm>
          <a:prstGeom prst="rect">
            <a:avLst/>
          </a:prstGeom>
          <a:solidFill>
            <a:srgbClr val="FDF3E3"/>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ness</a:t>
            </a:r>
            <a:endParaRPr lang="en-US" sz="1600" dirty="0"/>
          </a:p>
        </p:txBody>
      </p:sp>
      <p:sp>
        <p:nvSpPr>
          <p:cNvPr id="11" name="Text 9"/>
          <p:cNvSpPr txBox="1"/>
          <p:nvPr/>
        </p:nvSpPr>
        <p:spPr>
          <a:xfrm>
            <a:off x="3712464" y="2438400"/>
            <a:ext cx="365760" cy="365760"/>
          </a:xfrm>
          <a:prstGeom prst="rect">
            <a:avLst/>
          </a:prstGeom>
          <a:solidFill>
            <a:srgbClr val="FDF3E3"/>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a:t>
            </a:r>
            <a:endParaRPr lang="en-US" sz="1600" dirty="0"/>
          </a:p>
        </p:txBody>
      </p:sp>
      <p:sp>
        <p:nvSpPr>
          <p:cNvPr id="12" name="Text 10"/>
          <p:cNvSpPr txBox="1"/>
          <p:nvPr/>
        </p:nvSpPr>
        <p:spPr>
          <a:xfrm>
            <a:off x="426720" y="2987040"/>
            <a:ext cx="1219200" cy="365760"/>
          </a:xfrm>
          <a:prstGeom prst="rect">
            <a:avLst/>
          </a:prstGeom>
          <a:noFill/>
          <a:ln/>
        </p:spPr>
        <p:txBody>
          <a:bodyPr wrap="square" lIns="847" tIns="847" rIns="847" bIns="847" rtlCol="0" anchor="ctr"/>
          <a:lstStyle/>
          <a:p>
            <a:r>
              <a:rPr lang="en-US" sz="1733" b="1" dirty="0">
                <a:solidFill>
                  <a:srgbClr val="C8102E"/>
                </a:solidFill>
                <a:latin typeface="Calibri" pitchFamily="34" charset="0"/>
                <a:ea typeface="Calibri" pitchFamily="34" charset="-122"/>
                <a:cs typeface="Calibri" pitchFamily="34" charset="-120"/>
              </a:rPr>
              <a:t>Character</a:t>
            </a:r>
            <a:endParaRPr lang="en-US" sz="1733" dirty="0"/>
          </a:p>
        </p:txBody>
      </p:sp>
      <p:sp>
        <p:nvSpPr>
          <p:cNvPr id="13" name="Text 11"/>
          <p:cNvSpPr txBox="1"/>
          <p:nvPr/>
        </p:nvSpPr>
        <p:spPr>
          <a:xfrm>
            <a:off x="1706880"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u</a:t>
            </a:r>
            <a:endParaRPr lang="en-US" sz="1600" dirty="0"/>
          </a:p>
        </p:txBody>
      </p:sp>
      <p:sp>
        <p:nvSpPr>
          <p:cNvPr id="14" name="Text 12"/>
          <p:cNvSpPr txBox="1"/>
          <p:nvPr/>
        </p:nvSpPr>
        <p:spPr>
          <a:xfrm>
            <a:off x="2121408"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n</a:t>
            </a:r>
            <a:endParaRPr lang="en-US" sz="1600" dirty="0"/>
          </a:p>
        </p:txBody>
      </p:sp>
      <p:sp>
        <p:nvSpPr>
          <p:cNvPr id="15" name="Text 13"/>
          <p:cNvSpPr txBox="1"/>
          <p:nvPr/>
        </p:nvSpPr>
        <p:spPr>
          <a:xfrm>
            <a:off x="2535936"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h</a:t>
            </a:r>
            <a:endParaRPr lang="en-US" sz="1600" dirty="0"/>
          </a:p>
        </p:txBody>
      </p:sp>
      <p:sp>
        <p:nvSpPr>
          <p:cNvPr id="16" name="Text 14"/>
          <p:cNvSpPr txBox="1"/>
          <p:nvPr/>
        </p:nvSpPr>
        <p:spPr>
          <a:xfrm>
            <a:off x="2950464"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a</a:t>
            </a:r>
            <a:endParaRPr lang="en-US" sz="1600" dirty="0"/>
          </a:p>
        </p:txBody>
      </p:sp>
      <p:sp>
        <p:nvSpPr>
          <p:cNvPr id="17" name="Text 15"/>
          <p:cNvSpPr txBox="1"/>
          <p:nvPr/>
        </p:nvSpPr>
        <p:spPr>
          <a:xfrm>
            <a:off x="3364992"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p</a:t>
            </a:r>
            <a:endParaRPr lang="en-US" sz="1600" dirty="0"/>
          </a:p>
        </p:txBody>
      </p:sp>
      <p:sp>
        <p:nvSpPr>
          <p:cNvPr id="18" name="Text 16"/>
          <p:cNvSpPr txBox="1"/>
          <p:nvPr/>
        </p:nvSpPr>
        <p:spPr>
          <a:xfrm>
            <a:off x="3779520"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p</a:t>
            </a:r>
            <a:endParaRPr lang="en-US" sz="1600" dirty="0"/>
          </a:p>
        </p:txBody>
      </p:sp>
      <p:sp>
        <p:nvSpPr>
          <p:cNvPr id="19" name="Text 17"/>
          <p:cNvSpPr txBox="1"/>
          <p:nvPr/>
        </p:nvSpPr>
        <p:spPr>
          <a:xfrm>
            <a:off x="4194048"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i</a:t>
            </a:r>
            <a:endParaRPr lang="en-US" sz="1600" dirty="0"/>
          </a:p>
        </p:txBody>
      </p:sp>
      <p:sp>
        <p:nvSpPr>
          <p:cNvPr id="20" name="Text 18"/>
          <p:cNvSpPr txBox="1"/>
          <p:nvPr/>
        </p:nvSpPr>
        <p:spPr>
          <a:xfrm>
            <a:off x="4608576"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n</a:t>
            </a:r>
            <a:endParaRPr lang="en-US" sz="1600" dirty="0"/>
          </a:p>
        </p:txBody>
      </p:sp>
      <p:sp>
        <p:nvSpPr>
          <p:cNvPr id="21" name="Text 19"/>
          <p:cNvSpPr txBox="1"/>
          <p:nvPr/>
        </p:nvSpPr>
        <p:spPr>
          <a:xfrm>
            <a:off x="5023104"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e</a:t>
            </a:r>
            <a:endParaRPr lang="en-US" sz="1600" dirty="0"/>
          </a:p>
        </p:txBody>
      </p:sp>
      <p:sp>
        <p:nvSpPr>
          <p:cNvPr id="22" name="Text 20"/>
          <p:cNvSpPr txBox="1"/>
          <p:nvPr/>
        </p:nvSpPr>
        <p:spPr>
          <a:xfrm>
            <a:off x="5437632"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s</a:t>
            </a:r>
            <a:endParaRPr lang="en-US" sz="1600" dirty="0"/>
          </a:p>
        </p:txBody>
      </p:sp>
      <p:sp>
        <p:nvSpPr>
          <p:cNvPr id="23" name="Text 21"/>
          <p:cNvSpPr txBox="1"/>
          <p:nvPr/>
        </p:nvSpPr>
        <p:spPr>
          <a:xfrm>
            <a:off x="5852160"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s</a:t>
            </a:r>
            <a:endParaRPr lang="en-US" sz="1600" dirty="0"/>
          </a:p>
        </p:txBody>
      </p:sp>
      <p:sp>
        <p:nvSpPr>
          <p:cNvPr id="24" name="Text 22"/>
          <p:cNvSpPr txBox="1"/>
          <p:nvPr/>
        </p:nvSpPr>
        <p:spPr>
          <a:xfrm>
            <a:off x="6266688" y="2987040"/>
            <a:ext cx="365760" cy="365760"/>
          </a:xfrm>
          <a:prstGeom prst="rect">
            <a:avLst/>
          </a:prstGeom>
          <a:solidFill>
            <a:srgbClr val="E6F4FB"/>
          </a:solidFill>
          <a:ln>
            <a:solidFill>
              <a:srgbClr val="FFFFFF"/>
            </a:solidFill>
          </a:ln>
        </p:spPr>
        <p:txBody>
          <a:bodyPr wrap="square" lIns="0" tIns="0" rIns="0" bIns="0" rtlCol="0" anchor="ctr"/>
          <a:lstStyle/>
          <a:p>
            <a:pPr algn="ctr"/>
            <a:r>
              <a:rPr lang="en-US" sz="1600" dirty="0">
                <a:solidFill>
                  <a:srgbClr val="1A1A1A"/>
                </a:solidFill>
                <a:latin typeface="Courier New" pitchFamily="34" charset="0"/>
                <a:ea typeface="Courier New" pitchFamily="34" charset="-122"/>
                <a:cs typeface="Courier New" pitchFamily="34" charset="-120"/>
              </a:rPr>
              <a:t>!</a:t>
            </a:r>
            <a:endParaRPr lang="en-US" sz="1600" dirty="0"/>
          </a:p>
        </p:txBody>
      </p:sp>
      <p:sp>
        <p:nvSpPr>
          <p:cNvPr id="25" name="Text 23"/>
          <p:cNvSpPr txBox="1"/>
          <p:nvPr/>
        </p:nvSpPr>
        <p:spPr>
          <a:xfrm>
            <a:off x="426720" y="3535680"/>
            <a:ext cx="1219200" cy="365760"/>
          </a:xfrm>
          <a:prstGeom prst="rect">
            <a:avLst/>
          </a:prstGeom>
          <a:noFill/>
          <a:ln/>
        </p:spPr>
        <p:txBody>
          <a:bodyPr wrap="square" lIns="847" tIns="847" rIns="847" bIns="847" rtlCol="0" anchor="ctr"/>
          <a:lstStyle/>
          <a:p>
            <a:r>
              <a:rPr lang="en-US" sz="1733" b="1" dirty="0">
                <a:solidFill>
                  <a:srgbClr val="C8102E"/>
                </a:solidFill>
                <a:latin typeface="Calibri" pitchFamily="34" charset="0"/>
                <a:ea typeface="Calibri" pitchFamily="34" charset="-122"/>
                <a:cs typeface="Calibri" pitchFamily="34" charset="-120"/>
              </a:rPr>
              <a:t>Byte</a:t>
            </a:r>
            <a:endParaRPr lang="en-US" sz="1733" dirty="0"/>
          </a:p>
        </p:txBody>
      </p:sp>
      <p:sp>
        <p:nvSpPr>
          <p:cNvPr id="26" name="Text 24"/>
          <p:cNvSpPr txBox="1"/>
          <p:nvPr/>
        </p:nvSpPr>
        <p:spPr>
          <a:xfrm>
            <a:off x="1706880" y="3486912"/>
            <a:ext cx="5425440" cy="731520"/>
          </a:xfrm>
          <a:prstGeom prst="rect">
            <a:avLst/>
          </a:prstGeom>
          <a:noFill/>
          <a:ln/>
        </p:spPr>
        <p:txBody>
          <a:bodyPr wrap="square" lIns="847" tIns="847" rIns="847" bIns="847" rtlCol="0" anchor="ctr"/>
          <a:lstStyle/>
          <a:p>
            <a:pPr>
              <a:spcAft>
                <a:spcPts val="267"/>
              </a:spcAft>
            </a:pPr>
            <a:r>
              <a:rPr lang="en-US" sz="1600" dirty="0">
                <a:solidFill>
                  <a:srgbClr val="1A1A1A"/>
                </a:solidFill>
                <a:latin typeface="Courier New" pitchFamily="34" charset="0"/>
                <a:ea typeface="Courier New" pitchFamily="34" charset="-122"/>
                <a:cs typeface="Courier New" pitchFamily="34" charset="-120"/>
              </a:rPr>
              <a:t>"Apple" → 65 112 112 108 101  (5)</a:t>
            </a:r>
            <a:endParaRPr lang="en-US" sz="1600" dirty="0"/>
          </a:p>
          <a:p>
            <a:pPr>
              <a:spcAft>
                <a:spcPts val="267"/>
              </a:spcAft>
            </a:pPr>
            <a:r>
              <a:rPr lang="en-US" sz="1600" dirty="0">
                <a:solidFill>
                  <a:srgbClr val="1A1A1A"/>
                </a:solidFill>
                <a:latin typeface="Courier New" pitchFamily="34" charset="0"/>
                <a:ea typeface="Courier New" pitchFamily="34" charset="-122"/>
                <a:cs typeface="Courier New" pitchFamily="34" charset="-120"/>
              </a:rPr>
              <a:t>"क" (1 Hindi char) → 224 164 149  (3)</a:t>
            </a:r>
            <a:endParaRPr lang="en-US" sz="1600" dirty="0"/>
          </a:p>
        </p:txBody>
      </p:sp>
      <p:sp>
        <p:nvSpPr>
          <p:cNvPr id="29" name="Text 27"/>
          <p:cNvSpPr txBox="1"/>
          <p:nvPr/>
        </p:nvSpPr>
        <p:spPr>
          <a:xfrm>
            <a:off x="7632194" y="1027065"/>
            <a:ext cx="4328160" cy="1316736"/>
          </a:xfrm>
          <a:prstGeom prst="rect">
            <a:avLst/>
          </a:prstGeom>
          <a:solidFill>
            <a:schemeClr val="accent2">
              <a:lumMod val="20000"/>
              <a:lumOff val="80000"/>
            </a:schemeClr>
          </a:solidFill>
          <a:ln/>
        </p:spPr>
        <p:txBody>
          <a:bodyPr wrap="square" lIns="847" tIns="847" rIns="847" bIns="847" rtlCol="0" anchor="t"/>
          <a:lstStyle/>
          <a:p>
            <a:pPr>
              <a:spcAft>
                <a:spcPts val="400"/>
              </a:spcAft>
            </a:pPr>
            <a:r>
              <a:rPr lang="en-US" sz="2000" b="1" dirty="0">
                <a:solidFill>
                  <a:srgbClr val="1A1A1A"/>
                </a:solidFill>
                <a:latin typeface="Cambria" panose="02040503050406030204" pitchFamily="18" charset="0"/>
                <a:ea typeface="Cambria" panose="02040503050406030204" pitchFamily="18" charset="0"/>
                <a:cs typeface="Calibri" pitchFamily="34" charset="-120"/>
              </a:rPr>
              <a:t>Word tokens (e.g. word2vec)</a:t>
            </a:r>
            <a:endParaRPr lang="en-US" sz="2000" dirty="0">
              <a:latin typeface="Cambria" panose="02040503050406030204" pitchFamily="18" charset="0"/>
              <a:ea typeface="Cambria" panose="02040503050406030204" pitchFamily="18" charset="0"/>
            </a:endParaRPr>
          </a:p>
          <a:p>
            <a:pPr>
              <a:spcAft>
                <a:spcPts val="400"/>
              </a:spcAft>
            </a:pPr>
            <a:r>
              <a:rPr lang="en-US" sz="2000" dirty="0">
                <a:solidFill>
                  <a:srgbClr val="1A1A1A"/>
                </a:solidFill>
                <a:latin typeface="Cambria" panose="02040503050406030204" pitchFamily="18" charset="0"/>
                <a:ea typeface="Cambria" panose="02040503050406030204" pitchFamily="18" charset="0"/>
                <a:cs typeface="Calibri" pitchFamily="34" charset="-120"/>
              </a:rPr>
              <a:t>Cannot handle words unseen in training (OOV). Near-duplicates waste vocab: apology, apologize, apologist.</a:t>
            </a:r>
            <a:endParaRPr lang="en-US" sz="2000" dirty="0">
              <a:latin typeface="Cambria" panose="02040503050406030204" pitchFamily="18" charset="0"/>
              <a:ea typeface="Cambria" panose="02040503050406030204" pitchFamily="18" charset="0"/>
            </a:endParaRPr>
          </a:p>
        </p:txBody>
      </p:sp>
      <p:sp>
        <p:nvSpPr>
          <p:cNvPr id="31" name="Text 29"/>
          <p:cNvSpPr txBox="1"/>
          <p:nvPr/>
        </p:nvSpPr>
        <p:spPr>
          <a:xfrm>
            <a:off x="7732778" y="2511552"/>
            <a:ext cx="4328160" cy="1316736"/>
          </a:xfrm>
          <a:prstGeom prst="rect">
            <a:avLst/>
          </a:prstGeom>
          <a:solidFill>
            <a:schemeClr val="accent6">
              <a:lumMod val="20000"/>
              <a:lumOff val="80000"/>
            </a:schemeClr>
          </a:solidFill>
          <a:ln/>
        </p:spPr>
        <p:txBody>
          <a:bodyPr wrap="square" lIns="847" tIns="847" rIns="847" bIns="847" rtlCol="0" anchor="t"/>
          <a:lstStyle/>
          <a:p>
            <a:pPr>
              <a:spcAft>
                <a:spcPts val="400"/>
              </a:spcAft>
            </a:pPr>
            <a:r>
              <a:rPr lang="en-US" sz="2000" b="1" dirty="0">
                <a:solidFill>
                  <a:srgbClr val="1A1A1A"/>
                </a:solidFill>
                <a:latin typeface="Cambria" panose="02040503050406030204" pitchFamily="18" charset="0"/>
                <a:ea typeface="Cambria" panose="02040503050406030204" pitchFamily="18" charset="0"/>
                <a:cs typeface="Calibri" pitchFamily="34" charset="-120"/>
              </a:rPr>
              <a:t>Subword tokens</a:t>
            </a:r>
            <a:endParaRPr lang="en-US" sz="2000" dirty="0">
              <a:latin typeface="Cambria" panose="02040503050406030204" pitchFamily="18" charset="0"/>
              <a:ea typeface="Cambria" panose="02040503050406030204" pitchFamily="18" charset="0"/>
            </a:endParaRPr>
          </a:p>
          <a:p>
            <a:pPr>
              <a:spcAft>
                <a:spcPts val="400"/>
              </a:spcAft>
            </a:pPr>
            <a:r>
              <a:rPr lang="en-US" sz="2000" dirty="0">
                <a:solidFill>
                  <a:srgbClr val="1A1A1A"/>
                </a:solidFill>
                <a:latin typeface="Cambria" panose="02040503050406030204" pitchFamily="18" charset="0"/>
                <a:ea typeface="Cambria" panose="02040503050406030204" pitchFamily="18" charset="0"/>
                <a:cs typeface="Calibri" pitchFamily="34" charset="-120"/>
              </a:rPr>
              <a:t>New words split into known pieces. Used by every modern LLM.</a:t>
            </a:r>
            <a:endParaRPr lang="en-US" sz="2000" dirty="0">
              <a:latin typeface="Cambria" panose="02040503050406030204" pitchFamily="18" charset="0"/>
              <a:ea typeface="Cambria" panose="02040503050406030204" pitchFamily="18" charset="0"/>
            </a:endParaRPr>
          </a:p>
        </p:txBody>
      </p:sp>
      <p:sp>
        <p:nvSpPr>
          <p:cNvPr id="33" name="Text 31"/>
          <p:cNvSpPr txBox="1"/>
          <p:nvPr/>
        </p:nvSpPr>
        <p:spPr>
          <a:xfrm>
            <a:off x="7632194" y="4044370"/>
            <a:ext cx="4328160" cy="1841103"/>
          </a:xfrm>
          <a:prstGeom prst="rect">
            <a:avLst/>
          </a:prstGeom>
          <a:solidFill>
            <a:schemeClr val="bg1">
              <a:lumMod val="95000"/>
            </a:schemeClr>
          </a:solidFill>
          <a:ln/>
        </p:spPr>
        <p:txBody>
          <a:bodyPr wrap="square" lIns="847" tIns="847" rIns="847" bIns="847" rtlCol="0" anchor="t"/>
          <a:lstStyle/>
          <a:p>
            <a:pPr>
              <a:spcAft>
                <a:spcPts val="400"/>
              </a:spcAft>
            </a:pPr>
            <a:r>
              <a:rPr lang="en-US" sz="2000" b="1" dirty="0">
                <a:solidFill>
                  <a:srgbClr val="1A1A1A"/>
                </a:solidFill>
                <a:latin typeface="Cambria" panose="02040503050406030204" pitchFamily="18" charset="0"/>
                <a:ea typeface="Cambria" panose="02040503050406030204" pitchFamily="18" charset="0"/>
                <a:cs typeface="Calibri" pitchFamily="34" charset="-120"/>
              </a:rPr>
              <a:t>Byte tokens</a:t>
            </a:r>
            <a:endParaRPr lang="en-US" sz="2000" dirty="0">
              <a:latin typeface="Cambria" panose="02040503050406030204" pitchFamily="18" charset="0"/>
              <a:ea typeface="Cambria" panose="02040503050406030204" pitchFamily="18" charset="0"/>
            </a:endParaRPr>
          </a:p>
          <a:p>
            <a:pPr>
              <a:spcAft>
                <a:spcPts val="400"/>
              </a:spcAft>
            </a:pPr>
            <a:r>
              <a:rPr lang="en-US" sz="2000" dirty="0">
                <a:solidFill>
                  <a:srgbClr val="1A1A1A"/>
                </a:solidFill>
                <a:latin typeface="Cambria" panose="02040503050406030204" pitchFamily="18" charset="0"/>
                <a:ea typeface="Cambria" panose="02040503050406030204" pitchFamily="18" charset="0"/>
                <a:cs typeface="Calibri" pitchFamily="34" charset="-120"/>
              </a:rPr>
              <a:t>Vocab = 256 UTF-8 bytes, so nothing is ever OOV, but sequences get much longer. Byte-level model: ByT5. (CANINE is character-level.)</a:t>
            </a:r>
            <a:endParaRPr lang="en-US" sz="2000" dirty="0">
              <a:latin typeface="Cambria" panose="02040503050406030204" pitchFamily="18" charset="0"/>
              <a:ea typeface="Cambria" panose="02040503050406030204" pitchFamily="18" charset="0"/>
            </a:endParaRPr>
          </a:p>
        </p:txBody>
      </p:sp>
      <p:sp>
        <p:nvSpPr>
          <p:cNvPr id="41" name="TextBox 40">
            <a:extLst>
              <a:ext uri="{FF2B5EF4-FFF2-40B4-BE49-F238E27FC236}">
                <a16:creationId xmlns:a16="http://schemas.microsoft.com/office/drawing/2014/main" id="{71EEDDA0-C53E-93CE-D067-2134A0607A55}"/>
              </a:ext>
            </a:extLst>
          </p:cNvPr>
          <p:cNvSpPr txBox="1"/>
          <p:nvPr/>
        </p:nvSpPr>
        <p:spPr>
          <a:xfrm>
            <a:off x="606197" y="4554176"/>
            <a:ext cx="5660491" cy="1938992"/>
          </a:xfrm>
          <a:prstGeom prst="rect">
            <a:avLst/>
          </a:prstGeom>
          <a:noFill/>
        </p:spPr>
        <p:txBody>
          <a:bodyPr wrap="square" rtlCol="0">
            <a:spAutoFit/>
          </a:bodyPr>
          <a:lstStyle/>
          <a:p>
            <a:r>
              <a:rPr lang="en-US" sz="2000" i="1" dirty="0" err="1">
                <a:latin typeface="Cambria" panose="02040503050406030204" pitchFamily="18" charset="0"/>
                <a:ea typeface="Cambria" panose="02040503050406030204" pitchFamily="18" charset="0"/>
                <a:cs typeface="Calibri" pitchFamily="34" charset="-120"/>
              </a:rPr>
              <a:t>Subword</a:t>
            </a:r>
            <a:r>
              <a:rPr lang="en-US" sz="2000" i="1" dirty="0">
                <a:latin typeface="Cambria" panose="02040503050406030204" pitchFamily="18" charset="0"/>
                <a:ea typeface="Cambria" panose="02040503050406030204" pitchFamily="18" charset="0"/>
                <a:cs typeface="Calibri" pitchFamily="34" charset="-120"/>
              </a:rPr>
              <a:t> split shown is illustrative; real splits depend on the learned vocabulary.</a:t>
            </a:r>
          </a:p>
          <a:p>
            <a:endParaRPr lang="en-US" sz="2000" i="1" dirty="0">
              <a:latin typeface="Cambria" panose="02040503050406030204" pitchFamily="18" charset="0"/>
              <a:ea typeface="Cambria" panose="02040503050406030204" pitchFamily="18" charset="0"/>
              <a:cs typeface="Calibri" pitchFamily="34" charset="-120"/>
            </a:endParaRPr>
          </a:p>
          <a:p>
            <a:r>
              <a:rPr lang="en-IN" sz="2000" dirty="0">
                <a:latin typeface="Cambria" panose="02040503050406030204" pitchFamily="18" charset="0"/>
                <a:ea typeface="Cambria" panose="02040503050406030204" pitchFamily="18" charset="0"/>
              </a:rPr>
              <a:t>Byte-level BPE = </a:t>
            </a:r>
            <a:r>
              <a:rPr lang="en-IN" sz="2000" dirty="0" err="1">
                <a:latin typeface="Cambria" panose="02040503050406030204" pitchFamily="18" charset="0"/>
                <a:ea typeface="Cambria" panose="02040503050406030204" pitchFamily="18" charset="0"/>
              </a:rPr>
              <a:t>subword</a:t>
            </a:r>
            <a:r>
              <a:rPr lang="en-IN" sz="2000" dirty="0">
                <a:latin typeface="Cambria" panose="02040503050406030204" pitchFamily="18" charset="0"/>
                <a:ea typeface="Cambria" panose="02040503050406030204" pitchFamily="18" charset="0"/>
              </a:rPr>
              <a:t> merges built on top of bytes (used by Llama, Qwen, DeepSeek, </a:t>
            </a:r>
            <a:r>
              <a:rPr lang="en-IN" sz="2000" dirty="0" err="1">
                <a:latin typeface="Cambria" panose="02040503050406030204" pitchFamily="18" charset="0"/>
                <a:ea typeface="Cambria" panose="02040503050406030204" pitchFamily="18" charset="0"/>
              </a:rPr>
              <a:t>gpt-oss</a:t>
            </a:r>
            <a:r>
              <a:rPr lang="en-IN" sz="2000" dirty="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00352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09F8F0-35E7-1FB6-08C9-BE0F9B581E9C}"/>
              </a:ext>
            </a:extLst>
          </p:cNvPr>
          <p:cNvSpPr>
            <a:spLocks noGrp="1"/>
          </p:cNvSpPr>
          <p:nvPr>
            <p:ph type="body" sz="quarter" idx="1"/>
          </p:nvPr>
        </p:nvSpPr>
        <p:spPr/>
        <p:txBody>
          <a:bodyPr/>
          <a:lstStyle/>
          <a:p>
            <a:r>
              <a:rPr lang="en-US" b="0" dirty="0" err="1"/>
              <a:t>Subword</a:t>
            </a:r>
            <a:r>
              <a:rPr lang="en-US" b="0" dirty="0"/>
              <a:t> tokenization</a:t>
            </a:r>
            <a:endParaRPr lang="en-IN" b="0" dirty="0"/>
          </a:p>
          <a:p>
            <a:endParaRPr lang="en-IN" b="0" dirty="0"/>
          </a:p>
        </p:txBody>
      </p:sp>
      <p:sp>
        <p:nvSpPr>
          <p:cNvPr id="4" name="Text 6">
            <a:extLst>
              <a:ext uri="{FF2B5EF4-FFF2-40B4-BE49-F238E27FC236}">
                <a16:creationId xmlns:a16="http://schemas.microsoft.com/office/drawing/2014/main" id="{AAE9B788-6DC6-4545-EFC9-A98DE5DC7188}"/>
              </a:ext>
            </a:extLst>
          </p:cNvPr>
          <p:cNvSpPr txBox="1"/>
          <p:nvPr/>
        </p:nvSpPr>
        <p:spPr>
          <a:xfrm>
            <a:off x="406400" y="4522470"/>
            <a:ext cx="2682240" cy="682752"/>
          </a:xfrm>
          <a:prstGeom prst="rect">
            <a:avLst/>
          </a:prstGeom>
          <a:solidFill>
            <a:srgbClr val="E6F4FB"/>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Training corpus</a:t>
            </a:r>
          </a:p>
          <a:p>
            <a:pPr algn="ctr"/>
            <a:r>
              <a:rPr lang="en-US" dirty="0">
                <a:solidFill>
                  <a:srgbClr val="4A4A4A"/>
                </a:solidFill>
                <a:latin typeface="Cambria" panose="02040503050406030204" pitchFamily="18" charset="0"/>
                <a:ea typeface="Cambria" panose="02040503050406030204" pitchFamily="18" charset="0"/>
                <a:cs typeface="Courier New" pitchFamily="34" charset="-120"/>
              </a:rPr>
              <a:t>hug pug pun bun hugs</a:t>
            </a:r>
            <a:endParaRPr lang="en-US" dirty="0">
              <a:latin typeface="Cambria" panose="02040503050406030204" pitchFamily="18" charset="0"/>
              <a:ea typeface="Cambria" panose="02040503050406030204" pitchFamily="18" charset="0"/>
            </a:endParaRPr>
          </a:p>
        </p:txBody>
      </p:sp>
      <p:sp>
        <p:nvSpPr>
          <p:cNvPr id="6" name="Text 7">
            <a:extLst>
              <a:ext uri="{FF2B5EF4-FFF2-40B4-BE49-F238E27FC236}">
                <a16:creationId xmlns:a16="http://schemas.microsoft.com/office/drawing/2014/main" id="{5ACF7946-4CE7-3BF3-FA66-15AA0D3409AC}"/>
              </a:ext>
            </a:extLst>
          </p:cNvPr>
          <p:cNvSpPr txBox="1"/>
          <p:nvPr/>
        </p:nvSpPr>
        <p:spPr>
          <a:xfrm>
            <a:off x="3113024" y="4522470"/>
            <a:ext cx="365760" cy="682752"/>
          </a:xfrm>
          <a:prstGeom prst="rect">
            <a:avLst/>
          </a:prstGeom>
          <a:noFill/>
          <a:ln/>
        </p:spPr>
        <p:txBody>
          <a:bodyPr wrap="square" lIns="847" tIns="847" rIns="847" bIns="847" rtlCol="0" anchor="ctr"/>
          <a:lstStyle/>
          <a:p>
            <a:pPr algn="ctr"/>
            <a:r>
              <a:rPr lang="en-US" dirty="0">
                <a:solidFill>
                  <a:srgbClr val="0E6E7E"/>
                </a:solidFill>
                <a:latin typeface="Cambria" panose="02040503050406030204" pitchFamily="18" charset="0"/>
                <a:ea typeface="Cambria" panose="02040503050406030204" pitchFamily="18" charset="0"/>
                <a:cs typeface="Calibri" pitchFamily="34" charset="-120"/>
              </a:rPr>
              <a:t>→</a:t>
            </a:r>
            <a:endParaRPr lang="en-US" dirty="0">
              <a:latin typeface="Cambria" panose="02040503050406030204" pitchFamily="18" charset="0"/>
              <a:ea typeface="Cambria" panose="02040503050406030204" pitchFamily="18" charset="0"/>
            </a:endParaRPr>
          </a:p>
        </p:txBody>
      </p:sp>
      <p:sp>
        <p:nvSpPr>
          <p:cNvPr id="8" name="Text 8">
            <a:extLst>
              <a:ext uri="{FF2B5EF4-FFF2-40B4-BE49-F238E27FC236}">
                <a16:creationId xmlns:a16="http://schemas.microsoft.com/office/drawing/2014/main" id="{85A7B3B0-AB70-F38F-51C3-31C9B64620DD}"/>
              </a:ext>
            </a:extLst>
          </p:cNvPr>
          <p:cNvSpPr txBox="1"/>
          <p:nvPr/>
        </p:nvSpPr>
        <p:spPr>
          <a:xfrm>
            <a:off x="3515360" y="4522470"/>
            <a:ext cx="2133600" cy="682752"/>
          </a:xfrm>
          <a:prstGeom prst="rect">
            <a:avLst/>
          </a:prstGeom>
          <a:solidFill>
            <a:srgbClr val="0E6E7E"/>
          </a:solidFill>
          <a:ln/>
        </p:spPr>
        <p:txBody>
          <a:bodyPr wrap="square" lIns="847" tIns="847" rIns="847" bIns="847" rtlCol="0" anchor="ctr"/>
          <a:lstStyle/>
          <a:p>
            <a:pPr algn="ctr"/>
            <a:r>
              <a:rPr lang="en-US" b="1" dirty="0">
                <a:solidFill>
                  <a:srgbClr val="FFFFFF"/>
                </a:solidFill>
                <a:latin typeface="Cambria" panose="02040503050406030204" pitchFamily="18" charset="0"/>
                <a:ea typeface="Cambria" panose="02040503050406030204" pitchFamily="18" charset="0"/>
                <a:cs typeface="Calibri" pitchFamily="34" charset="-120"/>
              </a:rPr>
              <a:t>Token learner</a:t>
            </a:r>
          </a:p>
          <a:p>
            <a:pPr algn="ctr"/>
            <a:r>
              <a:rPr lang="en-US" dirty="0">
                <a:solidFill>
                  <a:srgbClr val="E6F4FB"/>
                </a:solidFill>
                <a:latin typeface="Cambria" panose="02040503050406030204" pitchFamily="18" charset="0"/>
                <a:ea typeface="Cambria" panose="02040503050406030204" pitchFamily="18" charset="0"/>
                <a:cs typeface="Courier New" pitchFamily="34" charset="-120"/>
              </a:rPr>
              <a:t>runs BPE</a:t>
            </a:r>
            <a:endParaRPr lang="en-US" dirty="0">
              <a:latin typeface="Cambria" panose="02040503050406030204" pitchFamily="18" charset="0"/>
              <a:ea typeface="Cambria" panose="02040503050406030204" pitchFamily="18" charset="0"/>
            </a:endParaRPr>
          </a:p>
        </p:txBody>
      </p:sp>
      <p:sp>
        <p:nvSpPr>
          <p:cNvPr id="10" name="Text 9">
            <a:extLst>
              <a:ext uri="{FF2B5EF4-FFF2-40B4-BE49-F238E27FC236}">
                <a16:creationId xmlns:a16="http://schemas.microsoft.com/office/drawing/2014/main" id="{C6C972E7-6662-6123-9317-10137503AA7C}"/>
              </a:ext>
            </a:extLst>
          </p:cNvPr>
          <p:cNvSpPr txBox="1"/>
          <p:nvPr/>
        </p:nvSpPr>
        <p:spPr>
          <a:xfrm>
            <a:off x="5673344" y="4522470"/>
            <a:ext cx="365760" cy="682752"/>
          </a:xfrm>
          <a:prstGeom prst="rect">
            <a:avLst/>
          </a:prstGeom>
          <a:noFill/>
          <a:ln/>
        </p:spPr>
        <p:txBody>
          <a:bodyPr wrap="square" lIns="847" tIns="847" rIns="847" bIns="847" rtlCol="0" anchor="ctr"/>
          <a:lstStyle/>
          <a:p>
            <a:pPr algn="ctr"/>
            <a:r>
              <a:rPr lang="en-US" dirty="0">
                <a:solidFill>
                  <a:srgbClr val="0E6E7E"/>
                </a:solidFill>
                <a:latin typeface="Cambria" panose="02040503050406030204" pitchFamily="18" charset="0"/>
                <a:ea typeface="Cambria" panose="02040503050406030204" pitchFamily="18" charset="0"/>
                <a:cs typeface="Calibri" pitchFamily="34" charset="-120"/>
              </a:rPr>
              <a:t>→</a:t>
            </a:r>
            <a:endParaRPr lang="en-US" dirty="0">
              <a:latin typeface="Cambria" panose="02040503050406030204" pitchFamily="18" charset="0"/>
              <a:ea typeface="Cambria" panose="02040503050406030204" pitchFamily="18" charset="0"/>
            </a:endParaRPr>
          </a:p>
        </p:txBody>
      </p:sp>
      <p:sp>
        <p:nvSpPr>
          <p:cNvPr id="12" name="Text 10">
            <a:extLst>
              <a:ext uri="{FF2B5EF4-FFF2-40B4-BE49-F238E27FC236}">
                <a16:creationId xmlns:a16="http://schemas.microsoft.com/office/drawing/2014/main" id="{066F6E72-0791-E4AA-7F77-E50D2E1CFDDA}"/>
              </a:ext>
            </a:extLst>
          </p:cNvPr>
          <p:cNvSpPr txBox="1"/>
          <p:nvPr/>
        </p:nvSpPr>
        <p:spPr>
          <a:xfrm>
            <a:off x="6075680" y="4522470"/>
            <a:ext cx="3108960" cy="682752"/>
          </a:xfrm>
          <a:prstGeom prst="rect">
            <a:avLst/>
          </a:prstGeom>
          <a:solidFill>
            <a:srgbClr val="FDF3E3"/>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Vocabulary + merge rules</a:t>
            </a:r>
          </a:p>
        </p:txBody>
      </p:sp>
      <p:sp>
        <p:nvSpPr>
          <p:cNvPr id="14" name="Text 11">
            <a:extLst>
              <a:ext uri="{FF2B5EF4-FFF2-40B4-BE49-F238E27FC236}">
                <a16:creationId xmlns:a16="http://schemas.microsoft.com/office/drawing/2014/main" id="{981CAD5A-E8C5-BDBA-3B6E-244FA2A4E680}"/>
              </a:ext>
            </a:extLst>
          </p:cNvPr>
          <p:cNvSpPr txBox="1"/>
          <p:nvPr/>
        </p:nvSpPr>
        <p:spPr>
          <a:xfrm>
            <a:off x="9367520" y="4522470"/>
            <a:ext cx="2377440" cy="682752"/>
          </a:xfrm>
          <a:prstGeom prst="rect">
            <a:avLst/>
          </a:prstGeom>
          <a:noFill/>
          <a:ln/>
        </p:spPr>
        <p:txBody>
          <a:bodyPr wrap="square" lIns="847" tIns="847" rIns="847" bIns="847" rtlCol="0" anchor="ctr"/>
          <a:lstStyle/>
          <a:p>
            <a:r>
              <a:rPr lang="en-US" sz="2000" i="1" dirty="0">
                <a:latin typeface="Cambria" panose="02040503050406030204" pitchFamily="18" charset="0"/>
                <a:ea typeface="Cambria" panose="02040503050406030204" pitchFamily="18" charset="0"/>
                <a:cs typeface="Calibri" pitchFamily="34" charset="-120"/>
              </a:rPr>
              <a:t>Once, at training time</a:t>
            </a:r>
            <a:endParaRPr lang="en-US" sz="2000" dirty="0">
              <a:latin typeface="Cambria" panose="02040503050406030204" pitchFamily="18" charset="0"/>
              <a:ea typeface="Cambria" panose="02040503050406030204" pitchFamily="18" charset="0"/>
            </a:endParaRPr>
          </a:p>
        </p:txBody>
      </p:sp>
      <p:sp>
        <p:nvSpPr>
          <p:cNvPr id="16" name="Text 12">
            <a:extLst>
              <a:ext uri="{FF2B5EF4-FFF2-40B4-BE49-F238E27FC236}">
                <a16:creationId xmlns:a16="http://schemas.microsoft.com/office/drawing/2014/main" id="{DE19E7E3-0351-0D93-C2AA-6A68FE4F238D}"/>
              </a:ext>
            </a:extLst>
          </p:cNvPr>
          <p:cNvSpPr txBox="1"/>
          <p:nvPr/>
        </p:nvSpPr>
        <p:spPr>
          <a:xfrm>
            <a:off x="406400" y="5375910"/>
            <a:ext cx="2682240" cy="682752"/>
          </a:xfrm>
          <a:prstGeom prst="rect">
            <a:avLst/>
          </a:prstGeom>
          <a:solidFill>
            <a:srgbClr val="E6F4FB"/>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New text</a:t>
            </a:r>
            <a:endParaRPr lang="en-US" dirty="0">
              <a:latin typeface="Cambria" panose="02040503050406030204" pitchFamily="18" charset="0"/>
              <a:ea typeface="Cambria" panose="02040503050406030204" pitchFamily="18" charset="0"/>
            </a:endParaRPr>
          </a:p>
          <a:p>
            <a:pPr algn="ctr"/>
            <a:r>
              <a:rPr lang="en-US" dirty="0">
                <a:solidFill>
                  <a:srgbClr val="4A4A4A"/>
                </a:solidFill>
                <a:latin typeface="Cambria" panose="02040503050406030204" pitchFamily="18" charset="0"/>
                <a:ea typeface="Cambria" panose="02040503050406030204" pitchFamily="18" charset="0"/>
                <a:cs typeface="Courier New" pitchFamily="34" charset="-120"/>
              </a:rPr>
              <a:t>hugs</a:t>
            </a:r>
            <a:endParaRPr lang="en-US" dirty="0">
              <a:latin typeface="Cambria" panose="02040503050406030204" pitchFamily="18" charset="0"/>
              <a:ea typeface="Cambria" panose="02040503050406030204" pitchFamily="18" charset="0"/>
            </a:endParaRPr>
          </a:p>
        </p:txBody>
      </p:sp>
      <p:sp>
        <p:nvSpPr>
          <p:cNvPr id="18" name="Text 13">
            <a:extLst>
              <a:ext uri="{FF2B5EF4-FFF2-40B4-BE49-F238E27FC236}">
                <a16:creationId xmlns:a16="http://schemas.microsoft.com/office/drawing/2014/main" id="{FA1B94C0-BCFE-591E-3FAD-8340585A9538}"/>
              </a:ext>
            </a:extLst>
          </p:cNvPr>
          <p:cNvSpPr txBox="1"/>
          <p:nvPr/>
        </p:nvSpPr>
        <p:spPr>
          <a:xfrm>
            <a:off x="3113024" y="5375910"/>
            <a:ext cx="365760" cy="682752"/>
          </a:xfrm>
          <a:prstGeom prst="rect">
            <a:avLst/>
          </a:prstGeom>
          <a:noFill/>
          <a:ln/>
        </p:spPr>
        <p:txBody>
          <a:bodyPr wrap="square" lIns="847" tIns="847" rIns="847" bIns="847" rtlCol="0" anchor="ctr"/>
          <a:lstStyle/>
          <a:p>
            <a:pPr algn="ctr"/>
            <a:r>
              <a:rPr lang="en-US" dirty="0">
                <a:solidFill>
                  <a:srgbClr val="0E6E7E"/>
                </a:solidFill>
                <a:latin typeface="Cambria" panose="02040503050406030204" pitchFamily="18" charset="0"/>
                <a:ea typeface="Cambria" panose="02040503050406030204" pitchFamily="18" charset="0"/>
                <a:cs typeface="Calibri" pitchFamily="34" charset="-120"/>
              </a:rPr>
              <a:t>→</a:t>
            </a:r>
            <a:endParaRPr lang="en-US" dirty="0">
              <a:latin typeface="Cambria" panose="02040503050406030204" pitchFamily="18" charset="0"/>
              <a:ea typeface="Cambria" panose="02040503050406030204" pitchFamily="18" charset="0"/>
            </a:endParaRPr>
          </a:p>
        </p:txBody>
      </p:sp>
      <p:sp>
        <p:nvSpPr>
          <p:cNvPr id="20" name="Text 14">
            <a:extLst>
              <a:ext uri="{FF2B5EF4-FFF2-40B4-BE49-F238E27FC236}">
                <a16:creationId xmlns:a16="http://schemas.microsoft.com/office/drawing/2014/main" id="{67DBC8CC-D8AA-D447-99A1-F1ADEC4ED2E2}"/>
              </a:ext>
            </a:extLst>
          </p:cNvPr>
          <p:cNvSpPr txBox="1"/>
          <p:nvPr/>
        </p:nvSpPr>
        <p:spPr>
          <a:xfrm>
            <a:off x="3515360" y="5375910"/>
            <a:ext cx="2133600" cy="682752"/>
          </a:xfrm>
          <a:prstGeom prst="rect">
            <a:avLst/>
          </a:prstGeom>
          <a:solidFill>
            <a:srgbClr val="0E6E7E"/>
          </a:solidFill>
          <a:ln/>
        </p:spPr>
        <p:txBody>
          <a:bodyPr wrap="square" lIns="847" tIns="847" rIns="847" bIns="847" rtlCol="0" anchor="ctr"/>
          <a:lstStyle/>
          <a:p>
            <a:pPr algn="ctr"/>
            <a:r>
              <a:rPr lang="en-US" b="1" dirty="0">
                <a:solidFill>
                  <a:srgbClr val="FFFFFF"/>
                </a:solidFill>
                <a:latin typeface="Cambria" panose="02040503050406030204" pitchFamily="18" charset="0"/>
                <a:ea typeface="Cambria" panose="02040503050406030204" pitchFamily="18" charset="0"/>
                <a:cs typeface="Calibri" pitchFamily="34" charset="-120"/>
              </a:rPr>
              <a:t>Token segmenter</a:t>
            </a:r>
            <a:endParaRPr lang="en-US" dirty="0">
              <a:latin typeface="Cambria" panose="02040503050406030204" pitchFamily="18" charset="0"/>
              <a:ea typeface="Cambria" panose="02040503050406030204" pitchFamily="18" charset="0"/>
            </a:endParaRPr>
          </a:p>
          <a:p>
            <a:pPr algn="ctr"/>
            <a:r>
              <a:rPr lang="en-US" dirty="0">
                <a:solidFill>
                  <a:srgbClr val="E6F4FB"/>
                </a:solidFill>
                <a:latin typeface="Cambria" panose="02040503050406030204" pitchFamily="18" charset="0"/>
                <a:ea typeface="Cambria" panose="02040503050406030204" pitchFamily="18" charset="0"/>
                <a:cs typeface="Courier New" pitchFamily="34" charset="-120"/>
              </a:rPr>
              <a:t>applies rules</a:t>
            </a:r>
            <a:endParaRPr lang="en-US" dirty="0">
              <a:latin typeface="Cambria" panose="02040503050406030204" pitchFamily="18" charset="0"/>
              <a:ea typeface="Cambria" panose="02040503050406030204" pitchFamily="18" charset="0"/>
            </a:endParaRPr>
          </a:p>
        </p:txBody>
      </p:sp>
      <p:sp>
        <p:nvSpPr>
          <p:cNvPr id="22" name="Text 15">
            <a:extLst>
              <a:ext uri="{FF2B5EF4-FFF2-40B4-BE49-F238E27FC236}">
                <a16:creationId xmlns:a16="http://schemas.microsoft.com/office/drawing/2014/main" id="{2E7B5D80-0548-C74B-CF19-FEE1A3321123}"/>
              </a:ext>
            </a:extLst>
          </p:cNvPr>
          <p:cNvSpPr txBox="1"/>
          <p:nvPr/>
        </p:nvSpPr>
        <p:spPr>
          <a:xfrm>
            <a:off x="5673344" y="5375910"/>
            <a:ext cx="365760" cy="682752"/>
          </a:xfrm>
          <a:prstGeom prst="rect">
            <a:avLst/>
          </a:prstGeom>
          <a:noFill/>
          <a:ln/>
        </p:spPr>
        <p:txBody>
          <a:bodyPr wrap="square" lIns="847" tIns="847" rIns="847" bIns="847" rtlCol="0" anchor="ctr"/>
          <a:lstStyle/>
          <a:p>
            <a:pPr algn="ctr"/>
            <a:r>
              <a:rPr lang="en-US" dirty="0">
                <a:solidFill>
                  <a:srgbClr val="0E6E7E"/>
                </a:solidFill>
                <a:latin typeface="Cambria" panose="02040503050406030204" pitchFamily="18" charset="0"/>
                <a:ea typeface="Cambria" panose="02040503050406030204" pitchFamily="18" charset="0"/>
                <a:cs typeface="Calibri" pitchFamily="34" charset="-120"/>
              </a:rPr>
              <a:t>→</a:t>
            </a:r>
            <a:endParaRPr lang="en-US" dirty="0">
              <a:latin typeface="Cambria" panose="02040503050406030204" pitchFamily="18" charset="0"/>
              <a:ea typeface="Cambria" panose="02040503050406030204" pitchFamily="18" charset="0"/>
            </a:endParaRPr>
          </a:p>
        </p:txBody>
      </p:sp>
      <p:sp>
        <p:nvSpPr>
          <p:cNvPr id="24" name="Text 16">
            <a:extLst>
              <a:ext uri="{FF2B5EF4-FFF2-40B4-BE49-F238E27FC236}">
                <a16:creationId xmlns:a16="http://schemas.microsoft.com/office/drawing/2014/main" id="{CB189005-6D3B-5A39-E547-324A0E21C1FF}"/>
              </a:ext>
            </a:extLst>
          </p:cNvPr>
          <p:cNvSpPr txBox="1"/>
          <p:nvPr/>
        </p:nvSpPr>
        <p:spPr>
          <a:xfrm>
            <a:off x="6075680" y="5375910"/>
            <a:ext cx="3108960" cy="682752"/>
          </a:xfrm>
          <a:prstGeom prst="rect">
            <a:avLst/>
          </a:prstGeom>
          <a:solidFill>
            <a:srgbClr val="FDF3E3"/>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Tokens → IDs</a:t>
            </a:r>
            <a:endParaRPr lang="en-US" dirty="0">
              <a:latin typeface="Cambria" panose="02040503050406030204" pitchFamily="18" charset="0"/>
              <a:ea typeface="Cambria" panose="02040503050406030204" pitchFamily="18" charset="0"/>
            </a:endParaRPr>
          </a:p>
          <a:p>
            <a:pPr algn="ctr"/>
            <a:r>
              <a:rPr lang="en-US" dirty="0">
                <a:solidFill>
                  <a:srgbClr val="4A4A4A"/>
                </a:solidFill>
                <a:latin typeface="Cambria" panose="02040503050406030204" pitchFamily="18" charset="0"/>
                <a:ea typeface="Cambria" panose="02040503050406030204" pitchFamily="18" charset="0"/>
                <a:cs typeface="Courier New" pitchFamily="34" charset="-120"/>
              </a:rPr>
              <a:t>[hug, s] → [12, 5]</a:t>
            </a:r>
            <a:endParaRPr lang="en-US" dirty="0">
              <a:latin typeface="Cambria" panose="02040503050406030204" pitchFamily="18" charset="0"/>
              <a:ea typeface="Cambria" panose="02040503050406030204" pitchFamily="18" charset="0"/>
            </a:endParaRPr>
          </a:p>
        </p:txBody>
      </p:sp>
      <p:sp>
        <p:nvSpPr>
          <p:cNvPr id="26" name="Text 17">
            <a:extLst>
              <a:ext uri="{FF2B5EF4-FFF2-40B4-BE49-F238E27FC236}">
                <a16:creationId xmlns:a16="http://schemas.microsoft.com/office/drawing/2014/main" id="{4F71CFCE-8EA8-2173-35CA-4DC787D7944B}"/>
              </a:ext>
            </a:extLst>
          </p:cNvPr>
          <p:cNvSpPr txBox="1"/>
          <p:nvPr/>
        </p:nvSpPr>
        <p:spPr>
          <a:xfrm>
            <a:off x="9367520" y="5375910"/>
            <a:ext cx="2377440" cy="682752"/>
          </a:xfrm>
          <a:prstGeom prst="rect">
            <a:avLst/>
          </a:prstGeom>
          <a:noFill/>
          <a:ln/>
        </p:spPr>
        <p:txBody>
          <a:bodyPr wrap="square" lIns="847" tIns="847" rIns="847" bIns="847" rtlCol="0" anchor="ctr"/>
          <a:lstStyle/>
          <a:p>
            <a:r>
              <a:rPr lang="en-US" sz="2000" i="1" dirty="0">
                <a:latin typeface="Cambria" panose="02040503050406030204" pitchFamily="18" charset="0"/>
                <a:ea typeface="Cambria" panose="02040503050406030204" pitchFamily="18" charset="0"/>
                <a:cs typeface="Calibri" pitchFamily="34" charset="-120"/>
              </a:rPr>
              <a:t>On every input, at inference</a:t>
            </a:r>
            <a:endParaRPr lang="en-US" sz="2000" dirty="0">
              <a:latin typeface="Cambria" panose="02040503050406030204" pitchFamily="18" charset="0"/>
              <a:ea typeface="Cambria" panose="02040503050406030204" pitchFamily="18" charset="0"/>
            </a:endParaRPr>
          </a:p>
        </p:txBody>
      </p:sp>
      <p:sp>
        <p:nvSpPr>
          <p:cNvPr id="28" name="TextBox 27">
            <a:extLst>
              <a:ext uri="{FF2B5EF4-FFF2-40B4-BE49-F238E27FC236}">
                <a16:creationId xmlns:a16="http://schemas.microsoft.com/office/drawing/2014/main" id="{111EB81B-08E4-5106-6492-691B2CF15FD9}"/>
              </a:ext>
            </a:extLst>
          </p:cNvPr>
          <p:cNvSpPr txBox="1"/>
          <p:nvPr/>
        </p:nvSpPr>
        <p:spPr>
          <a:xfrm>
            <a:off x="216916" y="1392936"/>
            <a:ext cx="11758168" cy="2774477"/>
          </a:xfrm>
          <a:prstGeom prst="rect">
            <a:avLst/>
          </a:prstGeom>
          <a:noFill/>
        </p:spPr>
        <p:txBody>
          <a:bodyPr wrap="square">
            <a:spAutoFit/>
          </a:bodyPr>
          <a:lstStyle/>
          <a:p>
            <a:pPr marL="342900" indent="-342900">
              <a:lnSpc>
                <a:spcPct val="110000"/>
              </a:lnSpc>
              <a:buFont typeface="Arial" panose="020B0604020202020204" pitchFamily="34" charset="0"/>
              <a:buChar char="•"/>
            </a:pPr>
            <a:r>
              <a:rPr lang="en-US" sz="2000" kern="0" dirty="0">
                <a:solidFill>
                  <a:sysClr val="windowText" lastClr="000000"/>
                </a:solidFill>
                <a:latin typeface="Cambria" panose="02040503050406030204" pitchFamily="18" charset="0"/>
                <a:ea typeface="Cambria" panose="02040503050406030204" pitchFamily="18" charset="0"/>
              </a:rPr>
              <a:t>Three common algorithms:</a:t>
            </a:r>
          </a:p>
          <a:p>
            <a:pPr marL="800100" lvl="1" indent="-342900">
              <a:lnSpc>
                <a:spcPct val="110000"/>
              </a:lnSpc>
              <a:buFont typeface="Arial" panose="020B0604020202020204" pitchFamily="34" charset="0"/>
              <a:buChar char="•"/>
            </a:pPr>
            <a:r>
              <a:rPr lang="en-US" sz="2000" b="1" kern="0" dirty="0">
                <a:solidFill>
                  <a:sysClr val="windowText" lastClr="000000"/>
                </a:solidFill>
                <a:latin typeface="Cambria" panose="02040503050406030204" pitchFamily="18" charset="0"/>
                <a:ea typeface="Cambria" panose="02040503050406030204" pitchFamily="18" charset="0"/>
              </a:rPr>
              <a:t>Byte-Pair Encoding (BPE) </a:t>
            </a:r>
            <a:r>
              <a:rPr lang="en-US" sz="2000" kern="0" dirty="0">
                <a:solidFill>
                  <a:sysClr val="windowText" lastClr="000000"/>
                </a:solidFill>
                <a:latin typeface="Cambria" panose="02040503050406030204" pitchFamily="18" charset="0"/>
                <a:ea typeface="Cambria" panose="02040503050406030204" pitchFamily="18" charset="0"/>
              </a:rPr>
              <a:t>(</a:t>
            </a:r>
            <a:r>
              <a:rPr lang="en-US" sz="2000" kern="0" dirty="0" err="1">
                <a:solidFill>
                  <a:sysClr val="windowText" lastClr="000000"/>
                </a:solidFill>
                <a:latin typeface="Cambria" panose="02040503050406030204" pitchFamily="18" charset="0"/>
                <a:ea typeface="Cambria" panose="02040503050406030204" pitchFamily="18" charset="0"/>
              </a:rPr>
              <a:t>Sennrich</a:t>
            </a:r>
            <a:r>
              <a:rPr lang="en-US" sz="2000" kern="0" dirty="0">
                <a:solidFill>
                  <a:sysClr val="windowText" lastClr="000000"/>
                </a:solidFill>
                <a:latin typeface="Cambria" panose="02040503050406030204" pitchFamily="18" charset="0"/>
                <a:ea typeface="Cambria" panose="02040503050406030204" pitchFamily="18" charset="0"/>
              </a:rPr>
              <a:t> et al., 2016)</a:t>
            </a:r>
          </a:p>
          <a:p>
            <a:pPr marL="800100" lvl="1" indent="-342900">
              <a:lnSpc>
                <a:spcPct val="110000"/>
              </a:lnSpc>
              <a:buFont typeface="Arial" panose="020B0604020202020204" pitchFamily="34" charset="0"/>
              <a:buChar char="•"/>
            </a:pPr>
            <a:r>
              <a:rPr lang="en-US" sz="2000" b="1" kern="0" dirty="0">
                <a:solidFill>
                  <a:sysClr val="windowText" lastClr="000000"/>
                </a:solidFill>
                <a:latin typeface="Cambria" panose="02040503050406030204" pitchFamily="18" charset="0"/>
                <a:ea typeface="Cambria" panose="02040503050406030204" pitchFamily="18" charset="0"/>
              </a:rPr>
              <a:t>Unigram language modeling tokenization </a:t>
            </a:r>
            <a:r>
              <a:rPr lang="en-US" sz="2000" kern="0" dirty="0">
                <a:solidFill>
                  <a:sysClr val="windowText" lastClr="000000"/>
                </a:solidFill>
                <a:latin typeface="Cambria" panose="02040503050406030204" pitchFamily="18" charset="0"/>
                <a:ea typeface="Cambria" panose="02040503050406030204" pitchFamily="18" charset="0"/>
              </a:rPr>
              <a:t>(Kudo, 2018)</a:t>
            </a:r>
          </a:p>
          <a:p>
            <a:pPr marL="800100" lvl="1" indent="-342900">
              <a:lnSpc>
                <a:spcPct val="110000"/>
              </a:lnSpc>
              <a:buFont typeface="Arial" panose="020B0604020202020204" pitchFamily="34" charset="0"/>
              <a:buChar char="•"/>
            </a:pPr>
            <a:r>
              <a:rPr lang="en-US" sz="2000" b="1" kern="0" dirty="0" err="1">
                <a:solidFill>
                  <a:sysClr val="windowText" lastClr="000000"/>
                </a:solidFill>
                <a:latin typeface="Cambria" panose="02040503050406030204" pitchFamily="18" charset="0"/>
                <a:ea typeface="Cambria" panose="02040503050406030204" pitchFamily="18" charset="0"/>
              </a:rPr>
              <a:t>WordPiece</a:t>
            </a:r>
            <a:r>
              <a:rPr lang="en-US" sz="2000" b="1" kern="0" dirty="0">
                <a:solidFill>
                  <a:sysClr val="windowText" lastClr="000000"/>
                </a:solidFill>
                <a:latin typeface="Cambria" panose="02040503050406030204" pitchFamily="18" charset="0"/>
                <a:ea typeface="Cambria" panose="02040503050406030204" pitchFamily="18" charset="0"/>
              </a:rPr>
              <a:t> </a:t>
            </a:r>
            <a:r>
              <a:rPr lang="en-US" sz="2000" kern="0" dirty="0">
                <a:solidFill>
                  <a:sysClr val="windowText" lastClr="000000"/>
                </a:solidFill>
                <a:latin typeface="Cambria" panose="02040503050406030204" pitchFamily="18" charset="0"/>
                <a:ea typeface="Cambria" panose="02040503050406030204" pitchFamily="18" charset="0"/>
              </a:rPr>
              <a:t>(Schuster and Nakajima, 2012)</a:t>
            </a:r>
          </a:p>
          <a:p>
            <a:pPr marL="342900" indent="-342900">
              <a:lnSpc>
                <a:spcPct val="110000"/>
              </a:lnSpc>
              <a:buFont typeface="Arial" panose="020B0604020202020204" pitchFamily="34" charset="0"/>
              <a:buChar char="•"/>
              <a:tabLst>
                <a:tab pos="625671" algn="l"/>
              </a:tabLst>
            </a:pPr>
            <a:r>
              <a:rPr lang="en-US" sz="2000" kern="0" spc="-27" dirty="0">
                <a:solidFill>
                  <a:sysClr val="windowText" lastClr="000000"/>
                </a:solidFill>
                <a:latin typeface="Cambria" panose="02040503050406030204" pitchFamily="18" charset="0"/>
                <a:ea typeface="Cambria" panose="02040503050406030204" pitchFamily="18" charset="0"/>
                <a:cs typeface="Arial MT"/>
              </a:rPr>
              <a:t>Vocabulary</a:t>
            </a:r>
            <a:r>
              <a:rPr lang="en-US" sz="2000" kern="0" spc="7"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is</a:t>
            </a:r>
            <a:r>
              <a:rPr lang="en-US" sz="2000" kern="0" spc="1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built</a:t>
            </a:r>
            <a:r>
              <a:rPr lang="en-US" sz="2000" kern="0" spc="13" dirty="0">
                <a:solidFill>
                  <a:sysClr val="windowText" lastClr="000000"/>
                </a:solidFill>
                <a:latin typeface="Cambria" panose="02040503050406030204" pitchFamily="18" charset="0"/>
                <a:ea typeface="Cambria" panose="02040503050406030204" pitchFamily="18" charset="0"/>
                <a:cs typeface="Arial MT"/>
              </a:rPr>
              <a:t> </a:t>
            </a:r>
            <a:r>
              <a:rPr lang="en-US" sz="2000" kern="0" spc="-13" dirty="0">
                <a:solidFill>
                  <a:sysClr val="windowText" lastClr="000000"/>
                </a:solidFill>
                <a:latin typeface="Cambria" panose="02040503050406030204" pitchFamily="18" charset="0"/>
                <a:ea typeface="Cambria" panose="02040503050406030204" pitchFamily="18" charset="0"/>
                <a:cs typeface="Arial MT"/>
              </a:rPr>
              <a:t>dynamically</a:t>
            </a:r>
            <a:endParaRPr lang="en-US" sz="2000" kern="0" dirty="0">
              <a:solidFill>
                <a:sysClr val="windowText" lastClr="000000"/>
              </a:solidFill>
              <a:latin typeface="Cambria" panose="02040503050406030204" pitchFamily="18" charset="0"/>
              <a:ea typeface="Cambria" panose="02040503050406030204" pitchFamily="18" charset="0"/>
              <a:cs typeface="Arial MT"/>
            </a:endParaRPr>
          </a:p>
          <a:p>
            <a:pPr marL="1120121" lvl="1" indent="-342900">
              <a:lnSpc>
                <a:spcPct val="110000"/>
              </a:lnSpc>
              <a:buFont typeface="Arial" panose="020B0604020202020204" pitchFamily="34" charset="0"/>
              <a:buChar char="•"/>
              <a:tabLst>
                <a:tab pos="1235256" algn="l"/>
              </a:tabLst>
            </a:pPr>
            <a:r>
              <a:rPr lang="en-US" sz="2000" kern="0" dirty="0">
                <a:solidFill>
                  <a:sysClr val="windowText" lastClr="000000"/>
                </a:solidFill>
                <a:latin typeface="Cambria" panose="02040503050406030204" pitchFamily="18" charset="0"/>
                <a:ea typeface="Cambria" panose="02040503050406030204" pitchFamily="18" charset="0"/>
                <a:cs typeface="Arial MT"/>
              </a:rPr>
              <a:t>Frequent</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words</a:t>
            </a:r>
            <a:r>
              <a:rPr lang="en-US" sz="2000" kern="0" spc="60"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get</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spc="-27" dirty="0">
                <a:solidFill>
                  <a:sysClr val="windowText" lastClr="000000"/>
                </a:solidFill>
                <a:latin typeface="Cambria" panose="02040503050406030204" pitchFamily="18" charset="0"/>
                <a:ea typeface="Cambria" panose="02040503050406030204" pitchFamily="18" charset="0"/>
                <a:cs typeface="Arial MT"/>
              </a:rPr>
              <a:t>assigned</a:t>
            </a:r>
            <a:r>
              <a:rPr lang="en-US" sz="2000" kern="0" spc="60"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their</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own</a:t>
            </a:r>
            <a:r>
              <a:rPr lang="en-US" sz="2000" kern="0" spc="60" dirty="0">
                <a:solidFill>
                  <a:sysClr val="windowText" lastClr="000000"/>
                </a:solidFill>
                <a:latin typeface="Cambria" panose="02040503050406030204" pitchFamily="18" charset="0"/>
                <a:ea typeface="Cambria" panose="02040503050406030204" pitchFamily="18" charset="0"/>
                <a:cs typeface="Arial MT"/>
              </a:rPr>
              <a:t> </a:t>
            </a:r>
            <a:r>
              <a:rPr lang="en-US" sz="2000" kern="0" spc="-13" dirty="0">
                <a:solidFill>
                  <a:sysClr val="windowText" lastClr="000000"/>
                </a:solidFill>
                <a:latin typeface="Cambria" panose="02040503050406030204" pitchFamily="18" charset="0"/>
                <a:ea typeface="Cambria" panose="02040503050406030204" pitchFamily="18" charset="0"/>
                <a:cs typeface="Arial MT"/>
              </a:rPr>
              <a:t>tokens</a:t>
            </a:r>
            <a:endParaRPr lang="en-US" sz="2000" kern="0" dirty="0">
              <a:solidFill>
                <a:sysClr val="windowText" lastClr="000000"/>
              </a:solidFill>
              <a:latin typeface="Cambria" panose="02040503050406030204" pitchFamily="18" charset="0"/>
              <a:ea typeface="Cambria" panose="02040503050406030204" pitchFamily="18" charset="0"/>
              <a:cs typeface="Arial MT"/>
            </a:endParaRPr>
          </a:p>
          <a:p>
            <a:pPr marL="1120121" lvl="1" indent="-342900">
              <a:lnSpc>
                <a:spcPct val="110000"/>
              </a:lnSpc>
              <a:buFont typeface="Arial" panose="020B0604020202020204" pitchFamily="34" charset="0"/>
              <a:buChar char="•"/>
              <a:tabLst>
                <a:tab pos="1235256" algn="l"/>
              </a:tabLst>
            </a:pPr>
            <a:r>
              <a:rPr lang="en-US" sz="2000" kern="0" spc="-67" dirty="0">
                <a:solidFill>
                  <a:sysClr val="windowText" lastClr="000000"/>
                </a:solidFill>
                <a:latin typeface="Cambria" panose="02040503050406030204" pitchFamily="18" charset="0"/>
                <a:ea typeface="Cambria" panose="02040503050406030204" pitchFamily="18" charset="0"/>
                <a:cs typeface="Arial MT"/>
              </a:rPr>
              <a:t>Rare</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words</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are</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split</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into</a:t>
            </a:r>
            <a:r>
              <a:rPr lang="en-US" sz="2000" kern="0" spc="53" dirty="0">
                <a:solidFill>
                  <a:sysClr val="windowText" lastClr="000000"/>
                </a:solidFill>
                <a:latin typeface="Cambria" panose="02040503050406030204" pitchFamily="18" charset="0"/>
                <a:ea typeface="Cambria" panose="02040503050406030204" pitchFamily="18" charset="0"/>
                <a:cs typeface="Arial MT"/>
              </a:rPr>
              <a:t> </a:t>
            </a:r>
            <a:r>
              <a:rPr lang="en-US" sz="2000" kern="0" dirty="0">
                <a:solidFill>
                  <a:sysClr val="windowText" lastClr="000000"/>
                </a:solidFill>
                <a:latin typeface="Cambria" panose="02040503050406030204" pitchFamily="18" charset="0"/>
                <a:ea typeface="Cambria" panose="02040503050406030204" pitchFamily="18" charset="0"/>
                <a:cs typeface="Arial MT"/>
              </a:rPr>
              <a:t>sub-</a:t>
            </a:r>
            <a:r>
              <a:rPr lang="en-US" sz="2000" kern="0" spc="-13" dirty="0">
                <a:solidFill>
                  <a:sysClr val="windowText" lastClr="000000"/>
                </a:solidFill>
                <a:latin typeface="Cambria" panose="02040503050406030204" pitchFamily="18" charset="0"/>
                <a:ea typeface="Cambria" panose="02040503050406030204" pitchFamily="18" charset="0"/>
                <a:cs typeface="Arial MT"/>
              </a:rPr>
              <a:t>words</a:t>
            </a:r>
          </a:p>
          <a:p>
            <a:pPr marL="342900" indent="-342900">
              <a:lnSpc>
                <a:spcPct val="110000"/>
              </a:lnSpc>
              <a:buFont typeface="Arial" panose="020B0604020202020204" pitchFamily="34" charset="0"/>
              <a:buChar char="•"/>
              <a:tabLst>
                <a:tab pos="1235256" algn="l"/>
              </a:tabLst>
            </a:pPr>
            <a:r>
              <a:rPr lang="en-US" sz="2000" kern="0" dirty="0">
                <a:solidFill>
                  <a:sysClr val="windowText" lastClr="000000"/>
                </a:solidFill>
                <a:latin typeface="Cambria" panose="02040503050406030204" pitchFamily="18" charset="0"/>
                <a:ea typeface="Cambria" panose="02040503050406030204" pitchFamily="18" charset="0"/>
              </a:rPr>
              <a:t>Every tokenizer has two parts</a:t>
            </a:r>
          </a:p>
        </p:txBody>
      </p:sp>
    </p:spTree>
    <p:extLst>
      <p:ext uri="{BB962C8B-B14F-4D97-AF65-F5344CB8AC3E}">
        <p14:creationId xmlns:p14="http://schemas.microsoft.com/office/powerpoint/2010/main" val="313988105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Byte</a:t>
            </a:r>
            <a:r>
              <a:rPr lang="en-IN" spc="-240" dirty="0"/>
              <a:t> </a:t>
            </a:r>
            <a:r>
              <a:rPr lang="en-IN" spc="-13" dirty="0"/>
              <a:t>Pair</a:t>
            </a:r>
            <a:r>
              <a:rPr lang="en-IN" spc="-233" dirty="0"/>
              <a:t> </a:t>
            </a:r>
            <a:r>
              <a:rPr lang="en-IN" spc="-13" dirty="0"/>
              <a:t>Encoding</a:t>
            </a:r>
            <a:endParaRPr lang="en-IN" dirty="0"/>
          </a:p>
        </p:txBody>
      </p:sp>
      <p:sp>
        <p:nvSpPr>
          <p:cNvPr id="3" name="Content Placeholder 6"/>
          <p:cNvSpPr txBox="1">
            <a:spLocks/>
          </p:cNvSpPr>
          <p:nvPr/>
        </p:nvSpPr>
        <p:spPr>
          <a:xfrm>
            <a:off x="195073" y="1449662"/>
            <a:ext cx="11480800" cy="5134018"/>
          </a:xfrm>
          <a:prstGeom prst="rect">
            <a:avLst/>
          </a:prstGeom>
        </p:spPr>
        <p:txBody>
          <a:bodyPr>
            <a:no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spcAft>
                <a:spcPts val="500"/>
              </a:spcAft>
              <a:buSzPct val="100000"/>
              <a:buFont typeface="+mj-lt"/>
              <a:buAutoNum type="arabicPeriod"/>
            </a:pPr>
            <a:r>
              <a:rPr lang="en-US" sz="2000" dirty="0">
                <a:solidFill>
                  <a:srgbClr val="1A1A1A"/>
                </a:solidFill>
                <a:cs typeface="Calibri" pitchFamily="34" charset="-120"/>
              </a:rPr>
              <a:t>Pre-tokenize: split the corpus into words (rule-based)</a:t>
            </a:r>
            <a:endParaRPr lang="en-US" sz="2000" dirty="0"/>
          </a:p>
          <a:p>
            <a:pPr marL="457200" indent="-457200">
              <a:spcAft>
                <a:spcPts val="500"/>
              </a:spcAft>
              <a:buSzPct val="100000"/>
              <a:buFont typeface="+mj-lt"/>
              <a:buAutoNum type="arabicPeriod"/>
            </a:pPr>
            <a:r>
              <a:rPr lang="en-US" sz="2000" kern="0" dirty="0">
                <a:solidFill>
                  <a:sysClr val="windowText" lastClr="000000"/>
                </a:solidFill>
                <a:cs typeface="Arial MT"/>
              </a:rPr>
              <a:t>Construct</a:t>
            </a:r>
            <a:r>
              <a:rPr lang="en-US" sz="2000" kern="0" spc="67" dirty="0">
                <a:solidFill>
                  <a:sysClr val="windowText" lastClr="000000"/>
                </a:solidFill>
                <a:cs typeface="Arial MT"/>
              </a:rPr>
              <a:t> </a:t>
            </a:r>
            <a:r>
              <a:rPr lang="en-US" sz="2000" kern="0" dirty="0">
                <a:solidFill>
                  <a:sysClr val="windowText" lastClr="000000"/>
                </a:solidFill>
                <a:cs typeface="Arial MT"/>
              </a:rPr>
              <a:t>a</a:t>
            </a:r>
            <a:r>
              <a:rPr lang="en-US" sz="2000" kern="0" spc="67" dirty="0">
                <a:solidFill>
                  <a:sysClr val="windowText" lastClr="000000"/>
                </a:solidFill>
                <a:cs typeface="Arial MT"/>
              </a:rPr>
              <a:t> </a:t>
            </a:r>
            <a:r>
              <a:rPr lang="en-US" sz="2000" kern="0" dirty="0">
                <a:solidFill>
                  <a:sysClr val="windowText" lastClr="000000"/>
                </a:solidFill>
                <a:cs typeface="Arial MT"/>
              </a:rPr>
              <a:t>word</a:t>
            </a:r>
            <a:r>
              <a:rPr lang="en-US" sz="2000" kern="0" spc="67" dirty="0">
                <a:solidFill>
                  <a:sysClr val="windowText" lastClr="000000"/>
                </a:solidFill>
                <a:cs typeface="Arial MT"/>
              </a:rPr>
              <a:t> </a:t>
            </a:r>
            <a:r>
              <a:rPr lang="en-US" sz="2000" kern="0" dirty="0">
                <a:solidFill>
                  <a:sysClr val="windowText" lastClr="000000"/>
                </a:solidFill>
                <a:cs typeface="Arial MT"/>
              </a:rPr>
              <a:t>dictionary</a:t>
            </a:r>
            <a:r>
              <a:rPr lang="en-US" sz="2000" kern="0" spc="67" dirty="0">
                <a:solidFill>
                  <a:sysClr val="windowText" lastClr="000000"/>
                </a:solidFill>
                <a:cs typeface="Arial MT"/>
              </a:rPr>
              <a:t> </a:t>
            </a:r>
            <a:r>
              <a:rPr lang="en-US" sz="2000" kern="0" dirty="0">
                <a:solidFill>
                  <a:sysClr val="windowText" lastClr="000000"/>
                </a:solidFill>
                <a:cs typeface="Arial MT"/>
              </a:rPr>
              <a:t>with</a:t>
            </a:r>
            <a:r>
              <a:rPr lang="en-US" sz="2000" kern="0" spc="67" dirty="0">
                <a:solidFill>
                  <a:sysClr val="windowText" lastClr="000000"/>
                </a:solidFill>
                <a:cs typeface="Arial MT"/>
              </a:rPr>
              <a:t> </a:t>
            </a:r>
            <a:r>
              <a:rPr lang="en-US" sz="2000" kern="0" dirty="0">
                <a:solidFill>
                  <a:sysClr val="windowText" lastClr="000000"/>
                </a:solidFill>
                <a:cs typeface="Arial MT"/>
              </a:rPr>
              <a:t>frequency</a:t>
            </a:r>
            <a:r>
              <a:rPr lang="en-US" sz="2000" kern="0" spc="67" dirty="0">
                <a:solidFill>
                  <a:sysClr val="windowText" lastClr="000000"/>
                </a:solidFill>
                <a:cs typeface="Arial MT"/>
              </a:rPr>
              <a:t> </a:t>
            </a:r>
            <a:r>
              <a:rPr lang="en-US" sz="2000" kern="0" spc="-13" dirty="0">
                <a:solidFill>
                  <a:sysClr val="windowText" lastClr="000000"/>
                </a:solidFill>
                <a:cs typeface="Arial MT"/>
              </a:rPr>
              <a:t>counts :                                                                                                   	</a:t>
            </a:r>
            <a:r>
              <a:rPr lang="en-US" sz="2000" kern="0" dirty="0">
                <a:solidFill>
                  <a:srgbClr val="C41230"/>
                </a:solidFill>
                <a:cs typeface="Courier New"/>
              </a:rPr>
              <a:t>("hug",</a:t>
            </a:r>
            <a:r>
              <a:rPr lang="en-US" sz="2000" kern="0" spc="-40" dirty="0">
                <a:solidFill>
                  <a:srgbClr val="C41230"/>
                </a:solidFill>
                <a:cs typeface="Courier New"/>
              </a:rPr>
              <a:t> </a:t>
            </a:r>
            <a:r>
              <a:rPr lang="en-US" sz="2000" kern="0" dirty="0">
                <a:solidFill>
                  <a:srgbClr val="C41230"/>
                </a:solidFill>
                <a:cs typeface="Courier New"/>
              </a:rPr>
              <a:t>10),</a:t>
            </a:r>
            <a:r>
              <a:rPr lang="en-US" sz="2000" kern="0" spc="-40" dirty="0">
                <a:solidFill>
                  <a:srgbClr val="C41230"/>
                </a:solidFill>
                <a:cs typeface="Courier New"/>
              </a:rPr>
              <a:t> </a:t>
            </a:r>
            <a:r>
              <a:rPr lang="en-US" sz="2000" kern="0" dirty="0">
                <a:solidFill>
                  <a:srgbClr val="C41230"/>
                </a:solidFill>
                <a:cs typeface="Courier New"/>
              </a:rPr>
              <a:t>("pug",</a:t>
            </a:r>
            <a:r>
              <a:rPr lang="en-US" sz="2000" kern="0" spc="-33" dirty="0">
                <a:solidFill>
                  <a:srgbClr val="C41230"/>
                </a:solidFill>
                <a:cs typeface="Courier New"/>
              </a:rPr>
              <a:t> </a:t>
            </a:r>
            <a:r>
              <a:rPr lang="en-US" sz="2000" kern="0" dirty="0">
                <a:solidFill>
                  <a:srgbClr val="C41230"/>
                </a:solidFill>
                <a:cs typeface="Courier New"/>
              </a:rPr>
              <a:t>5),</a:t>
            </a:r>
            <a:r>
              <a:rPr lang="en-US" sz="2000" kern="0" spc="-40" dirty="0">
                <a:solidFill>
                  <a:srgbClr val="C41230"/>
                </a:solidFill>
                <a:cs typeface="Courier New"/>
              </a:rPr>
              <a:t> </a:t>
            </a:r>
            <a:r>
              <a:rPr lang="en-US" sz="2000" kern="0" dirty="0">
                <a:solidFill>
                  <a:srgbClr val="C41230"/>
                </a:solidFill>
                <a:cs typeface="Courier New"/>
              </a:rPr>
              <a:t>("pun",</a:t>
            </a:r>
            <a:r>
              <a:rPr lang="en-US" sz="2000" kern="0" spc="-33" dirty="0">
                <a:solidFill>
                  <a:srgbClr val="C41230"/>
                </a:solidFill>
                <a:cs typeface="Courier New"/>
              </a:rPr>
              <a:t> </a:t>
            </a:r>
            <a:r>
              <a:rPr lang="en-US" sz="2000" kern="0" dirty="0">
                <a:solidFill>
                  <a:srgbClr val="C41230"/>
                </a:solidFill>
                <a:cs typeface="Courier New"/>
              </a:rPr>
              <a:t>12),</a:t>
            </a:r>
            <a:r>
              <a:rPr lang="en-US" sz="2000" kern="0" spc="-40" dirty="0">
                <a:solidFill>
                  <a:srgbClr val="C41230"/>
                </a:solidFill>
                <a:cs typeface="Courier New"/>
              </a:rPr>
              <a:t> </a:t>
            </a:r>
            <a:r>
              <a:rPr lang="en-US" sz="2000" kern="0" dirty="0">
                <a:solidFill>
                  <a:srgbClr val="C41230"/>
                </a:solidFill>
                <a:cs typeface="Courier New"/>
              </a:rPr>
              <a:t>("bun",</a:t>
            </a:r>
            <a:r>
              <a:rPr lang="en-US" sz="2000" kern="0" spc="-33" dirty="0">
                <a:solidFill>
                  <a:srgbClr val="C41230"/>
                </a:solidFill>
                <a:cs typeface="Courier New"/>
              </a:rPr>
              <a:t> </a:t>
            </a:r>
            <a:r>
              <a:rPr lang="en-US" sz="2000" kern="0" dirty="0">
                <a:solidFill>
                  <a:srgbClr val="C41230"/>
                </a:solidFill>
                <a:cs typeface="Courier New"/>
              </a:rPr>
              <a:t>4),</a:t>
            </a:r>
            <a:r>
              <a:rPr lang="en-US" sz="2000" kern="0" spc="-40" dirty="0">
                <a:solidFill>
                  <a:srgbClr val="C41230"/>
                </a:solidFill>
                <a:cs typeface="Courier New"/>
              </a:rPr>
              <a:t> </a:t>
            </a:r>
            <a:r>
              <a:rPr lang="en-US" sz="2000" kern="0" dirty="0">
                <a:solidFill>
                  <a:srgbClr val="C41230"/>
                </a:solidFill>
                <a:cs typeface="Courier New"/>
              </a:rPr>
              <a:t>("hugs",</a:t>
            </a:r>
            <a:r>
              <a:rPr lang="en-US" sz="2000" kern="0" spc="-33" dirty="0">
                <a:solidFill>
                  <a:srgbClr val="C41230"/>
                </a:solidFill>
                <a:cs typeface="Courier New"/>
              </a:rPr>
              <a:t> 5)</a:t>
            </a:r>
            <a:endParaRPr lang="en-US" sz="2000" kern="0" dirty="0">
              <a:solidFill>
                <a:sysClr val="windowText" lastClr="000000"/>
              </a:solidFill>
              <a:cs typeface="Courier New"/>
            </a:endParaRPr>
          </a:p>
          <a:p>
            <a:pPr marL="457200" indent="-457200">
              <a:spcAft>
                <a:spcPts val="500"/>
              </a:spcAft>
              <a:buSzPct val="100000"/>
              <a:buFont typeface="+mj-lt"/>
              <a:buAutoNum type="arabicPeriod"/>
            </a:pPr>
            <a:r>
              <a:rPr lang="en-US" sz="2000" dirty="0">
                <a:solidFill>
                  <a:srgbClr val="1A1A1A"/>
                </a:solidFill>
                <a:cs typeface="Calibri" pitchFamily="34" charset="-120"/>
              </a:rPr>
              <a:t>Start from single characters; count adjacent pairs</a:t>
            </a:r>
            <a:endParaRPr lang="en-US" sz="2000" dirty="0"/>
          </a:p>
          <a:p>
            <a:pPr marL="457200" indent="-457200">
              <a:spcAft>
                <a:spcPts val="500"/>
              </a:spcAft>
              <a:buSzPct val="100000"/>
              <a:buFont typeface="+mj-lt"/>
              <a:buAutoNum type="arabicPeriod"/>
            </a:pPr>
            <a:r>
              <a:rPr lang="en-US" sz="2000" dirty="0">
                <a:solidFill>
                  <a:srgbClr val="1A1A1A"/>
                </a:solidFill>
                <a:cs typeface="Calibri" pitchFamily="34" charset="-120"/>
              </a:rPr>
              <a:t>Merge the most frequent pair into a new token</a:t>
            </a:r>
            <a:endParaRPr lang="en-US" sz="2000" dirty="0"/>
          </a:p>
          <a:p>
            <a:pPr marL="457200" indent="-457200">
              <a:spcAft>
                <a:spcPts val="500"/>
              </a:spcAft>
              <a:buSzPct val="100000"/>
              <a:buFont typeface="+mj-lt"/>
              <a:buAutoNum type="arabicPeriod"/>
            </a:pPr>
            <a:r>
              <a:rPr lang="en-US" sz="2000" dirty="0">
                <a:solidFill>
                  <a:srgbClr val="1A1A1A"/>
                </a:solidFill>
                <a:cs typeface="Calibri" pitchFamily="34" charset="-120"/>
              </a:rPr>
              <a:t>Repeat 3–4 until the target vocab size</a:t>
            </a:r>
            <a:endParaRPr lang="en-US" sz="2000" dirty="0"/>
          </a:p>
          <a:p>
            <a:pPr marL="458891" marR="132077" indent="-342900">
              <a:lnSpc>
                <a:spcPct val="114999"/>
              </a:lnSpc>
              <a:buFont typeface="Arial" panose="020B0604020202020204" pitchFamily="34" charset="0"/>
              <a:buChar char="•"/>
              <a:tabLst>
                <a:tab pos="626518" algn="l"/>
              </a:tabLst>
            </a:pPr>
            <a:endParaRPr lang="en-US" sz="2000" kern="0" spc="-27" dirty="0">
              <a:solidFill>
                <a:sysClr val="windowText" lastClr="000000"/>
              </a:solidFill>
              <a:cs typeface="Arial MT"/>
            </a:endParaRPr>
          </a:p>
          <a:p>
            <a:pPr marL="342900" indent="-342900">
              <a:buFont typeface="Arial" panose="020B0604020202020204" pitchFamily="34" charset="0"/>
              <a:buChar char="•"/>
            </a:pPr>
            <a:r>
              <a:rPr lang="en-IN" sz="2000" b="1" dirty="0"/>
              <a:t>Find the most frequent adjacent pair</a:t>
            </a:r>
            <a:r>
              <a:rPr lang="en-IN" sz="2000" dirty="0"/>
              <a:t> across all words, weighted by word frequency:</a:t>
            </a:r>
            <a:br>
              <a:rPr lang="en-IN" sz="2000" dirty="0"/>
            </a:br>
            <a:r>
              <a:rPr lang="en-IN" sz="2000" dirty="0"/>
              <a:t>(“</a:t>
            </a:r>
            <a:r>
              <a:rPr lang="en-IN" sz="2000" dirty="0" err="1"/>
              <a:t>u”,”g</a:t>
            </a:r>
            <a:r>
              <a:rPr lang="en-IN" sz="2000" dirty="0"/>
              <a:t>”) → hug 10 + pug 5 + hugs 5 = </a:t>
            </a:r>
            <a:r>
              <a:rPr lang="en-IN" sz="2000" b="1" dirty="0"/>
              <a:t>20</a:t>
            </a:r>
            <a:br>
              <a:rPr lang="en-IN" sz="2000" dirty="0"/>
            </a:br>
            <a:r>
              <a:rPr lang="en-IN" sz="2000" dirty="0"/>
              <a:t>(“</a:t>
            </a:r>
            <a:r>
              <a:rPr lang="en-IN" sz="2000" dirty="0" err="1"/>
              <a:t>p”,”u</a:t>
            </a:r>
            <a:r>
              <a:rPr lang="en-IN" sz="2000" dirty="0"/>
              <a:t>”) → pug 5 + pun 12 = </a:t>
            </a:r>
            <a:r>
              <a:rPr lang="en-IN" sz="2000" b="1" dirty="0"/>
              <a:t>17</a:t>
            </a:r>
            <a:br>
              <a:rPr lang="en-IN" sz="2000" dirty="0"/>
            </a:br>
            <a:r>
              <a:rPr lang="en-IN" sz="2000" dirty="0"/>
              <a:t>(“</a:t>
            </a:r>
            <a:r>
              <a:rPr lang="en-IN" sz="2000" dirty="0" err="1"/>
              <a:t>u”,”n</a:t>
            </a:r>
            <a:r>
              <a:rPr lang="en-IN" sz="2000" dirty="0"/>
              <a:t>”) → pun 12 + bun 4 = </a:t>
            </a:r>
            <a:r>
              <a:rPr lang="en-IN" sz="2000" b="1" dirty="0"/>
              <a:t>16</a:t>
            </a:r>
            <a:br>
              <a:rPr lang="en-IN" sz="2000" dirty="0"/>
            </a:br>
            <a:r>
              <a:rPr lang="en-IN" sz="2000" dirty="0"/>
              <a:t>(“</a:t>
            </a:r>
            <a:r>
              <a:rPr lang="en-IN" sz="2000" dirty="0" err="1"/>
              <a:t>h”,”u</a:t>
            </a:r>
            <a:r>
              <a:rPr lang="en-IN" sz="2000" dirty="0"/>
              <a:t>”) → hug 10 + hugs 5 = </a:t>
            </a:r>
            <a:r>
              <a:rPr lang="en-IN" sz="2000" b="1" dirty="0"/>
              <a:t>15</a:t>
            </a:r>
            <a:endParaRPr lang="en-IN" sz="2000" dirty="0"/>
          </a:p>
          <a:p>
            <a:pPr marL="342900" indent="-342900">
              <a:buFont typeface="Arial" panose="020B0604020202020204" pitchFamily="34" charset="0"/>
              <a:buChar char="•"/>
            </a:pPr>
            <a:r>
              <a:rPr lang="en-IN" sz="2000" b="1" dirty="0"/>
              <a:t>Merge the winner:</a:t>
            </a:r>
            <a:r>
              <a:rPr lang="en-IN" sz="2000" dirty="0"/>
              <a:t> (“</a:t>
            </a:r>
            <a:r>
              <a:rPr lang="en-IN" sz="2000" dirty="0" err="1"/>
              <a:t>u”,”g</a:t>
            </a:r>
            <a:r>
              <a:rPr lang="en-IN" sz="2000" dirty="0"/>
              <a:t>”) → new token </a:t>
            </a:r>
            <a:r>
              <a:rPr lang="en-IN" sz="2000" b="1" dirty="0"/>
              <a:t>“ug”</a:t>
            </a:r>
            <a:r>
              <a:rPr lang="en-IN" sz="2000" dirty="0"/>
              <a:t>, added to the vocabulary: </a:t>
            </a:r>
            <a:r>
              <a:rPr lang="en-IN" sz="2000" dirty="0">
                <a:highlight>
                  <a:srgbClr val="FFFF00"/>
                </a:highlight>
              </a:rPr>
              <a:t>[b, g, h, n, p, s, u, </a:t>
            </a:r>
            <a:r>
              <a:rPr lang="en-IN" sz="2000" b="1" dirty="0">
                <a:highlight>
                  <a:srgbClr val="FFFF00"/>
                </a:highlight>
              </a:rPr>
              <a:t>ug</a:t>
            </a:r>
            <a:r>
              <a:rPr lang="en-IN" sz="2000" dirty="0">
                <a:highlight>
                  <a:srgbClr val="FFFF00"/>
                </a:highlight>
              </a:rPr>
              <a:t>]</a:t>
            </a:r>
          </a:p>
          <a:p>
            <a:pPr marL="342900" indent="-342900">
              <a:buFont typeface="Arial" panose="020B0604020202020204" pitchFamily="34" charset="0"/>
              <a:buChar char="•"/>
            </a:pPr>
            <a:r>
              <a:rPr lang="en-IN" sz="2000" b="1" dirty="0"/>
              <a:t>Repeat</a:t>
            </a:r>
            <a:r>
              <a:rPr lang="en-IN" sz="2000" dirty="0"/>
              <a:t> on the updated corpus until the vocabulary reaches the target size</a:t>
            </a:r>
          </a:p>
          <a:p>
            <a:pPr marL="342900" indent="-342900" eaLnBrk="0" fontAlgn="base" hangingPunct="0">
              <a:spcBef>
                <a:spcPct val="0"/>
              </a:spcBef>
              <a:spcAft>
                <a:spcPct val="0"/>
              </a:spcAft>
              <a:buFont typeface="Arial" panose="020B0604020202020204" pitchFamily="34" charset="0"/>
              <a:buChar char="•"/>
            </a:pPr>
            <a:endParaRPr lang="en-US" altLang="en-US" sz="2000" kern="0" dirty="0"/>
          </a:p>
          <a:p>
            <a:pPr marL="342900" indent="-342900" eaLnBrk="0" fontAlgn="base" hangingPunct="0">
              <a:spcBef>
                <a:spcPct val="0"/>
              </a:spcBef>
              <a:spcAft>
                <a:spcPct val="0"/>
              </a:spcAft>
              <a:buFont typeface="Arial" panose="020B0604020202020204" pitchFamily="34" charset="0"/>
              <a:buChar char="•"/>
            </a:pPr>
            <a:endParaRPr lang="en-US" altLang="en-US" sz="2000" kern="0" dirty="0"/>
          </a:p>
          <a:p>
            <a:pPr marL="342900" indent="-342900" eaLnBrk="0" fontAlgn="base" hangingPunct="0">
              <a:spcBef>
                <a:spcPct val="0"/>
              </a:spcBef>
              <a:spcAft>
                <a:spcPct val="0"/>
              </a:spcAft>
              <a:buFont typeface="Arial" panose="020B0604020202020204" pitchFamily="34" charset="0"/>
              <a:buChar char="•"/>
            </a:pPr>
            <a:endParaRPr lang="en-US" altLang="en-US" sz="2000" kern="0" dirty="0"/>
          </a:p>
          <a:p>
            <a:pPr marL="342900" indent="-342900" eaLnBrk="0" fontAlgn="base" hangingPunct="0">
              <a:spcBef>
                <a:spcPct val="0"/>
              </a:spcBef>
              <a:spcAft>
                <a:spcPct val="0"/>
              </a:spcAft>
              <a:buFont typeface="Arial" panose="020B0604020202020204" pitchFamily="34" charset="0"/>
              <a:buChar char="•"/>
            </a:pPr>
            <a:endParaRPr lang="en-US" altLang="en-US" sz="2000" kern="0" dirty="0"/>
          </a:p>
          <a:p>
            <a:pPr marL="342900" indent="-342900" eaLnBrk="0" fontAlgn="base" hangingPunct="0">
              <a:spcBef>
                <a:spcPct val="0"/>
              </a:spcBef>
              <a:spcAft>
                <a:spcPct val="0"/>
              </a:spcAft>
              <a:buFont typeface="Arial" panose="020B0604020202020204" pitchFamily="34" charset="0"/>
              <a:buChar char="•"/>
            </a:pPr>
            <a:endParaRPr lang="en-US" altLang="en-US" sz="2000" kern="0" dirty="0"/>
          </a:p>
          <a:p>
            <a:pPr marL="458891" marR="132077" indent="-342900">
              <a:lnSpc>
                <a:spcPct val="114999"/>
              </a:lnSpc>
              <a:buFont typeface="Arial" panose="020B0604020202020204" pitchFamily="34" charset="0"/>
              <a:buChar char="•"/>
              <a:tabLst>
                <a:tab pos="626518" algn="l"/>
              </a:tabLst>
            </a:pPr>
            <a:endParaRPr lang="en-US" sz="2000" kern="0" dirty="0">
              <a:solidFill>
                <a:sysClr val="windowText" lastClr="000000"/>
              </a:solidFill>
              <a:cs typeface="Arial MT"/>
            </a:endParaRPr>
          </a:p>
          <a:p>
            <a:pPr marL="342900" indent="-342900">
              <a:buFont typeface="Arial" panose="020B0604020202020204" pitchFamily="34" charset="0"/>
              <a:buChar char="•"/>
            </a:pPr>
            <a:endParaRPr lang="en-IN" sz="2000" kern="0" dirty="0">
              <a:solidFill>
                <a:sysClr val="windowText" lastClr="000000"/>
              </a:solidFill>
            </a:endParaRPr>
          </a:p>
        </p:txBody>
      </p:sp>
    </p:spTree>
    <p:extLst>
      <p:ext uri="{BB962C8B-B14F-4D97-AF65-F5344CB8AC3E}">
        <p14:creationId xmlns:p14="http://schemas.microsoft.com/office/powerpoint/2010/main" val="17470863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5"/>
          <p:cNvSpPr txBox="1">
            <a:spLocks/>
          </p:cNvSpPr>
          <p:nvPr/>
        </p:nvSpPr>
        <p:spPr>
          <a:xfrm>
            <a:off x="304800" y="1545224"/>
            <a:ext cx="114808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endParaRPr lang="en-IN" sz="2000" kern="0" dirty="0">
              <a:solidFill>
                <a:sysClr val="windowText" lastClr="000000"/>
              </a:solidFill>
            </a:endParaRPr>
          </a:p>
        </p:txBody>
      </p:sp>
      <p:sp>
        <p:nvSpPr>
          <p:cNvPr id="4" name="Title 4"/>
          <p:cNvSpPr txBox="1">
            <a:spLocks/>
          </p:cNvSpPr>
          <p:nvPr/>
        </p:nvSpPr>
        <p:spPr>
          <a:xfrm>
            <a:off x="304801" y="0"/>
            <a:ext cx="10881209" cy="1219200"/>
          </a:xfrm>
          <a:prstGeom prst="rect">
            <a:avLst/>
          </a:prstGeom>
        </p:spPr>
        <p:txBody>
          <a:bodyPr/>
          <a:lstStyle>
            <a:lvl1pPr>
              <a:defRPr sz="3600">
                <a:latin typeface="Cambria" panose="02040503050406030204" pitchFamily="18" charset="0"/>
                <a:ea typeface="Cambria" panose="02040503050406030204" pitchFamily="18" charset="0"/>
                <a:cs typeface="+mj-cs"/>
              </a:defRPr>
            </a:lvl1pPr>
          </a:lstStyle>
          <a:p>
            <a:r>
              <a:rPr lang="en-IN" kern="0" dirty="0">
                <a:solidFill>
                  <a:sysClr val="windowText" lastClr="000000"/>
                </a:solidFill>
              </a:rPr>
              <a:t>Byte</a:t>
            </a:r>
            <a:r>
              <a:rPr lang="en-IN" kern="0" spc="-240" dirty="0">
                <a:solidFill>
                  <a:sysClr val="windowText" lastClr="000000"/>
                </a:solidFill>
              </a:rPr>
              <a:t> </a:t>
            </a:r>
            <a:r>
              <a:rPr lang="en-IN" kern="0" spc="-13" dirty="0">
                <a:solidFill>
                  <a:sysClr val="windowText" lastClr="000000"/>
                </a:solidFill>
              </a:rPr>
              <a:t>Pair</a:t>
            </a:r>
            <a:r>
              <a:rPr lang="en-IN" kern="0" spc="-233" dirty="0">
                <a:solidFill>
                  <a:sysClr val="windowText" lastClr="000000"/>
                </a:solidFill>
              </a:rPr>
              <a:t> </a:t>
            </a:r>
            <a:r>
              <a:rPr lang="en-IN" kern="0" spc="-13" dirty="0">
                <a:solidFill>
                  <a:sysClr val="windowText" lastClr="000000"/>
                </a:solidFill>
              </a:rPr>
              <a:t>Encoding</a:t>
            </a:r>
            <a:endParaRPr lang="en-IN" kern="0" dirty="0">
              <a:solidFill>
                <a:sysClr val="windowText" lastClr="000000"/>
              </a:solidFill>
            </a:endParaRPr>
          </a:p>
        </p:txBody>
      </p:sp>
      <p:graphicFrame>
        <p:nvGraphicFramePr>
          <p:cNvPr id="6" name="object 4">
            <a:extLst>
              <a:ext uri="{FF2B5EF4-FFF2-40B4-BE49-F238E27FC236}">
                <a16:creationId xmlns:a16="http://schemas.microsoft.com/office/drawing/2014/main" id="{F4C1537A-52EC-39E0-319D-CEBAC383F6FB}"/>
              </a:ext>
            </a:extLst>
          </p:cNvPr>
          <p:cNvGraphicFramePr>
            <a:graphicFrameLocks noGrp="1"/>
          </p:cNvGraphicFramePr>
          <p:nvPr/>
        </p:nvGraphicFramePr>
        <p:xfrm>
          <a:off x="304800" y="1289193"/>
          <a:ext cx="12012168" cy="3191368"/>
        </p:xfrm>
        <a:graphic>
          <a:graphicData uri="http://schemas.openxmlformats.org/drawingml/2006/table">
            <a:tbl>
              <a:tblPr firstRow="1" bandRow="1">
                <a:tableStyleId>{2D5ABB26-0587-4C30-8999-92F81FD0307C}</a:tableStyleId>
              </a:tblPr>
              <a:tblGrid>
                <a:gridCol w="1044657">
                  <a:extLst>
                    <a:ext uri="{9D8B030D-6E8A-4147-A177-3AD203B41FA5}">
                      <a16:colId xmlns:a16="http://schemas.microsoft.com/office/drawing/2014/main" val="20000"/>
                    </a:ext>
                  </a:extLst>
                </a:gridCol>
                <a:gridCol w="3780327">
                  <a:extLst>
                    <a:ext uri="{9D8B030D-6E8A-4147-A177-3AD203B41FA5}">
                      <a16:colId xmlns:a16="http://schemas.microsoft.com/office/drawing/2014/main" val="20001"/>
                    </a:ext>
                  </a:extLst>
                </a:gridCol>
                <a:gridCol w="7187184">
                  <a:extLst>
                    <a:ext uri="{9D8B030D-6E8A-4147-A177-3AD203B41FA5}">
                      <a16:colId xmlns:a16="http://schemas.microsoft.com/office/drawing/2014/main" val="20002"/>
                    </a:ext>
                  </a:extLst>
                </a:gridCol>
              </a:tblGrid>
              <a:tr h="375670">
                <a:tc>
                  <a:txBody>
                    <a:bodyPr/>
                    <a:lstStyle/>
                    <a:p>
                      <a:pPr marL="85725">
                        <a:lnSpc>
                          <a:spcPct val="100000"/>
                        </a:lnSpc>
                        <a:spcBef>
                          <a:spcPts val="260"/>
                        </a:spcBef>
                      </a:pPr>
                      <a:r>
                        <a:rPr sz="2000" spc="-10" dirty="0">
                          <a:solidFill>
                            <a:srgbClr val="FFFFFF"/>
                          </a:solidFill>
                          <a:latin typeface="Cambria" panose="02040503050406030204" pitchFamily="18" charset="0"/>
                          <a:ea typeface="Cambria" panose="02040503050406030204" pitchFamily="18" charset="0"/>
                          <a:cs typeface="Arial MT"/>
                        </a:rPr>
                        <a:t>Iteration</a:t>
                      </a:r>
                      <a:endParaRPr sz="2000">
                        <a:latin typeface="Cambria" panose="02040503050406030204" pitchFamily="18" charset="0"/>
                        <a:ea typeface="Cambria" panose="02040503050406030204" pitchFamily="18" charset="0"/>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1230"/>
                    </a:solidFill>
                  </a:tcPr>
                </a:tc>
                <a:tc>
                  <a:txBody>
                    <a:bodyPr/>
                    <a:lstStyle/>
                    <a:p>
                      <a:pPr marL="85725">
                        <a:lnSpc>
                          <a:spcPct val="100000"/>
                        </a:lnSpc>
                        <a:spcBef>
                          <a:spcPts val="260"/>
                        </a:spcBef>
                      </a:pPr>
                      <a:r>
                        <a:rPr sz="2000" dirty="0">
                          <a:solidFill>
                            <a:srgbClr val="FFFFFF"/>
                          </a:solidFill>
                          <a:latin typeface="Cambria" panose="02040503050406030204" pitchFamily="18" charset="0"/>
                          <a:ea typeface="Cambria" panose="02040503050406030204" pitchFamily="18" charset="0"/>
                          <a:cs typeface="Arial MT"/>
                        </a:rPr>
                        <a:t>Current</a:t>
                      </a:r>
                      <a:r>
                        <a:rPr sz="2000" spc="215" dirty="0">
                          <a:solidFill>
                            <a:srgbClr val="FFFFFF"/>
                          </a:solidFill>
                          <a:latin typeface="Cambria" panose="02040503050406030204" pitchFamily="18" charset="0"/>
                          <a:ea typeface="Cambria" panose="02040503050406030204" pitchFamily="18" charset="0"/>
                          <a:cs typeface="Arial MT"/>
                        </a:rPr>
                        <a:t> </a:t>
                      </a:r>
                      <a:r>
                        <a:rPr sz="2000" spc="-10" dirty="0">
                          <a:solidFill>
                            <a:srgbClr val="FFFFFF"/>
                          </a:solidFill>
                          <a:latin typeface="Cambria" panose="02040503050406030204" pitchFamily="18" charset="0"/>
                          <a:ea typeface="Cambria" panose="02040503050406030204" pitchFamily="18" charset="0"/>
                          <a:cs typeface="Arial MT"/>
                        </a:rPr>
                        <a:t>Vocab</a:t>
                      </a:r>
                      <a:endParaRPr sz="2000">
                        <a:latin typeface="Cambria" panose="02040503050406030204" pitchFamily="18" charset="0"/>
                        <a:ea typeface="Cambria" panose="02040503050406030204" pitchFamily="18" charset="0"/>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1230"/>
                    </a:solidFill>
                  </a:tcPr>
                </a:tc>
                <a:tc>
                  <a:txBody>
                    <a:bodyPr/>
                    <a:lstStyle/>
                    <a:p>
                      <a:pPr marL="85725">
                        <a:lnSpc>
                          <a:spcPct val="100000"/>
                        </a:lnSpc>
                        <a:spcBef>
                          <a:spcPts val="260"/>
                        </a:spcBef>
                      </a:pPr>
                      <a:r>
                        <a:rPr sz="2000" dirty="0">
                          <a:solidFill>
                            <a:srgbClr val="FFFFFF"/>
                          </a:solidFill>
                          <a:latin typeface="Cambria" panose="02040503050406030204" pitchFamily="18" charset="0"/>
                          <a:ea typeface="Cambria" panose="02040503050406030204" pitchFamily="18" charset="0"/>
                          <a:cs typeface="Arial MT"/>
                        </a:rPr>
                        <a:t>Tokenization</a:t>
                      </a:r>
                      <a:r>
                        <a:rPr sz="2000" spc="90" dirty="0">
                          <a:solidFill>
                            <a:srgbClr val="FFFFFF"/>
                          </a:solidFill>
                          <a:latin typeface="Cambria" panose="02040503050406030204" pitchFamily="18" charset="0"/>
                          <a:ea typeface="Cambria" panose="02040503050406030204" pitchFamily="18" charset="0"/>
                          <a:cs typeface="Arial MT"/>
                        </a:rPr>
                        <a:t> </a:t>
                      </a:r>
                      <a:r>
                        <a:rPr sz="2000" spc="50" dirty="0">
                          <a:solidFill>
                            <a:srgbClr val="FFFFFF"/>
                          </a:solidFill>
                          <a:latin typeface="Cambria" panose="02040503050406030204" pitchFamily="18" charset="0"/>
                          <a:ea typeface="Cambria" panose="02040503050406030204" pitchFamily="18" charset="0"/>
                          <a:cs typeface="Arial MT"/>
                        </a:rPr>
                        <a:t>of</a:t>
                      </a:r>
                      <a:r>
                        <a:rPr sz="2000" spc="95" dirty="0">
                          <a:solidFill>
                            <a:srgbClr val="FFFFFF"/>
                          </a:solidFill>
                          <a:latin typeface="Cambria" panose="02040503050406030204" pitchFamily="18" charset="0"/>
                          <a:ea typeface="Cambria" panose="02040503050406030204" pitchFamily="18" charset="0"/>
                          <a:cs typeface="Arial MT"/>
                        </a:rPr>
                        <a:t> </a:t>
                      </a:r>
                      <a:r>
                        <a:rPr sz="2000" spc="-10" dirty="0">
                          <a:solidFill>
                            <a:srgbClr val="FFFFFF"/>
                          </a:solidFill>
                          <a:latin typeface="Cambria" panose="02040503050406030204" pitchFamily="18" charset="0"/>
                          <a:ea typeface="Cambria" panose="02040503050406030204" pitchFamily="18" charset="0"/>
                          <a:cs typeface="Arial MT"/>
                        </a:rPr>
                        <a:t>Words</a:t>
                      </a:r>
                      <a:endParaRPr sz="2000">
                        <a:latin typeface="Cambria" panose="02040503050406030204" pitchFamily="18" charset="0"/>
                        <a:ea typeface="Cambria" panose="02040503050406030204" pitchFamily="18" charset="0"/>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1230"/>
                    </a:solidFill>
                  </a:tcPr>
                </a:tc>
                <a:extLst>
                  <a:ext uri="{0D108BD9-81ED-4DB2-BD59-A6C34878D82A}">
                    <a16:rowId xmlns:a16="http://schemas.microsoft.com/office/drawing/2014/main" val="10000"/>
                  </a:ext>
                </a:extLst>
              </a:tr>
              <a:tr h="703925">
                <a:tc>
                  <a:txBody>
                    <a:bodyPr/>
                    <a:lstStyle/>
                    <a:p>
                      <a:pPr marL="85725">
                        <a:lnSpc>
                          <a:spcPct val="100000"/>
                        </a:lnSpc>
                        <a:spcBef>
                          <a:spcPts val="260"/>
                        </a:spcBef>
                      </a:pPr>
                      <a:r>
                        <a:rPr sz="2000" spc="-50" dirty="0">
                          <a:solidFill>
                            <a:schemeClr val="tx1"/>
                          </a:solidFill>
                          <a:latin typeface="Cambria" panose="02040503050406030204" pitchFamily="18" charset="0"/>
                          <a:ea typeface="Cambria" panose="02040503050406030204" pitchFamily="18" charset="0"/>
                          <a:cs typeface="Arial MT"/>
                        </a:rPr>
                        <a:t>1</a:t>
                      </a:r>
                      <a:endParaRPr sz="2000" dirty="0">
                        <a:solidFill>
                          <a:schemeClr val="tx1"/>
                        </a:solidFill>
                        <a:latin typeface="Cambria" panose="02040503050406030204" pitchFamily="18" charset="0"/>
                        <a:ea typeface="Cambria" panose="02040503050406030204" pitchFamily="18" charset="0"/>
                        <a:cs typeface="Arial MT"/>
                      </a:endParaRPr>
                    </a:p>
                  </a:txBody>
                  <a:tcPr marL="0" marR="0" marT="4402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7"/>
                    </a:solidFill>
                  </a:tcPr>
                </a:tc>
                <a:tc>
                  <a:txBody>
                    <a:bodyPr/>
                    <a:lstStyle/>
                    <a:p>
                      <a:pPr marL="85725">
                        <a:lnSpc>
                          <a:spcPct val="100000"/>
                        </a:lnSpc>
                        <a:spcBef>
                          <a:spcPts val="260"/>
                        </a:spcBef>
                      </a:pPr>
                      <a:r>
                        <a:rPr sz="2000" dirty="0">
                          <a:solidFill>
                            <a:schemeClr val="tx1"/>
                          </a:solidFill>
                          <a:latin typeface="Cambria" panose="02040503050406030204" pitchFamily="18" charset="0"/>
                          <a:ea typeface="Cambria" panose="02040503050406030204" pitchFamily="18" charset="0"/>
                          <a:cs typeface="Courier New"/>
                        </a:rPr>
                        <a:t>["b",</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20" dirty="0">
                          <a:solidFill>
                            <a:schemeClr val="tx1"/>
                          </a:solidFill>
                          <a:latin typeface="Cambria" panose="02040503050406030204" pitchFamily="18" charset="0"/>
                          <a:ea typeface="Cambria" panose="02040503050406030204" pitchFamily="18" charset="0"/>
                          <a:cs typeface="Courier New"/>
                        </a:rPr>
                        <a:t> "u"]</a:t>
                      </a:r>
                      <a:endParaRPr sz="2000" dirty="0">
                        <a:solidFill>
                          <a:schemeClr val="tx1"/>
                        </a:solidFill>
                        <a:latin typeface="Cambria" panose="02040503050406030204" pitchFamily="18" charset="0"/>
                        <a:ea typeface="Cambria" panose="02040503050406030204" pitchFamily="18" charset="0"/>
                        <a:cs typeface="Courier New"/>
                      </a:endParaRPr>
                    </a:p>
                  </a:txBody>
                  <a:tcPr marL="0" marR="0" marT="4402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7"/>
                    </a:solidFill>
                  </a:tcPr>
                </a:tc>
                <a:tc>
                  <a:txBody>
                    <a:bodyPr/>
                    <a:lstStyle/>
                    <a:p>
                      <a:pPr marL="85725" marR="134620">
                        <a:lnSpc>
                          <a:spcPct val="100000"/>
                        </a:lnSpc>
                        <a:spcBef>
                          <a:spcPts val="260"/>
                        </a:spcBef>
                      </a:pPr>
                      <a:r>
                        <a:rPr sz="2000" dirty="0">
                          <a:solidFill>
                            <a:schemeClr val="tx1"/>
                          </a:solidFill>
                          <a:latin typeface="Cambria" panose="02040503050406030204" pitchFamily="18" charset="0"/>
                          <a:ea typeface="Cambria" panose="02040503050406030204" pitchFamily="18" charset="0"/>
                          <a:cs typeface="Courier New"/>
                        </a:rPr>
                        <a:t>("h"</a:t>
                      </a:r>
                      <a:r>
                        <a:rPr sz="2000" spc="-30" dirty="0">
                          <a:solidFill>
                            <a:schemeClr val="tx1"/>
                          </a:solid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a:t>
                      </a:r>
                      <a:r>
                        <a:rPr sz="2000" u="sng" spc="-20"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"g"</a:t>
                      </a:r>
                      <a:r>
                        <a:rPr sz="2000" dirty="0">
                          <a:solidFill>
                            <a:schemeClr val="tx1"/>
                          </a:solidFill>
                          <a:latin typeface="Cambria" panose="02040503050406030204" pitchFamily="18" charset="0"/>
                          <a:ea typeface="Cambria" panose="02040503050406030204" pitchFamily="18" charset="0"/>
                          <a:cs typeface="Courier New"/>
                        </a:rPr>
                        <a:t>,</a:t>
                      </a:r>
                      <a:r>
                        <a:rPr sz="2000" spc="-1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10),</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a:t>
                      </a:r>
                      <a:r>
                        <a:rPr sz="2000" u="sng" spc="-15"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"g"</a:t>
                      </a:r>
                      <a:r>
                        <a:rPr sz="2000" dirty="0">
                          <a:solidFill>
                            <a:schemeClr val="tx1"/>
                          </a:solidFill>
                          <a:latin typeface="Cambria" panose="02040503050406030204" pitchFamily="18" charset="0"/>
                          <a:ea typeface="Cambria" panose="02040503050406030204" pitchFamily="18" charset="0"/>
                          <a:cs typeface="Courier New"/>
                        </a:rPr>
                        <a:t>,</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5),</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1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"n",</a:t>
                      </a:r>
                      <a:r>
                        <a:rPr sz="2000" spc="-15" dirty="0">
                          <a:solidFill>
                            <a:schemeClr val="tx1"/>
                          </a:solidFill>
                          <a:latin typeface="Cambria" panose="02040503050406030204" pitchFamily="18" charset="0"/>
                          <a:ea typeface="Cambria" panose="02040503050406030204" pitchFamily="18" charset="0"/>
                          <a:cs typeface="Courier New"/>
                        </a:rPr>
                        <a:t> </a:t>
                      </a:r>
                      <a:r>
                        <a:rPr sz="2000" spc="-20" dirty="0">
                          <a:solidFill>
                            <a:schemeClr val="tx1"/>
                          </a:solidFill>
                          <a:latin typeface="Cambria" panose="02040503050406030204" pitchFamily="18" charset="0"/>
                          <a:ea typeface="Cambria" panose="02040503050406030204" pitchFamily="18" charset="0"/>
                          <a:cs typeface="Courier New"/>
                        </a:rPr>
                        <a:t>12), </a:t>
                      </a:r>
                      <a:r>
                        <a:rPr sz="2000" dirty="0">
                          <a:solidFill>
                            <a:schemeClr val="tx1"/>
                          </a:solidFill>
                          <a:latin typeface="Cambria" panose="02040503050406030204" pitchFamily="18" charset="0"/>
                          <a:ea typeface="Cambria" panose="02040503050406030204" pitchFamily="18" charset="0"/>
                          <a:cs typeface="Courier New"/>
                        </a:rPr>
                        <a:t>("b"</a:t>
                      </a:r>
                      <a:r>
                        <a:rPr sz="2000" spc="-3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a:t>
                      </a:r>
                      <a:r>
                        <a:rPr sz="2000" spc="-1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4),</a:t>
                      </a:r>
                      <a:r>
                        <a:rPr sz="2000" spc="-1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a:t>
                      </a:r>
                      <a:r>
                        <a:rPr sz="2000" spc="-20" dirty="0">
                          <a:solidFill>
                            <a:schemeClr val="tx1"/>
                          </a:solid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a:t>
                      </a:r>
                      <a:r>
                        <a:rPr sz="2000" u="sng" spc="-15"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"g"</a:t>
                      </a:r>
                      <a:r>
                        <a:rPr sz="2000" u="sng" spc="-20"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15" dirty="0">
                          <a:solidFill>
                            <a:schemeClr val="tx1"/>
                          </a:solidFill>
                          <a:latin typeface="Cambria" panose="02040503050406030204" pitchFamily="18" charset="0"/>
                          <a:ea typeface="Cambria" panose="02040503050406030204" pitchFamily="18" charset="0"/>
                          <a:cs typeface="Courier New"/>
                        </a:rPr>
                        <a:t> </a:t>
                      </a:r>
                      <a:r>
                        <a:rPr sz="2000" spc="-25" dirty="0">
                          <a:solidFill>
                            <a:schemeClr val="tx1"/>
                          </a:solidFill>
                          <a:latin typeface="Cambria" panose="02040503050406030204" pitchFamily="18" charset="0"/>
                          <a:ea typeface="Cambria" panose="02040503050406030204" pitchFamily="18" charset="0"/>
                          <a:cs typeface="Courier New"/>
                        </a:rPr>
                        <a:t>5)</a:t>
                      </a:r>
                      <a:endParaRPr sz="2000">
                        <a:solidFill>
                          <a:schemeClr val="tx1"/>
                        </a:solidFill>
                        <a:latin typeface="Cambria" panose="02040503050406030204" pitchFamily="18" charset="0"/>
                        <a:ea typeface="Cambria" panose="02040503050406030204" pitchFamily="18" charset="0"/>
                        <a:cs typeface="Courier New"/>
                      </a:endParaRPr>
                    </a:p>
                  </a:txBody>
                  <a:tcPr marL="0" marR="0" marT="4402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7"/>
                    </a:solidFill>
                  </a:tcPr>
                </a:tc>
                <a:extLst>
                  <a:ext uri="{0D108BD9-81ED-4DB2-BD59-A6C34878D82A}">
                    <a16:rowId xmlns:a16="http://schemas.microsoft.com/office/drawing/2014/main" val="10001"/>
                  </a:ext>
                </a:extLst>
              </a:tr>
              <a:tr h="703925">
                <a:tc>
                  <a:txBody>
                    <a:bodyPr/>
                    <a:lstStyle/>
                    <a:p>
                      <a:pPr marL="85725">
                        <a:lnSpc>
                          <a:spcPct val="100000"/>
                        </a:lnSpc>
                        <a:spcBef>
                          <a:spcPts val="260"/>
                        </a:spcBef>
                      </a:pPr>
                      <a:r>
                        <a:rPr sz="2000" spc="-50" dirty="0">
                          <a:solidFill>
                            <a:schemeClr val="tx1"/>
                          </a:solidFill>
                          <a:latin typeface="Cambria" panose="02040503050406030204" pitchFamily="18" charset="0"/>
                          <a:ea typeface="Cambria" panose="02040503050406030204" pitchFamily="18" charset="0"/>
                          <a:cs typeface="Arial MT"/>
                        </a:rPr>
                        <a:t>2</a:t>
                      </a:r>
                      <a:endParaRPr sz="2000">
                        <a:solidFill>
                          <a:schemeClr val="tx1"/>
                        </a:solidFill>
                        <a:latin typeface="Cambria" panose="02040503050406030204" pitchFamily="18" charset="0"/>
                        <a:ea typeface="Cambria" panose="02040503050406030204" pitchFamily="18" charset="0"/>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a:lnSpc>
                          <a:spcPct val="100000"/>
                        </a:lnSpc>
                        <a:spcBef>
                          <a:spcPts val="260"/>
                        </a:spcBef>
                      </a:pPr>
                      <a:r>
                        <a:rPr sz="2000" dirty="0">
                          <a:solidFill>
                            <a:schemeClr val="tx1"/>
                          </a:solidFill>
                          <a:latin typeface="Cambria" panose="02040503050406030204" pitchFamily="18" charset="0"/>
                          <a:ea typeface="Cambria" panose="02040503050406030204" pitchFamily="18" charset="0"/>
                          <a:cs typeface="Courier New"/>
                        </a:rPr>
                        <a:t>["b",</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20" dirty="0">
                          <a:solidFill>
                            <a:schemeClr val="tx1"/>
                          </a:solidFill>
                          <a:latin typeface="Cambria" panose="02040503050406030204" pitchFamily="18" charset="0"/>
                          <a:ea typeface="Cambria" panose="02040503050406030204" pitchFamily="18" charset="0"/>
                          <a:cs typeface="Courier New"/>
                        </a:rPr>
                        <a:t> "u",</a:t>
                      </a:r>
                      <a:endParaRPr sz="2000" dirty="0">
                        <a:solidFill>
                          <a:schemeClr val="tx1"/>
                        </a:solidFill>
                        <a:latin typeface="Cambria" panose="02040503050406030204" pitchFamily="18" charset="0"/>
                        <a:ea typeface="Cambria" panose="02040503050406030204" pitchFamily="18" charset="0"/>
                        <a:cs typeface="Courier New"/>
                      </a:endParaRPr>
                    </a:p>
                    <a:p>
                      <a:pPr marL="85725">
                        <a:lnSpc>
                          <a:spcPct val="100000"/>
                        </a:lnSpc>
                      </a:pPr>
                      <a:r>
                        <a:rPr sz="2000" spc="-10" dirty="0">
                          <a:solidFill>
                            <a:schemeClr val="tx1"/>
                          </a:solidFill>
                          <a:latin typeface="Cambria" panose="02040503050406030204" pitchFamily="18" charset="0"/>
                          <a:ea typeface="Cambria" panose="02040503050406030204" pitchFamily="18" charset="0"/>
                          <a:cs typeface="Courier New"/>
                        </a:rPr>
                        <a:t>"ug”]</a:t>
                      </a:r>
                      <a:endParaRPr sz="2000" dirty="0">
                        <a:solidFill>
                          <a:schemeClr val="tx1"/>
                        </a:solidFill>
                        <a:latin typeface="Cambria" panose="02040503050406030204" pitchFamily="18" charset="0"/>
                        <a:ea typeface="Cambria" panose="02040503050406030204" pitchFamily="18" charset="0"/>
                        <a:cs typeface="Courier New"/>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marR="210820">
                        <a:lnSpc>
                          <a:spcPct val="100000"/>
                        </a:lnSpc>
                        <a:spcBef>
                          <a:spcPts val="260"/>
                        </a:spcBef>
                      </a:pPr>
                      <a:r>
                        <a:rPr sz="2000" dirty="0">
                          <a:solidFill>
                            <a:schemeClr val="tx1"/>
                          </a:solidFill>
                          <a:latin typeface="Cambria" panose="02040503050406030204" pitchFamily="18" charset="0"/>
                          <a:ea typeface="Cambria" panose="02040503050406030204" pitchFamily="18" charset="0"/>
                          <a:cs typeface="Courier New"/>
                        </a:rPr>
                        <a:t>("h"</a:t>
                      </a:r>
                      <a:r>
                        <a:rPr sz="2000" spc="-3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10),</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5),</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a:t>
                      </a:r>
                      <a:r>
                        <a:rPr sz="2000" u="sng" spc="-20"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"n"</a:t>
                      </a:r>
                      <a:r>
                        <a:rPr sz="2000" dirty="0">
                          <a:solidFill>
                            <a:schemeClr val="tx1"/>
                          </a:solidFill>
                          <a:latin typeface="Cambria" panose="02040503050406030204" pitchFamily="18" charset="0"/>
                          <a:ea typeface="Cambria" panose="02040503050406030204" pitchFamily="18" charset="0"/>
                          <a:cs typeface="Courier New"/>
                        </a:rPr>
                        <a:t>,</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12),</a:t>
                      </a:r>
                      <a:r>
                        <a:rPr sz="2000" spc="-20" dirty="0">
                          <a:solidFill>
                            <a:schemeClr val="tx1"/>
                          </a:solidFill>
                          <a:latin typeface="Cambria" panose="02040503050406030204" pitchFamily="18" charset="0"/>
                          <a:ea typeface="Cambria" panose="02040503050406030204" pitchFamily="18" charset="0"/>
                          <a:cs typeface="Courier New"/>
                        </a:rPr>
                        <a:t> ("b"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a:t>
                      </a:r>
                      <a:r>
                        <a:rPr sz="2000" u="sng" spc="-20"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"n"</a:t>
                      </a:r>
                      <a:r>
                        <a:rPr sz="2000" dirty="0">
                          <a:solidFill>
                            <a:schemeClr val="tx1"/>
                          </a:solidFill>
                          <a:latin typeface="Cambria" panose="02040503050406030204" pitchFamily="18" charset="0"/>
                          <a:ea typeface="Cambria" panose="02040503050406030204" pitchFamily="18" charset="0"/>
                          <a:cs typeface="Courier New"/>
                        </a:rPr>
                        <a:t>,</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4),</a:t>
                      </a:r>
                      <a:r>
                        <a:rPr sz="2000" spc="-1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15" dirty="0">
                          <a:solidFill>
                            <a:schemeClr val="tx1"/>
                          </a:solidFill>
                          <a:latin typeface="Cambria" panose="02040503050406030204" pitchFamily="18" charset="0"/>
                          <a:ea typeface="Cambria" panose="02040503050406030204" pitchFamily="18" charset="0"/>
                          <a:cs typeface="Courier New"/>
                        </a:rPr>
                        <a:t> </a:t>
                      </a:r>
                      <a:r>
                        <a:rPr sz="2000" spc="-25" dirty="0">
                          <a:solidFill>
                            <a:schemeClr val="tx1"/>
                          </a:solidFill>
                          <a:latin typeface="Cambria" panose="02040503050406030204" pitchFamily="18" charset="0"/>
                          <a:ea typeface="Cambria" panose="02040503050406030204" pitchFamily="18" charset="0"/>
                          <a:cs typeface="Courier New"/>
                        </a:rPr>
                        <a:t>5)</a:t>
                      </a:r>
                      <a:endParaRPr sz="2000" dirty="0">
                        <a:solidFill>
                          <a:schemeClr val="tx1"/>
                        </a:solidFill>
                        <a:latin typeface="Cambria" panose="02040503050406030204" pitchFamily="18" charset="0"/>
                        <a:ea typeface="Cambria" panose="02040503050406030204" pitchFamily="18" charset="0"/>
                        <a:cs typeface="Courier New"/>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extLst>
                  <a:ext uri="{0D108BD9-81ED-4DB2-BD59-A6C34878D82A}">
                    <a16:rowId xmlns:a16="http://schemas.microsoft.com/office/drawing/2014/main" val="10002"/>
                  </a:ext>
                </a:extLst>
              </a:tr>
              <a:tr h="703924">
                <a:tc>
                  <a:txBody>
                    <a:bodyPr/>
                    <a:lstStyle/>
                    <a:p>
                      <a:pPr marL="85725">
                        <a:lnSpc>
                          <a:spcPct val="100000"/>
                        </a:lnSpc>
                        <a:spcBef>
                          <a:spcPts val="259"/>
                        </a:spcBef>
                      </a:pPr>
                      <a:r>
                        <a:rPr sz="2000" spc="-50" dirty="0">
                          <a:solidFill>
                            <a:schemeClr val="tx1"/>
                          </a:solidFill>
                          <a:latin typeface="Cambria" panose="02040503050406030204" pitchFamily="18" charset="0"/>
                          <a:ea typeface="Cambria" panose="02040503050406030204" pitchFamily="18" charset="0"/>
                          <a:cs typeface="Arial MT"/>
                        </a:rPr>
                        <a:t>3</a:t>
                      </a:r>
                      <a:endParaRPr sz="2000">
                        <a:solidFill>
                          <a:schemeClr val="tx1"/>
                        </a:solidFill>
                        <a:latin typeface="Cambria" panose="02040503050406030204" pitchFamily="18" charset="0"/>
                        <a:ea typeface="Cambria" panose="02040503050406030204" pitchFamily="18" charset="0"/>
                        <a:cs typeface="Arial MT"/>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7"/>
                    </a:solidFill>
                  </a:tcPr>
                </a:tc>
                <a:tc>
                  <a:txBody>
                    <a:bodyPr/>
                    <a:lstStyle/>
                    <a:p>
                      <a:pPr marL="85725">
                        <a:lnSpc>
                          <a:spcPct val="100000"/>
                        </a:lnSpc>
                        <a:spcBef>
                          <a:spcPts val="259"/>
                        </a:spcBef>
                      </a:pPr>
                      <a:r>
                        <a:rPr sz="2000" dirty="0">
                          <a:solidFill>
                            <a:schemeClr val="tx1"/>
                          </a:solidFill>
                          <a:latin typeface="Cambria" panose="02040503050406030204" pitchFamily="18" charset="0"/>
                          <a:ea typeface="Cambria" panose="02040503050406030204" pitchFamily="18" charset="0"/>
                          <a:cs typeface="Courier New"/>
                        </a:rPr>
                        <a:t>["b",</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20" dirty="0">
                          <a:solidFill>
                            <a:schemeClr val="tx1"/>
                          </a:solidFill>
                          <a:latin typeface="Cambria" panose="02040503050406030204" pitchFamily="18" charset="0"/>
                          <a:ea typeface="Cambria" panose="02040503050406030204" pitchFamily="18" charset="0"/>
                          <a:cs typeface="Courier New"/>
                        </a:rPr>
                        <a:t> "u",</a:t>
                      </a:r>
                      <a:endParaRPr sz="2000" dirty="0">
                        <a:solidFill>
                          <a:schemeClr val="tx1"/>
                        </a:solidFill>
                        <a:latin typeface="Cambria" panose="02040503050406030204" pitchFamily="18" charset="0"/>
                        <a:ea typeface="Cambria" panose="02040503050406030204" pitchFamily="18" charset="0"/>
                        <a:cs typeface="Courier New"/>
                      </a:endParaRPr>
                    </a:p>
                    <a:p>
                      <a:pPr marL="85725">
                        <a:lnSpc>
                          <a:spcPct val="100000"/>
                        </a:lnSpc>
                      </a:pPr>
                      <a:r>
                        <a:rPr sz="2000" dirty="0">
                          <a:solidFill>
                            <a:schemeClr val="tx1"/>
                          </a:solidFill>
                          <a:latin typeface="Cambria" panose="02040503050406030204" pitchFamily="18" charset="0"/>
                          <a:ea typeface="Cambria" panose="02040503050406030204" pitchFamily="18" charset="0"/>
                          <a:cs typeface="Courier New"/>
                        </a:rPr>
                        <a:t>"ug”</a:t>
                      </a:r>
                      <a:r>
                        <a:rPr sz="2000" spc="-20" dirty="0">
                          <a:solidFill>
                            <a:schemeClr val="tx1"/>
                          </a:solidFill>
                          <a:latin typeface="Cambria" panose="02040503050406030204" pitchFamily="18" charset="0"/>
                          <a:ea typeface="Cambria" panose="02040503050406030204" pitchFamily="18" charset="0"/>
                          <a:cs typeface="Courier New"/>
                        </a:rPr>
                        <a:t> </a:t>
                      </a:r>
                      <a:r>
                        <a:rPr sz="2000" spc="-10" dirty="0">
                          <a:solidFill>
                            <a:schemeClr val="tx1"/>
                          </a:solidFill>
                          <a:latin typeface="Cambria" panose="02040503050406030204" pitchFamily="18" charset="0"/>
                          <a:ea typeface="Cambria" panose="02040503050406030204" pitchFamily="18" charset="0"/>
                          <a:cs typeface="Courier New"/>
                        </a:rPr>
                        <a:t>“un”]</a:t>
                      </a:r>
                      <a:endParaRPr sz="2000" dirty="0">
                        <a:solidFill>
                          <a:schemeClr val="tx1"/>
                        </a:solidFill>
                        <a:latin typeface="Cambria" panose="02040503050406030204" pitchFamily="18" charset="0"/>
                        <a:ea typeface="Cambria" panose="02040503050406030204" pitchFamily="18" charset="0"/>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7"/>
                    </a:solidFill>
                  </a:tcPr>
                </a:tc>
                <a:tc>
                  <a:txBody>
                    <a:bodyPr/>
                    <a:lstStyle/>
                    <a:p>
                      <a:pPr marL="85725" marR="438784">
                        <a:lnSpc>
                          <a:spcPct val="100000"/>
                        </a:lnSpc>
                        <a:spcBef>
                          <a:spcPts val="259"/>
                        </a:spcBef>
                      </a:pPr>
                      <a:r>
                        <a:rPr sz="2000" dirty="0">
                          <a:solidFill>
                            <a:schemeClr val="tx1"/>
                          </a:solidFill>
                          <a:latin typeface="Cambria" panose="02040503050406030204" pitchFamily="18" charset="0"/>
                          <a:ea typeface="Cambria" panose="02040503050406030204" pitchFamily="18" charset="0"/>
                          <a:cs typeface="Courier New"/>
                        </a:rPr>
                        <a:t>(</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"h"</a:t>
                      </a:r>
                      <a:r>
                        <a:rPr sz="2000" u="sng" spc="-35"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"ug"</a:t>
                      </a:r>
                      <a:r>
                        <a:rPr sz="2000" dirty="0">
                          <a:solidFill>
                            <a:schemeClr val="tx1"/>
                          </a:solidFill>
                          <a:latin typeface="Cambria" panose="02040503050406030204" pitchFamily="18" charset="0"/>
                          <a:ea typeface="Cambria" panose="02040503050406030204" pitchFamily="18" charset="0"/>
                          <a:cs typeface="Courier New"/>
                        </a:rPr>
                        <a:t>,</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10),</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"ug",</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5),</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12),</a:t>
                      </a:r>
                      <a:r>
                        <a:rPr sz="2000" spc="-20" dirty="0">
                          <a:solidFill>
                            <a:schemeClr val="tx1"/>
                          </a:solidFill>
                          <a:latin typeface="Cambria" panose="02040503050406030204" pitchFamily="18" charset="0"/>
                          <a:ea typeface="Cambria" panose="02040503050406030204" pitchFamily="18" charset="0"/>
                          <a:cs typeface="Courier New"/>
                        </a:rPr>
                        <a:t> ("b" </a:t>
                      </a:r>
                      <a:r>
                        <a:rPr sz="2000" dirty="0">
                          <a:solidFill>
                            <a:schemeClr val="tx1"/>
                          </a:solidFill>
                          <a:latin typeface="Cambria" panose="02040503050406030204" pitchFamily="18" charset="0"/>
                          <a:ea typeface="Cambria" panose="02040503050406030204" pitchFamily="18" charset="0"/>
                          <a:cs typeface="Courier New"/>
                        </a:rPr>
                        <a:t>"un",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4),</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"h"</a:t>
                      </a:r>
                      <a:r>
                        <a:rPr sz="2000" u="sng" spc="-20" dirty="0">
                          <a:solidFill>
                            <a:schemeClr val="tx1"/>
                          </a:solidFill>
                          <a:uFill>
                            <a:solidFill>
                              <a:srgbClr val="BA0000"/>
                            </a:solidFill>
                          </a:uFill>
                          <a:latin typeface="Cambria" panose="02040503050406030204" pitchFamily="18" charset="0"/>
                          <a:ea typeface="Cambria" panose="02040503050406030204" pitchFamily="18" charset="0"/>
                          <a:cs typeface="Courier New"/>
                        </a:rPr>
                        <a:t> </a:t>
                      </a:r>
                      <a:r>
                        <a:rPr sz="2000" u="sng" dirty="0">
                          <a:solidFill>
                            <a:schemeClr val="tx1"/>
                          </a:solidFill>
                          <a:uFill>
                            <a:solidFill>
                              <a:srgbClr val="BA0000"/>
                            </a:solidFill>
                          </a:uFill>
                          <a:latin typeface="Cambria" panose="02040503050406030204" pitchFamily="18" charset="0"/>
                          <a:ea typeface="Cambria" panose="02040503050406030204" pitchFamily="18" charset="0"/>
                          <a:cs typeface="Courier New"/>
                        </a:rPr>
                        <a:t>"ug"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20" dirty="0">
                          <a:solidFill>
                            <a:schemeClr val="tx1"/>
                          </a:solidFill>
                          <a:latin typeface="Cambria" panose="02040503050406030204" pitchFamily="18" charset="0"/>
                          <a:ea typeface="Cambria" panose="02040503050406030204" pitchFamily="18" charset="0"/>
                          <a:cs typeface="Courier New"/>
                        </a:rPr>
                        <a:t> </a:t>
                      </a:r>
                      <a:r>
                        <a:rPr sz="2000" spc="-25" dirty="0">
                          <a:solidFill>
                            <a:schemeClr val="tx1"/>
                          </a:solidFill>
                          <a:latin typeface="Cambria" panose="02040503050406030204" pitchFamily="18" charset="0"/>
                          <a:ea typeface="Cambria" panose="02040503050406030204" pitchFamily="18" charset="0"/>
                          <a:cs typeface="Courier New"/>
                        </a:rPr>
                        <a:t>5)</a:t>
                      </a:r>
                      <a:endParaRPr sz="2000" dirty="0">
                        <a:solidFill>
                          <a:schemeClr val="tx1"/>
                        </a:solidFill>
                        <a:latin typeface="Cambria" panose="02040503050406030204" pitchFamily="18" charset="0"/>
                        <a:ea typeface="Cambria" panose="02040503050406030204" pitchFamily="18" charset="0"/>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7"/>
                    </a:solidFill>
                  </a:tcPr>
                </a:tc>
                <a:extLst>
                  <a:ext uri="{0D108BD9-81ED-4DB2-BD59-A6C34878D82A}">
                    <a16:rowId xmlns:a16="http://schemas.microsoft.com/office/drawing/2014/main" val="10003"/>
                  </a:ext>
                </a:extLst>
              </a:tr>
              <a:tr h="703924">
                <a:tc>
                  <a:txBody>
                    <a:bodyPr/>
                    <a:lstStyle/>
                    <a:p>
                      <a:pPr marL="85725">
                        <a:lnSpc>
                          <a:spcPct val="100000"/>
                        </a:lnSpc>
                        <a:spcBef>
                          <a:spcPts val="259"/>
                        </a:spcBef>
                      </a:pPr>
                      <a:r>
                        <a:rPr sz="2000" spc="-50" dirty="0">
                          <a:solidFill>
                            <a:schemeClr val="tx1"/>
                          </a:solidFill>
                          <a:latin typeface="Cambria" panose="02040503050406030204" pitchFamily="18" charset="0"/>
                          <a:ea typeface="Cambria" panose="02040503050406030204" pitchFamily="18" charset="0"/>
                          <a:cs typeface="Arial MT"/>
                        </a:rPr>
                        <a:t>4</a:t>
                      </a:r>
                      <a:endParaRPr sz="2000">
                        <a:solidFill>
                          <a:schemeClr val="tx1"/>
                        </a:solidFill>
                        <a:latin typeface="Cambria" panose="02040503050406030204" pitchFamily="18" charset="0"/>
                        <a:ea typeface="Cambria" panose="02040503050406030204" pitchFamily="18" charset="0"/>
                        <a:cs typeface="Arial MT"/>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a:lnSpc>
                          <a:spcPct val="100000"/>
                        </a:lnSpc>
                        <a:spcBef>
                          <a:spcPts val="259"/>
                        </a:spcBef>
                      </a:pPr>
                      <a:r>
                        <a:rPr sz="2000" dirty="0">
                          <a:solidFill>
                            <a:schemeClr val="tx1"/>
                          </a:solidFill>
                          <a:latin typeface="Cambria" panose="02040503050406030204" pitchFamily="18" charset="0"/>
                          <a:ea typeface="Cambria" panose="02040503050406030204" pitchFamily="18" charset="0"/>
                          <a:cs typeface="Courier New"/>
                        </a:rPr>
                        <a:t>["b",</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"n",</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20" dirty="0">
                          <a:solidFill>
                            <a:schemeClr val="tx1"/>
                          </a:solidFill>
                          <a:latin typeface="Cambria" panose="02040503050406030204" pitchFamily="18" charset="0"/>
                          <a:ea typeface="Cambria" panose="02040503050406030204" pitchFamily="18" charset="0"/>
                          <a:cs typeface="Courier New"/>
                        </a:rPr>
                        <a:t> "u",</a:t>
                      </a:r>
                      <a:endParaRPr sz="2000">
                        <a:solidFill>
                          <a:schemeClr val="tx1"/>
                        </a:solidFill>
                        <a:latin typeface="Cambria" panose="02040503050406030204" pitchFamily="18" charset="0"/>
                        <a:ea typeface="Cambria" panose="02040503050406030204" pitchFamily="18" charset="0"/>
                        <a:cs typeface="Courier New"/>
                      </a:endParaRPr>
                    </a:p>
                    <a:p>
                      <a:pPr marL="85725">
                        <a:lnSpc>
                          <a:spcPct val="100000"/>
                        </a:lnSpc>
                      </a:pPr>
                      <a:r>
                        <a:rPr sz="2000" dirty="0">
                          <a:solidFill>
                            <a:schemeClr val="tx1"/>
                          </a:solidFill>
                          <a:latin typeface="Cambria" panose="02040503050406030204" pitchFamily="18" charset="0"/>
                          <a:ea typeface="Cambria" panose="02040503050406030204" pitchFamily="18" charset="0"/>
                          <a:cs typeface="Courier New"/>
                        </a:rPr>
                        <a:t>"ug”</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“un”,</a:t>
                      </a:r>
                      <a:r>
                        <a:rPr sz="2000" spc="-20" dirty="0">
                          <a:solidFill>
                            <a:schemeClr val="tx1"/>
                          </a:solidFill>
                          <a:latin typeface="Cambria" panose="02040503050406030204" pitchFamily="18" charset="0"/>
                          <a:ea typeface="Cambria" panose="02040503050406030204" pitchFamily="18" charset="0"/>
                          <a:cs typeface="Courier New"/>
                        </a:rPr>
                        <a:t> </a:t>
                      </a:r>
                      <a:r>
                        <a:rPr sz="2000" spc="-10" dirty="0">
                          <a:solidFill>
                            <a:schemeClr val="tx1"/>
                          </a:solidFill>
                          <a:latin typeface="Cambria" panose="02040503050406030204" pitchFamily="18" charset="0"/>
                          <a:ea typeface="Cambria" panose="02040503050406030204" pitchFamily="18" charset="0"/>
                          <a:cs typeface="Courier New"/>
                        </a:rPr>
                        <a:t>“hug”]</a:t>
                      </a:r>
                      <a:endParaRPr sz="2000">
                        <a:solidFill>
                          <a:schemeClr val="tx1"/>
                        </a:solidFill>
                        <a:latin typeface="Cambria" panose="02040503050406030204" pitchFamily="18" charset="0"/>
                        <a:ea typeface="Cambria" panose="02040503050406030204" pitchFamily="18" charset="0"/>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marR="210185">
                        <a:lnSpc>
                          <a:spcPct val="100000"/>
                        </a:lnSpc>
                        <a:spcBef>
                          <a:spcPts val="259"/>
                        </a:spcBef>
                      </a:pPr>
                      <a:r>
                        <a:rPr sz="2000" dirty="0">
                          <a:solidFill>
                            <a:schemeClr val="tx1"/>
                          </a:solidFill>
                          <a:latin typeface="Cambria" panose="02040503050406030204" pitchFamily="18" charset="0"/>
                          <a:ea typeface="Cambria" panose="02040503050406030204" pitchFamily="18" charset="0"/>
                          <a:cs typeface="Courier New"/>
                        </a:rPr>
                        <a:t>("hug",</a:t>
                      </a:r>
                      <a:r>
                        <a:rPr sz="2000" spc="-3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10),</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5),</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("p"</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"un",</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12),</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("b"</a:t>
                      </a:r>
                      <a:r>
                        <a:rPr sz="2000" spc="-20" dirty="0">
                          <a:solidFill>
                            <a:schemeClr val="tx1"/>
                          </a:solidFill>
                          <a:latin typeface="Cambria" panose="02040503050406030204" pitchFamily="18" charset="0"/>
                          <a:ea typeface="Cambria" panose="02040503050406030204" pitchFamily="18" charset="0"/>
                          <a:cs typeface="Courier New"/>
                        </a:rPr>
                        <a:t> </a:t>
                      </a:r>
                      <a:r>
                        <a:rPr sz="2000" spc="-10" dirty="0">
                          <a:solidFill>
                            <a:schemeClr val="tx1"/>
                          </a:solidFill>
                          <a:latin typeface="Cambria" panose="02040503050406030204" pitchFamily="18" charset="0"/>
                          <a:ea typeface="Cambria" panose="02040503050406030204" pitchFamily="18" charset="0"/>
                          <a:cs typeface="Courier New"/>
                        </a:rPr>
                        <a:t>"un", </a:t>
                      </a:r>
                      <a:r>
                        <a:rPr sz="2000" dirty="0">
                          <a:solidFill>
                            <a:schemeClr val="tx1"/>
                          </a:solidFill>
                          <a:latin typeface="Cambria" panose="02040503050406030204" pitchFamily="18" charset="0"/>
                          <a:ea typeface="Cambria" panose="02040503050406030204" pitchFamily="18" charset="0"/>
                          <a:cs typeface="Courier New"/>
                        </a:rPr>
                        <a:t>4),</a:t>
                      </a:r>
                      <a:r>
                        <a:rPr sz="2000" spc="-25"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("hug"</a:t>
                      </a:r>
                      <a:r>
                        <a:rPr sz="2000" spc="-20" dirty="0">
                          <a:solidFill>
                            <a:schemeClr val="tx1"/>
                          </a:solidFill>
                          <a:latin typeface="Cambria" panose="02040503050406030204" pitchFamily="18" charset="0"/>
                          <a:ea typeface="Cambria" panose="02040503050406030204" pitchFamily="18" charset="0"/>
                          <a:cs typeface="Courier New"/>
                        </a:rPr>
                        <a:t> </a:t>
                      </a:r>
                      <a:r>
                        <a:rPr sz="2000" dirty="0">
                          <a:solidFill>
                            <a:schemeClr val="tx1"/>
                          </a:solidFill>
                          <a:latin typeface="Cambria" panose="02040503050406030204" pitchFamily="18" charset="0"/>
                          <a:ea typeface="Cambria" panose="02040503050406030204" pitchFamily="18" charset="0"/>
                          <a:cs typeface="Courier New"/>
                        </a:rPr>
                        <a:t>"s",</a:t>
                      </a:r>
                      <a:r>
                        <a:rPr sz="2000" spc="-20" dirty="0">
                          <a:solidFill>
                            <a:schemeClr val="tx1"/>
                          </a:solidFill>
                          <a:latin typeface="Cambria" panose="02040503050406030204" pitchFamily="18" charset="0"/>
                          <a:ea typeface="Cambria" panose="02040503050406030204" pitchFamily="18" charset="0"/>
                          <a:cs typeface="Courier New"/>
                        </a:rPr>
                        <a:t> </a:t>
                      </a:r>
                      <a:r>
                        <a:rPr sz="2000" spc="-25" dirty="0">
                          <a:solidFill>
                            <a:schemeClr val="tx1"/>
                          </a:solidFill>
                          <a:latin typeface="Cambria" panose="02040503050406030204" pitchFamily="18" charset="0"/>
                          <a:ea typeface="Cambria" panose="02040503050406030204" pitchFamily="18" charset="0"/>
                          <a:cs typeface="Courier New"/>
                        </a:rPr>
                        <a:t>5)</a:t>
                      </a:r>
                      <a:endParaRPr sz="2000" dirty="0">
                        <a:solidFill>
                          <a:schemeClr val="tx1"/>
                        </a:solidFill>
                        <a:latin typeface="Cambria" panose="02040503050406030204" pitchFamily="18" charset="0"/>
                        <a:ea typeface="Cambria" panose="02040503050406030204" pitchFamily="18" charset="0"/>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extLst>
                  <a:ext uri="{0D108BD9-81ED-4DB2-BD59-A6C34878D82A}">
                    <a16:rowId xmlns:a16="http://schemas.microsoft.com/office/drawing/2014/main" val="10004"/>
                  </a:ext>
                </a:extLst>
              </a:tr>
            </a:tbl>
          </a:graphicData>
        </a:graphic>
      </p:graphicFrame>
      <p:sp>
        <p:nvSpPr>
          <p:cNvPr id="7" name="Text 2">
            <a:extLst>
              <a:ext uri="{FF2B5EF4-FFF2-40B4-BE49-F238E27FC236}">
                <a16:creationId xmlns:a16="http://schemas.microsoft.com/office/drawing/2014/main" id="{4A9837B6-1F35-8717-82CA-A3A4586DB0ED}"/>
              </a:ext>
            </a:extLst>
          </p:cNvPr>
          <p:cNvSpPr txBox="1"/>
          <p:nvPr/>
        </p:nvSpPr>
        <p:spPr>
          <a:xfrm>
            <a:off x="406400" y="4905867"/>
            <a:ext cx="4912360" cy="1325880"/>
          </a:xfrm>
          <a:prstGeom prst="rect">
            <a:avLst/>
          </a:prstGeom>
          <a:noFill/>
          <a:ln/>
        </p:spPr>
        <p:txBody>
          <a:bodyPr wrap="square" lIns="635" tIns="635" rIns="635" bIns="635"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500"/>
              </a:spcAft>
              <a:buNone/>
            </a:pPr>
            <a:r>
              <a:rPr lang="en-US" sz="2000" b="1" dirty="0">
                <a:solidFill>
                  <a:srgbClr val="1A1A1A"/>
                </a:solidFill>
                <a:latin typeface="Cambria" panose="02040503050406030204" pitchFamily="18" charset="0"/>
                <a:ea typeface="Cambria" panose="02040503050406030204" pitchFamily="18" charset="0"/>
                <a:cs typeface="Calibri" pitchFamily="34" charset="-120"/>
              </a:rPr>
              <a:t>Segmenter: apply merges in learned order</a:t>
            </a:r>
            <a:endParaRPr lang="en-US" sz="2000" dirty="0">
              <a:latin typeface="Cambria" panose="02040503050406030204" pitchFamily="18" charset="0"/>
              <a:ea typeface="Cambria" panose="02040503050406030204" pitchFamily="18" charset="0"/>
            </a:endParaRPr>
          </a:p>
          <a:p>
            <a:pPr marL="0" indent="0">
              <a:spcAft>
                <a:spcPts val="500"/>
              </a:spcAft>
              <a:buNone/>
            </a:pPr>
            <a:r>
              <a:rPr lang="en-US" sz="2000" dirty="0">
                <a:solidFill>
                  <a:srgbClr val="1A1A1A"/>
                </a:solidFill>
                <a:latin typeface="Cambria" panose="02040503050406030204" pitchFamily="18" charset="0"/>
                <a:ea typeface="Cambria" panose="02040503050406030204" pitchFamily="18" charset="0"/>
                <a:cs typeface="Courier New" pitchFamily="34" charset="-120"/>
              </a:rPr>
              <a:t>bug  → b u g → b ug</a:t>
            </a:r>
            <a:endParaRPr lang="en-US" sz="2000" dirty="0">
              <a:latin typeface="Cambria" panose="02040503050406030204" pitchFamily="18" charset="0"/>
              <a:ea typeface="Cambria" panose="02040503050406030204" pitchFamily="18" charset="0"/>
            </a:endParaRPr>
          </a:p>
          <a:p>
            <a:pPr marL="0" indent="0">
              <a:spcAft>
                <a:spcPts val="500"/>
              </a:spcAft>
              <a:buNone/>
            </a:pPr>
            <a:r>
              <a:rPr lang="en-US" sz="2000" dirty="0">
                <a:solidFill>
                  <a:srgbClr val="1A1A1A"/>
                </a:solidFill>
                <a:latin typeface="Cambria" panose="02040503050406030204" pitchFamily="18" charset="0"/>
                <a:ea typeface="Cambria" panose="02040503050406030204" pitchFamily="18" charset="0"/>
                <a:cs typeface="Courier New" pitchFamily="34" charset="-120"/>
              </a:rPr>
              <a:t>hugs → h u g s → h ug s → hug s</a:t>
            </a:r>
            <a:endParaRPr lang="en-US" sz="2000" dirty="0">
              <a:latin typeface="Cambria" panose="02040503050406030204" pitchFamily="18" charset="0"/>
              <a:ea typeface="Cambria" panose="02040503050406030204" pitchFamily="18" charset="0"/>
            </a:endParaRPr>
          </a:p>
        </p:txBody>
      </p:sp>
      <p:sp>
        <p:nvSpPr>
          <p:cNvPr id="8" name="Text 4">
            <a:extLst>
              <a:ext uri="{FF2B5EF4-FFF2-40B4-BE49-F238E27FC236}">
                <a16:creationId xmlns:a16="http://schemas.microsoft.com/office/drawing/2014/main" id="{DE4709DE-3440-42B1-C6AA-A148553D1F5B}"/>
              </a:ext>
            </a:extLst>
          </p:cNvPr>
          <p:cNvSpPr txBox="1"/>
          <p:nvPr/>
        </p:nvSpPr>
        <p:spPr>
          <a:xfrm>
            <a:off x="5775960" y="4905867"/>
            <a:ext cx="5516880" cy="1325880"/>
          </a:xfrm>
          <a:prstGeom prst="rect">
            <a:avLst/>
          </a:prstGeom>
          <a:noFill/>
          <a:ln/>
        </p:spPr>
        <p:txBody>
          <a:bodyPr wrap="square" lIns="635" tIns="635" rIns="635" bIns="635"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500"/>
              </a:spcAft>
              <a:buNone/>
            </a:pPr>
            <a:r>
              <a:rPr lang="en-US" sz="2000" b="1" dirty="0">
                <a:solidFill>
                  <a:srgbClr val="1A1A1A"/>
                </a:solidFill>
                <a:latin typeface="Cambria" panose="02040503050406030204" pitchFamily="18" charset="0"/>
                <a:ea typeface="Cambria" panose="02040503050406030204" pitchFamily="18" charset="0"/>
                <a:cs typeface="Calibri" pitchFamily="34" charset="-120"/>
              </a:rPr>
              <a:t>But what about </a:t>
            </a:r>
            <a:r>
              <a:rPr lang="en-US" sz="2000" b="1" dirty="0">
                <a:solidFill>
                  <a:srgbClr val="1A1A1A"/>
                </a:solidFill>
                <a:latin typeface="Cambria" panose="02040503050406030204" pitchFamily="18" charset="0"/>
                <a:ea typeface="Cambria" panose="02040503050406030204" pitchFamily="18" charset="0"/>
                <a:cs typeface="Courier New" pitchFamily="34" charset="-120"/>
              </a:rPr>
              <a:t>mug</a:t>
            </a:r>
            <a:r>
              <a:rPr lang="en-US" sz="2000" b="1" dirty="0">
                <a:solidFill>
                  <a:srgbClr val="1A1A1A"/>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a:p>
            <a:pPr marL="0" indent="0">
              <a:spcAft>
                <a:spcPts val="500"/>
              </a:spcAft>
              <a:buNone/>
            </a:pPr>
            <a:r>
              <a:rPr lang="en-US" sz="2000" dirty="0">
                <a:solidFill>
                  <a:srgbClr val="1A1A1A"/>
                </a:solidFill>
                <a:latin typeface="Cambria" panose="02040503050406030204" pitchFamily="18" charset="0"/>
                <a:ea typeface="Cambria" panose="02040503050406030204" pitchFamily="18" charset="0"/>
                <a:cs typeface="Calibri" pitchFamily="34" charset="-120"/>
              </a:rPr>
              <a:t>"m" is not in the vocabulary → [UNK].</a:t>
            </a:r>
            <a:endParaRPr lang="en-US" sz="2000" dirty="0">
              <a:latin typeface="Cambria" panose="02040503050406030204" pitchFamily="18" charset="0"/>
              <a:ea typeface="Cambria" panose="02040503050406030204" pitchFamily="18" charset="0"/>
            </a:endParaRPr>
          </a:p>
          <a:p>
            <a:pPr marL="0" indent="0">
              <a:spcAft>
                <a:spcPts val="500"/>
              </a:spcAft>
              <a:buNone/>
            </a:pPr>
            <a:r>
              <a:rPr lang="en-US" sz="2000" b="1" dirty="0">
                <a:solidFill>
                  <a:srgbClr val="0E6E7E"/>
                </a:solidFill>
                <a:latin typeface="Cambria" panose="02040503050406030204" pitchFamily="18" charset="0"/>
                <a:ea typeface="Cambria" panose="02040503050406030204" pitchFamily="18" charset="0"/>
                <a:cs typeface="Calibri" pitchFamily="34" charset="-120"/>
              </a:rPr>
              <a:t>Fix: start from 256 bytes, not characters → byte-level BPE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1615050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ontent Placeholder 36">
            <a:extLst>
              <a:ext uri="{FF2B5EF4-FFF2-40B4-BE49-F238E27FC236}">
                <a16:creationId xmlns:a16="http://schemas.microsoft.com/office/drawing/2014/main" id="{98D507FA-B2F0-73D8-8768-4A2479A0D8F2}"/>
              </a:ext>
            </a:extLst>
          </p:cNvPr>
          <p:cNvSpPr>
            <a:spLocks noGrp="1"/>
          </p:cNvSpPr>
          <p:nvPr>
            <p:ph idx="10"/>
          </p:nvPr>
        </p:nvSpPr>
        <p:spPr>
          <a:xfrm>
            <a:off x="152400" y="1444640"/>
            <a:ext cx="11887200" cy="5267056"/>
          </a:xfrm>
        </p:spPr>
        <p:txBody>
          <a:bodyPr>
            <a:normAutofit/>
          </a:bodyPr>
          <a:lstStyle/>
          <a:p>
            <a:pPr marL="342900" indent="-342900">
              <a:buFont typeface="Arial" panose="020B0604020202020204" pitchFamily="34" charset="0"/>
              <a:buChar char="•"/>
            </a:pPr>
            <a:r>
              <a:rPr lang="en-IN" dirty="0">
                <a:solidFill>
                  <a:schemeClr val="tx1"/>
                </a:solidFill>
              </a:rPr>
              <a:t>Byte-level BPE is a subtype of BPE that uses bytes instead of characters as basic token component.</a:t>
            </a:r>
            <a:endParaRPr lang="en-IN" dirty="0"/>
          </a:p>
          <a:p>
            <a:pPr marL="342900" indent="-342900">
              <a:buFont typeface="Arial" panose="020B0604020202020204" pitchFamily="34" charset="0"/>
              <a:buChar char="•"/>
            </a:pPr>
            <a:r>
              <a:rPr lang="en-IN" dirty="0"/>
              <a:t>Vocabulary is not created based on characters, but based on bytes. </a:t>
            </a:r>
          </a:p>
          <a:p>
            <a:pPr marL="342900" indent="-342900">
              <a:buFont typeface="Arial" panose="020B0604020202020204" pitchFamily="34" charset="0"/>
              <a:buChar char="•"/>
            </a:pPr>
            <a:r>
              <a:rPr lang="en-IN" dirty="0"/>
              <a:t>Characters are decomposed as the associated sequence of bytes in the </a:t>
            </a:r>
            <a:r>
              <a:rPr lang="en-IN" dirty="0" err="1"/>
              <a:t>unicode</a:t>
            </a:r>
            <a:r>
              <a:rPr lang="en-IN" dirty="0"/>
              <a:t> representation</a:t>
            </a:r>
          </a:p>
          <a:p>
            <a:pPr marL="342900" indent="-342900">
              <a:buFont typeface="Arial" panose="020B0604020202020204" pitchFamily="34" charset="0"/>
              <a:buChar char="•"/>
            </a:pPr>
            <a:endParaRPr lang="en-IN" dirty="0"/>
          </a:p>
          <a:p>
            <a:pPr marL="342900" indent="-342900">
              <a:spcAft>
                <a:spcPts val="267"/>
              </a:spcAft>
              <a:buFont typeface="Arial" panose="020B0604020202020204" pitchFamily="34" charset="0"/>
              <a:buChar char="•"/>
            </a:pPr>
            <a:r>
              <a:rPr lang="en-US" dirty="0">
                <a:solidFill>
                  <a:srgbClr val="1A1A1A"/>
                </a:solidFill>
                <a:latin typeface="Courier New" pitchFamily="34" charset="0"/>
                <a:ea typeface="Courier New" pitchFamily="34" charset="-122"/>
                <a:cs typeface="Courier New" pitchFamily="34" charset="-120"/>
              </a:rPr>
              <a:t>E.g. </a:t>
            </a:r>
          </a:p>
          <a:p>
            <a:pPr lvl="1">
              <a:spcAft>
                <a:spcPts val="267"/>
              </a:spcAft>
            </a:pPr>
            <a:r>
              <a:rPr lang="en-US" dirty="0">
                <a:solidFill>
                  <a:srgbClr val="1A1A1A"/>
                </a:solidFill>
                <a:latin typeface="Courier New" pitchFamily="34" charset="0"/>
                <a:cs typeface="Courier New" pitchFamily="34" charset="-120"/>
              </a:rPr>
              <a:t>“u” = 117</a:t>
            </a:r>
          </a:p>
          <a:p>
            <a:pPr lvl="1">
              <a:spcAft>
                <a:spcPts val="267"/>
              </a:spcAft>
            </a:pPr>
            <a:r>
              <a:rPr lang="en-US" dirty="0"/>
              <a:t>“g” =103 </a:t>
            </a:r>
          </a:p>
          <a:p>
            <a:pPr lvl="1">
              <a:spcAft>
                <a:spcPts val="267"/>
              </a:spcAft>
            </a:pPr>
            <a:r>
              <a:rPr lang="en-US" dirty="0"/>
              <a:t>After first merge </a:t>
            </a:r>
            <a:r>
              <a:rPr lang="en-IN" dirty="0"/>
              <a:t>"ug"”= bytes [117 103] </a:t>
            </a:r>
            <a:endParaRPr lang="en-US" dirty="0"/>
          </a:p>
          <a:p>
            <a:pPr lvl="1"/>
            <a:r>
              <a:rPr lang="en-IN" dirty="0"/>
              <a:t>vocabulary simply records “ID 256 = bytes [117 103] = "ug"”</a:t>
            </a:r>
          </a:p>
          <a:p>
            <a:pPr marL="342900" indent="-342900">
              <a:buFont typeface="Arial" panose="020B0604020202020204" pitchFamily="34" charset="0"/>
              <a:buChar char="•"/>
            </a:pPr>
            <a:r>
              <a:rPr lang="en-IN" dirty="0"/>
              <a:t>This removes completely the possibility of unseen characters and saves space when representing individual elements (i.e. bytes) in the vocabulary.</a:t>
            </a:r>
          </a:p>
        </p:txBody>
      </p:sp>
      <p:sp>
        <p:nvSpPr>
          <p:cNvPr id="36" name="Title 35">
            <a:extLst>
              <a:ext uri="{FF2B5EF4-FFF2-40B4-BE49-F238E27FC236}">
                <a16:creationId xmlns:a16="http://schemas.microsoft.com/office/drawing/2014/main" id="{C448A53C-7BD6-E880-5CC1-C03E96D1CD0B}"/>
              </a:ext>
            </a:extLst>
          </p:cNvPr>
          <p:cNvSpPr>
            <a:spLocks noGrp="1"/>
          </p:cNvSpPr>
          <p:nvPr>
            <p:ph type="title"/>
          </p:nvPr>
        </p:nvSpPr>
        <p:spPr/>
        <p:txBody>
          <a:bodyPr/>
          <a:lstStyle/>
          <a:p>
            <a:r>
              <a:rPr lang="en-IN" dirty="0">
                <a:solidFill>
                  <a:schemeClr val="tx1"/>
                </a:solidFill>
              </a:rPr>
              <a:t>Byte-level BPE</a:t>
            </a:r>
            <a:endParaRPr lang="en-IN" dirty="0"/>
          </a:p>
        </p:txBody>
      </p:sp>
    </p:spTree>
    <p:extLst>
      <p:ext uri="{BB962C8B-B14F-4D97-AF65-F5344CB8AC3E}">
        <p14:creationId xmlns:p14="http://schemas.microsoft.com/office/powerpoint/2010/main" val="2804048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Byte</a:t>
            </a:r>
            <a:r>
              <a:rPr lang="en-IN" spc="-240" dirty="0"/>
              <a:t> </a:t>
            </a:r>
            <a:r>
              <a:rPr lang="en-IN" spc="-13" dirty="0"/>
              <a:t>Pair</a:t>
            </a:r>
            <a:r>
              <a:rPr lang="en-IN" spc="-233" dirty="0"/>
              <a:t> </a:t>
            </a:r>
            <a:r>
              <a:rPr lang="en-IN" spc="-13" dirty="0"/>
              <a:t>Encoding</a:t>
            </a:r>
            <a:endParaRPr lang="en-IN" dirty="0"/>
          </a:p>
        </p:txBody>
      </p:sp>
      <p:sp>
        <p:nvSpPr>
          <p:cNvPr id="3" name="Content Placeholder 5"/>
          <p:cNvSpPr txBox="1">
            <a:spLocks/>
          </p:cNvSpPr>
          <p:nvPr/>
        </p:nvSpPr>
        <p:spPr>
          <a:xfrm>
            <a:off x="304800" y="1545224"/>
            <a:ext cx="11480800" cy="4525963"/>
          </a:xfrm>
          <a:prstGeom prst="rect">
            <a:avLst/>
          </a:prstGeom>
        </p:spPr>
        <p:txBody>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1300"/>
              </a:spcBef>
            </a:pPr>
            <a:r>
              <a:rPr lang="en-US" b="1" kern="0" spc="-10">
                <a:solidFill>
                  <a:srgbClr val="232323"/>
                </a:solidFill>
                <a:cs typeface="Arial"/>
              </a:rPr>
              <a:t>Advantages:</a:t>
            </a:r>
          </a:p>
          <a:p>
            <a:pPr marL="756285" indent="-286385">
              <a:spcBef>
                <a:spcPts val="1200"/>
              </a:spcBef>
              <a:buClr>
                <a:srgbClr val="000000"/>
              </a:buClr>
              <a:buFontTx/>
              <a:buChar char="•"/>
              <a:tabLst>
                <a:tab pos="756285" algn="l"/>
              </a:tabLst>
            </a:pPr>
            <a:r>
              <a:rPr lang="en-US" kern="0">
                <a:solidFill>
                  <a:srgbClr val="232323"/>
                </a:solidFill>
                <a:cs typeface="Arial MT"/>
              </a:rPr>
              <a:t>Efficient</a:t>
            </a:r>
            <a:r>
              <a:rPr lang="en-US" kern="0" spc="-35">
                <a:solidFill>
                  <a:srgbClr val="232323"/>
                </a:solidFill>
                <a:cs typeface="Arial MT"/>
              </a:rPr>
              <a:t> </a:t>
            </a:r>
            <a:r>
              <a:rPr lang="en-US" kern="0">
                <a:solidFill>
                  <a:srgbClr val="232323"/>
                </a:solidFill>
                <a:cs typeface="Arial MT"/>
              </a:rPr>
              <a:t>handling</a:t>
            </a:r>
            <a:r>
              <a:rPr lang="en-US" kern="0" spc="-35">
                <a:solidFill>
                  <a:srgbClr val="232323"/>
                </a:solidFill>
                <a:cs typeface="Arial MT"/>
              </a:rPr>
              <a:t> </a:t>
            </a:r>
            <a:r>
              <a:rPr lang="en-US" kern="0">
                <a:solidFill>
                  <a:srgbClr val="232323"/>
                </a:solidFill>
                <a:cs typeface="Arial MT"/>
              </a:rPr>
              <a:t>of</a:t>
            </a:r>
            <a:r>
              <a:rPr lang="en-US" kern="0" spc="-45">
                <a:solidFill>
                  <a:srgbClr val="232323"/>
                </a:solidFill>
                <a:cs typeface="Arial MT"/>
              </a:rPr>
              <a:t> </a:t>
            </a:r>
            <a:r>
              <a:rPr lang="en-US" kern="0">
                <a:solidFill>
                  <a:srgbClr val="232323"/>
                </a:solidFill>
                <a:cs typeface="Arial MT"/>
              </a:rPr>
              <a:t>rare</a:t>
            </a:r>
            <a:r>
              <a:rPr lang="en-US" kern="0" spc="-45">
                <a:solidFill>
                  <a:srgbClr val="232323"/>
                </a:solidFill>
                <a:cs typeface="Arial MT"/>
              </a:rPr>
              <a:t> </a:t>
            </a:r>
            <a:r>
              <a:rPr lang="en-US" kern="0">
                <a:solidFill>
                  <a:srgbClr val="232323"/>
                </a:solidFill>
                <a:cs typeface="Arial MT"/>
              </a:rPr>
              <a:t>words</a:t>
            </a:r>
            <a:r>
              <a:rPr lang="en-US" kern="0" spc="-55">
                <a:solidFill>
                  <a:srgbClr val="232323"/>
                </a:solidFill>
                <a:cs typeface="Arial MT"/>
              </a:rPr>
              <a:t> </a:t>
            </a:r>
            <a:r>
              <a:rPr lang="en-US" kern="0">
                <a:solidFill>
                  <a:srgbClr val="232323"/>
                </a:solidFill>
                <a:cs typeface="Arial MT"/>
              </a:rPr>
              <a:t>and</a:t>
            </a:r>
            <a:r>
              <a:rPr lang="en-US" kern="0" spc="-20">
                <a:solidFill>
                  <a:srgbClr val="232323"/>
                </a:solidFill>
                <a:cs typeface="Arial MT"/>
              </a:rPr>
              <a:t> </a:t>
            </a:r>
            <a:r>
              <a:rPr lang="en-US" kern="0">
                <a:solidFill>
                  <a:srgbClr val="232323"/>
                </a:solidFill>
                <a:cs typeface="Arial MT"/>
              </a:rPr>
              <a:t>subword</a:t>
            </a:r>
            <a:r>
              <a:rPr lang="en-US" kern="0" spc="-55">
                <a:solidFill>
                  <a:srgbClr val="232323"/>
                </a:solidFill>
                <a:cs typeface="Arial MT"/>
              </a:rPr>
              <a:t> </a:t>
            </a:r>
            <a:r>
              <a:rPr lang="en-US" kern="0" spc="-10">
                <a:solidFill>
                  <a:srgbClr val="232323"/>
                </a:solidFill>
                <a:cs typeface="Arial MT"/>
              </a:rPr>
              <a:t>units.</a:t>
            </a:r>
            <a:endParaRPr lang="en-US" kern="0">
              <a:solidFill>
                <a:sysClr val="windowText" lastClr="000000"/>
              </a:solidFill>
              <a:cs typeface="Arial MT"/>
            </a:endParaRPr>
          </a:p>
          <a:p>
            <a:pPr marL="756285" indent="-286385">
              <a:spcBef>
                <a:spcPts val="1200"/>
              </a:spcBef>
              <a:buClr>
                <a:srgbClr val="000000"/>
              </a:buClr>
              <a:buFontTx/>
              <a:buChar char="•"/>
              <a:tabLst>
                <a:tab pos="756285" algn="l"/>
              </a:tabLst>
            </a:pPr>
            <a:r>
              <a:rPr lang="en-US" kern="0">
                <a:solidFill>
                  <a:srgbClr val="232323"/>
                </a:solidFill>
                <a:cs typeface="Arial MT"/>
              </a:rPr>
              <a:t>Reduces</a:t>
            </a:r>
            <a:r>
              <a:rPr lang="en-US" kern="0" spc="-55">
                <a:solidFill>
                  <a:srgbClr val="232323"/>
                </a:solidFill>
                <a:cs typeface="Arial MT"/>
              </a:rPr>
              <a:t> </a:t>
            </a:r>
            <a:r>
              <a:rPr lang="en-US" kern="0">
                <a:solidFill>
                  <a:srgbClr val="232323"/>
                </a:solidFill>
                <a:cs typeface="Arial MT"/>
              </a:rPr>
              <a:t>the</a:t>
            </a:r>
            <a:r>
              <a:rPr lang="en-US" kern="0" spc="-40">
                <a:solidFill>
                  <a:srgbClr val="232323"/>
                </a:solidFill>
                <a:cs typeface="Arial MT"/>
              </a:rPr>
              <a:t> </a:t>
            </a:r>
            <a:r>
              <a:rPr lang="en-US" kern="0">
                <a:solidFill>
                  <a:srgbClr val="232323"/>
                </a:solidFill>
                <a:cs typeface="Arial MT"/>
              </a:rPr>
              <a:t>vocabulary</a:t>
            </a:r>
            <a:r>
              <a:rPr lang="en-US" kern="0" spc="-50">
                <a:solidFill>
                  <a:srgbClr val="232323"/>
                </a:solidFill>
                <a:cs typeface="Arial MT"/>
              </a:rPr>
              <a:t> </a:t>
            </a:r>
            <a:r>
              <a:rPr lang="en-US" kern="0">
                <a:solidFill>
                  <a:srgbClr val="232323"/>
                </a:solidFill>
                <a:cs typeface="Arial MT"/>
              </a:rPr>
              <a:t>size,</a:t>
            </a:r>
            <a:r>
              <a:rPr lang="en-US" kern="0" spc="-40">
                <a:solidFill>
                  <a:srgbClr val="232323"/>
                </a:solidFill>
                <a:cs typeface="Arial MT"/>
              </a:rPr>
              <a:t> </a:t>
            </a:r>
            <a:r>
              <a:rPr lang="en-US" kern="0">
                <a:solidFill>
                  <a:srgbClr val="232323"/>
                </a:solidFill>
                <a:cs typeface="Arial MT"/>
              </a:rPr>
              <a:t>making</a:t>
            </a:r>
            <a:r>
              <a:rPr lang="en-US" kern="0" spc="-40">
                <a:solidFill>
                  <a:srgbClr val="232323"/>
                </a:solidFill>
                <a:cs typeface="Arial MT"/>
              </a:rPr>
              <a:t> </a:t>
            </a:r>
            <a:r>
              <a:rPr lang="en-US" kern="0">
                <a:solidFill>
                  <a:srgbClr val="232323"/>
                </a:solidFill>
                <a:cs typeface="Arial MT"/>
              </a:rPr>
              <a:t>the</a:t>
            </a:r>
            <a:r>
              <a:rPr lang="en-US" kern="0" spc="-40">
                <a:solidFill>
                  <a:srgbClr val="232323"/>
                </a:solidFill>
                <a:cs typeface="Arial MT"/>
              </a:rPr>
              <a:t> </a:t>
            </a:r>
            <a:r>
              <a:rPr lang="en-US" kern="0">
                <a:solidFill>
                  <a:srgbClr val="232323"/>
                </a:solidFill>
                <a:cs typeface="Arial MT"/>
              </a:rPr>
              <a:t>model</a:t>
            </a:r>
            <a:r>
              <a:rPr lang="en-US" kern="0" spc="-35">
                <a:solidFill>
                  <a:srgbClr val="232323"/>
                </a:solidFill>
                <a:cs typeface="Arial MT"/>
              </a:rPr>
              <a:t> </a:t>
            </a:r>
            <a:r>
              <a:rPr lang="en-US" kern="0">
                <a:solidFill>
                  <a:srgbClr val="232323"/>
                </a:solidFill>
                <a:cs typeface="Arial MT"/>
              </a:rPr>
              <a:t>more</a:t>
            </a:r>
            <a:r>
              <a:rPr lang="en-US" kern="0" spc="-45">
                <a:solidFill>
                  <a:srgbClr val="232323"/>
                </a:solidFill>
                <a:cs typeface="Arial MT"/>
              </a:rPr>
              <a:t> </a:t>
            </a:r>
            <a:r>
              <a:rPr lang="en-US" kern="0" spc="-10">
                <a:solidFill>
                  <a:srgbClr val="232323"/>
                </a:solidFill>
                <a:cs typeface="Arial MT"/>
              </a:rPr>
              <a:t>efficient.</a:t>
            </a:r>
            <a:endParaRPr lang="en-US" kern="0">
              <a:solidFill>
                <a:sysClr val="windowText" lastClr="000000"/>
              </a:solidFill>
              <a:cs typeface="Arial MT"/>
            </a:endParaRPr>
          </a:p>
          <a:p>
            <a:pPr marL="756285" indent="-286385">
              <a:spcBef>
                <a:spcPts val="1200"/>
              </a:spcBef>
              <a:buClr>
                <a:srgbClr val="000000"/>
              </a:buClr>
              <a:buFontTx/>
              <a:buChar char="•"/>
              <a:tabLst>
                <a:tab pos="756285" algn="l"/>
              </a:tabLst>
            </a:pPr>
            <a:r>
              <a:rPr lang="en-US" kern="0">
                <a:solidFill>
                  <a:srgbClr val="232323"/>
                </a:solidFill>
                <a:cs typeface="Arial MT"/>
              </a:rPr>
              <a:t>Helps</a:t>
            </a:r>
            <a:r>
              <a:rPr lang="en-US" kern="0" spc="-45">
                <a:solidFill>
                  <a:srgbClr val="232323"/>
                </a:solidFill>
                <a:cs typeface="Arial MT"/>
              </a:rPr>
              <a:t> </a:t>
            </a:r>
            <a:r>
              <a:rPr lang="en-US" kern="0">
                <a:solidFill>
                  <a:srgbClr val="232323"/>
                </a:solidFill>
                <a:cs typeface="Arial MT"/>
              </a:rPr>
              <a:t>in</a:t>
            </a:r>
            <a:r>
              <a:rPr lang="en-US" kern="0" spc="-25">
                <a:solidFill>
                  <a:srgbClr val="232323"/>
                </a:solidFill>
                <a:cs typeface="Arial MT"/>
              </a:rPr>
              <a:t> </a:t>
            </a:r>
            <a:r>
              <a:rPr lang="en-US" kern="0">
                <a:solidFill>
                  <a:srgbClr val="232323"/>
                </a:solidFill>
                <a:cs typeface="Arial MT"/>
              </a:rPr>
              <a:t>better</a:t>
            </a:r>
            <a:r>
              <a:rPr lang="en-US" kern="0" spc="-50">
                <a:solidFill>
                  <a:srgbClr val="232323"/>
                </a:solidFill>
                <a:cs typeface="Arial MT"/>
              </a:rPr>
              <a:t> </a:t>
            </a:r>
            <a:r>
              <a:rPr lang="en-US" kern="0">
                <a:solidFill>
                  <a:srgbClr val="232323"/>
                </a:solidFill>
                <a:cs typeface="Arial MT"/>
              </a:rPr>
              <a:t>generalization</a:t>
            </a:r>
            <a:r>
              <a:rPr lang="en-US" kern="0" spc="-65">
                <a:solidFill>
                  <a:srgbClr val="232323"/>
                </a:solidFill>
                <a:cs typeface="Arial MT"/>
              </a:rPr>
              <a:t> </a:t>
            </a:r>
            <a:r>
              <a:rPr lang="en-US" kern="0">
                <a:solidFill>
                  <a:srgbClr val="232323"/>
                </a:solidFill>
                <a:cs typeface="Arial MT"/>
              </a:rPr>
              <a:t>by</a:t>
            </a:r>
            <a:r>
              <a:rPr lang="en-US" kern="0" spc="-35">
                <a:solidFill>
                  <a:srgbClr val="232323"/>
                </a:solidFill>
                <a:cs typeface="Arial MT"/>
              </a:rPr>
              <a:t> </a:t>
            </a:r>
            <a:r>
              <a:rPr lang="en-US" kern="0">
                <a:solidFill>
                  <a:srgbClr val="232323"/>
                </a:solidFill>
                <a:cs typeface="Arial MT"/>
              </a:rPr>
              <a:t>breaking</a:t>
            </a:r>
            <a:r>
              <a:rPr lang="en-US" kern="0" spc="-65">
                <a:solidFill>
                  <a:srgbClr val="232323"/>
                </a:solidFill>
                <a:cs typeface="Arial MT"/>
              </a:rPr>
              <a:t> </a:t>
            </a:r>
            <a:r>
              <a:rPr lang="en-US" kern="0">
                <a:solidFill>
                  <a:srgbClr val="232323"/>
                </a:solidFill>
                <a:cs typeface="Arial MT"/>
              </a:rPr>
              <a:t>down</a:t>
            </a:r>
            <a:r>
              <a:rPr lang="en-US" kern="0" spc="-40">
                <a:solidFill>
                  <a:srgbClr val="232323"/>
                </a:solidFill>
                <a:cs typeface="Arial MT"/>
              </a:rPr>
              <a:t> </a:t>
            </a:r>
            <a:r>
              <a:rPr lang="en-US" kern="0">
                <a:solidFill>
                  <a:srgbClr val="232323"/>
                </a:solidFill>
                <a:cs typeface="Arial MT"/>
              </a:rPr>
              <a:t>words</a:t>
            </a:r>
            <a:r>
              <a:rPr lang="en-US" kern="0" spc="-50">
                <a:solidFill>
                  <a:srgbClr val="232323"/>
                </a:solidFill>
                <a:cs typeface="Arial MT"/>
              </a:rPr>
              <a:t> </a:t>
            </a:r>
            <a:r>
              <a:rPr lang="en-US" kern="0">
                <a:solidFill>
                  <a:srgbClr val="232323"/>
                </a:solidFill>
                <a:cs typeface="Arial MT"/>
              </a:rPr>
              <a:t>into</a:t>
            </a:r>
            <a:r>
              <a:rPr lang="en-US" kern="0" spc="-15">
                <a:solidFill>
                  <a:srgbClr val="232323"/>
                </a:solidFill>
                <a:cs typeface="Arial MT"/>
              </a:rPr>
              <a:t> </a:t>
            </a:r>
            <a:r>
              <a:rPr lang="en-US" kern="0">
                <a:solidFill>
                  <a:srgbClr val="232323"/>
                </a:solidFill>
                <a:cs typeface="Arial MT"/>
              </a:rPr>
              <a:t>subword</a:t>
            </a:r>
            <a:r>
              <a:rPr lang="en-US" kern="0" spc="-45">
                <a:solidFill>
                  <a:srgbClr val="232323"/>
                </a:solidFill>
                <a:cs typeface="Arial MT"/>
              </a:rPr>
              <a:t> </a:t>
            </a:r>
            <a:r>
              <a:rPr lang="en-US" kern="0" spc="-10">
                <a:solidFill>
                  <a:srgbClr val="232323"/>
                </a:solidFill>
                <a:cs typeface="Arial MT"/>
              </a:rPr>
              <a:t>units.</a:t>
            </a:r>
            <a:endParaRPr lang="en-US" kern="0">
              <a:solidFill>
                <a:sysClr val="windowText" lastClr="000000"/>
              </a:solidFill>
              <a:cs typeface="Arial MT"/>
            </a:endParaRPr>
          </a:p>
          <a:p>
            <a:pPr marL="12700">
              <a:spcBef>
                <a:spcPts val="1200"/>
              </a:spcBef>
            </a:pPr>
            <a:r>
              <a:rPr lang="en-US" b="1" kern="0" spc="-10">
                <a:solidFill>
                  <a:srgbClr val="232323"/>
                </a:solidFill>
                <a:cs typeface="Arial"/>
              </a:rPr>
              <a:t>Limitations:</a:t>
            </a:r>
            <a:endParaRPr lang="en-US" kern="0">
              <a:solidFill>
                <a:sysClr val="windowText" lastClr="000000"/>
              </a:solidFill>
              <a:cs typeface="Arial"/>
            </a:endParaRPr>
          </a:p>
          <a:p>
            <a:pPr marL="756285" indent="-286385">
              <a:spcBef>
                <a:spcPts val="1205"/>
              </a:spcBef>
              <a:buClr>
                <a:srgbClr val="000000"/>
              </a:buClr>
              <a:buFontTx/>
              <a:buChar char="•"/>
              <a:tabLst>
                <a:tab pos="756285" algn="l"/>
              </a:tabLst>
            </a:pPr>
            <a:r>
              <a:rPr lang="en-US" kern="0">
                <a:solidFill>
                  <a:srgbClr val="232323"/>
                </a:solidFill>
                <a:cs typeface="Arial MT"/>
              </a:rPr>
              <a:t>Can</a:t>
            </a:r>
            <a:r>
              <a:rPr lang="en-US" kern="0" spc="-30">
                <a:solidFill>
                  <a:srgbClr val="232323"/>
                </a:solidFill>
                <a:cs typeface="Arial MT"/>
              </a:rPr>
              <a:t> </a:t>
            </a:r>
            <a:r>
              <a:rPr lang="en-US" kern="0">
                <a:solidFill>
                  <a:srgbClr val="232323"/>
                </a:solidFill>
                <a:cs typeface="Arial MT"/>
              </a:rPr>
              <a:t>produce</a:t>
            </a:r>
            <a:r>
              <a:rPr lang="en-US" kern="0" spc="-55">
                <a:solidFill>
                  <a:srgbClr val="232323"/>
                </a:solidFill>
                <a:cs typeface="Arial MT"/>
              </a:rPr>
              <a:t> </a:t>
            </a:r>
            <a:r>
              <a:rPr lang="en-US" kern="0">
                <a:solidFill>
                  <a:srgbClr val="232323"/>
                </a:solidFill>
                <a:cs typeface="Arial MT"/>
              </a:rPr>
              <a:t>fragmented</a:t>
            </a:r>
            <a:r>
              <a:rPr lang="en-US" kern="0" spc="-55">
                <a:solidFill>
                  <a:srgbClr val="232323"/>
                </a:solidFill>
                <a:cs typeface="Arial MT"/>
              </a:rPr>
              <a:t> </a:t>
            </a:r>
            <a:r>
              <a:rPr lang="en-US" kern="0">
                <a:solidFill>
                  <a:srgbClr val="232323"/>
                </a:solidFill>
                <a:cs typeface="Arial MT"/>
              </a:rPr>
              <a:t>tokens</a:t>
            </a:r>
            <a:r>
              <a:rPr lang="en-US" kern="0" spc="-50">
                <a:solidFill>
                  <a:srgbClr val="232323"/>
                </a:solidFill>
                <a:cs typeface="Arial MT"/>
              </a:rPr>
              <a:t> </a:t>
            </a:r>
            <a:r>
              <a:rPr lang="en-US" kern="0">
                <a:solidFill>
                  <a:srgbClr val="232323"/>
                </a:solidFill>
                <a:cs typeface="Arial MT"/>
              </a:rPr>
              <a:t>for</a:t>
            </a:r>
            <a:r>
              <a:rPr lang="en-US" kern="0" spc="-25">
                <a:solidFill>
                  <a:srgbClr val="232323"/>
                </a:solidFill>
                <a:cs typeface="Arial MT"/>
              </a:rPr>
              <a:t> </a:t>
            </a:r>
            <a:r>
              <a:rPr lang="en-US" kern="0">
                <a:solidFill>
                  <a:srgbClr val="232323"/>
                </a:solidFill>
                <a:cs typeface="Arial MT"/>
              </a:rPr>
              <a:t>some</a:t>
            </a:r>
            <a:r>
              <a:rPr lang="en-US" kern="0" spc="-45">
                <a:solidFill>
                  <a:srgbClr val="232323"/>
                </a:solidFill>
                <a:cs typeface="Arial MT"/>
              </a:rPr>
              <a:t> </a:t>
            </a:r>
            <a:r>
              <a:rPr lang="en-US" kern="0">
                <a:solidFill>
                  <a:srgbClr val="232323"/>
                </a:solidFill>
                <a:cs typeface="Arial MT"/>
              </a:rPr>
              <a:t>languages,</a:t>
            </a:r>
            <a:r>
              <a:rPr lang="en-US" kern="0" spc="-60">
                <a:solidFill>
                  <a:srgbClr val="232323"/>
                </a:solidFill>
                <a:cs typeface="Arial MT"/>
              </a:rPr>
              <a:t> </a:t>
            </a:r>
            <a:r>
              <a:rPr lang="en-US" kern="0">
                <a:solidFill>
                  <a:srgbClr val="232323"/>
                </a:solidFill>
                <a:cs typeface="Arial MT"/>
              </a:rPr>
              <a:t>especially</a:t>
            </a:r>
            <a:r>
              <a:rPr lang="en-US" kern="0" spc="-40">
                <a:solidFill>
                  <a:srgbClr val="232323"/>
                </a:solidFill>
                <a:cs typeface="Arial MT"/>
              </a:rPr>
              <a:t> </a:t>
            </a:r>
            <a:r>
              <a:rPr lang="en-US" kern="0">
                <a:solidFill>
                  <a:srgbClr val="232323"/>
                </a:solidFill>
                <a:cs typeface="Arial MT"/>
              </a:rPr>
              <a:t>those</a:t>
            </a:r>
            <a:r>
              <a:rPr lang="en-US" kern="0" spc="-40">
                <a:solidFill>
                  <a:srgbClr val="232323"/>
                </a:solidFill>
                <a:cs typeface="Arial MT"/>
              </a:rPr>
              <a:t> </a:t>
            </a:r>
            <a:r>
              <a:rPr lang="en-US" kern="0">
                <a:solidFill>
                  <a:srgbClr val="232323"/>
                </a:solidFill>
                <a:cs typeface="Arial MT"/>
              </a:rPr>
              <a:t>with</a:t>
            </a:r>
            <a:r>
              <a:rPr lang="en-US" kern="0" spc="-15">
                <a:solidFill>
                  <a:srgbClr val="232323"/>
                </a:solidFill>
                <a:cs typeface="Arial MT"/>
              </a:rPr>
              <a:t> </a:t>
            </a:r>
            <a:r>
              <a:rPr lang="en-US" kern="0">
                <a:solidFill>
                  <a:srgbClr val="232323"/>
                </a:solidFill>
                <a:cs typeface="Arial MT"/>
              </a:rPr>
              <a:t>complex</a:t>
            </a:r>
            <a:r>
              <a:rPr lang="en-US" kern="0" spc="-30">
                <a:solidFill>
                  <a:srgbClr val="232323"/>
                </a:solidFill>
                <a:cs typeface="Arial MT"/>
              </a:rPr>
              <a:t> </a:t>
            </a:r>
            <a:r>
              <a:rPr lang="en-US" kern="0" spc="-10">
                <a:solidFill>
                  <a:srgbClr val="232323"/>
                </a:solidFill>
                <a:cs typeface="Arial MT"/>
              </a:rPr>
              <a:t>morphology.</a:t>
            </a:r>
            <a:endParaRPr lang="en-US" kern="0">
              <a:solidFill>
                <a:sysClr val="windowText" lastClr="000000"/>
              </a:solidFill>
              <a:cs typeface="Arial MT"/>
            </a:endParaRPr>
          </a:p>
          <a:p>
            <a:pPr marL="756285" indent="-286385">
              <a:spcBef>
                <a:spcPts val="1200"/>
              </a:spcBef>
              <a:buClr>
                <a:srgbClr val="000000"/>
              </a:buClr>
              <a:buFontTx/>
              <a:buChar char="•"/>
              <a:tabLst>
                <a:tab pos="756285" algn="l"/>
              </a:tabLst>
            </a:pPr>
            <a:r>
              <a:rPr lang="en-US" kern="0">
                <a:solidFill>
                  <a:srgbClr val="232323"/>
                </a:solidFill>
                <a:cs typeface="Arial MT"/>
              </a:rPr>
              <a:t>May</a:t>
            </a:r>
            <a:r>
              <a:rPr lang="en-US" kern="0" spc="-45">
                <a:solidFill>
                  <a:srgbClr val="232323"/>
                </a:solidFill>
                <a:cs typeface="Arial MT"/>
              </a:rPr>
              <a:t> </a:t>
            </a:r>
            <a:r>
              <a:rPr lang="en-US" kern="0">
                <a:solidFill>
                  <a:srgbClr val="232323"/>
                </a:solidFill>
                <a:cs typeface="Arial MT"/>
              </a:rPr>
              <a:t>not</a:t>
            </a:r>
            <a:r>
              <a:rPr lang="en-US" kern="0" spc="-35">
                <a:solidFill>
                  <a:srgbClr val="232323"/>
                </a:solidFill>
                <a:cs typeface="Arial MT"/>
              </a:rPr>
              <a:t> </a:t>
            </a:r>
            <a:r>
              <a:rPr lang="en-US" kern="0">
                <a:solidFill>
                  <a:srgbClr val="232323"/>
                </a:solidFill>
                <a:cs typeface="Arial MT"/>
              </a:rPr>
              <a:t>capture</a:t>
            </a:r>
            <a:r>
              <a:rPr lang="en-US" kern="0" spc="-40">
                <a:solidFill>
                  <a:srgbClr val="232323"/>
                </a:solidFill>
                <a:cs typeface="Arial MT"/>
              </a:rPr>
              <a:t> </a:t>
            </a:r>
            <a:r>
              <a:rPr lang="en-US" kern="0">
                <a:solidFill>
                  <a:srgbClr val="232323"/>
                </a:solidFill>
                <a:cs typeface="Arial MT"/>
              </a:rPr>
              <a:t>semantic</a:t>
            </a:r>
            <a:r>
              <a:rPr lang="en-US" kern="0" spc="-60">
                <a:solidFill>
                  <a:srgbClr val="232323"/>
                </a:solidFill>
                <a:cs typeface="Arial MT"/>
              </a:rPr>
              <a:t> </a:t>
            </a:r>
            <a:r>
              <a:rPr lang="en-US" kern="0">
                <a:solidFill>
                  <a:srgbClr val="232323"/>
                </a:solidFill>
                <a:cs typeface="Arial MT"/>
              </a:rPr>
              <a:t>meaning</a:t>
            </a:r>
            <a:r>
              <a:rPr lang="en-US" kern="0" spc="-40">
                <a:solidFill>
                  <a:srgbClr val="232323"/>
                </a:solidFill>
                <a:cs typeface="Arial MT"/>
              </a:rPr>
              <a:t> </a:t>
            </a:r>
            <a:r>
              <a:rPr lang="en-US" kern="0">
                <a:solidFill>
                  <a:srgbClr val="232323"/>
                </a:solidFill>
                <a:cs typeface="Arial MT"/>
              </a:rPr>
              <a:t>as</a:t>
            </a:r>
            <a:r>
              <a:rPr lang="en-US" kern="0" spc="-30">
                <a:solidFill>
                  <a:srgbClr val="232323"/>
                </a:solidFill>
                <a:cs typeface="Arial MT"/>
              </a:rPr>
              <a:t> </a:t>
            </a:r>
            <a:r>
              <a:rPr lang="en-US" kern="0">
                <a:solidFill>
                  <a:srgbClr val="232323"/>
                </a:solidFill>
                <a:cs typeface="Arial MT"/>
              </a:rPr>
              <a:t>effectively</a:t>
            </a:r>
            <a:r>
              <a:rPr lang="en-US" kern="0" spc="-30">
                <a:solidFill>
                  <a:srgbClr val="232323"/>
                </a:solidFill>
                <a:cs typeface="Arial MT"/>
              </a:rPr>
              <a:t> </a:t>
            </a:r>
            <a:r>
              <a:rPr lang="en-US" kern="0">
                <a:solidFill>
                  <a:srgbClr val="232323"/>
                </a:solidFill>
                <a:cs typeface="Arial MT"/>
              </a:rPr>
              <a:t>as</a:t>
            </a:r>
            <a:r>
              <a:rPr lang="en-US" kern="0" spc="-30">
                <a:solidFill>
                  <a:srgbClr val="232323"/>
                </a:solidFill>
                <a:cs typeface="Arial MT"/>
              </a:rPr>
              <a:t> </a:t>
            </a:r>
            <a:r>
              <a:rPr lang="en-US" kern="0">
                <a:solidFill>
                  <a:srgbClr val="232323"/>
                </a:solidFill>
                <a:cs typeface="Arial MT"/>
              </a:rPr>
              <a:t>other</a:t>
            </a:r>
            <a:r>
              <a:rPr lang="en-US" kern="0" spc="-45">
                <a:solidFill>
                  <a:srgbClr val="232323"/>
                </a:solidFill>
                <a:cs typeface="Arial MT"/>
              </a:rPr>
              <a:t> </a:t>
            </a:r>
            <a:r>
              <a:rPr lang="en-US" kern="0">
                <a:solidFill>
                  <a:srgbClr val="232323"/>
                </a:solidFill>
                <a:cs typeface="Arial MT"/>
              </a:rPr>
              <a:t>tokenization</a:t>
            </a:r>
            <a:r>
              <a:rPr lang="en-US" kern="0" spc="-60">
                <a:solidFill>
                  <a:srgbClr val="232323"/>
                </a:solidFill>
                <a:cs typeface="Arial MT"/>
              </a:rPr>
              <a:t> </a:t>
            </a:r>
            <a:r>
              <a:rPr lang="en-US" kern="0" spc="-10">
                <a:solidFill>
                  <a:srgbClr val="232323"/>
                </a:solidFill>
                <a:cs typeface="Arial MT"/>
              </a:rPr>
              <a:t>methods.</a:t>
            </a:r>
            <a:endParaRPr lang="en-US" kern="0">
              <a:solidFill>
                <a:sysClr val="windowText" lastClr="000000"/>
              </a:solidFill>
              <a:cs typeface="Arial MT"/>
            </a:endParaRPr>
          </a:p>
          <a:p>
            <a:endParaRPr lang="en-IN" kern="0" dirty="0">
              <a:solidFill>
                <a:sysClr val="windowText" lastClr="000000"/>
              </a:solidFill>
            </a:endParaRPr>
          </a:p>
        </p:txBody>
      </p:sp>
    </p:spTree>
    <p:extLst>
      <p:ext uri="{BB962C8B-B14F-4D97-AF65-F5344CB8AC3E}">
        <p14:creationId xmlns:p14="http://schemas.microsoft.com/office/powerpoint/2010/main" val="304356811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928E6BF-5D9B-36E0-218B-DB6457E48184}"/>
              </a:ext>
            </a:extLst>
          </p:cNvPr>
          <p:cNvGrpSpPr/>
          <p:nvPr/>
        </p:nvGrpSpPr>
        <p:grpSpPr>
          <a:xfrm>
            <a:off x="2610137" y="4935502"/>
            <a:ext cx="4874701" cy="1280160"/>
            <a:chOff x="457200" y="4341142"/>
            <a:chExt cx="4874701" cy="1280160"/>
          </a:xfrm>
        </p:grpSpPr>
        <p:sp>
          <p:nvSpPr>
            <p:cNvPr id="7" name="Text 5"/>
            <p:cNvSpPr/>
            <p:nvPr/>
          </p:nvSpPr>
          <p:spPr>
            <a:xfrm>
              <a:off x="457200" y="4341142"/>
              <a:ext cx="4874701" cy="1280160"/>
            </a:xfrm>
            <a:prstGeom prst="roundRect">
              <a:avLst>
                <a:gd name="adj" fmla="val 4324"/>
              </a:avLst>
            </a:prstGeom>
            <a:solidFill>
              <a:srgbClr val="FAEEDA">
                <a:alpha val="40000"/>
              </a:srgbClr>
            </a:solidFill>
            <a:ln w="9525">
              <a:solidFill>
                <a:srgbClr val="BA7517"/>
              </a:solidFill>
            </a:ln>
          </p:spPr>
          <p:txBody>
            <a:bodyPr wrap="square" lIns="0" tIns="0" rIns="0" bIns="0" rtlCol="0" anchor="t"/>
            <a:lstStyle/>
            <a:p>
              <a:pPr marL="0" indent="0" algn="l">
                <a:buNone/>
              </a:pPr>
              <a:r>
                <a:rPr lang="en-US" b="1" kern="0" spc="100" dirty="0">
                  <a:solidFill>
                    <a:srgbClr val="854F0B"/>
                  </a:solidFill>
                  <a:latin typeface="Cambria" pitchFamily="34" charset="0"/>
                  <a:ea typeface="Cambria" pitchFamily="34" charset="-122"/>
                  <a:cs typeface="Cambria" pitchFamily="34" charset="-120"/>
                </a:rPr>
                <a:t>Subword case  ·  "Tokenization matters"
</a:t>
              </a:r>
              <a:r>
                <a:rPr lang="en-US" dirty="0">
                  <a:solidFill>
                    <a:srgbClr val="5F5E5A"/>
                  </a:solidFill>
                  <a:latin typeface="Calibri" pitchFamily="34" charset="0"/>
                  <a:ea typeface="Calibri" pitchFamily="34" charset="-122"/>
                  <a:cs typeface="Calibri" pitchFamily="34" charset="-120"/>
                </a:rPr>
                <a:t>Input:  </a:t>
              </a:r>
              <a:r>
                <a:rPr lang="en-US" dirty="0">
                  <a:solidFill>
                    <a:srgbClr val="2C2C2A"/>
                  </a:solidFill>
                  <a:latin typeface="Consolas" pitchFamily="34" charset="0"/>
                  <a:ea typeface="Consolas" pitchFamily="34" charset="-122"/>
                  <a:cs typeface="Consolas" pitchFamily="34" charset="-120"/>
                </a:rPr>
                <a:t>Tokenization matters
</a:t>
              </a:r>
              <a:r>
                <a:rPr lang="en-US" dirty="0">
                  <a:solidFill>
                    <a:srgbClr val="5F5E5A"/>
                  </a:solidFill>
                  <a:latin typeface="Calibri" pitchFamily="34" charset="0"/>
                  <a:ea typeface="Calibri" pitchFamily="34" charset="-122"/>
                  <a:cs typeface="Calibri" pitchFamily="34" charset="-120"/>
                </a:rPr>
                <a:t>Whitespace-marked:  </a:t>
              </a:r>
              <a:r>
                <a:rPr lang="en-US" dirty="0">
                  <a:solidFill>
                    <a:srgbClr val="2C2C2A"/>
                  </a:solidFill>
                  <a:latin typeface="Consolas" pitchFamily="34" charset="0"/>
                  <a:ea typeface="Consolas" pitchFamily="34" charset="-122"/>
                  <a:cs typeface="Consolas" pitchFamily="34" charset="-120"/>
                </a:rPr>
                <a:t>▁Tokenization▁matters
</a:t>
              </a:r>
              <a:r>
                <a:rPr lang="en-US" dirty="0">
                  <a:solidFill>
                    <a:srgbClr val="5F5E5A"/>
                  </a:solidFill>
                  <a:latin typeface="Calibri" pitchFamily="34" charset="0"/>
                  <a:ea typeface="Calibri" pitchFamily="34" charset="-122"/>
                  <a:cs typeface="Calibri" pitchFamily="34" charset="-120"/>
                </a:rPr>
                <a:t>Pieces:</a:t>
              </a:r>
              <a:endParaRPr lang="en-US" dirty="0"/>
            </a:p>
          </p:txBody>
        </p:sp>
        <p:grpSp>
          <p:nvGrpSpPr>
            <p:cNvPr id="16" name="Group 15">
              <a:extLst>
                <a:ext uri="{FF2B5EF4-FFF2-40B4-BE49-F238E27FC236}">
                  <a16:creationId xmlns:a16="http://schemas.microsoft.com/office/drawing/2014/main" id="{106D0AE5-9777-0D8E-C197-AB0E795A1E67}"/>
                </a:ext>
              </a:extLst>
            </p:cNvPr>
            <p:cNvGrpSpPr/>
            <p:nvPr/>
          </p:nvGrpSpPr>
          <p:grpSpPr>
            <a:xfrm>
              <a:off x="1179863" y="5214568"/>
              <a:ext cx="3026664" cy="310896"/>
              <a:chOff x="1063809" y="3549878"/>
              <a:chExt cx="3026664" cy="310896"/>
            </a:xfrm>
          </p:grpSpPr>
          <p:sp>
            <p:nvSpPr>
              <p:cNvPr id="8" name="Text 6"/>
              <p:cNvSpPr/>
              <p:nvPr/>
            </p:nvSpPr>
            <p:spPr>
              <a:xfrm>
                <a:off x="1063809" y="3549878"/>
                <a:ext cx="960120" cy="310896"/>
              </a:xfrm>
              <a:prstGeom prst="roundRect">
                <a:avLst>
                  <a:gd name="adj" fmla="val 14706"/>
                </a:avLst>
              </a:prstGeom>
              <a:solidFill>
                <a:srgbClr val="FAEEDA"/>
              </a:solidFill>
              <a:ln w="9525">
                <a:solidFill>
                  <a:srgbClr val="BA7517"/>
                </a:solidFill>
              </a:ln>
            </p:spPr>
            <p:txBody>
              <a:bodyPr wrap="square" lIns="0" tIns="0" rIns="0" bIns="0" rtlCol="0" anchor="ctr"/>
              <a:lstStyle/>
              <a:p>
                <a:pPr marL="0" indent="0" algn="ctr">
                  <a:buNone/>
                </a:pPr>
                <a:r>
                  <a:rPr lang="en-US" sz="1200" b="1" dirty="0">
                    <a:solidFill>
                      <a:srgbClr val="854F0B"/>
                    </a:solidFill>
                    <a:latin typeface="Consolas" pitchFamily="34" charset="0"/>
                    <a:ea typeface="Consolas" pitchFamily="34" charset="-122"/>
                    <a:cs typeface="Consolas" pitchFamily="34" charset="-120"/>
                  </a:rPr>
                  <a:t>▁</a:t>
                </a:r>
                <a:r>
                  <a:rPr lang="en-US" sz="1200" dirty="0">
                    <a:solidFill>
                      <a:srgbClr val="854F0B"/>
                    </a:solidFill>
                    <a:latin typeface="Consolas" pitchFamily="34" charset="0"/>
                    <a:ea typeface="Consolas" pitchFamily="34" charset="-122"/>
                    <a:cs typeface="Consolas" pitchFamily="34" charset="-120"/>
                  </a:rPr>
                  <a:t>Token</a:t>
                </a:r>
                <a:endParaRPr lang="en-US" sz="1200" dirty="0"/>
              </a:p>
            </p:txBody>
          </p:sp>
          <p:sp>
            <p:nvSpPr>
              <p:cNvPr id="9" name="Text 7"/>
              <p:cNvSpPr/>
              <p:nvPr/>
            </p:nvSpPr>
            <p:spPr>
              <a:xfrm>
                <a:off x="2097081" y="3549878"/>
                <a:ext cx="822960" cy="310896"/>
              </a:xfrm>
              <a:prstGeom prst="roundRect">
                <a:avLst>
                  <a:gd name="adj" fmla="val 14706"/>
                </a:avLst>
              </a:prstGeom>
              <a:solidFill>
                <a:srgbClr val="FFFFFF"/>
              </a:solidFill>
              <a:ln w="9525">
                <a:solidFill>
                  <a:srgbClr val="A32D2D"/>
                </a:solidFill>
              </a:ln>
            </p:spPr>
            <p:txBody>
              <a:bodyPr wrap="square" lIns="0" tIns="0" rIns="0" bIns="0" rtlCol="0" anchor="ctr"/>
              <a:lstStyle/>
              <a:p>
                <a:pPr marL="0" indent="0" algn="ctr">
                  <a:buNone/>
                </a:pPr>
                <a:r>
                  <a:rPr lang="en-US" sz="1200" i="1" dirty="0">
                    <a:solidFill>
                      <a:srgbClr val="A32D2D"/>
                    </a:solidFill>
                    <a:latin typeface="Consolas" pitchFamily="34" charset="0"/>
                    <a:ea typeface="Consolas" pitchFamily="34" charset="-122"/>
                    <a:cs typeface="Consolas" pitchFamily="34" charset="-120"/>
                  </a:rPr>
                  <a:t>ization</a:t>
                </a:r>
                <a:endParaRPr lang="en-US" sz="1200" dirty="0"/>
              </a:p>
            </p:txBody>
          </p:sp>
          <p:sp>
            <p:nvSpPr>
              <p:cNvPr id="10" name="Text 8"/>
              <p:cNvSpPr/>
              <p:nvPr/>
            </p:nvSpPr>
            <p:spPr>
              <a:xfrm>
                <a:off x="2993193" y="3549878"/>
                <a:ext cx="1097280" cy="310896"/>
              </a:xfrm>
              <a:prstGeom prst="roundRect">
                <a:avLst>
                  <a:gd name="adj" fmla="val 14706"/>
                </a:avLst>
              </a:prstGeom>
              <a:solidFill>
                <a:srgbClr val="FAEEDA"/>
              </a:solidFill>
              <a:ln w="9525">
                <a:solidFill>
                  <a:srgbClr val="BA7517"/>
                </a:solidFill>
              </a:ln>
            </p:spPr>
            <p:txBody>
              <a:bodyPr wrap="square" lIns="0" tIns="0" rIns="0" bIns="0" rtlCol="0" anchor="ctr"/>
              <a:lstStyle/>
              <a:p>
                <a:pPr marL="0" indent="0" algn="ctr">
                  <a:buNone/>
                </a:pPr>
                <a:r>
                  <a:rPr lang="en-US" sz="1200" b="1" dirty="0">
                    <a:solidFill>
                      <a:srgbClr val="854F0B"/>
                    </a:solidFill>
                    <a:latin typeface="Consolas" pitchFamily="34" charset="0"/>
                    <a:ea typeface="Consolas" pitchFamily="34" charset="-122"/>
                    <a:cs typeface="Consolas" pitchFamily="34" charset="-120"/>
                  </a:rPr>
                  <a:t>▁</a:t>
                </a:r>
                <a:r>
                  <a:rPr lang="en-US" sz="1200" dirty="0">
                    <a:solidFill>
                      <a:srgbClr val="854F0B"/>
                    </a:solidFill>
                    <a:latin typeface="Consolas" pitchFamily="34" charset="0"/>
                    <a:ea typeface="Consolas" pitchFamily="34" charset="-122"/>
                    <a:cs typeface="Consolas" pitchFamily="34" charset="-120"/>
                  </a:rPr>
                  <a:t>matters</a:t>
                </a:r>
                <a:endParaRPr lang="en-US" sz="1200" dirty="0"/>
              </a:p>
            </p:txBody>
          </p:sp>
        </p:grpSp>
      </p:grpSp>
      <p:sp>
        <p:nvSpPr>
          <p:cNvPr id="6" name="Content Placeholder 5">
            <a:extLst>
              <a:ext uri="{FF2B5EF4-FFF2-40B4-BE49-F238E27FC236}">
                <a16:creationId xmlns:a16="http://schemas.microsoft.com/office/drawing/2014/main" id="{59476D54-E9BC-5C92-1421-DC633B6E54E1}"/>
              </a:ext>
            </a:extLst>
          </p:cNvPr>
          <p:cNvSpPr>
            <a:spLocks noGrp="1"/>
          </p:cNvSpPr>
          <p:nvPr>
            <p:ph idx="10"/>
          </p:nvPr>
        </p:nvSpPr>
        <p:spPr>
          <a:xfrm>
            <a:off x="167640" y="1422253"/>
            <a:ext cx="11480800" cy="3277764"/>
          </a:xfrm>
        </p:spPr>
        <p:txBody>
          <a:bodyPr>
            <a:normAutofit/>
          </a:bodyPr>
          <a:lstStyle/>
          <a:p>
            <a:pPr lvl="0"/>
            <a:r>
              <a:rPr lang="en-IN" b="1" dirty="0"/>
              <a:t>Open-Source Framework:</a:t>
            </a:r>
            <a:r>
              <a:rPr lang="en-IN" dirty="0"/>
              <a:t> Developed by Google, </a:t>
            </a:r>
            <a:r>
              <a:rPr lang="en-IN" dirty="0" err="1"/>
              <a:t>SentencePiece</a:t>
            </a:r>
            <a:r>
              <a:rPr lang="en-IN" dirty="0"/>
              <a:t> is a </a:t>
            </a:r>
            <a:r>
              <a:rPr lang="en-IN" dirty="0" err="1"/>
              <a:t>subword</a:t>
            </a:r>
            <a:r>
              <a:rPr lang="en-IN" dirty="0"/>
              <a:t> tokenization library implementing both </a:t>
            </a:r>
            <a:r>
              <a:rPr lang="en-IN" b="1" dirty="0"/>
              <a:t>BPE</a:t>
            </a:r>
            <a:r>
              <a:rPr lang="en-IN" dirty="0"/>
              <a:t> and </a:t>
            </a:r>
            <a:r>
              <a:rPr lang="en-IN" b="1" dirty="0"/>
              <a:t>Unigram Language Model</a:t>
            </a:r>
            <a:r>
              <a:rPr lang="en-IN" dirty="0"/>
              <a:t> algorithms.</a:t>
            </a:r>
          </a:p>
          <a:p>
            <a:pPr lvl="0"/>
            <a:r>
              <a:rPr lang="en-IN" b="1" dirty="0"/>
              <a:t>Language-Agnostic (No Pre-Tokenizer Needed):</a:t>
            </a:r>
            <a:r>
              <a:rPr lang="en-IN" dirty="0"/>
              <a:t> Operates directly on raw text streams without relying on language-specific word splitters, making it effective for unsegmented languages such as Chinese, Japanese, and Thai.</a:t>
            </a:r>
          </a:p>
          <a:p>
            <a:pPr lvl="0"/>
            <a:r>
              <a:rPr lang="en-IN" b="1" dirty="0"/>
              <a:t>Architectural Legacy:</a:t>
            </a:r>
            <a:r>
              <a:rPr lang="en-IN" dirty="0"/>
              <a:t> Served as the core tokenization backend for foundational models including Google's T5 and Gemma, as well as Meta's Llama 1 and 2.</a:t>
            </a:r>
          </a:p>
          <a:p>
            <a:endParaRPr lang="en-IN" dirty="0"/>
          </a:p>
        </p:txBody>
      </p:sp>
      <p:sp>
        <p:nvSpPr>
          <p:cNvPr id="5" name="Title 4">
            <a:extLst>
              <a:ext uri="{FF2B5EF4-FFF2-40B4-BE49-F238E27FC236}">
                <a16:creationId xmlns:a16="http://schemas.microsoft.com/office/drawing/2014/main" id="{37DC951A-C591-F1AD-A7D3-E22980A3A016}"/>
              </a:ext>
            </a:extLst>
          </p:cNvPr>
          <p:cNvSpPr>
            <a:spLocks noGrp="1"/>
          </p:cNvSpPr>
          <p:nvPr>
            <p:ph type="title"/>
          </p:nvPr>
        </p:nvSpPr>
        <p:spPr>
          <a:xfrm>
            <a:off x="304800" y="177213"/>
            <a:ext cx="10881209" cy="1219200"/>
          </a:xfrm>
        </p:spPr>
        <p:txBody>
          <a:bodyPr/>
          <a:lstStyle/>
          <a:p>
            <a:r>
              <a:rPr lang="en-US" b="1" dirty="0" err="1">
                <a:solidFill>
                  <a:srgbClr val="2C2C2A"/>
                </a:solidFill>
                <a:latin typeface="Cambria" pitchFamily="34" charset="0"/>
                <a:ea typeface="Cambria" pitchFamily="34" charset="-122"/>
                <a:cs typeface="Cambria" pitchFamily="34" charset="-120"/>
              </a:rPr>
              <a:t>SentencePiece</a:t>
            </a:r>
            <a:br>
              <a:rPr lang="en-US" dirty="0"/>
            </a:br>
            <a:endParaRPr lang="en-IN" dirty="0"/>
          </a:p>
        </p:txBody>
      </p:sp>
    </p:spTree>
    <p:extLst>
      <p:ext uri="{BB962C8B-B14F-4D97-AF65-F5344CB8AC3E}">
        <p14:creationId xmlns:p14="http://schemas.microsoft.com/office/powerpoint/2010/main" val="3914956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6"/>
          <p:cNvSpPr>
            <a:spLocks noGrp="1"/>
          </p:cNvSpPr>
          <p:nvPr>
            <p:ph type="title" hasCustomPrompt="1"/>
          </p:nvPr>
        </p:nvSpPr>
        <p:spPr>
          <a:prstGeom prst="rect">
            <a:avLst/>
          </a:prstGeom>
          <a:noFill/>
          <a:ln/>
        </p:spPr>
        <p:txBody>
          <a:bodyPr vert="horz" wrap="square" lIns="0" tIns="0" rIns="0" bIns="0" rtlCol="0" anchor="ctr">
            <a:normAutofit/>
          </a:bodyPr>
          <a:lstStyle/>
          <a:p>
            <a:r>
              <a:rPr lang="en-US" dirty="0"/>
              <a:t>Which tokenizer framework should I use?</a:t>
            </a:r>
          </a:p>
        </p:txBody>
      </p:sp>
      <p:sp>
        <p:nvSpPr>
          <p:cNvPr id="3" name="Text 1"/>
          <p:cNvSpPr txBox="1"/>
          <p:nvPr/>
        </p:nvSpPr>
        <p:spPr>
          <a:xfrm>
            <a:off x="4084320" y="1365504"/>
            <a:ext cx="4023360" cy="560832"/>
          </a:xfrm>
          <a:prstGeom prst="rect">
            <a:avLst/>
          </a:prstGeom>
          <a:solidFill>
            <a:srgbClr val="1A1A1A"/>
          </a:solidFill>
          <a:ln/>
        </p:spPr>
        <p:txBody>
          <a:bodyPr wrap="square" lIns="847" tIns="847" rIns="847" bIns="847" rtlCol="0" anchor="ctr"/>
          <a:lstStyle/>
          <a:p>
            <a:pPr algn="ctr"/>
            <a:r>
              <a:rPr lang="en-US" b="1" dirty="0">
                <a:solidFill>
                  <a:srgbClr val="FFFFFF"/>
                </a:solidFill>
                <a:latin typeface="Cambria" panose="02040503050406030204" pitchFamily="18" charset="0"/>
                <a:ea typeface="Cambria" panose="02040503050406030204" pitchFamily="18" charset="0"/>
                <a:cs typeface="Cambria" pitchFamily="34" charset="-120"/>
              </a:rPr>
              <a:t>What are you trying to do?</a:t>
            </a:r>
            <a:endParaRPr lang="en-US" dirty="0">
              <a:latin typeface="Cambria" panose="02040503050406030204" pitchFamily="18" charset="0"/>
              <a:ea typeface="Cambria" panose="02040503050406030204" pitchFamily="18" charset="0"/>
            </a:endParaRPr>
          </a:p>
        </p:txBody>
      </p:sp>
      <p:sp>
        <p:nvSpPr>
          <p:cNvPr id="4" name="Shape 2"/>
          <p:cNvSpPr/>
          <p:nvPr/>
        </p:nvSpPr>
        <p:spPr>
          <a:xfrm>
            <a:off x="6096000" y="1926336"/>
            <a:ext cx="0" cy="243840"/>
          </a:xfrm>
          <a:prstGeom prst="line">
            <a:avLst/>
          </a:prstGeom>
          <a:noFill/>
          <a:ln w="19050">
            <a:solidFill>
              <a:srgbClr val="6A6A6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5" name="Shape 3"/>
          <p:cNvSpPr/>
          <p:nvPr/>
        </p:nvSpPr>
        <p:spPr>
          <a:xfrm>
            <a:off x="2231136" y="2170176"/>
            <a:ext cx="7729728" cy="0"/>
          </a:xfrm>
          <a:prstGeom prst="line">
            <a:avLst/>
          </a:prstGeom>
          <a:noFill/>
          <a:ln w="19050">
            <a:solidFill>
              <a:srgbClr val="6A6A6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6" name="Shape 4"/>
          <p:cNvSpPr/>
          <p:nvPr/>
        </p:nvSpPr>
        <p:spPr>
          <a:xfrm>
            <a:off x="2231136" y="2170176"/>
            <a:ext cx="0" cy="292608"/>
          </a:xfrm>
          <a:prstGeom prst="line">
            <a:avLst/>
          </a:prstGeom>
          <a:noFill/>
          <a:ln w="19050">
            <a:solidFill>
              <a:srgbClr val="6A6A6A"/>
            </a:solidFill>
            <a:prstDash val="solid"/>
            <a:tailEnd type="triangle"/>
          </a:ln>
        </p:spPr>
        <p:txBody>
          <a:bodyPr/>
          <a:lstStyle/>
          <a:p>
            <a:endParaRPr lang="en-IN">
              <a:latin typeface="Cambria" panose="02040503050406030204" pitchFamily="18" charset="0"/>
              <a:ea typeface="Cambria" panose="02040503050406030204" pitchFamily="18" charset="0"/>
            </a:endParaRPr>
          </a:p>
        </p:txBody>
      </p:sp>
      <p:sp>
        <p:nvSpPr>
          <p:cNvPr id="7" name="Shape 5"/>
          <p:cNvSpPr/>
          <p:nvPr/>
        </p:nvSpPr>
        <p:spPr>
          <a:xfrm>
            <a:off x="6096000" y="2170176"/>
            <a:ext cx="0" cy="292608"/>
          </a:xfrm>
          <a:prstGeom prst="line">
            <a:avLst/>
          </a:prstGeom>
          <a:noFill/>
          <a:ln w="19050">
            <a:solidFill>
              <a:srgbClr val="6A6A6A"/>
            </a:solidFill>
            <a:prstDash val="solid"/>
            <a:tailEnd type="triangle"/>
          </a:ln>
        </p:spPr>
        <p:txBody>
          <a:bodyPr/>
          <a:lstStyle/>
          <a:p>
            <a:endParaRPr lang="en-IN">
              <a:latin typeface="Cambria" panose="02040503050406030204" pitchFamily="18" charset="0"/>
              <a:ea typeface="Cambria" panose="02040503050406030204" pitchFamily="18" charset="0"/>
            </a:endParaRPr>
          </a:p>
        </p:txBody>
      </p:sp>
      <p:sp>
        <p:nvSpPr>
          <p:cNvPr id="8" name="Shape 6"/>
          <p:cNvSpPr/>
          <p:nvPr/>
        </p:nvSpPr>
        <p:spPr>
          <a:xfrm>
            <a:off x="9960864" y="2170176"/>
            <a:ext cx="0" cy="292608"/>
          </a:xfrm>
          <a:prstGeom prst="line">
            <a:avLst/>
          </a:prstGeom>
          <a:noFill/>
          <a:ln w="19050">
            <a:solidFill>
              <a:srgbClr val="6A6A6A"/>
            </a:solidFill>
            <a:prstDash val="solid"/>
            <a:tailEnd type="triangle"/>
          </a:ln>
        </p:spPr>
        <p:txBody>
          <a:bodyPr/>
          <a:lstStyle/>
          <a:p>
            <a:endParaRPr lang="en-IN">
              <a:latin typeface="Cambria" panose="02040503050406030204" pitchFamily="18" charset="0"/>
              <a:ea typeface="Cambria" panose="02040503050406030204" pitchFamily="18" charset="0"/>
            </a:endParaRPr>
          </a:p>
        </p:txBody>
      </p:sp>
      <p:sp>
        <p:nvSpPr>
          <p:cNvPr id="9" name="Text 7"/>
          <p:cNvSpPr txBox="1"/>
          <p:nvPr/>
        </p:nvSpPr>
        <p:spPr>
          <a:xfrm>
            <a:off x="402336" y="2487168"/>
            <a:ext cx="3657600" cy="682752"/>
          </a:xfrm>
          <a:prstGeom prst="rect">
            <a:avLst/>
          </a:prstGeom>
          <a:solidFill>
            <a:srgbClr val="FFFFFF"/>
          </a:solidFill>
          <a:ln w="19050">
            <a:solidFill>
              <a:srgbClr val="2F7FB5"/>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Train a new tokenizer</a:t>
            </a:r>
            <a:endParaRPr lang="en-US" dirty="0">
              <a:latin typeface="Cambria" panose="02040503050406030204" pitchFamily="18" charset="0"/>
              <a:ea typeface="Cambria" panose="02040503050406030204" pitchFamily="18" charset="0"/>
            </a:endParaRPr>
          </a:p>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(or extend one)</a:t>
            </a:r>
            <a:endParaRPr lang="en-US" dirty="0">
              <a:latin typeface="Cambria" panose="02040503050406030204" pitchFamily="18" charset="0"/>
              <a:ea typeface="Cambria" panose="02040503050406030204" pitchFamily="18" charset="0"/>
            </a:endParaRPr>
          </a:p>
        </p:txBody>
      </p:sp>
      <p:sp>
        <p:nvSpPr>
          <p:cNvPr id="10" name="Shape 8"/>
          <p:cNvSpPr/>
          <p:nvPr/>
        </p:nvSpPr>
        <p:spPr>
          <a:xfrm>
            <a:off x="2231136" y="3169920"/>
            <a:ext cx="0" cy="292608"/>
          </a:xfrm>
          <a:prstGeom prst="line">
            <a:avLst/>
          </a:prstGeom>
          <a:noFill/>
          <a:ln w="19050">
            <a:solidFill>
              <a:srgbClr val="6A6A6A"/>
            </a:solidFill>
            <a:prstDash val="solid"/>
            <a:tailEnd type="triangle"/>
          </a:ln>
        </p:spPr>
        <p:txBody>
          <a:bodyPr/>
          <a:lstStyle/>
          <a:p>
            <a:endParaRPr lang="en-IN">
              <a:latin typeface="Cambria" panose="02040503050406030204" pitchFamily="18" charset="0"/>
              <a:ea typeface="Cambria" panose="02040503050406030204" pitchFamily="18" charset="0"/>
            </a:endParaRPr>
          </a:p>
        </p:txBody>
      </p:sp>
      <p:sp>
        <p:nvSpPr>
          <p:cNvPr id="11" name="Text 9"/>
          <p:cNvSpPr txBox="1"/>
          <p:nvPr/>
        </p:nvSpPr>
        <p:spPr>
          <a:xfrm>
            <a:off x="402336" y="3486912"/>
            <a:ext cx="3657600" cy="536448"/>
          </a:xfrm>
          <a:prstGeom prst="rect">
            <a:avLst/>
          </a:prstGeom>
          <a:solidFill>
            <a:srgbClr val="2F7FB5"/>
          </a:solidFill>
          <a:ln/>
        </p:spPr>
        <p:txBody>
          <a:bodyPr wrap="square" lIns="847" tIns="847" rIns="847" bIns="847" rtlCol="0" anchor="ctr"/>
          <a:lstStyle/>
          <a:p>
            <a:pPr algn="ctr"/>
            <a:r>
              <a:rPr lang="en-US" b="1" dirty="0">
                <a:solidFill>
                  <a:srgbClr val="FFFFFF"/>
                </a:solidFill>
                <a:latin typeface="Cambria" panose="02040503050406030204" pitchFamily="18" charset="0"/>
                <a:ea typeface="Cambria" panose="02040503050406030204" pitchFamily="18" charset="0"/>
                <a:cs typeface="Calibri" pitchFamily="34" charset="-120"/>
              </a:rPr>
              <a:t>Hugging Face tokenizers</a:t>
            </a:r>
            <a:endParaRPr lang="en-US" dirty="0">
              <a:latin typeface="Cambria" panose="02040503050406030204" pitchFamily="18" charset="0"/>
              <a:ea typeface="Cambria" panose="02040503050406030204" pitchFamily="18" charset="0"/>
            </a:endParaRPr>
          </a:p>
        </p:txBody>
      </p:sp>
      <p:sp>
        <p:nvSpPr>
          <p:cNvPr id="12" name="Text 10"/>
          <p:cNvSpPr txBox="1"/>
          <p:nvPr/>
        </p:nvSpPr>
        <p:spPr>
          <a:xfrm>
            <a:off x="402336" y="4023360"/>
            <a:ext cx="3657600" cy="1773936"/>
          </a:xfrm>
          <a:prstGeom prst="rect">
            <a:avLst/>
          </a:prstGeom>
          <a:solidFill>
            <a:srgbClr val="E6F2FA"/>
          </a:solidFill>
          <a:ln/>
        </p:spPr>
        <p:txBody>
          <a:bodyPr wrap="square" lIns="101600" tIns="135467" rIns="135467" bIns="101600" rtlCol="0" anchor="t"/>
          <a:lstStyle/>
          <a:p>
            <a:pPr marL="457189" indent="-457189">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Custom BPE / Unigram training</a:t>
            </a:r>
            <a:endParaRPr lang="en-US" dirty="0">
              <a:latin typeface="Cambria" panose="02040503050406030204" pitchFamily="18" charset="0"/>
              <a:ea typeface="Cambria" panose="02040503050406030204" pitchFamily="18" charset="0"/>
            </a:endParaRPr>
          </a:p>
          <a:p>
            <a:pPr marL="457189" indent="-457189">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Normalisation &amp; pre-tokenisation rules</a:t>
            </a:r>
            <a:endParaRPr lang="en-US" dirty="0">
              <a:latin typeface="Cambria" panose="02040503050406030204" pitchFamily="18" charset="0"/>
              <a:ea typeface="Cambria" panose="02040503050406030204" pitchFamily="18" charset="0"/>
            </a:endParaRPr>
          </a:p>
          <a:p>
            <a:pPr marL="457189" indent="-457189">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Choose your own vocab size</a:t>
            </a:r>
            <a:endParaRPr lang="en-US" dirty="0">
              <a:latin typeface="Cambria" panose="02040503050406030204" pitchFamily="18" charset="0"/>
              <a:ea typeface="Cambria" panose="02040503050406030204" pitchFamily="18" charset="0"/>
            </a:endParaRPr>
          </a:p>
        </p:txBody>
      </p:sp>
      <p:sp>
        <p:nvSpPr>
          <p:cNvPr id="13" name="Text 11"/>
          <p:cNvSpPr txBox="1"/>
          <p:nvPr/>
        </p:nvSpPr>
        <p:spPr>
          <a:xfrm>
            <a:off x="4267200" y="2487168"/>
            <a:ext cx="3657600" cy="682752"/>
          </a:xfrm>
          <a:prstGeom prst="rect">
            <a:avLst/>
          </a:prstGeom>
          <a:solidFill>
            <a:srgbClr val="FFFFFF"/>
          </a:solidFill>
          <a:ln w="19050">
            <a:solidFill>
              <a:srgbClr val="2E7D32"/>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Build an open-source</a:t>
            </a:r>
            <a:endParaRPr lang="en-US" dirty="0">
              <a:latin typeface="Cambria" panose="02040503050406030204" pitchFamily="18" charset="0"/>
              <a:ea typeface="Cambria" panose="02040503050406030204" pitchFamily="18" charset="0"/>
            </a:endParaRPr>
          </a:p>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model pipeline</a:t>
            </a:r>
            <a:endParaRPr lang="en-US" dirty="0">
              <a:latin typeface="Cambria" panose="02040503050406030204" pitchFamily="18" charset="0"/>
              <a:ea typeface="Cambria" panose="02040503050406030204" pitchFamily="18" charset="0"/>
            </a:endParaRPr>
          </a:p>
        </p:txBody>
      </p:sp>
      <p:sp>
        <p:nvSpPr>
          <p:cNvPr id="14" name="Shape 12"/>
          <p:cNvSpPr/>
          <p:nvPr/>
        </p:nvSpPr>
        <p:spPr>
          <a:xfrm>
            <a:off x="6096000" y="3169920"/>
            <a:ext cx="0" cy="292608"/>
          </a:xfrm>
          <a:prstGeom prst="line">
            <a:avLst/>
          </a:prstGeom>
          <a:noFill/>
          <a:ln w="19050">
            <a:solidFill>
              <a:srgbClr val="6A6A6A"/>
            </a:solidFill>
            <a:prstDash val="solid"/>
            <a:tailEnd type="triangle"/>
          </a:ln>
        </p:spPr>
        <p:txBody>
          <a:bodyPr/>
          <a:lstStyle/>
          <a:p>
            <a:endParaRPr lang="en-IN">
              <a:latin typeface="Cambria" panose="02040503050406030204" pitchFamily="18" charset="0"/>
              <a:ea typeface="Cambria" panose="02040503050406030204" pitchFamily="18" charset="0"/>
            </a:endParaRPr>
          </a:p>
        </p:txBody>
      </p:sp>
      <p:sp>
        <p:nvSpPr>
          <p:cNvPr id="15" name="Text 13"/>
          <p:cNvSpPr txBox="1"/>
          <p:nvPr/>
        </p:nvSpPr>
        <p:spPr>
          <a:xfrm>
            <a:off x="4267200" y="3486912"/>
            <a:ext cx="3657600" cy="536448"/>
          </a:xfrm>
          <a:prstGeom prst="rect">
            <a:avLst/>
          </a:prstGeom>
          <a:solidFill>
            <a:srgbClr val="2E7D32"/>
          </a:solidFill>
          <a:ln/>
        </p:spPr>
        <p:txBody>
          <a:bodyPr wrap="square" lIns="847" tIns="847" rIns="847" bIns="847" rtlCol="0" anchor="ctr"/>
          <a:lstStyle/>
          <a:p>
            <a:pPr algn="ctr"/>
            <a:r>
              <a:rPr lang="en-US" b="1" dirty="0">
                <a:solidFill>
                  <a:srgbClr val="FFFFFF"/>
                </a:solidFill>
                <a:latin typeface="Cambria" panose="02040503050406030204" pitchFamily="18" charset="0"/>
                <a:ea typeface="Cambria" panose="02040503050406030204" pitchFamily="18" charset="0"/>
                <a:cs typeface="Calibri" pitchFamily="34" charset="-120"/>
              </a:rPr>
              <a:t>Hugging Face tokenizers</a:t>
            </a:r>
            <a:endParaRPr lang="en-US" dirty="0">
              <a:latin typeface="Cambria" panose="02040503050406030204" pitchFamily="18" charset="0"/>
              <a:ea typeface="Cambria" panose="02040503050406030204" pitchFamily="18" charset="0"/>
            </a:endParaRPr>
          </a:p>
        </p:txBody>
      </p:sp>
      <p:sp>
        <p:nvSpPr>
          <p:cNvPr id="16" name="Text 14"/>
          <p:cNvSpPr txBox="1"/>
          <p:nvPr/>
        </p:nvSpPr>
        <p:spPr>
          <a:xfrm>
            <a:off x="4267200" y="4023360"/>
            <a:ext cx="3657600" cy="2097024"/>
          </a:xfrm>
          <a:prstGeom prst="rect">
            <a:avLst/>
          </a:prstGeom>
          <a:solidFill>
            <a:srgbClr val="E8F4E9"/>
          </a:solidFill>
          <a:ln/>
        </p:spPr>
        <p:txBody>
          <a:bodyPr wrap="square" lIns="101600" tIns="135467" rIns="135467" bIns="101600" rtlCol="0" anchor="t"/>
          <a:lstStyle/>
          <a:p>
            <a:pPr marL="457189" indent="-457189">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Loads any HF Hub model's tokenizer</a:t>
            </a:r>
          </a:p>
          <a:p>
            <a:pPr marL="457189" indent="-457189">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Chat templates + special tokens</a:t>
            </a:r>
          </a:p>
          <a:p>
            <a:pPr marL="457189" indent="-457189">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Llama 3, Qwen3, DeepSeek, gpt-oss, Gemma</a:t>
            </a:r>
          </a:p>
        </p:txBody>
      </p:sp>
      <p:sp>
        <p:nvSpPr>
          <p:cNvPr id="17" name="Text 15"/>
          <p:cNvSpPr txBox="1"/>
          <p:nvPr/>
        </p:nvSpPr>
        <p:spPr>
          <a:xfrm>
            <a:off x="8132064" y="2487168"/>
            <a:ext cx="3657600" cy="682752"/>
          </a:xfrm>
          <a:prstGeom prst="rect">
            <a:avLst/>
          </a:prstGeom>
          <a:solidFill>
            <a:srgbClr val="FFFFFF"/>
          </a:solidFill>
          <a:ln w="19050">
            <a:solidFill>
              <a:srgbClr val="C27A1A"/>
            </a:solidFill>
          </a:ln>
        </p:spPr>
        <p:txBody>
          <a:bodyPr wrap="square" lIns="847" tIns="847" rIns="847" bIns="847" rtlCol="0" anchor="ctr"/>
          <a:lstStyle/>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Work with OpenAI</a:t>
            </a:r>
            <a:endParaRPr lang="en-US" dirty="0">
              <a:latin typeface="Cambria" panose="02040503050406030204" pitchFamily="18" charset="0"/>
              <a:ea typeface="Cambria" panose="02040503050406030204" pitchFamily="18" charset="0"/>
            </a:endParaRPr>
          </a:p>
          <a:p>
            <a:pPr algn="ctr"/>
            <a:r>
              <a:rPr lang="en-US" b="1" dirty="0">
                <a:solidFill>
                  <a:srgbClr val="1A1A1A"/>
                </a:solidFill>
                <a:latin typeface="Cambria" panose="02040503050406030204" pitchFamily="18" charset="0"/>
                <a:ea typeface="Cambria" panose="02040503050406030204" pitchFamily="18" charset="0"/>
                <a:cs typeface="Calibri" pitchFamily="34" charset="-120"/>
              </a:rPr>
              <a:t>API models</a:t>
            </a:r>
            <a:endParaRPr lang="en-US" dirty="0">
              <a:latin typeface="Cambria" panose="02040503050406030204" pitchFamily="18" charset="0"/>
              <a:ea typeface="Cambria" panose="02040503050406030204" pitchFamily="18" charset="0"/>
            </a:endParaRPr>
          </a:p>
        </p:txBody>
      </p:sp>
      <p:sp>
        <p:nvSpPr>
          <p:cNvPr id="18" name="Shape 16"/>
          <p:cNvSpPr/>
          <p:nvPr/>
        </p:nvSpPr>
        <p:spPr>
          <a:xfrm>
            <a:off x="9960864" y="3169920"/>
            <a:ext cx="0" cy="292608"/>
          </a:xfrm>
          <a:prstGeom prst="line">
            <a:avLst/>
          </a:prstGeom>
          <a:noFill/>
          <a:ln w="19050">
            <a:solidFill>
              <a:srgbClr val="6A6A6A"/>
            </a:solidFill>
            <a:prstDash val="solid"/>
            <a:tailEnd type="triangle"/>
          </a:ln>
        </p:spPr>
        <p:txBody>
          <a:bodyPr/>
          <a:lstStyle/>
          <a:p>
            <a:endParaRPr lang="en-IN">
              <a:latin typeface="Cambria" panose="02040503050406030204" pitchFamily="18" charset="0"/>
              <a:ea typeface="Cambria" panose="02040503050406030204" pitchFamily="18" charset="0"/>
            </a:endParaRPr>
          </a:p>
        </p:txBody>
      </p:sp>
      <p:sp>
        <p:nvSpPr>
          <p:cNvPr id="19" name="Text 17"/>
          <p:cNvSpPr txBox="1"/>
          <p:nvPr/>
        </p:nvSpPr>
        <p:spPr>
          <a:xfrm>
            <a:off x="8132064" y="3486912"/>
            <a:ext cx="3657600" cy="536448"/>
          </a:xfrm>
          <a:prstGeom prst="rect">
            <a:avLst/>
          </a:prstGeom>
          <a:solidFill>
            <a:srgbClr val="C27A1A"/>
          </a:solidFill>
          <a:ln/>
        </p:spPr>
        <p:txBody>
          <a:bodyPr wrap="square" lIns="847" tIns="847" rIns="847" bIns="847" rtlCol="0" anchor="ctr"/>
          <a:lstStyle/>
          <a:p>
            <a:pPr algn="ctr"/>
            <a:r>
              <a:rPr lang="en-US" b="1" dirty="0">
                <a:solidFill>
                  <a:srgbClr val="FFFFFF"/>
                </a:solidFill>
                <a:latin typeface="Cambria" panose="02040503050406030204" pitchFamily="18" charset="0"/>
                <a:ea typeface="Cambria" panose="02040503050406030204" pitchFamily="18" charset="0"/>
                <a:cs typeface="Calibri" pitchFamily="34" charset="-120"/>
              </a:rPr>
              <a:t>OpenAI  tiktoken</a:t>
            </a:r>
            <a:endParaRPr lang="en-US" dirty="0">
              <a:latin typeface="Cambria" panose="02040503050406030204" pitchFamily="18" charset="0"/>
              <a:ea typeface="Cambria" panose="02040503050406030204" pitchFamily="18" charset="0"/>
            </a:endParaRPr>
          </a:p>
        </p:txBody>
      </p:sp>
      <p:sp>
        <p:nvSpPr>
          <p:cNvPr id="20" name="Text 18"/>
          <p:cNvSpPr txBox="1"/>
          <p:nvPr/>
        </p:nvSpPr>
        <p:spPr>
          <a:xfrm>
            <a:off x="8132064" y="4023360"/>
            <a:ext cx="3657600" cy="2097024"/>
          </a:xfrm>
          <a:prstGeom prst="rect">
            <a:avLst/>
          </a:prstGeom>
          <a:solidFill>
            <a:srgbClr val="FDF2E2"/>
          </a:solidFill>
          <a:ln/>
        </p:spPr>
        <p:txBody>
          <a:bodyPr wrap="square" lIns="101600" tIns="135467" rIns="135467" bIns="101600" rtlCol="0" anchor="t"/>
          <a:lstStyle/>
          <a:p>
            <a:pPr marL="457189" indent="-457189">
              <a:spcAft>
                <a:spcPts val="533"/>
              </a:spcAft>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Fast, exact token counting</a:t>
            </a:r>
            <a:endParaRPr lang="en-US" dirty="0">
              <a:latin typeface="Cambria" panose="02040503050406030204" pitchFamily="18" charset="0"/>
              <a:ea typeface="Cambria" panose="02040503050406030204" pitchFamily="18" charset="0"/>
            </a:endParaRPr>
          </a:p>
          <a:p>
            <a:pPr marL="457189" indent="-457189">
              <a:spcAft>
                <a:spcPts val="533"/>
              </a:spcAft>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API cost estimation</a:t>
            </a:r>
            <a:endParaRPr lang="en-US" dirty="0">
              <a:latin typeface="Cambria" panose="02040503050406030204" pitchFamily="18" charset="0"/>
              <a:ea typeface="Cambria" panose="02040503050406030204" pitchFamily="18" charset="0"/>
            </a:endParaRPr>
          </a:p>
          <a:p>
            <a:pPr marL="457189" indent="-457189">
              <a:spcAft>
                <a:spcPts val="533"/>
              </a:spcAft>
              <a:buSzPct val="100000"/>
              <a:buChar char="•"/>
            </a:pPr>
            <a:r>
              <a:rPr lang="en-US" dirty="0">
                <a:solidFill>
                  <a:srgbClr val="1A1A1A"/>
                </a:solidFill>
                <a:latin typeface="Cambria" panose="02040503050406030204" pitchFamily="18" charset="0"/>
                <a:ea typeface="Cambria" panose="02040503050406030204" pitchFamily="18" charset="0"/>
                <a:cs typeface="Calibri" pitchFamily="34" charset="-120"/>
              </a:rPr>
              <a:t>Encode/decode only, cannot train</a:t>
            </a:r>
            <a:endParaRPr lang="en-US" dirty="0">
              <a:latin typeface="Cambria" panose="02040503050406030204" pitchFamily="18" charset="0"/>
              <a:ea typeface="Cambria" panose="02040503050406030204" pitchFamily="18" charset="0"/>
            </a:endParaRPr>
          </a:p>
        </p:txBody>
      </p:sp>
      <p:sp>
        <p:nvSpPr>
          <p:cNvPr id="21" name="Text 19"/>
          <p:cNvSpPr txBox="1"/>
          <p:nvPr/>
        </p:nvSpPr>
        <p:spPr>
          <a:xfrm>
            <a:off x="8759952" y="1030228"/>
            <a:ext cx="3337559" cy="841246"/>
          </a:xfrm>
          <a:prstGeom prst="rect">
            <a:avLst/>
          </a:prstGeom>
          <a:solidFill>
            <a:schemeClr val="bg2"/>
          </a:solidFill>
          <a:ln/>
        </p:spPr>
        <p:txBody>
          <a:bodyPr wrap="square" lIns="847" tIns="847" rIns="847" bIns="847" rtlCol="0" anchor="ctr"/>
          <a:lstStyle/>
          <a:p>
            <a:r>
              <a:rPr lang="en-US" i="1" dirty="0">
                <a:latin typeface="Cambria" panose="02040503050406030204" pitchFamily="18" charset="0"/>
                <a:ea typeface="Cambria" panose="02040503050406030204" pitchFamily="18" charset="0"/>
                <a:cs typeface="Calibri" pitchFamily="34" charset="-120"/>
              </a:rPr>
              <a:t>Claude &amp; Gemini: no full local library, so count tokens via their API.</a:t>
            </a:r>
            <a:endParaRPr lang="en-US" dirty="0">
              <a:latin typeface="Cambria" panose="02040503050406030204" pitchFamily="18" charset="0"/>
              <a:ea typeface="Cambria" panose="02040503050406030204" pitchFamily="18" charset="0"/>
            </a:endParaRPr>
          </a:p>
        </p:txBody>
      </p:sp>
      <p:sp>
        <p:nvSpPr>
          <p:cNvPr id="24" name="TextBox 23">
            <a:extLst>
              <a:ext uri="{FF2B5EF4-FFF2-40B4-BE49-F238E27FC236}">
                <a16:creationId xmlns:a16="http://schemas.microsoft.com/office/drawing/2014/main" id="{245D1003-2414-50FE-0C42-D85FB85A6F18}"/>
              </a:ext>
            </a:extLst>
          </p:cNvPr>
          <p:cNvSpPr txBox="1"/>
          <p:nvPr/>
        </p:nvSpPr>
        <p:spPr>
          <a:xfrm>
            <a:off x="323089" y="6133689"/>
            <a:ext cx="11868911" cy="400110"/>
          </a:xfrm>
          <a:prstGeom prst="rect">
            <a:avLst/>
          </a:prstGeom>
          <a:noFill/>
        </p:spPr>
        <p:txBody>
          <a:bodyPr wrap="square">
            <a:spAutoFit/>
          </a:bodyPr>
          <a:lstStyle/>
          <a:p>
            <a:r>
              <a:rPr lang="en-IN" sz="2000" b="1" dirty="0">
                <a:solidFill>
                  <a:srgbClr val="7030A0"/>
                </a:solidFill>
              </a:rPr>
              <a:t>HF: you tokenize, then the model runs. API: the server tokenizes, and you use </a:t>
            </a:r>
            <a:r>
              <a:rPr lang="en-IN" sz="2000" b="1" dirty="0" err="1">
                <a:solidFill>
                  <a:srgbClr val="7030A0"/>
                </a:solidFill>
                <a:latin typeface="+mn-lt"/>
              </a:rPr>
              <a:t>tiktoken</a:t>
            </a:r>
            <a:r>
              <a:rPr lang="en-IN" sz="2000" b="1" dirty="0">
                <a:solidFill>
                  <a:srgbClr val="7030A0"/>
                </a:solidFill>
              </a:rPr>
              <a:t> only to count and trim.</a:t>
            </a:r>
          </a:p>
        </p:txBody>
      </p:sp>
    </p:spTree>
    <p:extLst>
      <p:ext uri="{BB962C8B-B14F-4D97-AF65-F5344CB8AC3E}">
        <p14:creationId xmlns:p14="http://schemas.microsoft.com/office/powerpoint/2010/main" val="2929787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377145-82FE-FD8C-1084-F925A3BE1B9F}"/>
              </a:ext>
            </a:extLst>
          </p:cNvPr>
          <p:cNvSpPr>
            <a:spLocks noGrp="1"/>
          </p:cNvSpPr>
          <p:nvPr>
            <p:ph type="title"/>
          </p:nvPr>
        </p:nvSpPr>
        <p:spPr>
          <a:xfrm>
            <a:off x="655395" y="2093976"/>
            <a:ext cx="10881209" cy="1219200"/>
          </a:xfrm>
        </p:spPr>
        <p:txBody>
          <a:bodyPr/>
          <a:lstStyle/>
          <a:p>
            <a:r>
              <a:rPr lang="en-US" dirty="0"/>
              <a:t>Token Embeddings and positional encoding</a:t>
            </a:r>
            <a:br>
              <a:rPr lang="en-IN" dirty="0"/>
            </a:br>
            <a:endParaRPr lang="en-IN" dirty="0"/>
          </a:p>
        </p:txBody>
      </p:sp>
    </p:spTree>
    <p:extLst>
      <p:ext uri="{BB962C8B-B14F-4D97-AF65-F5344CB8AC3E}">
        <p14:creationId xmlns:p14="http://schemas.microsoft.com/office/powerpoint/2010/main" val="3279894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Tokens to token IDs</a:t>
            </a:r>
            <a:endParaRPr lang="en-IN" dirty="0"/>
          </a:p>
        </p:txBody>
      </p:sp>
      <p:pic>
        <p:nvPicPr>
          <p:cNvPr id="3" name="Content Placeholder 3"/>
          <p:cNvPicPr>
            <a:picLocks noChangeAspect="1"/>
          </p:cNvPicPr>
          <p:nvPr/>
        </p:nvPicPr>
        <p:blipFill>
          <a:blip r:embed="rId2"/>
          <a:stretch>
            <a:fillRect/>
          </a:stretch>
        </p:blipFill>
        <p:spPr>
          <a:xfrm>
            <a:off x="544519" y="1504723"/>
            <a:ext cx="4777289" cy="4071241"/>
          </a:xfrm>
          <a:prstGeom prst="rect">
            <a:avLst/>
          </a:prstGeom>
          <a:ln>
            <a:solidFill>
              <a:srgbClr val="C00000"/>
            </a:solidFill>
          </a:ln>
        </p:spPr>
      </p:pic>
      <p:pic>
        <p:nvPicPr>
          <p:cNvPr id="6" name="Picture 5">
            <a:extLst>
              <a:ext uri="{FF2B5EF4-FFF2-40B4-BE49-F238E27FC236}">
                <a16:creationId xmlns:a16="http://schemas.microsoft.com/office/drawing/2014/main" id="{B918B61C-D077-75AE-8166-8335B56ECB7E}"/>
              </a:ext>
            </a:extLst>
          </p:cNvPr>
          <p:cNvPicPr>
            <a:picLocks noChangeAspect="1"/>
          </p:cNvPicPr>
          <p:nvPr/>
        </p:nvPicPr>
        <p:blipFill>
          <a:blip r:embed="rId3"/>
          <a:stretch>
            <a:fillRect/>
          </a:stretch>
        </p:blipFill>
        <p:spPr>
          <a:xfrm>
            <a:off x="5711825" y="1801367"/>
            <a:ext cx="6258314" cy="3774597"/>
          </a:xfrm>
          <a:prstGeom prst="rect">
            <a:avLst/>
          </a:prstGeom>
        </p:spPr>
      </p:pic>
    </p:spTree>
    <p:extLst>
      <p:ext uri="{BB962C8B-B14F-4D97-AF65-F5344CB8AC3E}">
        <p14:creationId xmlns:p14="http://schemas.microsoft.com/office/powerpoint/2010/main" val="342186616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Adding special context tokens</a:t>
            </a:r>
          </a:p>
        </p:txBody>
      </p:sp>
      <p:pic>
        <p:nvPicPr>
          <p:cNvPr id="3" name="Picture 2"/>
          <p:cNvPicPr>
            <a:picLocks noChangeAspect="1"/>
          </p:cNvPicPr>
          <p:nvPr/>
        </p:nvPicPr>
        <p:blipFill>
          <a:blip r:embed="rId2"/>
          <a:stretch>
            <a:fillRect/>
          </a:stretch>
        </p:blipFill>
        <p:spPr>
          <a:xfrm>
            <a:off x="135943" y="1773864"/>
            <a:ext cx="5818382" cy="4498147"/>
          </a:xfrm>
          <a:prstGeom prst="rect">
            <a:avLst/>
          </a:prstGeom>
        </p:spPr>
      </p:pic>
      <p:pic>
        <p:nvPicPr>
          <p:cNvPr id="4" name="Picture 3"/>
          <p:cNvPicPr>
            <a:picLocks noChangeAspect="1"/>
          </p:cNvPicPr>
          <p:nvPr/>
        </p:nvPicPr>
        <p:blipFill>
          <a:blip r:embed="rId3"/>
          <a:stretch>
            <a:fillRect/>
          </a:stretch>
        </p:blipFill>
        <p:spPr>
          <a:xfrm>
            <a:off x="6626329" y="1638301"/>
            <a:ext cx="5213917" cy="4118556"/>
          </a:xfrm>
          <a:prstGeom prst="rect">
            <a:avLst/>
          </a:prstGeom>
        </p:spPr>
      </p:pic>
    </p:spTree>
    <p:extLst>
      <p:ext uri="{BB962C8B-B14F-4D97-AF65-F5344CB8AC3E}">
        <p14:creationId xmlns:p14="http://schemas.microsoft.com/office/powerpoint/2010/main" val="423206435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Token IDs to Token </a:t>
            </a:r>
            <a:r>
              <a:rPr lang="en-US" dirty="0" err="1"/>
              <a:t>Embeddings</a:t>
            </a:r>
            <a:endParaRPr lang="en-IN" dirty="0"/>
          </a:p>
          <a:p>
            <a:endParaRPr lang="en-IN" dirty="0"/>
          </a:p>
        </p:txBody>
      </p:sp>
      <p:pic>
        <p:nvPicPr>
          <p:cNvPr id="3" name="Content Placeholder 3"/>
          <p:cNvPicPr>
            <a:picLocks noChangeAspect="1"/>
          </p:cNvPicPr>
          <p:nvPr/>
        </p:nvPicPr>
        <p:blipFill>
          <a:blip r:embed="rId2"/>
          <a:stretch>
            <a:fillRect/>
          </a:stretch>
        </p:blipFill>
        <p:spPr>
          <a:xfrm>
            <a:off x="908256" y="1004552"/>
            <a:ext cx="6220300" cy="2138228"/>
          </a:xfrm>
          <a:prstGeom prst="rect">
            <a:avLst/>
          </a:prstGeom>
          <a:ln>
            <a:solidFill>
              <a:srgbClr val="C00000"/>
            </a:solidFill>
          </a:ln>
        </p:spPr>
      </p:pic>
      <p:pic>
        <p:nvPicPr>
          <p:cNvPr id="4" name="Picture 3"/>
          <p:cNvPicPr>
            <a:picLocks noChangeAspect="1"/>
          </p:cNvPicPr>
          <p:nvPr/>
        </p:nvPicPr>
        <p:blipFill>
          <a:blip r:embed="rId3"/>
          <a:stretch>
            <a:fillRect/>
          </a:stretch>
        </p:blipFill>
        <p:spPr>
          <a:xfrm>
            <a:off x="1195660" y="3683693"/>
            <a:ext cx="7191375" cy="3019425"/>
          </a:xfrm>
          <a:prstGeom prst="rect">
            <a:avLst/>
          </a:prstGeom>
        </p:spPr>
      </p:pic>
    </p:spTree>
    <p:extLst>
      <p:ext uri="{BB962C8B-B14F-4D97-AF65-F5344CB8AC3E}">
        <p14:creationId xmlns:p14="http://schemas.microsoft.com/office/powerpoint/2010/main" val="193070317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err="1"/>
              <a:t>Embeddings</a:t>
            </a:r>
            <a:endParaRPr lang="en-IN" dirty="0"/>
          </a:p>
        </p:txBody>
      </p:sp>
      <p:pic>
        <p:nvPicPr>
          <p:cNvPr id="3" name="Picture 2"/>
          <p:cNvPicPr>
            <a:picLocks noChangeAspect="1"/>
          </p:cNvPicPr>
          <p:nvPr/>
        </p:nvPicPr>
        <p:blipFill>
          <a:blip r:embed="rId2"/>
          <a:stretch>
            <a:fillRect/>
          </a:stretch>
        </p:blipFill>
        <p:spPr>
          <a:xfrm>
            <a:off x="481937" y="1526392"/>
            <a:ext cx="5872766" cy="2792861"/>
          </a:xfrm>
          <a:prstGeom prst="rect">
            <a:avLst/>
          </a:prstGeom>
        </p:spPr>
      </p:pic>
      <p:pic>
        <p:nvPicPr>
          <p:cNvPr id="4" name="Picture 3"/>
          <p:cNvPicPr>
            <a:picLocks noChangeAspect="1"/>
          </p:cNvPicPr>
          <p:nvPr/>
        </p:nvPicPr>
        <p:blipFill>
          <a:blip r:embed="rId3"/>
          <a:stretch>
            <a:fillRect/>
          </a:stretch>
        </p:blipFill>
        <p:spPr>
          <a:xfrm>
            <a:off x="6354703" y="3505000"/>
            <a:ext cx="5727334" cy="2779890"/>
          </a:xfrm>
          <a:prstGeom prst="rect">
            <a:avLst/>
          </a:prstGeom>
        </p:spPr>
      </p:pic>
    </p:spTree>
    <p:extLst>
      <p:ext uri="{BB962C8B-B14F-4D97-AF65-F5344CB8AC3E}">
        <p14:creationId xmlns:p14="http://schemas.microsoft.com/office/powerpoint/2010/main" val="216670984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6"/>
          <p:cNvSpPr>
            <a:spLocks noGrp="1"/>
          </p:cNvSpPr>
          <p:nvPr>
            <p:ph type="title" hasCustomPrompt="1"/>
          </p:nvPr>
        </p:nvSpPr>
        <p:spPr>
          <a:prstGeom prst="rect">
            <a:avLst/>
          </a:prstGeom>
          <a:noFill/>
          <a:ln/>
        </p:spPr>
        <p:txBody>
          <a:bodyPr vert="horz" wrap="square" lIns="0" tIns="0" rIns="0" bIns="0" rtlCol="0" anchor="ctr">
            <a:normAutofit/>
          </a:bodyPr>
          <a:lstStyle/>
          <a:p>
            <a:r>
              <a:rPr lang="en-US" dirty="0"/>
              <a:t>Embedding layer: look up a row</a:t>
            </a:r>
          </a:p>
        </p:txBody>
      </p:sp>
      <p:sp>
        <p:nvSpPr>
          <p:cNvPr id="25" name="Slide Number Placeholder 0"/>
          <p:cNvSpPr>
            <a:spLocks noGrp="1"/>
          </p:cNvSpPr>
          <p:nvPr>
            <p:ph type="sldNum" sz="quarter" idx="4294967295"/>
          </p:nvPr>
        </p:nvSpPr>
        <p:spPr>
          <a:xfrm>
            <a:off x="11734800" y="4956175"/>
            <a:ext cx="457200" cy="182563"/>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7A7A7A"/>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30</a:t>
            </a:fld>
            <a:endParaRPr lang="en-US"/>
          </a:p>
        </p:txBody>
      </p:sp>
      <p:sp>
        <p:nvSpPr>
          <p:cNvPr id="3" name="Text 1"/>
          <p:cNvSpPr txBox="1"/>
          <p:nvPr/>
        </p:nvSpPr>
        <p:spPr>
          <a:xfrm>
            <a:off x="426720" y="1595628"/>
            <a:ext cx="11338560" cy="365760"/>
          </a:xfrm>
          <a:prstGeom prst="rect">
            <a:avLst/>
          </a:prstGeom>
          <a:noFill/>
          <a:ln/>
        </p:spPr>
        <p:txBody>
          <a:bodyPr wrap="square" lIns="847" tIns="847" rIns="847" bIns="847" rtlCol="0" anchor="ctr"/>
          <a:lstStyle/>
          <a:p>
            <a:r>
              <a:rPr lang="en-US" sz="2000" b="1" dirty="0">
                <a:solidFill>
                  <a:srgbClr val="1A1A1A"/>
                </a:solidFill>
                <a:latin typeface="Calibri" pitchFamily="34" charset="0"/>
                <a:ea typeface="Calibri" pitchFamily="34" charset="-122"/>
                <a:cs typeface="Calibri" pitchFamily="34" charset="-120"/>
              </a:rPr>
              <a:t>E (|V| × d)</a:t>
            </a:r>
            <a:r>
              <a:rPr lang="en-US" sz="2000" dirty="0">
                <a:solidFill>
                  <a:srgbClr val="1A1A1A"/>
                </a:solidFill>
                <a:latin typeface="Calibri" pitchFamily="34" charset="0"/>
                <a:ea typeface="Calibri" pitchFamily="34" charset="-122"/>
                <a:cs typeface="Calibri" pitchFamily="34" charset="-120"/>
              </a:rPr>
              <a:t> has one row per vocabulary token. Values start random and are learned during training.</a:t>
            </a:r>
            <a:endParaRPr lang="en-US" sz="2000" dirty="0"/>
          </a:p>
        </p:txBody>
      </p:sp>
      <p:sp>
        <p:nvSpPr>
          <p:cNvPr id="4" name="Text 2"/>
          <p:cNvSpPr txBox="1"/>
          <p:nvPr/>
        </p:nvSpPr>
        <p:spPr>
          <a:xfrm>
            <a:off x="426720" y="2441448"/>
            <a:ext cx="2804160" cy="1706880"/>
          </a:xfrm>
          <a:prstGeom prst="rect">
            <a:avLst/>
          </a:prstGeom>
          <a:solidFill>
            <a:srgbClr val="F3F5F7"/>
          </a:solidFill>
          <a:ln/>
        </p:spPr>
        <p:txBody>
          <a:bodyPr wrap="square" lIns="847" tIns="847" rIns="847" bIns="847" rtlCol="0" anchor="ctr"/>
          <a:lstStyle/>
          <a:p>
            <a:pPr algn="ctr"/>
            <a:r>
              <a:rPr lang="en-US" sz="1667" b="1" dirty="0">
                <a:solidFill>
                  <a:srgbClr val="0E6E7E"/>
                </a:solidFill>
                <a:latin typeface="Calibri" pitchFamily="34" charset="0"/>
                <a:ea typeface="Calibri" pitchFamily="34" charset="-122"/>
                <a:cs typeface="Calibri" pitchFamily="34" charset="-120"/>
              </a:rPr>
              <a:t>1  Text → token IDs</a:t>
            </a:r>
            <a:endParaRPr lang="en-US" sz="1667" dirty="0"/>
          </a:p>
          <a:p>
            <a:pPr algn="ctr"/>
            <a:r>
              <a:rPr lang="en-US" sz="1667" dirty="0">
                <a:solidFill>
                  <a:srgbClr val="1A1A1A"/>
                </a:solidFill>
                <a:latin typeface="Courier New" pitchFamily="34" charset="0"/>
                <a:ea typeface="Courier New" pitchFamily="34" charset="-122"/>
                <a:cs typeface="Courier New" pitchFamily="34" charset="-120"/>
              </a:rPr>
              <a:t>fox  jumps  over  dog</a:t>
            </a:r>
            <a:endParaRPr lang="en-US" sz="1667" dirty="0"/>
          </a:p>
          <a:p>
            <a:pPr algn="ctr"/>
            <a:r>
              <a:rPr lang="en-US" sz="1667" dirty="0">
                <a:solidFill>
                  <a:srgbClr val="1A1A1A"/>
                </a:solidFill>
                <a:latin typeface="Calibri" pitchFamily="34" charset="0"/>
                <a:ea typeface="Calibri" pitchFamily="34" charset="-122"/>
                <a:cs typeface="Calibri" pitchFamily="34" charset="-120"/>
              </a:rPr>
              <a:t>↓</a:t>
            </a:r>
            <a:endParaRPr lang="en-US" sz="1667" dirty="0"/>
          </a:p>
          <a:p>
            <a:pPr algn="ctr"/>
            <a:r>
              <a:rPr lang="en-US" sz="1667" b="1" dirty="0">
                <a:solidFill>
                  <a:srgbClr val="1A1A1A"/>
                </a:solidFill>
                <a:latin typeface="Courier New" pitchFamily="34" charset="0"/>
                <a:ea typeface="Courier New" pitchFamily="34" charset="-122"/>
                <a:cs typeface="Courier New" pitchFamily="34" charset="-120"/>
              </a:rPr>
              <a:t>[ 2,  3,  5,  1 ]</a:t>
            </a:r>
            <a:endParaRPr lang="en-US" sz="1667" dirty="0"/>
          </a:p>
        </p:txBody>
      </p:sp>
      <p:sp>
        <p:nvSpPr>
          <p:cNvPr id="5" name="Text 3"/>
          <p:cNvSpPr txBox="1"/>
          <p:nvPr/>
        </p:nvSpPr>
        <p:spPr>
          <a:xfrm>
            <a:off x="3474720" y="2380488"/>
            <a:ext cx="3901440" cy="341376"/>
          </a:xfrm>
          <a:prstGeom prst="rect">
            <a:avLst/>
          </a:prstGeom>
          <a:noFill/>
          <a:ln/>
        </p:spPr>
        <p:txBody>
          <a:bodyPr wrap="square" lIns="847" tIns="847" rIns="847" bIns="847" rtlCol="0" anchor="ctr"/>
          <a:lstStyle/>
          <a:p>
            <a:r>
              <a:rPr lang="en-US" sz="2000" b="1" dirty="0">
                <a:solidFill>
                  <a:srgbClr val="0E6E7E"/>
                </a:solidFill>
                <a:latin typeface="Calibri" pitchFamily="34" charset="0"/>
                <a:ea typeface="Calibri" pitchFamily="34" charset="-122"/>
                <a:cs typeface="Calibri" pitchFamily="34" charset="-120"/>
              </a:rPr>
              <a:t>2  Pick row ID from E  (here 6 × 3)</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2247133887"/>
              </p:ext>
            </p:extLst>
          </p:nvPr>
        </p:nvGraphicFramePr>
        <p:xfrm>
          <a:off x="3474720" y="2758440"/>
          <a:ext cx="3889248" cy="2560320"/>
        </p:xfrm>
        <a:graphic>
          <a:graphicData uri="http://schemas.openxmlformats.org/drawingml/2006/table">
            <a:tbl>
              <a:tblPr/>
              <a:tblGrid>
                <a:gridCol w="487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9056">
                  <a:extLst>
                    <a:ext uri="{9D8B030D-6E8A-4147-A177-3AD203B41FA5}">
                      <a16:colId xmlns:a16="http://schemas.microsoft.com/office/drawing/2014/main" val="20002"/>
                    </a:ext>
                  </a:extLst>
                </a:gridCol>
                <a:gridCol w="829056">
                  <a:extLst>
                    <a:ext uri="{9D8B030D-6E8A-4147-A177-3AD203B41FA5}">
                      <a16:colId xmlns:a16="http://schemas.microsoft.com/office/drawing/2014/main" val="20003"/>
                    </a:ext>
                  </a:extLst>
                </a:gridCol>
                <a:gridCol w="829056">
                  <a:extLst>
                    <a:ext uri="{9D8B030D-6E8A-4147-A177-3AD203B41FA5}">
                      <a16:colId xmlns:a16="http://schemas.microsoft.com/office/drawing/2014/main" val="20004"/>
                    </a:ext>
                  </a:extLst>
                </a:gridCol>
              </a:tblGrid>
              <a:tr h="365760">
                <a:tc>
                  <a:txBody>
                    <a:bodyPr/>
                    <a:lstStyle/>
                    <a:p>
                      <a:pPr marL="0" indent="0" algn="ctr">
                        <a:buNone/>
                      </a:pPr>
                      <a:r>
                        <a:rPr lang="en-US" sz="1500" b="1" dirty="0">
                          <a:solidFill>
                            <a:srgbClr val="FFFFFF"/>
                          </a:solidFill>
                        </a:rPr>
                        <a:t>ID</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token</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dim 1</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dim 2</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dim 3</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extLst>
                  <a:ext uri="{0D108BD9-81ED-4DB2-BD59-A6C34878D82A}">
                    <a16:rowId xmlns:a16="http://schemas.microsoft.com/office/drawing/2014/main" val="10000"/>
                  </a:ext>
                </a:extLst>
              </a:tr>
              <a:tr h="365760">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brown</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0.34</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−0.18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−0.17</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dog</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0.92</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1.58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1.30</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2"/>
                  </a:ext>
                </a:extLst>
              </a:tr>
              <a:tr h="365760">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fox</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1.28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−0.20</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−0.16</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3"/>
                  </a:ext>
                </a:extLst>
              </a:tr>
              <a:tr h="365760">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jumps</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−0.40</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0.97</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−1.15</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4"/>
                  </a:ext>
                </a:extLst>
              </a:tr>
              <a:tr h="365760">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lazy</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−1.16</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0.33</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−0.63</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b="1" dirty="0">
                          <a:solidFill>
                            <a:srgbClr val="1A1A1A"/>
                          </a:solidFill>
                          <a:latin typeface="Calibri" pitchFamily="34" charset="0"/>
                          <a:ea typeface="Calibri" pitchFamily="34" charset="-122"/>
                          <a:cs typeface="Calibri" pitchFamily="34" charset="-120"/>
                        </a:rPr>
                        <a:t>over</a:t>
                      </a:r>
                      <a:endParaRPr lang="en-US" sz="1500" dirty="0">
                        <a:latin typeface="Calibri" charset="0"/>
                        <a:ea typeface="Calibri" charset="0"/>
                        <a:cs typeface="Calibri"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−2.84</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−0.78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−1.41</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7680960" y="2380488"/>
            <a:ext cx="4145280" cy="341376"/>
          </a:xfrm>
          <a:prstGeom prst="rect">
            <a:avLst/>
          </a:prstGeom>
          <a:noFill/>
          <a:ln/>
        </p:spPr>
        <p:txBody>
          <a:bodyPr wrap="square" lIns="847" tIns="847" rIns="847" bIns="847" rtlCol="0" anchor="ctr"/>
          <a:lstStyle/>
          <a:p>
            <a:r>
              <a:rPr lang="en-US" sz="2000" b="1" dirty="0">
                <a:solidFill>
                  <a:srgbClr val="0E6E7E"/>
                </a:solidFill>
                <a:latin typeface="Calibri" pitchFamily="34" charset="0"/>
                <a:ea typeface="Calibri" pitchFamily="34" charset="-122"/>
                <a:cs typeface="Calibri" pitchFamily="34" charset="-120"/>
              </a:rPr>
              <a:t>3  Stack rows in input order → X (n × d)</a:t>
            </a:r>
            <a:endParaRPr lang="en-US" sz="2000" dirty="0"/>
          </a:p>
        </p:txBody>
      </p:sp>
      <p:graphicFrame>
        <p:nvGraphicFramePr>
          <p:cNvPr id="8" name="Table 1"/>
          <p:cNvGraphicFramePr>
            <a:graphicFrameLocks noGrp="1"/>
          </p:cNvGraphicFramePr>
          <p:nvPr>
            <p:extLst>
              <p:ext uri="{D42A27DB-BD31-4B8C-83A1-F6EECF244321}">
                <p14:modId xmlns:p14="http://schemas.microsoft.com/office/powerpoint/2010/main" val="2613875469"/>
              </p:ext>
            </p:extLst>
          </p:nvPr>
        </p:nvGraphicFramePr>
        <p:xfrm>
          <a:off x="7680960" y="2758440"/>
          <a:ext cx="3706368" cy="1828800"/>
        </p:xfrm>
        <a:graphic>
          <a:graphicData uri="http://schemas.openxmlformats.org/drawingml/2006/table">
            <a:tbl>
              <a:tblPr/>
              <a:tblGrid>
                <a:gridCol w="1072896">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gridCol w="877824">
                  <a:extLst>
                    <a:ext uri="{9D8B030D-6E8A-4147-A177-3AD203B41FA5}">
                      <a16:colId xmlns:a16="http://schemas.microsoft.com/office/drawing/2014/main" val="20002"/>
                    </a:ext>
                  </a:extLst>
                </a:gridCol>
                <a:gridCol w="877824">
                  <a:extLst>
                    <a:ext uri="{9D8B030D-6E8A-4147-A177-3AD203B41FA5}">
                      <a16:colId xmlns:a16="http://schemas.microsoft.com/office/drawing/2014/main" val="20003"/>
                    </a:ext>
                  </a:extLst>
                </a:gridCol>
              </a:tblGrid>
              <a:tr h="365760">
                <a:tc>
                  <a:txBody>
                    <a:bodyPr/>
                    <a:lstStyle/>
                    <a:p>
                      <a:pPr marL="0" indent="0" algn="ctr">
                        <a:buNone/>
                      </a:pPr>
                      <a:r>
                        <a:rPr lang="en-US" sz="1500" b="1" dirty="0">
                          <a:solidFill>
                            <a:srgbClr val="FFFFFF"/>
                          </a:solidFill>
                        </a:rPr>
                        <a:t>token</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dim 1</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dim 2</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tc>
                  <a:txBody>
                    <a:bodyPr/>
                    <a:lstStyle/>
                    <a:p>
                      <a:pPr marL="0" indent="0" algn="ctr">
                        <a:buNone/>
                      </a:pPr>
                      <a:r>
                        <a:rPr lang="en-US" sz="1500" b="1" dirty="0">
                          <a:solidFill>
                            <a:srgbClr val="FFFFFF"/>
                          </a:solidFill>
                        </a:rPr>
                        <a:t>dim 3</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0E6E7E"/>
                    </a:solidFill>
                  </a:tcPr>
                </a:tc>
                <a:extLst>
                  <a:ext uri="{0D108BD9-81ED-4DB2-BD59-A6C34878D82A}">
                    <a16:rowId xmlns:a16="http://schemas.microsoft.com/office/drawing/2014/main" val="10000"/>
                  </a:ext>
                </a:extLst>
              </a:tr>
              <a:tr h="365760">
                <a:tc>
                  <a:txBody>
                    <a:bodyPr/>
                    <a:lstStyle/>
                    <a:p>
                      <a:pPr marL="0" indent="0" algn="ctr">
                        <a:buNone/>
                      </a:pPr>
                      <a:r>
                        <a:rPr lang="en-US" sz="1500" b="1" dirty="0">
                          <a:solidFill>
                            <a:srgbClr val="1A1A1A"/>
                          </a:solidFill>
                        </a:rPr>
                        <a:t>fox</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1.28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−0.20</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−0.16</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1"/>
                  </a:ext>
                </a:extLst>
              </a:tr>
              <a:tr h="365760">
                <a:tc>
                  <a:txBody>
                    <a:bodyPr/>
                    <a:lstStyle/>
                    <a:p>
                      <a:pPr marL="0" indent="0" algn="ctr">
                        <a:buNone/>
                      </a:pPr>
                      <a:r>
                        <a:rPr lang="en-US" sz="1500" b="1" dirty="0">
                          <a:solidFill>
                            <a:srgbClr val="1A1A1A"/>
                          </a:solidFill>
                        </a:rPr>
                        <a:t>jumps</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−0.40</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0.97</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−1.15</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2"/>
                  </a:ext>
                </a:extLst>
              </a:tr>
              <a:tr h="365760">
                <a:tc>
                  <a:txBody>
                    <a:bodyPr/>
                    <a:lstStyle/>
                    <a:p>
                      <a:pPr marL="0" indent="0" algn="ctr">
                        <a:buNone/>
                      </a:pPr>
                      <a:r>
                        <a:rPr lang="en-US" sz="1500" b="1" dirty="0">
                          <a:solidFill>
                            <a:srgbClr val="1A1A1A"/>
                          </a:solidFill>
                        </a:rPr>
                        <a:t>over</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−2.84</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−0.78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−1.41</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3"/>
                  </a:ext>
                </a:extLst>
              </a:tr>
              <a:tr h="365760">
                <a:tc>
                  <a:txBody>
                    <a:bodyPr/>
                    <a:lstStyle/>
                    <a:p>
                      <a:pPr marL="0" indent="0" algn="ctr">
                        <a:buNone/>
                      </a:pPr>
                      <a:r>
                        <a:rPr lang="en-US" sz="1500" b="1" dirty="0">
                          <a:solidFill>
                            <a:srgbClr val="1A1A1A"/>
                          </a:solidFill>
                        </a:rPr>
                        <a:t>dog</a:t>
                      </a:r>
                      <a:endParaRPr lang="en-US" sz="1500" dirty="0"/>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0.92</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1.58</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tc>
                  <a:txBody>
                    <a:bodyPr/>
                    <a:lstStyle/>
                    <a:p>
                      <a:pPr marL="0" indent="0" algn="ctr">
                        <a:buNone/>
                      </a:pPr>
                      <a:r>
                        <a:rPr lang="en-US" sz="1500" dirty="0">
                          <a:solidFill>
                            <a:srgbClr val="1A1A1A"/>
                          </a:solidFill>
                          <a:latin typeface="Courier New" pitchFamily="34" charset="0"/>
                          <a:ea typeface="Courier New" pitchFamily="34" charset="-122"/>
                          <a:cs typeface="Courier New" pitchFamily="34" charset="-120"/>
                        </a:rPr>
                        <a:t>1.30</a:t>
                      </a:r>
                      <a:endParaRPr lang="en-US" sz="1500" dirty="0">
                        <a:latin typeface="Courier New" charset="0"/>
                        <a:ea typeface="Courier New" charset="0"/>
                        <a:cs typeface="Courier New" charset="0"/>
                      </a:endParaRPr>
                    </a:p>
                  </a:txBody>
                  <a:tcPr marL="36576" marR="36576" marT="36576" marB="36576"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DE8B8"/>
                    </a:solidFill>
                  </a:tcPr>
                </a:tc>
                <a:extLst>
                  <a:ext uri="{0D108BD9-81ED-4DB2-BD59-A6C34878D82A}">
                    <a16:rowId xmlns:a16="http://schemas.microsoft.com/office/drawing/2014/main" val="10004"/>
                  </a:ext>
                </a:extLst>
              </a:tr>
            </a:tbl>
          </a:graphicData>
        </a:graphic>
      </p:graphicFrame>
      <p:sp>
        <p:nvSpPr>
          <p:cNvPr id="9" name="Text 5"/>
          <p:cNvSpPr txBox="1"/>
          <p:nvPr/>
        </p:nvSpPr>
        <p:spPr>
          <a:xfrm>
            <a:off x="8107680" y="4904232"/>
            <a:ext cx="3657600" cy="292608"/>
          </a:xfrm>
          <a:prstGeom prst="rect">
            <a:avLst/>
          </a:prstGeom>
          <a:noFill/>
          <a:ln/>
        </p:spPr>
        <p:txBody>
          <a:bodyPr wrap="square" lIns="847" tIns="847" rIns="847" bIns="847" rtlCol="0" anchor="ctr"/>
          <a:lstStyle/>
          <a:p>
            <a:r>
              <a:rPr lang="en-US" sz="2000" b="1" i="1" dirty="0">
                <a:solidFill>
                  <a:srgbClr val="7030A0"/>
                </a:solidFill>
                <a:latin typeface="Calibri" pitchFamily="34" charset="0"/>
                <a:ea typeface="Calibri" pitchFamily="34" charset="-122"/>
                <a:cs typeface="Calibri" pitchFamily="34" charset="-120"/>
              </a:rPr>
              <a:t>n = 4 tokens, d = 3</a:t>
            </a:r>
            <a:endParaRPr lang="en-US" sz="2000" b="1" dirty="0">
              <a:solidFill>
                <a:srgbClr val="7030A0"/>
              </a:solidFill>
            </a:endParaRPr>
          </a:p>
        </p:txBody>
      </p:sp>
      <p:sp>
        <p:nvSpPr>
          <p:cNvPr id="13" name="TextBox 12">
            <a:extLst>
              <a:ext uri="{FF2B5EF4-FFF2-40B4-BE49-F238E27FC236}">
                <a16:creationId xmlns:a16="http://schemas.microsoft.com/office/drawing/2014/main" id="{802E8CC2-D4CD-33B8-8A64-F41375FCDF06}"/>
              </a:ext>
            </a:extLst>
          </p:cNvPr>
          <p:cNvSpPr txBox="1"/>
          <p:nvPr/>
        </p:nvSpPr>
        <p:spPr>
          <a:xfrm>
            <a:off x="185166" y="5742432"/>
            <a:ext cx="10933938" cy="772006"/>
          </a:xfrm>
          <a:prstGeom prst="rect">
            <a:avLst/>
          </a:prstGeom>
          <a:noFill/>
        </p:spPr>
        <p:txBody>
          <a:bodyPr wrap="square">
            <a:spAutoFit/>
          </a:bodyPr>
          <a:lstStyle/>
          <a:p>
            <a:pPr>
              <a:spcAft>
                <a:spcPts val="533"/>
              </a:spcAft>
            </a:pPr>
            <a:r>
              <a:rPr lang="en-US" sz="2000" b="1" dirty="0">
                <a:solidFill>
                  <a:srgbClr val="1A1A1A"/>
                </a:solidFill>
                <a:latin typeface="Calibri" pitchFamily="34" charset="0"/>
                <a:ea typeface="Calibri" pitchFamily="34" charset="-122"/>
                <a:cs typeface="Calibri" pitchFamily="34" charset="-120"/>
              </a:rPr>
              <a:t>Same token → same vector, </a:t>
            </a:r>
            <a:r>
              <a:rPr lang="en-US" sz="2000" dirty="0">
                <a:solidFill>
                  <a:srgbClr val="1A1A1A"/>
                </a:solidFill>
                <a:latin typeface="Calibri" pitchFamily="34" charset="0"/>
                <a:ea typeface="Calibri" pitchFamily="34" charset="-122"/>
                <a:cs typeface="Calibri" pitchFamily="34" charset="-120"/>
              </a:rPr>
              <a:t>wherever it appears. Position is added separately (positional encoding).</a:t>
            </a:r>
            <a:endParaRPr lang="en-US" sz="2000" dirty="0"/>
          </a:p>
          <a:p>
            <a:pPr>
              <a:spcAft>
                <a:spcPts val="533"/>
              </a:spcAft>
            </a:pPr>
            <a:r>
              <a:rPr lang="en-US" sz="2000" b="1" dirty="0">
                <a:solidFill>
                  <a:srgbClr val="0E6E7E"/>
                </a:solidFill>
                <a:latin typeface="Calibri" pitchFamily="34" charset="0"/>
                <a:ea typeface="Calibri" pitchFamily="34" charset="-122"/>
                <a:cs typeface="Calibri" pitchFamily="34" charset="-120"/>
              </a:rPr>
              <a:t>Real scale: </a:t>
            </a:r>
            <a:r>
              <a:rPr lang="en-US" sz="2000" dirty="0">
                <a:solidFill>
                  <a:srgbClr val="1A1A1A"/>
                </a:solidFill>
                <a:latin typeface="Calibri" pitchFamily="34" charset="0"/>
                <a:ea typeface="Calibri" pitchFamily="34" charset="-122"/>
                <a:cs typeface="Calibri" pitchFamily="34" charset="-120"/>
              </a:rPr>
              <a:t>Llama 3 8B: E is 128,256 × 4096 ≈ 525M parameters.</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Types of text </a:t>
            </a:r>
            <a:r>
              <a:rPr lang="en-US" dirty="0" err="1"/>
              <a:t>embeddings</a:t>
            </a:r>
            <a:endParaRPr lang="en-IN" dirty="0"/>
          </a:p>
        </p:txBody>
      </p:sp>
      <p:pic>
        <p:nvPicPr>
          <p:cNvPr id="3" name="Picture 2"/>
          <p:cNvPicPr>
            <a:picLocks noChangeAspect="1"/>
          </p:cNvPicPr>
          <p:nvPr/>
        </p:nvPicPr>
        <p:blipFill>
          <a:blip r:embed="rId3"/>
          <a:stretch>
            <a:fillRect/>
          </a:stretch>
        </p:blipFill>
        <p:spPr>
          <a:xfrm>
            <a:off x="2067259" y="1405995"/>
            <a:ext cx="7269924" cy="5357991"/>
          </a:xfrm>
          <a:prstGeom prst="rect">
            <a:avLst/>
          </a:prstGeom>
        </p:spPr>
      </p:pic>
    </p:spTree>
    <p:extLst>
      <p:ext uri="{BB962C8B-B14F-4D97-AF65-F5344CB8AC3E}">
        <p14:creationId xmlns:p14="http://schemas.microsoft.com/office/powerpoint/2010/main" val="365815312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Positional </a:t>
            </a:r>
            <a:r>
              <a:rPr lang="en-IN" dirty="0" err="1"/>
              <a:t>embeddings</a:t>
            </a:r>
            <a:endParaRPr lang="en-IN" dirty="0"/>
          </a:p>
        </p:txBody>
      </p:sp>
      <p:pic>
        <p:nvPicPr>
          <p:cNvPr id="3" name="Picture 2"/>
          <p:cNvPicPr>
            <a:picLocks noChangeAspect="1"/>
          </p:cNvPicPr>
          <p:nvPr/>
        </p:nvPicPr>
        <p:blipFill>
          <a:blip r:embed="rId2"/>
          <a:stretch>
            <a:fillRect/>
          </a:stretch>
        </p:blipFill>
        <p:spPr>
          <a:xfrm>
            <a:off x="1385061" y="1704907"/>
            <a:ext cx="8520604" cy="4180738"/>
          </a:xfrm>
          <a:prstGeom prst="rect">
            <a:avLst/>
          </a:prstGeom>
        </p:spPr>
      </p:pic>
    </p:spTree>
    <p:extLst>
      <p:ext uri="{BB962C8B-B14F-4D97-AF65-F5344CB8AC3E}">
        <p14:creationId xmlns:p14="http://schemas.microsoft.com/office/powerpoint/2010/main" val="144529826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Positional Encoding</a:t>
            </a:r>
            <a:endParaRPr lang="en-IN" dirty="0"/>
          </a:p>
        </p:txBody>
      </p:sp>
      <p:sp>
        <p:nvSpPr>
          <p:cNvPr id="3" name="Content Placeholder 1"/>
          <p:cNvSpPr txBox="1">
            <a:spLocks/>
          </p:cNvSpPr>
          <p:nvPr/>
        </p:nvSpPr>
        <p:spPr>
          <a:xfrm>
            <a:off x="304800" y="1545224"/>
            <a:ext cx="11480800" cy="4525963"/>
          </a:xfrm>
          <a:prstGeom prst="rect">
            <a:avLst/>
          </a:prstGeom>
        </p:spPr>
        <p:txBody>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b="0" kern="0" dirty="0">
                <a:solidFill>
                  <a:sysClr val="windowText" lastClr="000000"/>
                </a:solidFill>
              </a:rPr>
              <a:t>Attention has no inherent sense of order, so </a:t>
            </a:r>
            <a:r>
              <a:rPr lang="en-US" b="1" kern="0" dirty="0">
                <a:solidFill>
                  <a:sysClr val="windowText" lastClr="000000"/>
                </a:solidFill>
              </a:rPr>
              <a:t>position information</a:t>
            </a:r>
            <a:r>
              <a:rPr lang="en-US" b="0" kern="0" dirty="0">
                <a:solidFill>
                  <a:sysClr val="windowText" lastClr="000000"/>
                </a:solidFill>
              </a:rPr>
              <a:t> must be injected for the model to infer sequence structure</a:t>
            </a:r>
          </a:p>
          <a:p>
            <a:pPr marL="342900" indent="-342900">
              <a:buFont typeface="Arial" panose="020B0604020202020204" pitchFamily="34" charset="0"/>
              <a:buChar char="•"/>
            </a:pPr>
            <a:endParaRPr lang="en-US" b="1"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Learned positional embeddings (GPT-2, BERT): </a:t>
            </a:r>
            <a:r>
              <a:rPr lang="en-US" b="0" kern="0" dirty="0">
                <a:solidFill>
                  <a:sysClr val="windowText" lastClr="000000"/>
                </a:solidFill>
              </a:rPr>
              <a:t>a trainable lookup table with one vector per position, added to the token embeddings</a:t>
            </a:r>
          </a:p>
          <a:p>
            <a:pPr marL="342900" indent="-342900">
              <a:buFont typeface="Arial" panose="020B0604020202020204" pitchFamily="34" charset="0"/>
              <a:buChar char="•"/>
            </a:pPr>
            <a:endParaRPr lang="en-US" b="1"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Sinusoidal encodings (original Transformer): </a:t>
            </a:r>
            <a:r>
              <a:rPr lang="en-US" b="0" kern="0" dirty="0">
                <a:solidFill>
                  <a:sysClr val="windowText" lastClr="000000"/>
                </a:solidFill>
              </a:rPr>
              <a:t>fixed sine/cosine functions at multiple frequencies, added to the token embeddings</a:t>
            </a:r>
          </a:p>
          <a:p>
            <a:pPr marL="342900" indent="-342900">
              <a:buFont typeface="Arial" panose="020B0604020202020204" pitchFamily="34" charset="0"/>
              <a:buChar char="•"/>
            </a:pPr>
            <a:endParaRPr lang="en-US" b="1"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Rotary Positional Embeddings, RoPE (Llama, Qwen, DeepSeek): </a:t>
            </a:r>
            <a:r>
              <a:rPr lang="en-US" b="0" kern="0" dirty="0">
                <a:solidFill>
                  <a:sysClr val="windowText" lastClr="000000"/>
                </a:solidFill>
              </a:rPr>
              <a:t>not added to the input; rotates Q and K inside every attention layer so scores depend on relative position (covered in the Advanced Architectures session)</a:t>
            </a:r>
          </a:p>
          <a:p>
            <a:pPr marL="342900" indent="-342900">
              <a:buFont typeface="Arial" panose="020B0604020202020204" pitchFamily="34" charset="0"/>
              <a:buChar char="•"/>
            </a:pPr>
            <a:endParaRPr lang="en-IN" kern="0" dirty="0">
              <a:solidFill>
                <a:sysClr val="windowText" lastClr="000000"/>
              </a:solidFill>
            </a:endParaRPr>
          </a:p>
        </p:txBody>
      </p:sp>
    </p:spTree>
    <p:extLst>
      <p:ext uri="{BB962C8B-B14F-4D97-AF65-F5344CB8AC3E}">
        <p14:creationId xmlns:p14="http://schemas.microsoft.com/office/powerpoint/2010/main" val="176246998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3697B5-6642-D1E6-D751-2F06264141E8}"/>
              </a:ext>
            </a:extLst>
          </p:cNvPr>
          <p:cNvSpPr>
            <a:spLocks noGrp="1"/>
          </p:cNvSpPr>
          <p:nvPr>
            <p:ph type="title"/>
          </p:nvPr>
        </p:nvSpPr>
        <p:spPr>
          <a:xfrm>
            <a:off x="454227" y="1645920"/>
            <a:ext cx="10881209" cy="1219200"/>
          </a:xfrm>
        </p:spPr>
        <p:txBody>
          <a:bodyPr/>
          <a:lstStyle/>
          <a:p>
            <a:r>
              <a:rPr lang="en-US" dirty="0"/>
              <a:t>Language Modelling Head </a:t>
            </a:r>
            <a:r>
              <a:rPr lang="en-IN" dirty="0"/>
              <a:t>: Unembedding layer + </a:t>
            </a:r>
            <a:r>
              <a:rPr lang="en-IN" dirty="0" err="1"/>
              <a:t>Softmax</a:t>
            </a:r>
            <a:r>
              <a:rPr lang="en-IN" dirty="0"/>
              <a:t> layer</a:t>
            </a:r>
          </a:p>
        </p:txBody>
      </p:sp>
      <p:pic>
        <p:nvPicPr>
          <p:cNvPr id="4" name="Picture 3">
            <a:extLst>
              <a:ext uri="{FF2B5EF4-FFF2-40B4-BE49-F238E27FC236}">
                <a16:creationId xmlns:a16="http://schemas.microsoft.com/office/drawing/2014/main" id="{CAF48A0F-24BD-38FA-97D3-112EEE43D417}"/>
              </a:ext>
            </a:extLst>
          </p:cNvPr>
          <p:cNvPicPr>
            <a:picLocks noChangeAspect="1"/>
          </p:cNvPicPr>
          <p:nvPr/>
        </p:nvPicPr>
        <p:blipFill>
          <a:blip r:embed="rId2"/>
          <a:stretch>
            <a:fillRect/>
          </a:stretch>
        </p:blipFill>
        <p:spPr>
          <a:xfrm>
            <a:off x="5541264" y="3244294"/>
            <a:ext cx="5562600" cy="2615527"/>
          </a:xfrm>
          <a:prstGeom prst="rect">
            <a:avLst/>
          </a:prstGeom>
        </p:spPr>
      </p:pic>
    </p:spTree>
    <p:extLst>
      <p:ext uri="{BB962C8B-B14F-4D97-AF65-F5344CB8AC3E}">
        <p14:creationId xmlns:p14="http://schemas.microsoft.com/office/powerpoint/2010/main" val="2735477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Modelling Head</a:t>
            </a:r>
            <a:endParaRPr lang="en-IN" dirty="0"/>
          </a:p>
        </p:txBody>
      </p:sp>
      <p:pic>
        <p:nvPicPr>
          <p:cNvPr id="3" name="Picture 2"/>
          <p:cNvPicPr>
            <a:picLocks noChangeAspect="1"/>
          </p:cNvPicPr>
          <p:nvPr/>
        </p:nvPicPr>
        <p:blipFill>
          <a:blip r:embed="rId3"/>
          <a:stretch>
            <a:fillRect/>
          </a:stretch>
        </p:blipFill>
        <p:spPr>
          <a:xfrm>
            <a:off x="206828" y="2362199"/>
            <a:ext cx="8206573" cy="4343401"/>
          </a:xfrm>
          <a:prstGeom prst="rect">
            <a:avLst/>
          </a:prstGeom>
        </p:spPr>
      </p:pic>
      <p:sp>
        <p:nvSpPr>
          <p:cNvPr id="4" name="Rectangle 3"/>
          <p:cNvSpPr/>
          <p:nvPr/>
        </p:nvSpPr>
        <p:spPr>
          <a:xfrm>
            <a:off x="179430" y="1024016"/>
            <a:ext cx="11342915" cy="1200329"/>
          </a:xfrm>
          <a:prstGeom prst="rect">
            <a:avLst/>
          </a:prstGeom>
          <a:solidFill>
            <a:schemeClr val="tx2">
              <a:lumMod val="40000"/>
              <a:lumOff val="60000"/>
            </a:schemeClr>
          </a:solidFill>
        </p:spPr>
        <p:txBody>
          <a:bodyPr wrap="square">
            <a:spAutoFit/>
          </a:bodyPr>
          <a:lstStyle/>
          <a:p>
            <a:r>
              <a:rPr lang="en-US" sz="2400" dirty="0"/>
              <a:t>LM maps the final hidden state at each position to vocabulary logits; during training, each position predicts the next token, while during inference the last position is used to generate the next token.</a:t>
            </a:r>
          </a:p>
        </p:txBody>
      </p:sp>
    </p:spTree>
    <p:extLst>
      <p:ext uri="{BB962C8B-B14F-4D97-AF65-F5344CB8AC3E}">
        <p14:creationId xmlns:p14="http://schemas.microsoft.com/office/powerpoint/2010/main" val="166855917"/>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Language </a:t>
            </a:r>
            <a:r>
              <a:rPr lang="en-IN" dirty="0" err="1"/>
              <a:t>Modeling</a:t>
            </a:r>
            <a:r>
              <a:rPr lang="en-IN" dirty="0"/>
              <a:t> Head</a:t>
            </a:r>
          </a:p>
        </p:txBody>
      </p:sp>
      <p:pic>
        <p:nvPicPr>
          <p:cNvPr id="3" name="Picture 2"/>
          <p:cNvPicPr>
            <a:picLocks noChangeAspect="1"/>
          </p:cNvPicPr>
          <p:nvPr/>
        </p:nvPicPr>
        <p:blipFill>
          <a:blip r:embed="rId2"/>
          <a:stretch>
            <a:fillRect/>
          </a:stretch>
        </p:blipFill>
        <p:spPr>
          <a:xfrm>
            <a:off x="155449" y="1395748"/>
            <a:ext cx="6684264" cy="3430933"/>
          </a:xfrm>
          <a:prstGeom prst="rect">
            <a:avLst/>
          </a:prstGeom>
        </p:spPr>
      </p:pic>
      <p:sp>
        <p:nvSpPr>
          <p:cNvPr id="5" name="Rectangle 4"/>
          <p:cNvSpPr/>
          <p:nvPr/>
        </p:nvSpPr>
        <p:spPr>
          <a:xfrm>
            <a:off x="6949440" y="1904764"/>
            <a:ext cx="5087111" cy="4708981"/>
          </a:xfrm>
          <a:prstGeom prst="rect">
            <a:avLst/>
          </a:prstGeom>
        </p:spPr>
        <p:txBody>
          <a:bodyPr wrap="square">
            <a:spAutoFit/>
          </a:bodyPr>
          <a:lstStyle/>
          <a:p>
            <a:pPr marL="342900" indent="-342900">
              <a:buFont typeface="Arial" panose="020B0604020202020204" pitchFamily="34" charset="0"/>
              <a:buChar char="•"/>
            </a:pPr>
            <a:r>
              <a:rPr lang="en-IN" sz="2000" dirty="0"/>
              <a:t> </a:t>
            </a:r>
            <a:r>
              <a:rPr lang="en-IN" sz="2000" dirty="0" err="1"/>
              <a:t>h</a:t>
            </a:r>
            <a:r>
              <a:rPr lang="en-IN" sz="2000" baseline="30000" dirty="0" err="1"/>
              <a:t>L</a:t>
            </a:r>
            <a:r>
              <a:rPr lang="en-IN" sz="2000" baseline="-25000" dirty="0" err="1"/>
              <a:t>N</a:t>
            </a:r>
            <a:r>
              <a:rPr lang="en-IN" sz="2000" baseline="-25000" dirty="0"/>
              <a:t>  </a:t>
            </a:r>
            <a:r>
              <a:rPr lang="en-IN" sz="2000" dirty="0"/>
              <a:t>= output token embedding at position N from the final block L (shape of [1×d)</a:t>
            </a:r>
          </a:p>
          <a:p>
            <a:pPr marL="342900" indent="-342900">
              <a:buFont typeface="Arial" panose="020B0604020202020204" pitchFamily="34" charset="0"/>
              <a:buChar char="•"/>
            </a:pPr>
            <a:r>
              <a:rPr lang="en-US" sz="2000" dirty="0"/>
              <a:t>U=  </a:t>
            </a:r>
            <a:r>
              <a:rPr lang="en-US" sz="2000" dirty="0">
                <a:solidFill>
                  <a:srgbClr val="1A1A1A"/>
                </a:solidFill>
                <a:latin typeface="Calibri" pitchFamily="34" charset="0"/>
                <a:ea typeface="Calibri" pitchFamily="34" charset="-122"/>
                <a:cs typeface="Calibri" pitchFamily="34" charset="-120"/>
              </a:rPr>
              <a:t>(1 × |V|), logits, one score per token</a:t>
            </a:r>
          </a:p>
          <a:p>
            <a:pPr marL="342900" indent="-342900">
              <a:buFont typeface="Arial" panose="020B0604020202020204" pitchFamily="34" charset="0"/>
              <a:buChar char="•"/>
            </a:pPr>
            <a:r>
              <a:rPr lang="en-US" sz="2000" dirty="0"/>
              <a:t>Unembedding matrix (E</a:t>
            </a:r>
            <a:r>
              <a:rPr lang="en-US" sz="2000" baseline="30000" dirty="0"/>
              <a:t>T</a:t>
            </a:r>
            <a:r>
              <a:rPr lang="en-US" sz="2000" dirty="0"/>
              <a:t>) can be tied to Embedding matrix (E)  </a:t>
            </a:r>
          </a:p>
          <a:p>
            <a:pPr marL="342900" indent="-342900">
              <a:buFont typeface="Arial" panose="020B0604020202020204" pitchFamily="34" charset="0"/>
              <a:buChar char="•"/>
            </a:pPr>
            <a:r>
              <a:rPr lang="en-US" sz="2000" dirty="0"/>
              <a:t>A </a:t>
            </a:r>
            <a:r>
              <a:rPr lang="en-US" sz="2000" dirty="0" err="1"/>
              <a:t>softmax</a:t>
            </a:r>
            <a:r>
              <a:rPr lang="en-US" sz="2000" dirty="0"/>
              <a:t> layer turns the logits u into </a:t>
            </a:r>
          </a:p>
          <a:p>
            <a:pPr marL="342900" indent="-342900">
              <a:buFont typeface="Arial" panose="020B0604020202020204" pitchFamily="34" charset="0"/>
              <a:buChar char="•"/>
            </a:pPr>
            <a:r>
              <a:rPr lang="en-US" sz="2000" dirty="0"/>
              <a:t>the probabilities y over the vocabulary</a:t>
            </a:r>
          </a:p>
          <a:p>
            <a:pPr marL="342900" indent="-342900">
              <a:buFont typeface="Arial" panose="020B0604020202020204" pitchFamily="34" charset="0"/>
              <a:buChar char="•"/>
            </a:pPr>
            <a:r>
              <a:rPr lang="en-US" sz="2000" b="1" dirty="0">
                <a:solidFill>
                  <a:srgbClr val="1A1A1A"/>
                </a:solidFill>
                <a:latin typeface="Calibri" pitchFamily="34" charset="0"/>
                <a:ea typeface="Calibri" pitchFamily="34" charset="-122"/>
                <a:cs typeface="Calibri" pitchFamily="34" charset="-120"/>
              </a:rPr>
              <a:t>Training: </a:t>
            </a:r>
            <a:r>
              <a:rPr lang="en-US" sz="2000" dirty="0">
                <a:solidFill>
                  <a:srgbClr val="1A1A1A"/>
                </a:solidFill>
                <a:latin typeface="Calibri" pitchFamily="34" charset="0"/>
                <a:ea typeface="Calibri" pitchFamily="34" charset="-122"/>
                <a:cs typeface="Calibri" pitchFamily="34" charset="-120"/>
              </a:rPr>
              <a:t>logits at all n positions in parallel (n predictions)</a:t>
            </a:r>
          </a:p>
          <a:p>
            <a:pPr marL="342900" indent="-342900">
              <a:buFont typeface="Arial" panose="020B0604020202020204" pitchFamily="34" charset="0"/>
              <a:buChar char="•"/>
            </a:pPr>
            <a:r>
              <a:rPr lang="en-US" sz="2000" dirty="0">
                <a:solidFill>
                  <a:srgbClr val="1A1A1A"/>
                </a:solidFill>
                <a:latin typeface="Calibri" pitchFamily="34" charset="0"/>
                <a:ea typeface="Calibri" pitchFamily="34" charset="-122"/>
                <a:cs typeface="Calibri" pitchFamily="34" charset="-120"/>
              </a:rPr>
              <a:t> </a:t>
            </a:r>
            <a:r>
              <a:rPr lang="en-US" sz="2000" b="1" dirty="0">
                <a:solidFill>
                  <a:srgbClr val="1A1A1A"/>
                </a:solidFill>
                <a:latin typeface="Calibri" pitchFamily="34" charset="0"/>
                <a:ea typeface="Calibri" pitchFamily="34" charset="-122"/>
                <a:cs typeface="Calibri" pitchFamily="34" charset="-120"/>
              </a:rPr>
              <a:t>Inference: </a:t>
            </a:r>
            <a:r>
              <a:rPr lang="en-US" sz="2000" dirty="0">
                <a:solidFill>
                  <a:srgbClr val="1A1A1A"/>
                </a:solidFill>
                <a:latin typeface="Calibri" pitchFamily="34" charset="0"/>
                <a:ea typeface="Calibri" pitchFamily="34" charset="-122"/>
                <a:cs typeface="Calibri" pitchFamily="34" charset="-120"/>
              </a:rPr>
              <a:t>only the last position</a:t>
            </a:r>
          </a:p>
          <a:p>
            <a:pPr marL="342900" indent="-342900">
              <a:buFont typeface="Arial" panose="020B0604020202020204" pitchFamily="34" charset="0"/>
              <a:buChar char="•"/>
            </a:pPr>
            <a:r>
              <a:rPr lang="en-US" sz="2000" b="1" dirty="0">
                <a:solidFill>
                  <a:srgbClr val="1A1A1A"/>
                </a:solidFill>
                <a:latin typeface="Calibri" pitchFamily="34" charset="0"/>
                <a:ea typeface="Calibri" pitchFamily="34" charset="-122"/>
                <a:cs typeface="Calibri" pitchFamily="34" charset="-120"/>
              </a:rPr>
              <a:t>Size: </a:t>
            </a:r>
            <a:r>
              <a:rPr lang="en-US" sz="2000" dirty="0">
                <a:solidFill>
                  <a:srgbClr val="1A1A1A"/>
                </a:solidFill>
                <a:latin typeface="Calibri" pitchFamily="34" charset="0"/>
                <a:ea typeface="Calibri" pitchFamily="34" charset="-122"/>
                <a:cs typeface="Calibri" pitchFamily="34" charset="-120"/>
              </a:rPr>
              <a:t>d × |V| = 4096 × 128K ≈ 525M params in Llama 3 8B, so a bigger vocab = bigger head.</a:t>
            </a: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pic>
        <p:nvPicPr>
          <p:cNvPr id="6" name="Picture 5"/>
          <p:cNvPicPr>
            <a:picLocks noChangeAspect="1"/>
          </p:cNvPicPr>
          <p:nvPr/>
        </p:nvPicPr>
        <p:blipFill>
          <a:blip r:embed="rId3"/>
          <a:stretch>
            <a:fillRect/>
          </a:stretch>
        </p:blipFill>
        <p:spPr>
          <a:xfrm>
            <a:off x="7658597" y="861144"/>
            <a:ext cx="1910724" cy="868511"/>
          </a:xfrm>
          <a:prstGeom prst="rect">
            <a:avLst/>
          </a:prstGeom>
          <a:ln>
            <a:solidFill>
              <a:srgbClr val="FF0000"/>
            </a:solidFill>
          </a:ln>
        </p:spPr>
      </p:pic>
      <p:sp>
        <p:nvSpPr>
          <p:cNvPr id="7" name="Rectangle 6"/>
          <p:cNvSpPr/>
          <p:nvPr/>
        </p:nvSpPr>
        <p:spPr>
          <a:xfrm>
            <a:off x="155449" y="5203805"/>
            <a:ext cx="6080759" cy="1323439"/>
          </a:xfrm>
          <a:prstGeom prst="rect">
            <a:avLst/>
          </a:prstGeom>
          <a:solidFill>
            <a:schemeClr val="accent2">
              <a:lumMod val="60000"/>
              <a:lumOff val="40000"/>
            </a:schemeClr>
          </a:solidFill>
        </p:spPr>
        <p:txBody>
          <a:bodyPr wrap="square">
            <a:spAutoFit/>
          </a:bodyPr>
          <a:lstStyle/>
          <a:p>
            <a:pPr marL="285750" indent="-285750">
              <a:buFont typeface="Arial" panose="020B0604020202020204" pitchFamily="34" charset="0"/>
              <a:buChar char="•"/>
            </a:pPr>
            <a:r>
              <a:rPr lang="en-US" sz="2000" b="1" dirty="0" err="1"/>
              <a:t>Softmax</a:t>
            </a:r>
            <a:r>
              <a:rPr lang="en-US" sz="2000" b="1" dirty="0"/>
              <a:t> probabilities (y) can be used</a:t>
            </a:r>
          </a:p>
          <a:p>
            <a:pPr marL="742950" lvl="1" indent="-285750">
              <a:buFont typeface="Arial" panose="020B0604020202020204" pitchFamily="34" charset="0"/>
              <a:buChar char="•"/>
            </a:pPr>
            <a:r>
              <a:rPr lang="en-US" sz="2000" b="1" dirty="0"/>
              <a:t> To help assign a probability to a given text</a:t>
            </a:r>
          </a:p>
          <a:p>
            <a:pPr marL="742950" lvl="1" indent="-285750">
              <a:buFont typeface="Arial" panose="020B0604020202020204" pitchFamily="34" charset="0"/>
              <a:buChar char="•"/>
            </a:pPr>
            <a:r>
              <a:rPr lang="en-US" sz="2000" b="1" dirty="0"/>
              <a:t> To generate text, (By sampling a word from these probabilities y)</a:t>
            </a:r>
            <a:endParaRPr lang="en-IN" sz="2000" b="1" dirty="0"/>
          </a:p>
        </p:txBody>
      </p:sp>
    </p:spTree>
    <p:extLst>
      <p:ext uri="{BB962C8B-B14F-4D97-AF65-F5344CB8AC3E}">
        <p14:creationId xmlns:p14="http://schemas.microsoft.com/office/powerpoint/2010/main" val="52815325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Context length</a:t>
            </a:r>
            <a:endParaRPr lang="en-IN" dirty="0"/>
          </a:p>
        </p:txBody>
      </p:sp>
      <p:pic>
        <p:nvPicPr>
          <p:cNvPr id="3" name="Picture 2"/>
          <p:cNvPicPr>
            <a:picLocks noChangeAspect="1"/>
          </p:cNvPicPr>
          <p:nvPr/>
        </p:nvPicPr>
        <p:blipFill>
          <a:blip r:embed="rId3"/>
          <a:stretch>
            <a:fillRect/>
          </a:stretch>
        </p:blipFill>
        <p:spPr>
          <a:xfrm>
            <a:off x="2840508" y="2349187"/>
            <a:ext cx="8740463" cy="4190792"/>
          </a:xfrm>
          <a:prstGeom prst="rect">
            <a:avLst/>
          </a:prstGeom>
        </p:spPr>
      </p:pic>
      <p:sp>
        <p:nvSpPr>
          <p:cNvPr id="4" name="Rectangle 3"/>
          <p:cNvSpPr/>
          <p:nvPr/>
        </p:nvSpPr>
        <p:spPr>
          <a:xfrm>
            <a:off x="114480" y="1392394"/>
            <a:ext cx="11144519" cy="1015663"/>
          </a:xfrm>
          <a:prstGeom prst="rect">
            <a:avLst/>
          </a:prstGeom>
        </p:spPr>
        <p:txBody>
          <a:bodyPr wrap="square">
            <a:spAutoFit/>
          </a:bodyPr>
          <a:lstStyle/>
          <a:p>
            <a:pPr marL="342900" indent="-342900">
              <a:buFont typeface="Arial" panose="020B0604020202020204" pitchFamily="34" charset="0"/>
              <a:buChar char="•"/>
            </a:pPr>
            <a:r>
              <a:rPr lang="en-US" sz="2000" dirty="0"/>
              <a:t>Context length represents the maximum number of tokens the model can process</a:t>
            </a:r>
          </a:p>
          <a:p>
            <a:pPr marL="342900" indent="-342900">
              <a:buFont typeface="Arial" panose="020B0604020202020204" pitchFamily="34" charset="0"/>
              <a:buChar char="•"/>
            </a:pPr>
            <a:r>
              <a:rPr lang="en-US" sz="2000" dirty="0"/>
              <a:t>Due to the autoregressive nature of these models, the current context length will increase as new tokens are generated</a:t>
            </a:r>
            <a:endParaRPr lang="en-IN" sz="2000" dirty="0"/>
          </a:p>
        </p:txBody>
      </p:sp>
    </p:spTree>
    <p:extLst>
      <p:ext uri="{BB962C8B-B14F-4D97-AF65-F5344CB8AC3E}">
        <p14:creationId xmlns:p14="http://schemas.microsoft.com/office/powerpoint/2010/main" val="425931700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models landscape</a:t>
            </a:r>
            <a:endParaRPr lang="en-IN" dirty="0"/>
          </a:p>
        </p:txBody>
      </p:sp>
      <p:sp>
        <p:nvSpPr>
          <p:cNvPr id="3" name="Content Placeholder 1"/>
          <p:cNvSpPr txBox="1">
            <a:spLocks/>
          </p:cNvSpPr>
          <p:nvPr/>
        </p:nvSpPr>
        <p:spPr>
          <a:xfrm>
            <a:off x="304800" y="1545224"/>
            <a:ext cx="11480800" cy="5184189"/>
          </a:xfrm>
          <a:prstGeom prst="rect">
            <a:avLst/>
          </a:prstGeom>
        </p:spPr>
        <p:txBody>
          <a:bodyPr>
            <a:normAutofit fontScale="85000" lnSpcReduction="20000"/>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b="1" kern="0">
                <a:solidFill>
                  <a:sysClr val="windowText" lastClr="000000"/>
                </a:solidFill>
              </a:rPr>
              <a:t>Early foundation models (late 2010s)</a:t>
            </a:r>
          </a:p>
          <a:p>
            <a:pPr fontAlgn="t"/>
            <a:r>
              <a:rPr lang="en-IN" kern="0">
                <a:solidFill>
                  <a:sysClr val="windowText" lastClr="000000"/>
                </a:solidFill>
              </a:rPr>
              <a:t>ELMo: pretraining with LSTMs, fine-tuning helps tasks  </a:t>
            </a:r>
          </a:p>
          <a:p>
            <a:pPr fontAlgn="t"/>
            <a:r>
              <a:rPr lang="en-IN" kern="0">
                <a:solidFill>
                  <a:sysClr val="windowText" lastClr="000000"/>
                </a:solidFill>
              </a:rPr>
              <a:t>BERT: pretraining with Transformer, fine-tuning helps tasks  </a:t>
            </a:r>
          </a:p>
          <a:p>
            <a:pPr fontAlgn="t"/>
            <a:r>
              <a:rPr lang="en-IN" kern="0">
                <a:solidFill>
                  <a:sysClr val="windowText" lastClr="000000"/>
                </a:solidFill>
              </a:rPr>
              <a:t>Google's T5 (11B): cast everything as text-to-text </a:t>
            </a:r>
          </a:p>
          <a:p>
            <a:pPr fontAlgn="t"/>
            <a:endParaRPr lang="en-IN" kern="0">
              <a:solidFill>
                <a:sysClr val="windowText" lastClr="000000"/>
              </a:solidFill>
            </a:endParaRPr>
          </a:p>
          <a:p>
            <a:pPr fontAlgn="t"/>
            <a:r>
              <a:rPr lang="en-IN" b="1" kern="0">
                <a:solidFill>
                  <a:sysClr val="windowText" lastClr="000000"/>
                </a:solidFill>
              </a:rPr>
              <a:t>Embracing scaling, more closed</a:t>
            </a:r>
          </a:p>
          <a:p>
            <a:pPr fontAlgn="t"/>
            <a:r>
              <a:rPr lang="en-IN" kern="0">
                <a:solidFill>
                  <a:sysClr val="windowText" lastClr="000000"/>
                </a:solidFill>
              </a:rPr>
              <a:t>OpenAI's GPT-2 (1.5B): fluent text, first signs of zero-shot, staged release  </a:t>
            </a:r>
          </a:p>
          <a:p>
            <a:pPr fontAlgn="t"/>
            <a:r>
              <a:rPr lang="en-IN" kern="0">
                <a:solidFill>
                  <a:sysClr val="windowText" lastClr="000000"/>
                </a:solidFill>
              </a:rPr>
              <a:t>Scaling laws: provide hope / predictability for scaling,  Kaplan law</a:t>
            </a:r>
          </a:p>
          <a:p>
            <a:pPr fontAlgn="t"/>
            <a:r>
              <a:rPr lang="en-IN" kern="0">
                <a:solidFill>
                  <a:sysClr val="windowText" lastClr="000000"/>
                </a:solidFill>
              </a:rPr>
              <a:t>OpenAI's GPT-3 (175B): in-context learning, closed  </a:t>
            </a:r>
          </a:p>
          <a:p>
            <a:pPr fontAlgn="t"/>
            <a:r>
              <a:rPr lang="en-IN" kern="0">
                <a:solidFill>
                  <a:sysClr val="windowText" lastClr="000000"/>
                </a:solidFill>
              </a:rPr>
              <a:t>Google's PaLM (540B): massive scale, undertrained </a:t>
            </a:r>
          </a:p>
          <a:p>
            <a:pPr fontAlgn="t"/>
            <a:r>
              <a:rPr lang="en-IN" kern="0">
                <a:solidFill>
                  <a:sysClr val="windowText" lastClr="000000"/>
                </a:solidFill>
              </a:rPr>
              <a:t>DeepMind's Chinchilla (70B): compute-optimal scaling laws </a:t>
            </a:r>
          </a:p>
          <a:p>
            <a:pPr fontAlgn="t"/>
            <a:endParaRPr lang="en-IN" b="1" kern="0">
              <a:solidFill>
                <a:sysClr val="windowText" lastClr="000000"/>
              </a:solidFill>
            </a:endParaRPr>
          </a:p>
          <a:p>
            <a:pPr fontAlgn="t"/>
            <a:r>
              <a:rPr lang="en-IN" b="1" kern="0">
                <a:solidFill>
                  <a:sysClr val="windowText" lastClr="000000"/>
                </a:solidFill>
              </a:rPr>
              <a:t>Open models</a:t>
            </a:r>
          </a:p>
          <a:p>
            <a:pPr fontAlgn="t"/>
            <a:r>
              <a:rPr lang="en-IN" kern="0">
                <a:solidFill>
                  <a:sysClr val="windowText" lastClr="000000"/>
                </a:solidFill>
              </a:rPr>
              <a:t>EleutherAI's open datasets (The Pile) and models (GPT-J)  </a:t>
            </a:r>
          </a:p>
          <a:p>
            <a:pPr fontAlgn="t"/>
            <a:r>
              <a:rPr lang="en-IN" kern="0">
                <a:solidFill>
                  <a:sysClr val="windowText" lastClr="000000"/>
                </a:solidFill>
              </a:rPr>
              <a:t>Meta's OPT (175B): GPT-3 replication, lots of hardware issues </a:t>
            </a:r>
          </a:p>
          <a:p>
            <a:pPr fontAlgn="t"/>
            <a:r>
              <a:rPr lang="en-IN" kern="0">
                <a:solidFill>
                  <a:sysClr val="windowText" lastClr="000000"/>
                </a:solidFill>
              </a:rPr>
              <a:t>Hugging Face / BigScience's BLOOM: focused on data sourcing </a:t>
            </a:r>
          </a:p>
          <a:p>
            <a:pPr fontAlgn="t"/>
            <a:r>
              <a:rPr lang="en-IN" kern="0">
                <a:solidFill>
                  <a:sysClr val="windowText" lastClr="000000"/>
                </a:solidFill>
              </a:rPr>
              <a:t>Meta's Llama models  </a:t>
            </a:r>
          </a:p>
          <a:p>
            <a:pPr fontAlgn="t"/>
            <a:r>
              <a:rPr lang="en-IN" kern="0">
                <a:solidFill>
                  <a:sysClr val="windowText" lastClr="000000"/>
                </a:solidFill>
              </a:rPr>
              <a:t>Alibaba's Qwen models  </a:t>
            </a:r>
          </a:p>
          <a:p>
            <a:pPr fontAlgn="t"/>
            <a:r>
              <a:rPr lang="en-IN" kern="0">
                <a:solidFill>
                  <a:sysClr val="windowText" lastClr="000000"/>
                </a:solidFill>
              </a:rPr>
              <a:t>DeepSeek's models </a:t>
            </a:r>
          </a:p>
          <a:p>
            <a:pPr fontAlgn="t"/>
            <a:r>
              <a:rPr lang="en-IN" kern="0">
                <a:solidFill>
                  <a:sysClr val="windowText" lastClr="000000"/>
                </a:solidFill>
              </a:rPr>
              <a:t>AI2's OLMo 2</a:t>
            </a:r>
          </a:p>
          <a:p>
            <a:pPr fontAlgn="t"/>
            <a:endParaRPr lang="en-IN" kern="0">
              <a:solidFill>
                <a:sysClr val="windowText" lastClr="000000"/>
              </a:solidFill>
            </a:endParaRPr>
          </a:p>
          <a:p>
            <a:endParaRPr lang="en-IN" b="1" kern="0">
              <a:solidFill>
                <a:sysClr val="windowText" lastClr="000000"/>
              </a:solidFill>
            </a:endParaRPr>
          </a:p>
          <a:p>
            <a:endParaRPr lang="en-IN" kern="0" dirty="0">
              <a:solidFill>
                <a:sysClr val="windowText" lastClr="000000"/>
              </a:solidFill>
            </a:endParaRPr>
          </a:p>
        </p:txBody>
      </p:sp>
    </p:spTree>
    <p:extLst>
      <p:ext uri="{BB962C8B-B14F-4D97-AF65-F5344CB8AC3E}">
        <p14:creationId xmlns:p14="http://schemas.microsoft.com/office/powerpoint/2010/main" val="74061169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models landscape</a:t>
            </a:r>
            <a:endParaRPr lang="en-IN" dirty="0"/>
          </a:p>
        </p:txBody>
      </p:sp>
      <p:sp>
        <p:nvSpPr>
          <p:cNvPr id="3" name="Content Placeholder 1"/>
          <p:cNvSpPr txBox="1">
            <a:spLocks/>
          </p:cNvSpPr>
          <p:nvPr/>
        </p:nvSpPr>
        <p:spPr>
          <a:xfrm>
            <a:off x="304800" y="1545224"/>
            <a:ext cx="11480800" cy="4961454"/>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fontAlgn="t">
              <a:buFont typeface="Arial" panose="020B0604020202020204" pitchFamily="34" charset="0"/>
              <a:buChar char="•"/>
            </a:pPr>
            <a:r>
              <a:rPr lang="en-IN" kern="0" dirty="0">
                <a:solidFill>
                  <a:sysClr val="windowText" lastClr="000000"/>
                </a:solidFill>
              </a:rPr>
              <a:t> </a:t>
            </a:r>
            <a:r>
              <a:rPr lang="en-IN" b="1" kern="0" dirty="0">
                <a:solidFill>
                  <a:sysClr val="windowText" lastClr="000000"/>
                </a:solidFill>
              </a:rPr>
              <a:t>Levels of openness</a:t>
            </a:r>
          </a:p>
          <a:p>
            <a:pPr marL="800100" lvl="1" indent="-342900" fontAlgn="t">
              <a:buFont typeface="Arial" panose="020B0604020202020204" pitchFamily="34" charset="0"/>
              <a:buChar char="•"/>
            </a:pPr>
            <a:r>
              <a:rPr lang="en-IN" kern="0" dirty="0">
                <a:solidFill>
                  <a:sysClr val="windowText" lastClr="000000"/>
                </a:solidFill>
              </a:rPr>
              <a:t>Closed models (e.g., GPT, Gemini, Claude): API access only</a:t>
            </a:r>
          </a:p>
          <a:p>
            <a:pPr marL="800100" lvl="1" indent="-342900" fontAlgn="t">
              <a:buFont typeface="Arial" panose="020B0604020202020204" pitchFamily="34" charset="0"/>
              <a:buChar char="•"/>
            </a:pPr>
            <a:r>
              <a:rPr lang="en-IN" kern="0" dirty="0">
                <a:solidFill>
                  <a:sysClr val="windowText" lastClr="000000"/>
                </a:solidFill>
              </a:rPr>
              <a:t> Open-weight models (e.g., Llama, DeepSeek, Qwen): weights available, paper with architecture details, some training details, no data details</a:t>
            </a:r>
          </a:p>
          <a:p>
            <a:pPr marL="800100" lvl="1" indent="-342900" fontAlgn="t">
              <a:buFont typeface="Arial" panose="020B0604020202020204" pitchFamily="34" charset="0"/>
              <a:buChar char="•"/>
            </a:pPr>
            <a:r>
              <a:rPr lang="en-IN" kern="0" dirty="0">
                <a:solidFill>
                  <a:sysClr val="windowText" lastClr="000000"/>
                </a:solidFill>
              </a:rPr>
              <a:t> Open-source models (e.g., </a:t>
            </a:r>
            <a:r>
              <a:rPr lang="en-IN" kern="0" dirty="0" err="1">
                <a:solidFill>
                  <a:sysClr val="windowText" lastClr="000000"/>
                </a:solidFill>
              </a:rPr>
              <a:t>OLMo</a:t>
            </a:r>
            <a:r>
              <a:rPr lang="en-IN" kern="0" dirty="0">
                <a:solidFill>
                  <a:sysClr val="windowText" lastClr="000000"/>
                </a:solidFill>
              </a:rPr>
              <a:t>): weights and data available, paper with most details (but not necessarily the rationale, failed experiments)</a:t>
            </a:r>
          </a:p>
          <a:p>
            <a:pPr marL="342900" indent="-342900" fontAlgn="t">
              <a:buFont typeface="Arial" panose="020B0604020202020204" pitchFamily="34" charset="0"/>
              <a:buChar char="•"/>
            </a:pPr>
            <a:endParaRPr lang="en-IN" kern="0" dirty="0">
              <a:solidFill>
                <a:sysClr val="windowText" lastClr="000000"/>
              </a:solidFill>
            </a:endParaRPr>
          </a:p>
        </p:txBody>
      </p:sp>
    </p:spTree>
    <p:extLst>
      <p:ext uri="{BB962C8B-B14F-4D97-AF65-F5344CB8AC3E}">
        <p14:creationId xmlns:p14="http://schemas.microsoft.com/office/powerpoint/2010/main" val="3558271769"/>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8B936A-3C5A-6907-EDBF-064C382C0BF2}"/>
              </a:ext>
            </a:extLst>
          </p:cNvPr>
          <p:cNvSpPr>
            <a:spLocks noGrp="1"/>
          </p:cNvSpPr>
          <p:nvPr>
            <p:ph type="body" sz="quarter" idx="1"/>
          </p:nvPr>
        </p:nvSpPr>
        <p:spPr/>
        <p:txBody>
          <a:bodyPr/>
          <a:lstStyle/>
          <a:p>
            <a:r>
              <a:rPr lang="en-US" dirty="0"/>
              <a:t>Recent models</a:t>
            </a:r>
            <a:endParaRPr lang="en-IN" dirty="0"/>
          </a:p>
        </p:txBody>
      </p:sp>
      <p:graphicFrame>
        <p:nvGraphicFramePr>
          <p:cNvPr id="3" name="Table 2">
            <a:extLst>
              <a:ext uri="{FF2B5EF4-FFF2-40B4-BE49-F238E27FC236}">
                <a16:creationId xmlns:a16="http://schemas.microsoft.com/office/drawing/2014/main" id="{8A7F1D7D-ADD7-7AF3-CD67-A05DB61D7D93}"/>
              </a:ext>
            </a:extLst>
          </p:cNvPr>
          <p:cNvGraphicFramePr>
            <a:graphicFrameLocks noGrp="1"/>
          </p:cNvGraphicFramePr>
          <p:nvPr/>
        </p:nvGraphicFramePr>
        <p:xfrm>
          <a:off x="354932" y="1616487"/>
          <a:ext cx="11482135" cy="3337560"/>
        </p:xfrm>
        <a:graphic>
          <a:graphicData uri="http://schemas.openxmlformats.org/drawingml/2006/table">
            <a:tbl>
              <a:tblPr>
                <a:tableStyleId>{616DA210-FB5B-4158-B5E0-FEB733F419BA}</a:tableStyleId>
              </a:tblPr>
              <a:tblGrid>
                <a:gridCol w="1421117">
                  <a:extLst>
                    <a:ext uri="{9D8B030D-6E8A-4147-A177-3AD203B41FA5}">
                      <a16:colId xmlns:a16="http://schemas.microsoft.com/office/drawing/2014/main" val="20000"/>
                    </a:ext>
                  </a:extLst>
                </a:gridCol>
                <a:gridCol w="2325390">
                  <a:extLst>
                    <a:ext uri="{9D8B030D-6E8A-4147-A177-3AD203B41FA5}">
                      <a16:colId xmlns:a16="http://schemas.microsoft.com/office/drawing/2014/main" val="20001"/>
                    </a:ext>
                  </a:extLst>
                </a:gridCol>
                <a:gridCol w="7735628">
                  <a:extLst>
                    <a:ext uri="{9D8B030D-6E8A-4147-A177-3AD203B41FA5}">
                      <a16:colId xmlns:a16="http://schemas.microsoft.com/office/drawing/2014/main" val="20002"/>
                    </a:ext>
                  </a:extLst>
                </a:gridCol>
              </a:tblGrid>
              <a:tr h="370840">
                <a:tc>
                  <a:txBody>
                    <a:bodyPr/>
                    <a:lstStyle/>
                    <a:p>
                      <a:pPr algn="l">
                        <a:buNone/>
                      </a:pPr>
                      <a:r>
                        <a:rPr lang="en-IN" sz="1800">
                          <a:effectLst/>
                        </a:rPr>
                        <a:t>Model Family</a:t>
                      </a:r>
                    </a:p>
                  </a:txBody>
                  <a:tcPr marL="31486" marR="31486" marT="31486" marB="31486" anchor="ctr"/>
                </a:tc>
                <a:tc>
                  <a:txBody>
                    <a:bodyPr/>
                    <a:lstStyle/>
                    <a:p>
                      <a:pPr algn="l">
                        <a:buNone/>
                      </a:pPr>
                      <a:r>
                        <a:rPr lang="en-IN" sz="1800">
                          <a:effectLst/>
                        </a:rPr>
                        <a:t>Key Release</a:t>
                      </a:r>
                    </a:p>
                  </a:txBody>
                  <a:tcPr marL="31486" marR="31486" marT="31486" marB="31486" anchor="ctr"/>
                </a:tc>
                <a:tc>
                  <a:txBody>
                    <a:bodyPr/>
                    <a:lstStyle/>
                    <a:p>
                      <a:pPr algn="l">
                        <a:buNone/>
                      </a:pPr>
                      <a:r>
                        <a:rPr lang="en-IN" sz="1800">
                          <a:effectLst/>
                        </a:rPr>
                        <a:t>Primary Strength</a:t>
                      </a:r>
                    </a:p>
                  </a:txBody>
                  <a:tcPr marL="31486" marR="31486" marT="31486" marB="31486" anchor="ctr"/>
                </a:tc>
                <a:extLst>
                  <a:ext uri="{0D108BD9-81ED-4DB2-BD59-A6C34878D82A}">
                    <a16:rowId xmlns:a16="http://schemas.microsoft.com/office/drawing/2014/main" val="10000"/>
                  </a:ext>
                </a:extLst>
              </a:tr>
              <a:tr h="370840">
                <a:tc>
                  <a:txBody>
                    <a:bodyPr/>
                    <a:lstStyle/>
                    <a:p>
                      <a:pPr algn="l">
                        <a:buNone/>
                      </a:pPr>
                      <a:r>
                        <a:rPr lang="en-IN" sz="1800" b="1">
                          <a:effectLst/>
                        </a:rPr>
                        <a:t>OpenAI</a:t>
                      </a:r>
                    </a:p>
                  </a:txBody>
                  <a:tcPr marL="31486" marR="31486" marT="31486" marB="31486" anchor="ctr"/>
                </a:tc>
                <a:tc>
                  <a:txBody>
                    <a:bodyPr/>
                    <a:lstStyle/>
                    <a:p>
                      <a:pPr algn="l">
                        <a:buNone/>
                      </a:pPr>
                      <a:r>
                        <a:rPr lang="en-IN" sz="1800">
                          <a:effectLst/>
                        </a:rPr>
                        <a:t>GPT-6</a:t>
                      </a:r>
                    </a:p>
                  </a:txBody>
                  <a:tcPr marL="31486" marR="31486" marT="31486" marB="31486" anchor="ctr"/>
                </a:tc>
                <a:tc>
                  <a:txBody>
                    <a:bodyPr/>
                    <a:lstStyle/>
                    <a:p>
                      <a:pPr algn="l">
                        <a:buNone/>
                      </a:pPr>
                      <a:r>
                        <a:rPr lang="en-IN" sz="1800">
                          <a:effectLst/>
                        </a:rPr>
                        <a:t>Deep reasoning, tool use, and long-horizon research tasks</a:t>
                      </a:r>
                    </a:p>
                  </a:txBody>
                  <a:tcPr marL="31486" marR="31486" marT="31486" marB="31486" anchor="ctr"/>
                </a:tc>
                <a:extLst>
                  <a:ext uri="{0D108BD9-81ED-4DB2-BD59-A6C34878D82A}">
                    <a16:rowId xmlns:a16="http://schemas.microsoft.com/office/drawing/2014/main" val="10001"/>
                  </a:ext>
                </a:extLst>
              </a:tr>
              <a:tr h="370840">
                <a:tc>
                  <a:txBody>
                    <a:bodyPr/>
                    <a:lstStyle/>
                    <a:p>
                      <a:pPr algn="l">
                        <a:buNone/>
                      </a:pPr>
                      <a:r>
                        <a:rPr lang="en-IN" sz="1800" b="1">
                          <a:effectLst/>
                        </a:rPr>
                        <a:t>Google</a:t>
                      </a:r>
                    </a:p>
                  </a:txBody>
                  <a:tcPr marL="31486" marR="31486" marT="31486" marB="31486" anchor="ctr"/>
                </a:tc>
                <a:tc>
                  <a:txBody>
                    <a:bodyPr/>
                    <a:lstStyle/>
                    <a:p>
                      <a:pPr algn="l">
                        <a:buNone/>
                      </a:pPr>
                      <a:r>
                        <a:rPr lang="en-IN" sz="1800">
                          <a:effectLst/>
                        </a:rPr>
                        <a:t>Gemini 4</a:t>
                      </a:r>
                    </a:p>
                  </a:txBody>
                  <a:tcPr marL="31486" marR="31486" marT="31486" marB="31486" anchor="ctr"/>
                </a:tc>
                <a:tc>
                  <a:txBody>
                    <a:bodyPr/>
                    <a:lstStyle/>
                    <a:p>
                      <a:pPr algn="l">
                        <a:buNone/>
                      </a:pPr>
                      <a:r>
                        <a:rPr lang="en-IN" sz="1800">
                          <a:effectLst/>
                        </a:rPr>
                        <a:t>Complex problem-solving, multimodal understanding, and tool-based workflows</a:t>
                      </a:r>
                    </a:p>
                  </a:txBody>
                  <a:tcPr marL="31486" marR="31486" marT="31486" marB="31486" anchor="ctr"/>
                </a:tc>
                <a:extLst>
                  <a:ext uri="{0D108BD9-81ED-4DB2-BD59-A6C34878D82A}">
                    <a16:rowId xmlns:a16="http://schemas.microsoft.com/office/drawing/2014/main" val="10002"/>
                  </a:ext>
                </a:extLst>
              </a:tr>
              <a:tr h="370840">
                <a:tc>
                  <a:txBody>
                    <a:bodyPr/>
                    <a:lstStyle/>
                    <a:p>
                      <a:pPr algn="l">
                        <a:buNone/>
                      </a:pPr>
                      <a:r>
                        <a:rPr lang="en-IN" sz="1800" b="1">
                          <a:effectLst/>
                        </a:rPr>
                        <a:t>Google</a:t>
                      </a:r>
                    </a:p>
                  </a:txBody>
                  <a:tcPr marL="31486" marR="31486" marT="31486" marB="31486" anchor="ctr"/>
                </a:tc>
                <a:tc>
                  <a:txBody>
                    <a:bodyPr/>
                    <a:lstStyle/>
                    <a:p>
                      <a:pPr algn="l">
                        <a:buNone/>
                      </a:pPr>
                      <a:r>
                        <a:rPr lang="en-IN" sz="1800">
                          <a:effectLst/>
                        </a:rPr>
                        <a:t>Gemma 4</a:t>
                      </a:r>
                    </a:p>
                  </a:txBody>
                  <a:tcPr marL="31486" marR="31486" marT="31486" marB="31486" anchor="ctr"/>
                </a:tc>
                <a:tc>
                  <a:txBody>
                    <a:bodyPr/>
                    <a:lstStyle/>
                    <a:p>
                      <a:pPr algn="l">
                        <a:buNone/>
                      </a:pPr>
                      <a:r>
                        <a:rPr lang="en-IN" sz="1800">
                          <a:effectLst/>
                        </a:rPr>
                        <a:t>Open-weight reasoning, multimodal understanding, and agentic workflows</a:t>
                      </a:r>
                    </a:p>
                  </a:txBody>
                  <a:tcPr marL="31486" marR="31486" marT="31486" marB="31486" anchor="ctr"/>
                </a:tc>
                <a:extLst>
                  <a:ext uri="{0D108BD9-81ED-4DB2-BD59-A6C34878D82A}">
                    <a16:rowId xmlns:a16="http://schemas.microsoft.com/office/drawing/2014/main" val="10003"/>
                  </a:ext>
                </a:extLst>
              </a:tr>
              <a:tr h="370840">
                <a:tc>
                  <a:txBody>
                    <a:bodyPr/>
                    <a:lstStyle/>
                    <a:p>
                      <a:pPr algn="l">
                        <a:buNone/>
                      </a:pPr>
                      <a:r>
                        <a:rPr lang="en-IN" sz="1800" b="1">
                          <a:effectLst/>
                        </a:rPr>
                        <a:t>Anthropic</a:t>
                      </a:r>
                    </a:p>
                  </a:txBody>
                  <a:tcPr marL="31486" marR="31486" marT="31486" marB="31486" anchor="ctr"/>
                </a:tc>
                <a:tc>
                  <a:txBody>
                    <a:bodyPr/>
                    <a:lstStyle/>
                    <a:p>
                      <a:pPr algn="l">
                        <a:buNone/>
                      </a:pPr>
                      <a:r>
                        <a:rPr lang="en-IN" sz="1800">
                          <a:effectLst/>
                        </a:rPr>
                        <a:t>Claude Opus 5.5</a:t>
                      </a:r>
                    </a:p>
                  </a:txBody>
                  <a:tcPr marL="31486" marR="31486" marT="31486" marB="31486" anchor="ctr"/>
                </a:tc>
                <a:tc>
                  <a:txBody>
                    <a:bodyPr/>
                    <a:lstStyle/>
                    <a:p>
                      <a:pPr algn="l">
                        <a:buNone/>
                      </a:pPr>
                      <a:r>
                        <a:rPr lang="en-IN" sz="1800">
                          <a:effectLst/>
                        </a:rPr>
                        <a:t>Long-context reasoning, coding, and sustained agentic work</a:t>
                      </a:r>
                    </a:p>
                  </a:txBody>
                  <a:tcPr marL="31486" marR="31486" marT="31486" marB="31486" anchor="ctr"/>
                </a:tc>
                <a:extLst>
                  <a:ext uri="{0D108BD9-81ED-4DB2-BD59-A6C34878D82A}">
                    <a16:rowId xmlns:a16="http://schemas.microsoft.com/office/drawing/2014/main" val="10004"/>
                  </a:ext>
                </a:extLst>
              </a:tr>
              <a:tr h="370840">
                <a:tc>
                  <a:txBody>
                    <a:bodyPr/>
                    <a:lstStyle/>
                    <a:p>
                      <a:pPr algn="l">
                        <a:buNone/>
                      </a:pPr>
                      <a:r>
                        <a:rPr lang="en-IN" sz="1800" b="1">
                          <a:effectLst/>
                        </a:rPr>
                        <a:t>Alibaba</a:t>
                      </a:r>
                    </a:p>
                  </a:txBody>
                  <a:tcPr marL="31486" marR="31486" marT="31486" marB="31486" anchor="ctr"/>
                </a:tc>
                <a:tc>
                  <a:txBody>
                    <a:bodyPr/>
                    <a:lstStyle/>
                    <a:p>
                      <a:pPr algn="l">
                        <a:buNone/>
                      </a:pPr>
                      <a:r>
                        <a:rPr lang="en-IN" sz="1800">
                          <a:effectLst/>
                        </a:rPr>
                        <a:t>Qwen3.x series</a:t>
                      </a:r>
                    </a:p>
                  </a:txBody>
                  <a:tcPr marL="31486" marR="31486" marT="31486" marB="31486" anchor="ctr"/>
                </a:tc>
                <a:tc>
                  <a:txBody>
                    <a:bodyPr/>
                    <a:lstStyle/>
                    <a:p>
                      <a:pPr algn="l">
                        <a:buNone/>
                      </a:pPr>
                      <a:r>
                        <a:rPr lang="en-IN" sz="1800">
                          <a:effectLst/>
                        </a:rPr>
                        <a:t>Open-weight dense and MoE models across sizes; a common base for fine-tuning</a:t>
                      </a:r>
                    </a:p>
                  </a:txBody>
                  <a:tcPr marL="31486" marR="31486" marT="31486" marB="31486" anchor="ctr"/>
                </a:tc>
                <a:extLst>
                  <a:ext uri="{0D108BD9-81ED-4DB2-BD59-A6C34878D82A}">
                    <a16:rowId xmlns:a16="http://schemas.microsoft.com/office/drawing/2014/main" val="10005"/>
                  </a:ext>
                </a:extLst>
              </a:tr>
              <a:tr h="370840">
                <a:tc>
                  <a:txBody>
                    <a:bodyPr/>
                    <a:lstStyle/>
                    <a:p>
                      <a:pPr algn="l">
                        <a:buNone/>
                      </a:pPr>
                      <a:r>
                        <a:rPr lang="en-IN" sz="1800" b="1">
                          <a:effectLst/>
                        </a:rPr>
                        <a:t>DeepSeek</a:t>
                      </a:r>
                    </a:p>
                  </a:txBody>
                  <a:tcPr marL="31486" marR="31486" marT="31486" marB="31486" anchor="ctr"/>
                </a:tc>
                <a:tc>
                  <a:txBody>
                    <a:bodyPr/>
                    <a:lstStyle/>
                    <a:p>
                      <a:pPr algn="l">
                        <a:buNone/>
                      </a:pPr>
                      <a:r>
                        <a:rPr lang="en-IN" sz="1800">
                          <a:effectLst/>
                        </a:rPr>
                        <a:t>DeepSeek V4.1</a:t>
                      </a:r>
                    </a:p>
                  </a:txBody>
                  <a:tcPr marL="31486" marR="31486" marT="31486" marB="31486" anchor="ctr"/>
                </a:tc>
                <a:tc>
                  <a:txBody>
                    <a:bodyPr/>
                    <a:lstStyle/>
                    <a:p>
                      <a:pPr algn="l">
                        <a:buNone/>
                      </a:pPr>
                      <a:r>
                        <a:rPr lang="en-IN" sz="1800">
                          <a:effectLst/>
                        </a:rPr>
                        <a:t>Open-weight models; RL-driven reasoning lineage from DeepSeek-R1</a:t>
                      </a:r>
                    </a:p>
                  </a:txBody>
                  <a:tcPr marL="31486" marR="31486" marT="31486" marB="31486" anchor="ctr"/>
                </a:tc>
                <a:extLst>
                  <a:ext uri="{0D108BD9-81ED-4DB2-BD59-A6C34878D82A}">
                    <a16:rowId xmlns:a16="http://schemas.microsoft.com/office/drawing/2014/main" val="10006"/>
                  </a:ext>
                </a:extLst>
              </a:tr>
              <a:tr h="370840">
                <a:tc>
                  <a:txBody>
                    <a:bodyPr/>
                    <a:lstStyle/>
                    <a:p>
                      <a:pPr algn="l">
                        <a:buNone/>
                      </a:pPr>
                      <a:r>
                        <a:rPr lang="en-IN" sz="1800" b="1">
                          <a:effectLst/>
                        </a:rPr>
                        <a:t>Mistral</a:t>
                      </a:r>
                    </a:p>
                  </a:txBody>
                  <a:tcPr marL="31486" marR="31486" marT="31486" marB="31486" anchor="ctr"/>
                </a:tc>
                <a:tc>
                  <a:txBody>
                    <a:bodyPr/>
                    <a:lstStyle/>
                    <a:p>
                      <a:pPr algn="l">
                        <a:buNone/>
                      </a:pPr>
                      <a:r>
                        <a:rPr lang="en-IN" sz="1800">
                          <a:effectLst/>
                        </a:rPr>
                        <a:t>Mistral Large 4</a:t>
                      </a:r>
                    </a:p>
                  </a:txBody>
                  <a:tcPr marL="31486" marR="31486" marT="31486" marB="31486" anchor="ctr"/>
                </a:tc>
                <a:tc>
                  <a:txBody>
                    <a:bodyPr/>
                    <a:lstStyle/>
                    <a:p>
                      <a:pPr algn="l">
                        <a:buNone/>
                      </a:pPr>
                      <a:r>
                        <a:rPr lang="en-IN" sz="1800">
                          <a:effectLst/>
                        </a:rPr>
                        <a:t>Efficient sparse MoE design (public preview)</a:t>
                      </a:r>
                    </a:p>
                  </a:txBody>
                  <a:tcPr marL="31486" marR="31486" marT="31486" marB="31486" anchor="ctr"/>
                </a:tc>
                <a:extLst>
                  <a:ext uri="{0D108BD9-81ED-4DB2-BD59-A6C34878D82A}">
                    <a16:rowId xmlns:a16="http://schemas.microsoft.com/office/drawing/2014/main" val="10007"/>
                  </a:ext>
                </a:extLst>
              </a:tr>
              <a:tr h="370840">
                <a:tc>
                  <a:txBody>
                    <a:bodyPr/>
                    <a:lstStyle/>
                    <a:p>
                      <a:pPr algn="l">
                        <a:buNone/>
                      </a:pPr>
                      <a:r>
                        <a:rPr lang="en-IN" sz="1800" b="1">
                          <a:effectLst/>
                        </a:rPr>
                        <a:t>xAI</a:t>
                      </a:r>
                    </a:p>
                  </a:txBody>
                  <a:tcPr marL="31486" marR="31486" marT="31486" marB="31486" anchor="ctr"/>
                </a:tc>
                <a:tc>
                  <a:txBody>
                    <a:bodyPr/>
                    <a:lstStyle/>
                    <a:p>
                      <a:pPr algn="l">
                        <a:buNone/>
                      </a:pPr>
                      <a:r>
                        <a:rPr lang="en-IN" sz="1800">
                          <a:effectLst/>
                        </a:rPr>
                        <a:t>Grok 4.7</a:t>
                      </a:r>
                    </a:p>
                  </a:txBody>
                  <a:tcPr marL="31486" marR="31486" marT="31486" marB="31486" anchor="ctr"/>
                </a:tc>
                <a:tc>
                  <a:txBody>
                    <a:bodyPr/>
                    <a:lstStyle/>
                    <a:p>
                      <a:pPr algn="l">
                        <a:buNone/>
                      </a:pPr>
                      <a:r>
                        <a:rPr lang="en-IN" sz="1800" dirty="0">
                          <a:effectLst/>
                        </a:rPr>
                        <a:t>Parallel multi-agent research and collaborative task execution</a:t>
                      </a:r>
                    </a:p>
                  </a:txBody>
                  <a:tcPr marL="31486" marR="31486" marT="31486" marB="31486"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9686413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References</a:t>
            </a:r>
            <a:endParaRPr lang="en-IN" dirty="0"/>
          </a:p>
        </p:txBody>
      </p:sp>
      <p:sp>
        <p:nvSpPr>
          <p:cNvPr id="3" name="Rectangle 2"/>
          <p:cNvSpPr/>
          <p:nvPr/>
        </p:nvSpPr>
        <p:spPr>
          <a:xfrm>
            <a:off x="155064" y="1731417"/>
            <a:ext cx="11732136" cy="2677656"/>
          </a:xfrm>
          <a:prstGeom prst="rect">
            <a:avLst/>
          </a:prstGeom>
        </p:spPr>
        <p:txBody>
          <a:bodyPr wrap="square">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Speech and Language Processing (3rd ed. draft) Dan </a:t>
            </a:r>
            <a:r>
              <a:rPr lang="en-US" sz="2400" dirty="0" err="1">
                <a:latin typeface="Cambria" panose="02040503050406030204" pitchFamily="18" charset="0"/>
                <a:ea typeface="Cambria" panose="02040503050406030204" pitchFamily="18" charset="0"/>
              </a:rPr>
              <a:t>Jurafsky</a:t>
            </a:r>
            <a:r>
              <a:rPr lang="en-US" sz="2400" dirty="0">
                <a:latin typeface="Cambria" panose="02040503050406030204" pitchFamily="18" charset="0"/>
                <a:ea typeface="Cambria" panose="02040503050406030204" pitchFamily="18" charset="0"/>
              </a:rPr>
              <a:t> Jan 2026 - </a:t>
            </a:r>
            <a:r>
              <a:rPr lang="en-US" sz="2400" dirty="0" err="1">
                <a:latin typeface="Cambria" panose="02040503050406030204" pitchFamily="18" charset="0"/>
                <a:ea typeface="Cambria" panose="02040503050406030204" pitchFamily="18" charset="0"/>
              </a:rPr>
              <a:t>Ch</a:t>
            </a:r>
            <a:r>
              <a:rPr lang="en-US" sz="2400" dirty="0">
                <a:latin typeface="Cambria" panose="02040503050406030204" pitchFamily="18" charset="0"/>
                <a:ea typeface="Cambria" panose="02040503050406030204" pitchFamily="18" charset="0"/>
              </a:rPr>
              <a:t>- 2, 7, 8 </a:t>
            </a:r>
          </a:p>
          <a:p>
            <a:pPr marL="342900" indent="-342900">
              <a:buFont typeface="Arial" panose="020B0604020202020204" pitchFamily="34" charset="0"/>
              <a:buChar char="•"/>
            </a:pPr>
            <a:r>
              <a:rPr lang="en-IN" sz="2400" dirty="0">
                <a:latin typeface="Cambria" panose="02040503050406030204" pitchFamily="18" charset="0"/>
                <a:ea typeface="Cambria" panose="02040503050406030204" pitchFamily="18" charset="0"/>
              </a:rPr>
              <a:t>Hands-On Large Language Models – Jay </a:t>
            </a:r>
            <a:r>
              <a:rPr lang="en-IN" sz="2400" dirty="0" err="1">
                <a:latin typeface="Cambria" panose="02040503050406030204" pitchFamily="18" charset="0"/>
                <a:ea typeface="Cambria" panose="02040503050406030204" pitchFamily="18" charset="0"/>
              </a:rPr>
              <a:t>Alamar</a:t>
            </a:r>
            <a:r>
              <a:rPr lang="en-IN" sz="2400" dirty="0">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Ch-1,2,3</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Build a Large Language Model (From Scratch) </a:t>
            </a:r>
            <a:r>
              <a:rPr lang="en-IN" sz="2400" dirty="0">
                <a:latin typeface="Cambria" panose="02040503050406030204" pitchFamily="18" charset="0"/>
                <a:ea typeface="Cambria" panose="02040503050406030204" pitchFamily="18" charset="0"/>
              </a:rPr>
              <a:t>SEBASTIAN RASCHKA </a:t>
            </a:r>
            <a:r>
              <a:rPr lang="en-US" sz="2400" dirty="0">
                <a:latin typeface="Cambria" panose="02040503050406030204" pitchFamily="18" charset="0"/>
                <a:ea typeface="Cambria" panose="02040503050406030204" pitchFamily="18" charset="0"/>
              </a:rPr>
              <a:t>: Ch-1,2</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hlinkClick r:id="rId2"/>
              </a:rPr>
              <a:t>https://huggingface.co/learn/llm-course/en/chapter6/5</a:t>
            </a:r>
            <a:endParaRPr lang="en-US"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Research Papers</a:t>
            </a:r>
            <a:endParaRPr lang="en-IN"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IN" sz="2400" dirty="0">
                <a:latin typeface="Cambria" panose="02040503050406030204" pitchFamily="18" charset="0"/>
                <a:ea typeface="Cambria" panose="02040503050406030204" pitchFamily="18" charset="0"/>
              </a:rPr>
              <a:t>Neural Machine Translation with Byte-Level </a:t>
            </a:r>
            <a:r>
              <a:rPr lang="en-IN" sz="2400" dirty="0" err="1">
                <a:latin typeface="Cambria" panose="02040503050406030204" pitchFamily="18" charset="0"/>
                <a:ea typeface="Cambria" panose="02040503050406030204" pitchFamily="18" charset="0"/>
              </a:rPr>
              <a:t>Subwords</a:t>
            </a:r>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40815354"/>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586808" y="2795847"/>
            <a:ext cx="8432800" cy="1143000"/>
          </a:xfrm>
        </p:spPr>
        <p:txBody>
          <a:bodyPr/>
          <a:lstStyle/>
          <a:p>
            <a:r>
              <a:rPr lang="en-US" dirty="0" err="1"/>
              <a:t>Addidtional</a:t>
            </a:r>
            <a:r>
              <a:rPr lang="en-US" dirty="0"/>
              <a:t> Review slides</a:t>
            </a:r>
            <a:endParaRPr lang="en-IN" dirty="0"/>
          </a:p>
        </p:txBody>
      </p:sp>
    </p:spTree>
    <p:extLst>
      <p:ext uri="{BB962C8B-B14F-4D97-AF65-F5344CB8AC3E}">
        <p14:creationId xmlns:p14="http://schemas.microsoft.com/office/powerpoint/2010/main" val="2361910306"/>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normAutofit fontScale="92500"/>
          </a:bodyPr>
          <a:lstStyle/>
          <a:p>
            <a:r>
              <a:rPr lang="en-US" dirty="0"/>
              <a:t>Encoder-Only Models (e.g., BERT, </a:t>
            </a:r>
            <a:r>
              <a:rPr lang="en-US" dirty="0" err="1"/>
              <a:t>RoBERTa</a:t>
            </a:r>
            <a:r>
              <a:rPr lang="en-US" dirty="0"/>
              <a:t>) </a:t>
            </a:r>
            <a:br>
              <a:rPr lang="en-US" dirty="0"/>
            </a:br>
            <a:endParaRPr lang="en-IN" dirty="0"/>
          </a:p>
        </p:txBody>
      </p:sp>
      <p:pic>
        <p:nvPicPr>
          <p:cNvPr id="8" name="object 4"/>
          <p:cNvPicPr/>
          <p:nvPr/>
        </p:nvPicPr>
        <p:blipFill>
          <a:blip r:embed="rId2" cstate="print"/>
          <a:stretch>
            <a:fillRect/>
          </a:stretch>
        </p:blipFill>
        <p:spPr>
          <a:xfrm>
            <a:off x="9357360" y="1150388"/>
            <a:ext cx="2574417" cy="4451921"/>
          </a:xfrm>
          <a:prstGeom prst="rect">
            <a:avLst/>
          </a:prstGeom>
        </p:spPr>
      </p:pic>
      <p:sp>
        <p:nvSpPr>
          <p:cNvPr id="6" name="Content Placeholder 1"/>
          <p:cNvSpPr txBox="1">
            <a:spLocks/>
          </p:cNvSpPr>
          <p:nvPr/>
        </p:nvSpPr>
        <p:spPr>
          <a:xfrm>
            <a:off x="5005" y="1529725"/>
            <a:ext cx="8488066" cy="5088051"/>
          </a:xfrm>
          <a:prstGeom prst="rect">
            <a:avLst/>
          </a:prstGeom>
        </p:spPr>
        <p:txBody>
          <a:bodyPr>
            <a:normAutofit lnSpcReduction="10000"/>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kern="0">
                <a:solidFill>
                  <a:sysClr val="windowText" lastClr="000000"/>
                </a:solidFill>
              </a:rPr>
              <a:t>Encoder-based LLMs learn contextual understanding rather than free-form generation.</a:t>
            </a:r>
          </a:p>
          <a:p>
            <a:pPr marL="342900" indent="-342900">
              <a:buFont typeface="Arial" panose="020B0604020202020204" pitchFamily="34" charset="0"/>
              <a:buChar char="•"/>
            </a:pPr>
            <a:r>
              <a:rPr lang="en-US" b="1" kern="0">
                <a:solidFill>
                  <a:sysClr val="windowText" lastClr="000000"/>
                </a:solidFill>
              </a:rPr>
              <a:t>Architecture: </a:t>
            </a:r>
            <a:r>
              <a:rPr lang="en-US" kern="0">
                <a:solidFill>
                  <a:sysClr val="windowText" lastClr="000000"/>
                </a:solidFill>
              </a:rPr>
              <a:t>Transformer encoder stacks with bidirectional self-attention</a:t>
            </a:r>
          </a:p>
          <a:p>
            <a:pPr marL="342900" indent="-342900">
              <a:buFont typeface="Arial" panose="020B0604020202020204" pitchFamily="34" charset="0"/>
              <a:buChar char="•"/>
            </a:pPr>
            <a:r>
              <a:rPr lang="en-US" b="1" kern="0">
                <a:solidFill>
                  <a:sysClr val="windowText" lastClr="000000"/>
                </a:solidFill>
              </a:rPr>
              <a:t>Training Objective: </a:t>
            </a:r>
            <a:r>
              <a:rPr lang="en-US" kern="0">
                <a:solidFill>
                  <a:sysClr val="windowText" lastClr="000000"/>
                </a:solidFill>
              </a:rPr>
              <a:t>MLM, where you randomly mask tokens and predict them using both left and right context. </a:t>
            </a:r>
          </a:p>
          <a:p>
            <a:pPr marL="342900" indent="-342900">
              <a:buFont typeface="Arial" panose="020B0604020202020204" pitchFamily="34" charset="0"/>
              <a:buChar char="•"/>
            </a:pPr>
            <a:r>
              <a:rPr lang="en-US" b="1" kern="0">
                <a:solidFill>
                  <a:sysClr val="windowText" lastClr="000000"/>
                </a:solidFill>
              </a:rPr>
              <a:t>Context: </a:t>
            </a:r>
            <a:r>
              <a:rPr lang="en-US" kern="0">
                <a:solidFill>
                  <a:sysClr val="windowText" lastClr="000000"/>
                </a:solidFill>
              </a:rPr>
              <a:t>Bidirectional</a:t>
            </a:r>
            <a:endParaRPr lang="en-IN" kern="0">
              <a:solidFill>
                <a:sysClr val="windowText" lastClr="000000"/>
              </a:solidFill>
            </a:endParaRPr>
          </a:p>
          <a:p>
            <a:pPr marL="342900" indent="-342900">
              <a:buFont typeface="Arial" panose="020B0604020202020204" pitchFamily="34" charset="0"/>
              <a:buChar char="•"/>
            </a:pPr>
            <a:r>
              <a:rPr lang="en-US" b="1" kern="0">
                <a:solidFill>
                  <a:sysClr val="windowText" lastClr="000000"/>
                </a:solidFill>
              </a:rPr>
              <a:t>Strengths: </a:t>
            </a:r>
            <a:r>
              <a:rPr lang="en-US" kern="0">
                <a:solidFill>
                  <a:sysClr val="windowText" lastClr="000000"/>
                </a:solidFill>
              </a:rPr>
              <a:t>Excels at comprehension tasks such as classification, NER, and sentiment analysis because it builds dense semantic representations. </a:t>
            </a:r>
          </a:p>
          <a:p>
            <a:pPr marL="342900" indent="-342900">
              <a:buFont typeface="Arial" panose="020B0604020202020204" pitchFamily="34" charset="0"/>
              <a:buChar char="•"/>
            </a:pPr>
            <a:r>
              <a:rPr lang="en-US" b="1" kern="0">
                <a:solidFill>
                  <a:sysClr val="windowText" lastClr="000000"/>
                </a:solidFill>
              </a:rPr>
              <a:t>Weaknesses: </a:t>
            </a:r>
            <a:r>
              <a:rPr lang="en-US" kern="0">
                <a:solidFill>
                  <a:sysClr val="windowText" lastClr="000000"/>
                </a:solidFill>
              </a:rPr>
              <a:t>Not naturally generative; requires adapter heads or fine-tuning for sequence output</a:t>
            </a:r>
          </a:p>
          <a:p>
            <a:pPr marL="342900" indent="-342900">
              <a:buFont typeface="Arial" panose="020B0604020202020204" pitchFamily="34" charset="0"/>
              <a:buChar char="•"/>
            </a:pPr>
            <a:r>
              <a:rPr lang="en-US" b="1" kern="0">
                <a:solidFill>
                  <a:sysClr val="windowText" lastClr="000000"/>
                </a:solidFill>
              </a:rPr>
              <a:t>Example: </a:t>
            </a:r>
            <a:r>
              <a:rPr lang="en-US" kern="0">
                <a:solidFill>
                  <a:sysClr val="windowText" lastClr="000000"/>
                </a:solidFill>
              </a:rPr>
              <a:t>BERT remains a reference model for tasks that require deep bidirectional context. </a:t>
            </a:r>
            <a:endParaRPr lang="en-IN" kern="0" dirty="0">
              <a:solidFill>
                <a:sysClr val="windowText" lastClr="000000"/>
              </a:solidFill>
            </a:endParaRPr>
          </a:p>
        </p:txBody>
      </p:sp>
    </p:spTree>
    <p:extLst>
      <p:ext uri="{BB962C8B-B14F-4D97-AF65-F5344CB8AC3E}">
        <p14:creationId xmlns:p14="http://schemas.microsoft.com/office/powerpoint/2010/main" val="2581327136"/>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Decoder-Only Models (e.g., GPT, </a:t>
            </a:r>
            <a:r>
              <a:rPr lang="en-US" dirty="0" err="1"/>
              <a:t>LLaMA</a:t>
            </a:r>
            <a:r>
              <a:rPr lang="en-US" dirty="0"/>
              <a:t>) </a:t>
            </a:r>
            <a:endParaRPr lang="en-IN" dirty="0"/>
          </a:p>
        </p:txBody>
      </p:sp>
      <p:sp>
        <p:nvSpPr>
          <p:cNvPr id="3" name="Content Placeholder 1"/>
          <p:cNvSpPr txBox="1">
            <a:spLocks/>
          </p:cNvSpPr>
          <p:nvPr/>
        </p:nvSpPr>
        <p:spPr>
          <a:xfrm>
            <a:off x="0" y="1322425"/>
            <a:ext cx="8783968" cy="5181040"/>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Font typeface="Arial" panose="020B0604020202020204" pitchFamily="34" charset="0"/>
              <a:buChar char="•"/>
            </a:pPr>
            <a:r>
              <a:rPr lang="en-US" sz="2000" kern="0" dirty="0">
                <a:solidFill>
                  <a:sysClr val="windowText" lastClr="000000"/>
                </a:solidFill>
              </a:rPr>
              <a:t>Decoder-based LLMs are trained to predict the </a:t>
            </a:r>
            <a:r>
              <a:rPr lang="en-US" sz="2000" b="1" kern="0" dirty="0">
                <a:solidFill>
                  <a:sysClr val="windowText" lastClr="000000"/>
                </a:solidFill>
              </a:rPr>
              <a:t>next token given all previous ones</a:t>
            </a:r>
            <a:r>
              <a:rPr lang="en-US" sz="2000" kern="0" dirty="0">
                <a:solidFill>
                  <a:sysClr val="windowText" lastClr="000000"/>
                </a:solidFill>
              </a:rPr>
              <a:t>, capturing temporal dependency through </a:t>
            </a:r>
            <a:r>
              <a:rPr lang="en-US" sz="2000" b="1" kern="0" dirty="0" err="1">
                <a:solidFill>
                  <a:sysClr val="windowText" lastClr="000000"/>
                </a:solidFill>
              </a:rPr>
              <a:t>autoregression</a:t>
            </a:r>
            <a:r>
              <a:rPr lang="en-US" sz="2000" b="1" kern="0" dirty="0">
                <a:solidFill>
                  <a:sysClr val="windowText" lastClr="000000"/>
                </a:solidFill>
              </a:rPr>
              <a:t> </a:t>
            </a:r>
            <a:r>
              <a:rPr lang="en-US" sz="2000" kern="0" dirty="0">
                <a:solidFill>
                  <a:sysClr val="windowText" lastClr="000000"/>
                </a:solidFill>
              </a:rPr>
              <a:t>(progressively generating sequence of outputs).</a:t>
            </a:r>
          </a:p>
          <a:p>
            <a:pPr marL="342900" indent="-342900" algn="just">
              <a:buFont typeface="Arial" panose="020B0604020202020204" pitchFamily="34" charset="0"/>
              <a:buChar char="•"/>
            </a:pPr>
            <a:r>
              <a:rPr lang="en-US" sz="2000" b="1" kern="0" dirty="0">
                <a:solidFill>
                  <a:sysClr val="windowText" lastClr="000000"/>
                </a:solidFill>
              </a:rPr>
              <a:t>Architecture: </a:t>
            </a:r>
            <a:r>
              <a:rPr lang="en-US" sz="2000" kern="0" dirty="0">
                <a:solidFill>
                  <a:sysClr val="windowText" lastClr="000000"/>
                </a:solidFill>
              </a:rPr>
              <a:t>Transformer decoder stacks with causal masking that blocks access to future tokens</a:t>
            </a:r>
          </a:p>
          <a:p>
            <a:pPr marL="342900" indent="-342900" algn="just">
              <a:buFont typeface="Arial" panose="020B0604020202020204" pitchFamily="34" charset="0"/>
              <a:buChar char="•"/>
            </a:pPr>
            <a:r>
              <a:rPr lang="en-US" sz="2000" b="1" kern="0" dirty="0">
                <a:solidFill>
                  <a:sysClr val="windowText" lastClr="000000"/>
                </a:solidFill>
              </a:rPr>
              <a:t>Training Objective: </a:t>
            </a:r>
            <a:r>
              <a:rPr lang="en-US" sz="2000" kern="0" dirty="0">
                <a:solidFill>
                  <a:sysClr val="windowText" lastClr="000000"/>
                </a:solidFill>
              </a:rPr>
              <a:t>CLM, where you minimize cross-entropy over next-token predictions</a:t>
            </a:r>
          </a:p>
          <a:p>
            <a:pPr marL="342900" indent="-342900" algn="just">
              <a:buFont typeface="Arial" panose="020B0604020202020204" pitchFamily="34" charset="0"/>
              <a:buChar char="•"/>
            </a:pPr>
            <a:r>
              <a:rPr lang="en-US" sz="2000" b="1" kern="0" dirty="0">
                <a:solidFill>
                  <a:sysClr val="windowText" lastClr="000000"/>
                </a:solidFill>
              </a:rPr>
              <a:t>Context: </a:t>
            </a:r>
            <a:r>
              <a:rPr lang="en-US" sz="2000" kern="0" dirty="0">
                <a:solidFill>
                  <a:sysClr val="windowText" lastClr="000000"/>
                </a:solidFill>
              </a:rPr>
              <a:t>Unidirectional (left-to-right) to maintain causal structure</a:t>
            </a:r>
          </a:p>
          <a:p>
            <a:pPr marL="342900" indent="-342900" algn="just">
              <a:buFont typeface="Arial" panose="020B0604020202020204" pitchFamily="34" charset="0"/>
              <a:buChar char="•"/>
            </a:pPr>
            <a:r>
              <a:rPr lang="en-US" sz="2000" b="1" kern="0" dirty="0">
                <a:solidFill>
                  <a:sysClr val="windowText" lastClr="000000"/>
                </a:solidFill>
              </a:rPr>
              <a:t>Strengths: </a:t>
            </a:r>
            <a:r>
              <a:rPr lang="en-US" sz="2000" kern="0" dirty="0">
                <a:solidFill>
                  <a:sysClr val="windowText" lastClr="000000"/>
                </a:solidFill>
              </a:rPr>
              <a:t>Outstanding at open-ended text generation, dialogue, code completion, and story synthesis</a:t>
            </a:r>
          </a:p>
          <a:p>
            <a:pPr marL="342900" indent="-342900" algn="just">
              <a:buFont typeface="Arial" panose="020B0604020202020204" pitchFamily="34" charset="0"/>
              <a:buChar char="•"/>
            </a:pPr>
            <a:r>
              <a:rPr lang="en-US" sz="2000" b="1" kern="0" dirty="0">
                <a:solidFill>
                  <a:sysClr val="windowText" lastClr="000000"/>
                </a:solidFill>
              </a:rPr>
              <a:t>Weaknesses: </a:t>
            </a:r>
            <a:r>
              <a:rPr lang="en-US" sz="2000" kern="0" dirty="0">
                <a:solidFill>
                  <a:sysClr val="windowText" lastClr="000000"/>
                </a:solidFill>
              </a:rPr>
              <a:t>Less efficient for classification or bidirectional reasoning </a:t>
            </a:r>
          </a:p>
          <a:p>
            <a:pPr marL="342900" indent="-342900" algn="just">
              <a:buFont typeface="Arial" panose="020B0604020202020204" pitchFamily="34" charset="0"/>
              <a:buChar char="•"/>
            </a:pPr>
            <a:r>
              <a:rPr lang="en-US" sz="2000" b="1" kern="0" dirty="0">
                <a:solidFill>
                  <a:sysClr val="windowText" lastClr="000000"/>
                </a:solidFill>
              </a:rPr>
              <a:t>Example: </a:t>
            </a:r>
            <a:r>
              <a:rPr lang="en-US" sz="2000" kern="0" dirty="0">
                <a:solidFill>
                  <a:sysClr val="windowText" lastClr="000000"/>
                </a:solidFill>
              </a:rPr>
              <a:t>GPT models, Meta’s </a:t>
            </a:r>
            <a:r>
              <a:rPr lang="en-US" sz="2000" kern="0" dirty="0" err="1">
                <a:solidFill>
                  <a:sysClr val="windowText" lastClr="000000"/>
                </a:solidFill>
              </a:rPr>
              <a:t>LLaMA</a:t>
            </a:r>
            <a:r>
              <a:rPr lang="en-US" sz="2000" kern="0" dirty="0">
                <a:solidFill>
                  <a:sysClr val="windowText" lastClr="000000"/>
                </a:solidFill>
              </a:rPr>
              <a:t> series etc. </a:t>
            </a:r>
            <a:endParaRPr lang="en-IN" sz="2000" kern="0" dirty="0">
              <a:solidFill>
                <a:sysClr val="windowText" lastClr="000000"/>
              </a:solidFill>
            </a:endParaRPr>
          </a:p>
        </p:txBody>
      </p:sp>
      <p:pic>
        <p:nvPicPr>
          <p:cNvPr id="4" name="Picture 3"/>
          <p:cNvPicPr>
            <a:picLocks noChangeAspect="1"/>
          </p:cNvPicPr>
          <p:nvPr/>
        </p:nvPicPr>
        <p:blipFill>
          <a:blip r:embed="rId2"/>
          <a:stretch>
            <a:fillRect/>
          </a:stretch>
        </p:blipFill>
        <p:spPr>
          <a:xfrm>
            <a:off x="8828378" y="1622059"/>
            <a:ext cx="2787349" cy="4767834"/>
          </a:xfrm>
          <a:prstGeom prst="rect">
            <a:avLst/>
          </a:prstGeom>
        </p:spPr>
      </p:pic>
      <p:sp>
        <p:nvSpPr>
          <p:cNvPr id="5" name="TextBox 4"/>
          <p:cNvSpPr txBox="1"/>
          <p:nvPr/>
        </p:nvSpPr>
        <p:spPr>
          <a:xfrm>
            <a:off x="10222053" y="1160394"/>
            <a:ext cx="919547" cy="461665"/>
          </a:xfrm>
          <a:prstGeom prst="rect">
            <a:avLst/>
          </a:prstGeom>
          <a:noFill/>
        </p:spPr>
        <p:txBody>
          <a:bodyPr wrap="none" rtlCol="0">
            <a:spAutoFit/>
          </a:bodyPr>
          <a:lstStyle/>
          <a:p>
            <a:r>
              <a:rPr lang="en-US" sz="2400" b="1" dirty="0">
                <a:solidFill>
                  <a:srgbClr val="FF0000"/>
                </a:solidFill>
              </a:rPr>
              <a:t>GPT 1</a:t>
            </a:r>
            <a:endParaRPr lang="en-IN" sz="2400" b="1" dirty="0">
              <a:solidFill>
                <a:srgbClr val="FF0000"/>
              </a:solidFill>
            </a:endParaRPr>
          </a:p>
        </p:txBody>
      </p:sp>
    </p:spTree>
    <p:extLst>
      <p:ext uri="{BB962C8B-B14F-4D97-AF65-F5344CB8AC3E}">
        <p14:creationId xmlns:p14="http://schemas.microsoft.com/office/powerpoint/2010/main" val="244848930"/>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de-DE" dirty="0"/>
              <a:t>Encoder-Decoder Models (e.g., T5, BART) </a:t>
            </a:r>
            <a:br>
              <a:rPr lang="de-DE" dirty="0"/>
            </a:br>
            <a:endParaRPr lang="en-IN" dirty="0"/>
          </a:p>
        </p:txBody>
      </p:sp>
      <p:sp>
        <p:nvSpPr>
          <p:cNvPr id="3" name="Content Placeholder 1"/>
          <p:cNvSpPr txBox="1">
            <a:spLocks/>
          </p:cNvSpPr>
          <p:nvPr/>
        </p:nvSpPr>
        <p:spPr>
          <a:xfrm>
            <a:off x="304800" y="1545224"/>
            <a:ext cx="118872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kern="0" dirty="0">
                <a:solidFill>
                  <a:sysClr val="windowText" lastClr="000000"/>
                </a:solidFill>
              </a:rPr>
              <a:t>These models bridge the understanding and generation paradigms by pairing an encoder (MLM-like) with a decoder (CLM-like)</a:t>
            </a:r>
          </a:p>
          <a:p>
            <a:pPr marL="342900" indent="-342900">
              <a:buFont typeface="Arial" panose="020B0604020202020204" pitchFamily="34" charset="0"/>
              <a:buChar char="•"/>
            </a:pPr>
            <a:r>
              <a:rPr lang="en-US" b="1" kern="0" dirty="0">
                <a:solidFill>
                  <a:sysClr val="windowText" lastClr="000000"/>
                </a:solidFill>
              </a:rPr>
              <a:t>Architecture: </a:t>
            </a:r>
            <a:r>
              <a:rPr lang="en-US" kern="0" dirty="0">
                <a:solidFill>
                  <a:sysClr val="windowText" lastClr="000000"/>
                </a:solidFill>
              </a:rPr>
              <a:t>An encoder transforms the input sequence into contextual representations; a decoder generates outputs via cross-attention</a:t>
            </a:r>
          </a:p>
          <a:p>
            <a:pPr marL="342900" indent="-342900">
              <a:buFont typeface="Arial" panose="020B0604020202020204" pitchFamily="34" charset="0"/>
              <a:buChar char="•"/>
            </a:pPr>
            <a:r>
              <a:rPr lang="en-US" b="1" kern="0" dirty="0">
                <a:solidFill>
                  <a:sysClr val="windowText" lastClr="000000"/>
                </a:solidFill>
              </a:rPr>
              <a:t>Training Objective: </a:t>
            </a:r>
            <a:r>
              <a:rPr lang="en-US" kern="0" dirty="0">
                <a:solidFill>
                  <a:sysClr val="windowText" lastClr="000000"/>
                </a:solidFill>
              </a:rPr>
              <a:t>Sequence-to-sequence learning-often formulated as translation or summarization-and sometimes a </a:t>
            </a:r>
            <a:r>
              <a:rPr lang="en-US" b="1" kern="0" dirty="0">
                <a:solidFill>
                  <a:sysClr val="windowText" lastClr="000000"/>
                </a:solidFill>
              </a:rPr>
              <a:t>span-corruption variant of MLM </a:t>
            </a:r>
            <a:r>
              <a:rPr lang="en-US" kern="0" dirty="0">
                <a:solidFill>
                  <a:sysClr val="windowText" lastClr="000000"/>
                </a:solidFill>
              </a:rPr>
              <a:t>as in T5</a:t>
            </a:r>
          </a:p>
          <a:p>
            <a:pPr marL="342900" indent="-342900">
              <a:buFont typeface="Arial" panose="020B0604020202020204" pitchFamily="34" charset="0"/>
              <a:buChar char="•"/>
            </a:pPr>
            <a:r>
              <a:rPr lang="en-US" b="1" kern="0" dirty="0">
                <a:solidFill>
                  <a:sysClr val="windowText" lastClr="000000"/>
                </a:solidFill>
              </a:rPr>
              <a:t>Strengths: </a:t>
            </a:r>
            <a:r>
              <a:rPr lang="en-US" kern="0" dirty="0">
                <a:solidFill>
                  <a:sysClr val="windowText" lastClr="000000"/>
                </a:solidFill>
              </a:rPr>
              <a:t>Effective for translation, summarization, and multimodal pipelines where the input and output domains differ</a:t>
            </a:r>
          </a:p>
          <a:p>
            <a:pPr marL="342900" indent="-342900">
              <a:buFont typeface="Arial" panose="020B0604020202020204" pitchFamily="34" charset="0"/>
              <a:buChar char="•"/>
            </a:pPr>
            <a:r>
              <a:rPr lang="en-US" b="1" kern="0" dirty="0">
                <a:solidFill>
                  <a:sysClr val="windowText" lastClr="000000"/>
                </a:solidFill>
              </a:rPr>
              <a:t>Weaknesses: </a:t>
            </a:r>
            <a:r>
              <a:rPr lang="en-US" kern="0" dirty="0">
                <a:solidFill>
                  <a:sysClr val="windowText" lastClr="000000"/>
                </a:solidFill>
              </a:rPr>
              <a:t>Dual stacks increase training complexity and inference latency. </a:t>
            </a:r>
          </a:p>
          <a:p>
            <a:pPr marL="342900" indent="-342900">
              <a:buFont typeface="Arial" panose="020B0604020202020204" pitchFamily="34" charset="0"/>
              <a:buChar char="•"/>
            </a:pPr>
            <a:endParaRPr lang="en-IN"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Example: </a:t>
            </a:r>
            <a:r>
              <a:rPr lang="en-US" kern="0" dirty="0">
                <a:solidFill>
                  <a:sysClr val="windowText" lastClr="000000"/>
                </a:solidFill>
              </a:rPr>
              <a:t>T5 and BART use span-corruption pre-training and autoregressive decoding; multimodal systems (speech-text, vision-language) extend the same blueprint</a:t>
            </a:r>
            <a:endParaRPr lang="en-IN" kern="0" dirty="0">
              <a:solidFill>
                <a:sysClr val="windowText" lastClr="000000"/>
              </a:solidFill>
            </a:endParaRPr>
          </a:p>
        </p:txBody>
      </p:sp>
    </p:spTree>
    <p:extLst>
      <p:ext uri="{BB962C8B-B14F-4D97-AF65-F5344CB8AC3E}">
        <p14:creationId xmlns:p14="http://schemas.microsoft.com/office/powerpoint/2010/main" val="445030670"/>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spc="-5" dirty="0"/>
              <a:t>Transformer</a:t>
            </a:r>
            <a:r>
              <a:rPr lang="en-IN" spc="-25" dirty="0"/>
              <a:t> </a:t>
            </a:r>
            <a:r>
              <a:rPr lang="en-IN" spc="-5" dirty="0"/>
              <a:t>Encoder-Decoder</a:t>
            </a:r>
            <a:endParaRPr lang="en-IN" dirty="0">
              <a:latin typeface="Arial MT"/>
              <a:cs typeface="Arial MT"/>
            </a:endParaRPr>
          </a:p>
          <a:p>
            <a:endParaRPr lang="en-IN" dirty="0"/>
          </a:p>
        </p:txBody>
      </p:sp>
      <p:pic>
        <p:nvPicPr>
          <p:cNvPr id="3" name="object 6"/>
          <p:cNvPicPr/>
          <p:nvPr/>
        </p:nvPicPr>
        <p:blipFill>
          <a:blip r:embed="rId2" cstate="print"/>
          <a:stretch>
            <a:fillRect/>
          </a:stretch>
        </p:blipFill>
        <p:spPr>
          <a:xfrm>
            <a:off x="0" y="996289"/>
            <a:ext cx="11900845" cy="5333522"/>
          </a:xfrm>
          <a:prstGeom prst="rect">
            <a:avLst/>
          </a:prstGeom>
        </p:spPr>
      </p:pic>
      <p:pic>
        <p:nvPicPr>
          <p:cNvPr id="4" name="Picture 3"/>
          <p:cNvPicPr>
            <a:picLocks noChangeAspect="1"/>
          </p:cNvPicPr>
          <p:nvPr/>
        </p:nvPicPr>
        <p:blipFill>
          <a:blip r:embed="rId3"/>
          <a:stretch>
            <a:fillRect/>
          </a:stretch>
        </p:blipFill>
        <p:spPr>
          <a:xfrm>
            <a:off x="4528938" y="5640776"/>
            <a:ext cx="4587766" cy="1016177"/>
          </a:xfrm>
          <a:prstGeom prst="rect">
            <a:avLst/>
          </a:prstGeom>
          <a:ln>
            <a:solidFill>
              <a:srgbClr val="C00000"/>
            </a:solidFill>
          </a:ln>
        </p:spPr>
      </p:pic>
    </p:spTree>
    <p:extLst>
      <p:ext uri="{BB962C8B-B14F-4D97-AF65-F5344CB8AC3E}">
        <p14:creationId xmlns:p14="http://schemas.microsoft.com/office/powerpoint/2010/main" val="812442445"/>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3357</Words>
  <Application>Microsoft Office PowerPoint</Application>
  <PresentationFormat>Widescreen</PresentationFormat>
  <Paragraphs>468</Paragraphs>
  <Slides>46</Slides>
  <Notes>11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46</vt:i4>
      </vt:variant>
    </vt:vector>
  </HeadingPairs>
  <TitlesOfParts>
    <vt:vector size="60" baseType="lpstr">
      <vt:lpstr>Arial</vt:lpstr>
      <vt:lpstr>Arial MT</vt:lpstr>
      <vt:lpstr>Calibri</vt:lpstr>
      <vt:lpstr>Calibri Light</vt:lpstr>
      <vt:lpstr>Cambria</vt:lpstr>
      <vt:lpstr>Consolas</vt:lpstr>
      <vt:lpstr>Courier New</vt:lpstr>
      <vt:lpstr>Montserrat</vt:lpstr>
      <vt:lpstr>Spectral</vt:lpstr>
      <vt:lpstr>Tahoma</vt:lpstr>
      <vt:lpstr>Times New Roman</vt:lpstr>
      <vt:lpstr>Wingdings</vt:lpstr>
      <vt:lpstr>1_Office Theme</vt:lpstr>
      <vt:lpstr>2_Office Theme</vt:lpstr>
      <vt:lpstr> </vt:lpstr>
      <vt:lpstr>PowerPoint Presentation</vt:lpstr>
      <vt:lpstr>PowerPoint Presentation</vt:lpstr>
      <vt:lpstr>Evaluation</vt:lpstr>
      <vt:lpstr>PowerPoint Presentation</vt:lpstr>
      <vt:lpstr>PowerPoint Presentation</vt:lpstr>
      <vt:lpstr>PowerPoint Presentation</vt:lpstr>
      <vt:lpstr>Probabilistic Language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Word structure and subword models </vt:lpstr>
      <vt:lpstr>Types of tokens</vt:lpstr>
      <vt:lpstr>PowerPoint Presentation</vt:lpstr>
      <vt:lpstr>PowerPoint Presentation</vt:lpstr>
      <vt:lpstr>PowerPoint Presentation</vt:lpstr>
      <vt:lpstr>Byte-level BPE</vt:lpstr>
      <vt:lpstr>PowerPoint Presentation</vt:lpstr>
      <vt:lpstr>SentencePiece </vt:lpstr>
      <vt:lpstr>Which tokenizer framework should I use?</vt:lpstr>
      <vt:lpstr>Token Embeddings and positional encoding </vt:lpstr>
      <vt:lpstr>PowerPoint Presentation</vt:lpstr>
      <vt:lpstr>PowerPoint Presentation</vt:lpstr>
      <vt:lpstr>PowerPoint Presentation</vt:lpstr>
      <vt:lpstr>PowerPoint Presentation</vt:lpstr>
      <vt:lpstr>Embedding layer: look up a row</vt:lpstr>
      <vt:lpstr>PowerPoint Presentation</vt:lpstr>
      <vt:lpstr>PowerPoint Presentation</vt:lpstr>
      <vt:lpstr>PowerPoint Presentation</vt:lpstr>
      <vt:lpstr>Language Modelling Head : Unembedding layer + Softmax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2026-04-24T13:56:05Z</dcterms:created>
  <dcterms:modified xsi:type="dcterms:W3CDTF">2026-10-23T15:03:09Z</dcterms:modified>
</cp:coreProperties>
</file>