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  <p:sldMasterId id="2147483674" r:id="rId2"/>
  </p:sldMasterIdLst>
  <p:notesMasterIdLst>
    <p:notesMasterId r:id="rId31"/>
  </p:notesMasterIdLst>
  <p:sldIdLst>
    <p:sldId id="257" r:id="rId3"/>
    <p:sldId id="441" r:id="rId4"/>
    <p:sldId id="262" r:id="rId5"/>
    <p:sldId id="476" r:id="rId6"/>
    <p:sldId id="377" r:id="rId7"/>
    <p:sldId id="487" r:id="rId8"/>
    <p:sldId id="421" r:id="rId9"/>
    <p:sldId id="472" r:id="rId10"/>
    <p:sldId id="462" r:id="rId11"/>
    <p:sldId id="471" r:id="rId12"/>
    <p:sldId id="489" r:id="rId13"/>
    <p:sldId id="488" r:id="rId14"/>
    <p:sldId id="499" r:id="rId15"/>
    <p:sldId id="500" r:id="rId16"/>
    <p:sldId id="498" r:id="rId17"/>
    <p:sldId id="504" r:id="rId18"/>
    <p:sldId id="490" r:id="rId19"/>
    <p:sldId id="491" r:id="rId20"/>
    <p:sldId id="492" r:id="rId21"/>
    <p:sldId id="493" r:id="rId22"/>
    <p:sldId id="494" r:id="rId23"/>
    <p:sldId id="495" r:id="rId24"/>
    <p:sldId id="258" r:id="rId25"/>
    <p:sldId id="256" r:id="rId26"/>
    <p:sldId id="417" r:id="rId27"/>
    <p:sldId id="479" r:id="rId28"/>
    <p:sldId id="503" r:id="rId29"/>
    <p:sldId id="30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5" autoAdjust="0"/>
    <p:restoredTop sz="94411" autoAdjust="0"/>
  </p:normalViewPr>
  <p:slideViewPr>
    <p:cSldViewPr snapToGrid="0">
      <p:cViewPr varScale="1">
        <p:scale>
          <a:sx n="70" d="100"/>
          <a:sy n="70" d="100"/>
        </p:scale>
        <p:origin x="4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311DD-96BC-48D8-A887-C0241ACEBCE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D1180-89B7-4B77-82A2-F71C55345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481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970AE6-DCD3-4194-8EBC-1D1301B6731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944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D1180-89B7-4B77-82A2-F71C55345F5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320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D1180-89B7-4B77-82A2-F71C55345F5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704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97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AD1180-89B7-4B77-82A2-F71C55345F5A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311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F500-1D26-44BC-BC6C-88E98416E58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29-10-2026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EA2-AE2F-48FB-9E42-953B9A61852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817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F500-1D26-44BC-BC6C-88E98416E58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29-10-2026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EA2-AE2F-48FB-9E42-953B9A61852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519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F500-1D26-44BC-BC6C-88E98416E58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29-10-2026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EA2-AE2F-48FB-9E42-953B9A61852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6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F500-1D26-44BC-BC6C-88E98416E58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29-10-2026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EA2-AE2F-48FB-9E42-953B9A61852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321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F500-1D26-44BC-BC6C-88E98416E58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29-10-2026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EA2-AE2F-48FB-9E42-953B9A61852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48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F500-1D26-44BC-BC6C-88E98416E58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29-10-2026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EA2-AE2F-48FB-9E42-953B9A61852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951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F500-1D26-44BC-BC6C-88E98416E58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29-10-2026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EA2-AE2F-48FB-9E42-953B9A61852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2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F500-1D26-44BC-BC6C-88E98416E58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29-10-2026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EA2-AE2F-48FB-9E42-953B9A61852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790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F500-1D26-44BC-BC6C-88E98416E58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29-10-2026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EA2-AE2F-48FB-9E42-953B9A61852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721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F500-1D26-44BC-BC6C-88E98416E58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29-10-2026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EA2-AE2F-48FB-9E42-953B9A61852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30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F500-1D26-44BC-BC6C-88E98416E58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29-10-2026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EA2-AE2F-48FB-9E42-953B9A61852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842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spc="-113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spc="-113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727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8187" y="400303"/>
            <a:ext cx="360002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10/29/2026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521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304800" y="1545224"/>
            <a:ext cx="114808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1" y="0"/>
            <a:ext cx="10881209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4647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187" y="361315"/>
            <a:ext cx="6561667" cy="613028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10/29/2026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371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200" y="0"/>
            <a:ext cx="2924048" cy="6934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994400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2844800" y="65532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9087104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3149600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0" y="12954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2" name="bg object 22"/>
          <p:cNvSpPr/>
          <p:nvPr/>
        </p:nvSpPr>
        <p:spPr>
          <a:xfrm>
            <a:off x="6242304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187" y="361315"/>
            <a:ext cx="6561667" cy="613028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10/29/2026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496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60800" y="6096000"/>
            <a:ext cx="38608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0" y="6096000"/>
            <a:ext cx="38608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7721600" y="6096000"/>
            <a:ext cx="38608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3352800"/>
            <a:ext cx="2743200" cy="19796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10/29/2026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7752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13836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23031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0964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60030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12528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9413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07751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5202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36898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24679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42621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77346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90751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00179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8269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7675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4297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5394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4896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7908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6022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dirty="0" err="1">
                <a:solidFill>
                  <a:srgbClr val="101141"/>
                </a:solidFill>
                <a:cs typeface="Arial" panose="020B0604020202020204" pitchFamily="34" charset="0"/>
              </a:rPr>
              <a:t>Pilani</a:t>
            </a:r>
            <a:endParaRPr lang="en-US" sz="1100" dirty="0">
              <a:solidFill>
                <a:srgbClr val="101141"/>
              </a:solidFill>
              <a:cs typeface="Arial" panose="020B0604020202020204" pitchFamily="34" charset="0"/>
            </a:endParaRP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600201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>
          <a:xfrm>
            <a:off x="4114800" y="642461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B1C2494-8932-4549-9EEA-B787E7A0F253}" type="slidenum">
              <a:rPr lang="en-US" sz="1600" smtClean="0"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600" dirty="0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2613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559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74221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03813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2424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72207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82822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335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64877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83519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7"/>
            <a:ext cx="10972800" cy="1920526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0" spc="-15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658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kern="0" smtClean="0">
                <a:solidFill>
                  <a:sysClr val="windowText" lastClr="000000"/>
                </a:solidFill>
              </a:rPr>
              <a:pPr algn="r"/>
              <a:t>‹#›</a:t>
            </a:fld>
            <a:endParaRPr lang="en" kern="0">
              <a:solidFill>
                <a:sysClr val="windowText" lastClr="000000"/>
              </a:solidFill>
            </a:endParaRPr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 amt="24000"/>
          </a:blip>
          <a:srcRect b="93593"/>
          <a:stretch/>
        </p:blipFill>
        <p:spPr>
          <a:xfrm>
            <a:off x="2" y="6594465"/>
            <a:ext cx="12192004" cy="263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018680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indent="-685800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3600" b="1" spc="-150"/>
            </a:lvl1pPr>
            <a:lvl2pPr marL="824592" indent="-367392">
              <a:lnSpc>
                <a:spcPts val="3600"/>
              </a:lnSpc>
              <a:spcBef>
                <a:spcPts val="0"/>
              </a:spcBef>
              <a:buFontTx/>
              <a:defRPr sz="3600" b="1" spc="-150"/>
            </a:lvl2pPr>
            <a:lvl3pPr marL="1257300" indent="-342900">
              <a:lnSpc>
                <a:spcPts val="3600"/>
              </a:lnSpc>
              <a:spcBef>
                <a:spcPts val="0"/>
              </a:spcBef>
              <a:buFontTx/>
              <a:defRPr sz="3600" b="1" spc="-150"/>
            </a:lvl3pPr>
            <a:lvl4pPr marL="17830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4pPr>
            <a:lvl5pPr marL="22402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1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black"/>
                </a:solidFill>
              </a:rPr>
              <a:pPr/>
              <a:t>‹#›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51615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241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42" Type="http://schemas.openxmlformats.org/officeDocument/2006/relationships/image" Target="../media/image3.jpg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41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CF500-1D26-44BC-BC6C-88E98416E58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29-10-2026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14EA2-AE2F-48FB-9E42-953B9A61852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590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75248" y="6550153"/>
            <a:ext cx="3105573" cy="48895"/>
          </a:xfrm>
          <a:custGeom>
            <a:avLst/>
            <a:gdLst/>
            <a:ahLst/>
            <a:cxnLst/>
            <a:rect l="l" t="t" r="r" b="b"/>
            <a:pathLst>
              <a:path w="2329179" h="48895">
                <a:moveTo>
                  <a:pt x="2328671" y="0"/>
                </a:moveTo>
                <a:lnTo>
                  <a:pt x="0" y="0"/>
                </a:lnTo>
                <a:lnTo>
                  <a:pt x="0" y="48768"/>
                </a:lnTo>
                <a:lnTo>
                  <a:pt x="2328671" y="48768"/>
                </a:lnTo>
                <a:lnTo>
                  <a:pt x="2328671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9211056" y="6550152"/>
            <a:ext cx="2981113" cy="45720"/>
          </a:xfrm>
          <a:custGeom>
            <a:avLst/>
            <a:gdLst/>
            <a:ahLst/>
            <a:cxnLst/>
            <a:rect l="l" t="t" r="r" b="b"/>
            <a:pathLst>
              <a:path w="2235834" h="45720">
                <a:moveTo>
                  <a:pt x="2235707" y="0"/>
                </a:moveTo>
                <a:lnTo>
                  <a:pt x="0" y="0"/>
                </a:lnTo>
                <a:lnTo>
                  <a:pt x="0" y="45720"/>
                </a:lnTo>
                <a:lnTo>
                  <a:pt x="2235707" y="45720"/>
                </a:lnTo>
                <a:lnTo>
                  <a:pt x="2235707" y="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2779776" y="6550153"/>
            <a:ext cx="3440853" cy="48895"/>
          </a:xfrm>
          <a:custGeom>
            <a:avLst/>
            <a:gdLst/>
            <a:ahLst/>
            <a:cxnLst/>
            <a:rect l="l" t="t" r="r" b="b"/>
            <a:pathLst>
              <a:path w="2580640" h="48895">
                <a:moveTo>
                  <a:pt x="2580132" y="0"/>
                </a:moveTo>
                <a:lnTo>
                  <a:pt x="0" y="0"/>
                </a:lnTo>
                <a:lnTo>
                  <a:pt x="0" y="48768"/>
                </a:lnTo>
                <a:lnTo>
                  <a:pt x="2580132" y="48768"/>
                </a:lnTo>
                <a:lnTo>
                  <a:pt x="2580132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5994400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2844800" y="65532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9087104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pic>
        <p:nvPicPr>
          <p:cNvPr id="22" name="bg object 2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8839201" y="0"/>
            <a:ext cx="2926079" cy="69189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3149600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4" name="bg object 24"/>
          <p:cNvSpPr/>
          <p:nvPr/>
        </p:nvSpPr>
        <p:spPr>
          <a:xfrm>
            <a:off x="0" y="12954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5" name="bg object 25"/>
          <p:cNvSpPr/>
          <p:nvPr/>
        </p:nvSpPr>
        <p:spPr>
          <a:xfrm>
            <a:off x="6242304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231987" y="321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06400" y="16764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821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  <p:sldLayoutId id="2147483703" r:id="rId28"/>
    <p:sldLayoutId id="2147483704" r:id="rId29"/>
    <p:sldLayoutId id="2147483705" r:id="rId30"/>
    <p:sldLayoutId id="2147483706" r:id="rId31"/>
    <p:sldLayoutId id="2147483707" r:id="rId32"/>
    <p:sldLayoutId id="2147483708" r:id="rId33"/>
    <p:sldLayoutId id="2147483709" r:id="rId34"/>
    <p:sldLayoutId id="2147483710" r:id="rId35"/>
    <p:sldLayoutId id="2147483711" r:id="rId36"/>
    <p:sldLayoutId id="2147483712" r:id="rId37"/>
    <p:sldLayoutId id="2147483713" r:id="rId38"/>
    <p:sldLayoutId id="2147483714" r:id="rId39"/>
    <p:sldLayoutId id="2147483715" r:id="rId40"/>
  </p:sldLayoutIdLst>
  <p:txStyles>
    <p:titleStyle>
      <a:lvl1pPr>
        <a:defRPr sz="3600"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4572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9144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3716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18288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HuggingFaceTB/smol-training-playbook#introduction" TargetMode="External"/><Relationship Id="rId2" Type="http://schemas.openxmlformats.org/officeDocument/2006/relationships/hyperlink" Target="https://aws.amazon.com/blogs/machine-learning/an-introduction-to-preparing-your-own-dataset-for-llm-training/" TargetMode="Externa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38650" y="3714750"/>
            <a:ext cx="4629150" cy="1143000"/>
          </a:xfrm>
        </p:spPr>
        <p:txBody>
          <a:bodyPr/>
          <a:lstStyle/>
          <a:p>
            <a:pPr>
              <a:defRPr/>
            </a:pP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Content Placeholder 5"/>
          <p:cNvSpPr>
            <a:spLocks noGrp="1"/>
          </p:cNvSpPr>
          <p:nvPr>
            <p:ph sz="quarter" idx="13"/>
          </p:nvPr>
        </p:nvSpPr>
        <p:spPr>
          <a:xfrm>
            <a:off x="3198056" y="5140863"/>
            <a:ext cx="8026400" cy="5334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Monali</a:t>
            </a: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Mavani</a:t>
            </a:r>
            <a:endParaRPr lang="en-US" sz="15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4"/>
          <p:cNvSpPr txBox="1">
            <a:spLocks/>
          </p:cNvSpPr>
          <p:nvPr/>
        </p:nvSpPr>
        <p:spPr>
          <a:xfrm>
            <a:off x="3329835" y="3562110"/>
            <a:ext cx="7113271" cy="1143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3000"/>
              </a:lnSpc>
              <a:spcBef>
                <a:spcPct val="0"/>
              </a:spcBef>
              <a:buNone/>
              <a:defRPr sz="3300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br>
              <a:rPr lang="en-US" sz="30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for Generative AI</a:t>
            </a:r>
          </a:p>
          <a:p>
            <a:pPr>
              <a:defRPr/>
            </a:pPr>
            <a:r>
              <a:rPr lang="en-IN" sz="3200" dirty="0">
                <a:solidFill>
                  <a:prstClr val="white"/>
                </a:solidFill>
              </a:rPr>
              <a:t>AIML* ZG536</a:t>
            </a:r>
            <a:endParaRPr lang="en-US" sz="30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82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for Generative AI</a:t>
            </a:r>
            <a:endParaRPr lang="en-IN" dirty="0"/>
          </a:p>
          <a:p>
            <a:endParaRPr lang="en-IN"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71559224-CCC8-4C16-D35A-4A3643423349}"/>
              </a:ext>
            </a:extLst>
          </p:cNvPr>
          <p:cNvSpPr txBox="1"/>
          <p:nvPr/>
        </p:nvSpPr>
        <p:spPr>
          <a:xfrm>
            <a:off x="2758786" y="4133141"/>
            <a:ext cx="6777644" cy="848137"/>
          </a:xfrm>
          <a:prstGeom prst="rect">
            <a:avLst/>
          </a:prstGeom>
        </p:spPr>
        <p:txBody>
          <a:bodyPr vert="horz" wrap="square" lIns="0" tIns="24595" rIns="0" bIns="0" rtlCol="0">
            <a:spAutoFit/>
          </a:bodyPr>
          <a:lstStyle/>
          <a:p>
            <a:pPr marL="99961" marR="29325" lvl="0" indent="-93969" algn="l" defTabSz="914400" rtl="0" eaLnBrk="1" fontAlgn="base" latinLnBrk="0" hangingPunct="1">
              <a:lnSpc>
                <a:spcPts val="1153"/>
              </a:lnSpc>
              <a:spcBef>
                <a:spcPts val="194"/>
              </a:spcBef>
              <a:spcAft>
                <a:spcPct val="0"/>
              </a:spcAft>
              <a:buClrTx/>
              <a:buSzTx/>
              <a:buFont typeface="Arial MT"/>
              <a:buChar char="•"/>
              <a:tabLst>
                <a:tab pos="100276" algn="l"/>
              </a:tabLst>
              <a:defRPr/>
            </a:pP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content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these slides has been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obtained 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from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books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various other </a:t>
            </a:r>
            <a:r>
              <a:rPr kumimoji="0" sz="1200" b="0" i="0" u="none" strike="noStrike" kern="1200" cap="none" spc="-23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on the 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Internet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marR="0" lvl="0" indent="-93969" algn="l" defTabSz="914400" rtl="0" eaLnBrk="1" fontAlgn="base" latinLnBrk="0" hangingPunct="1">
              <a:lnSpc>
                <a:spcPct val="100000"/>
              </a:lnSpc>
              <a:spcBef>
                <a:spcPts val="258"/>
              </a:spcBef>
              <a:spcAft>
                <a:spcPct val="0"/>
              </a:spcAft>
              <a:buClrTx/>
              <a:buSzTx/>
              <a:buFont typeface="Arial MT"/>
              <a:buChar char="•"/>
              <a:tabLst>
                <a:tab pos="100276" algn="l"/>
              </a:tabLst>
              <a:defRPr/>
            </a:pP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here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by</a:t>
            </a:r>
            <a:r>
              <a:rPr kumimoji="0" sz="1200" b="0" i="0" u="none" strike="noStrike" kern="1200" cap="none" spc="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acknowledge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all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kumimoji="0" sz="1200" b="0" i="0" u="none" strike="noStrike" kern="1200" cap="none" spc="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contributors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their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material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kumimoji="0" sz="1200" b="0" i="0" u="none" strike="noStrike" kern="1200" cap="none" spc="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inputs.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marR="0" lvl="0" indent="-93969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Tx/>
              <a:buSzTx/>
              <a:buFont typeface="Arial MT"/>
              <a:buChar char="•"/>
              <a:tabLst>
                <a:tab pos="100276" algn="l"/>
              </a:tabLst>
              <a:defRPr/>
            </a:pP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provided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information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wherever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necessary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marR="0" lvl="0" indent="-93969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Tx/>
              <a:buSzTx/>
              <a:buFont typeface="Arial MT"/>
              <a:buChar char="•"/>
              <a:tabLst>
                <a:tab pos="100276" algn="l"/>
              </a:tabLst>
              <a:defRPr/>
            </a:pP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added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modified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content to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suit the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requirements</a:t>
            </a:r>
            <a:r>
              <a:rPr kumimoji="0" sz="120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 the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course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9A90E0B6-F04D-52C8-030F-1CE337EA31C8}"/>
              </a:ext>
            </a:extLst>
          </p:cNvPr>
          <p:cNvSpPr txBox="1"/>
          <p:nvPr/>
        </p:nvSpPr>
        <p:spPr>
          <a:xfrm>
            <a:off x="4467389" y="2171701"/>
            <a:ext cx="4274196" cy="233216"/>
          </a:xfrm>
          <a:prstGeom prst="rect">
            <a:avLst/>
          </a:prstGeom>
        </p:spPr>
        <p:txBody>
          <a:bodyPr vert="horz" wrap="square" lIns="0" tIns="7568" rIns="0" bIns="0" rtlCol="0">
            <a:spAutoFit/>
          </a:bodyPr>
          <a:lstStyle/>
          <a:p>
            <a:pPr marL="6306" marR="0" lvl="0" indent="0" algn="l" defTabSz="914400" rtl="0" eaLnBrk="1" fontAlgn="base" latinLnBrk="0" hangingPunct="1">
              <a:lnSpc>
                <a:spcPct val="100000"/>
              </a:lnSpc>
              <a:spcBef>
                <a:spcPts val="5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466" b="0" i="0" u="none" strike="noStrike" kern="1200" cap="none" spc="-8" normalizeH="0" baseline="0" noProof="0" dirty="0">
                <a:ln>
                  <a:noFill/>
                </a:ln>
                <a:solidFill>
                  <a:srgbClr val="1C1572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Disclaimer</a:t>
            </a:r>
            <a:r>
              <a:rPr kumimoji="0" sz="1466" b="0" i="0" u="none" strike="noStrike" kern="1200" cap="none" spc="-35" normalizeH="0" baseline="0" noProof="0" dirty="0">
                <a:ln>
                  <a:noFill/>
                </a:ln>
                <a:solidFill>
                  <a:srgbClr val="1C1572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kumimoji="0" sz="1466" b="0" i="0" u="none" strike="noStrike" kern="1200" cap="none" spc="-5" normalizeH="0" baseline="0" noProof="0" dirty="0">
                <a:ln>
                  <a:noFill/>
                </a:ln>
                <a:solidFill>
                  <a:srgbClr val="1C1572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and</a:t>
            </a:r>
            <a:r>
              <a:rPr kumimoji="0" sz="1466" b="0" i="0" u="none" strike="noStrike" kern="1200" cap="none" spc="-35" normalizeH="0" baseline="0" noProof="0" dirty="0">
                <a:ln>
                  <a:noFill/>
                </a:ln>
                <a:solidFill>
                  <a:srgbClr val="1C1572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kumimoji="0" sz="1466" b="0" i="0" u="none" strike="noStrike" kern="1200" cap="none" spc="-12" normalizeH="0" baseline="0" noProof="0" dirty="0">
                <a:ln>
                  <a:noFill/>
                </a:ln>
                <a:solidFill>
                  <a:srgbClr val="1C1572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Acknowledgement</a:t>
            </a:r>
            <a:endParaRPr kumimoji="0" sz="146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 Light"/>
            </a:endParaRPr>
          </a:p>
        </p:txBody>
      </p:sp>
      <p:pic>
        <p:nvPicPr>
          <p:cNvPr id="13" name="object 5">
            <a:extLst>
              <a:ext uri="{FF2B5EF4-FFF2-40B4-BE49-F238E27FC236}">
                <a16:creationId xmlns:a16="http://schemas.microsoft.com/office/drawing/2014/main" id="{4251F471-DEA0-6983-32A0-6AD5B097A23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0598" y="2823275"/>
            <a:ext cx="815403" cy="89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51559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  <a:p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63132" y="1411954"/>
            <a:ext cx="1021723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/>
              <a:t>LLM Pre-training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/>
              <a:t>Pre-training Objectives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/>
              <a:t>Pre-training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Scaling Laws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/>
              <a:t>Domain Adaptation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/>
              <a:t>Pretraining of popular frontier models</a:t>
            </a:r>
          </a:p>
        </p:txBody>
      </p:sp>
    </p:spTree>
    <p:extLst>
      <p:ext uri="{BB962C8B-B14F-4D97-AF65-F5344CB8AC3E}">
        <p14:creationId xmlns:p14="http://schemas.microsoft.com/office/powerpoint/2010/main" val="402558075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5137B7-391C-D586-1A6C-6CB915E0ACC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Building a large language model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E79AA7-D0BE-1DE8-3D29-FC879D1DB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31" y="1097643"/>
            <a:ext cx="10816846" cy="560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2588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0" y="1313996"/>
            <a:ext cx="5244661" cy="5201940"/>
          </a:xfrm>
        </p:spPr>
        <p:txBody>
          <a:bodyPr>
            <a:noAutofit/>
          </a:bodyPr>
          <a:lstStyle/>
          <a:p>
            <a:pPr marL="342900" indent="-342900">
              <a:spcAft>
                <a:spcPts val="1067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cs typeface="Calibri" pitchFamily="34" charset="-120"/>
              </a:rPr>
              <a:t>The model learns language by reading vast amounts of text and predicting hidden parts of it</a:t>
            </a:r>
            <a:endParaRPr lang="en-US" sz="2000" dirty="0"/>
          </a:p>
          <a:p>
            <a:pPr marL="342900" indent="-342900">
              <a:spcAft>
                <a:spcPts val="1067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cs typeface="Calibri" pitchFamily="34" charset="-120"/>
              </a:rPr>
              <a:t>No human labels: the label is taken from the text itself (GPT: the next token; BERT: a masked token)</a:t>
            </a:r>
            <a:endParaRPr lang="en-US" sz="2000" dirty="0"/>
          </a:p>
          <a:p>
            <a:pPr marL="342900" indent="-342900">
              <a:spcAft>
                <a:spcPts val="1067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cs typeface="Calibri" pitchFamily="34" charset="-120"/>
              </a:rPr>
              <a:t>These made-up prediction tasks are called pretext tasks: not the goal, but they force the model to learn grammar, facts and meaning</a:t>
            </a:r>
            <a:endParaRPr lang="en-US" sz="2000" dirty="0"/>
          </a:p>
          <a:p>
            <a:pPr marL="342900" indent="-342900">
              <a:spcAft>
                <a:spcPts val="1067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cs typeface="Calibri" pitchFamily="34" charset="-120"/>
              </a:rPr>
              <a:t>Every token in the corpus is a free training example, so it scales to trillions of tokens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Self-Supervised Learning</a:t>
            </a:r>
          </a:p>
        </p:txBody>
      </p:sp>
      <p:pic>
        <p:nvPicPr>
          <p:cNvPr id="5124" name="Picture 4" descr="SELF Supervised">
            <a:extLst>
              <a:ext uri="{FF2B5EF4-FFF2-40B4-BE49-F238E27FC236}">
                <a16:creationId xmlns:a16="http://schemas.microsoft.com/office/drawing/2014/main" id="{7DE18912-052F-D6A7-AF51-738C8A954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045129"/>
            <a:ext cx="6292248" cy="3803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B81683-C672-82E5-5F77-DAE1BDD6C90A}"/>
              </a:ext>
            </a:extLst>
          </p:cNvPr>
          <p:cNvSpPr txBox="1"/>
          <p:nvPr/>
        </p:nvSpPr>
        <p:spPr>
          <a:xfrm>
            <a:off x="0" y="6515936"/>
            <a:ext cx="61222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https://sebastianraschka.com/faq/docs/self-supervised.html</a:t>
            </a:r>
          </a:p>
        </p:txBody>
      </p:sp>
    </p:spTree>
    <p:extLst>
      <p:ext uri="{BB962C8B-B14F-4D97-AF65-F5344CB8AC3E}">
        <p14:creationId xmlns:p14="http://schemas.microsoft.com/office/powerpoint/2010/main" val="1583975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Pre-training objectives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800" y="4956175"/>
            <a:ext cx="457200" cy="182563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900" kern="1200">
                <a:solidFill>
                  <a:srgbClr val="7A7A7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26720" y="1316736"/>
            <a:ext cx="3352800" cy="670560"/>
          </a:xfrm>
          <a:prstGeom prst="rect">
            <a:avLst/>
          </a:prstGeom>
          <a:solidFill>
            <a:srgbClr val="2F7FB5"/>
          </a:solidFill>
          <a:ln/>
        </p:spPr>
        <p:txBody>
          <a:bodyPr wrap="square" lIns="847" tIns="847" rIns="847" bIns="847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</a:t>
            </a:r>
            <a:endParaRPr lang="en-US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(Devlin et al., 2018)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26720" y="2048256"/>
            <a:ext cx="3352800" cy="97536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t"/>
          <a:lstStyle/>
          <a:p>
            <a:pPr algn="ctr"/>
            <a:r>
              <a:rPr lang="en-US" sz="1667" b="1" dirty="0">
                <a:solidFill>
                  <a:srgbClr val="2F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language modeling (MLM)</a:t>
            </a:r>
            <a:endParaRPr lang="en-US" sz="1667" dirty="0"/>
          </a:p>
          <a:p>
            <a:pPr algn="ctr"/>
            <a:r>
              <a:rPr lang="en-US" sz="14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~15% of tokens; predict them using context on both sides</a:t>
            </a:r>
            <a:endParaRPr lang="en-US" sz="1667" dirty="0"/>
          </a:p>
        </p:txBody>
      </p:sp>
      <p:pic>
        <p:nvPicPr>
          <p:cNvPr id="5" name="Image 0" descr="mlm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58" y="2965609"/>
            <a:ext cx="2190088" cy="2377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023360" y="1316736"/>
            <a:ext cx="3718560" cy="670560"/>
          </a:xfrm>
          <a:prstGeom prst="rect">
            <a:avLst/>
          </a:prstGeom>
          <a:solidFill>
            <a:srgbClr val="C27A1A"/>
          </a:solidFill>
          <a:ln/>
        </p:spPr>
        <p:txBody>
          <a:bodyPr wrap="square" lIns="847" tIns="847" rIns="847" bIns="847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</a:t>
            </a:r>
            <a:endParaRPr lang="en-US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(Raffel et al., 2019)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4023360" y="2048256"/>
            <a:ext cx="3718560" cy="97536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t"/>
          <a:lstStyle/>
          <a:p>
            <a:pPr algn="ctr"/>
            <a:r>
              <a:rPr lang="en-US" sz="1667" b="1" dirty="0">
                <a:solidFill>
                  <a:srgbClr val="C2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corruption (denoising)</a:t>
            </a:r>
            <a:endParaRPr lang="en-US" sz="1667" dirty="0"/>
          </a:p>
          <a:p>
            <a:pPr algn="ctr"/>
            <a:r>
              <a:rPr lang="en-US" sz="14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spans with sentinels &lt;X&gt;, &lt;Y&gt;; decoder generates the missing spans</a:t>
            </a:r>
            <a:endParaRPr lang="en-US" sz="1667" dirty="0"/>
          </a:p>
        </p:txBody>
      </p:sp>
      <p:pic>
        <p:nvPicPr>
          <p:cNvPr id="8" name="Image 1" descr="t5_f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2593" y="3048000"/>
            <a:ext cx="3718560" cy="15577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85760" y="1316736"/>
            <a:ext cx="3779520" cy="67056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847" tIns="847" rIns="847" bIns="847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</a:t>
            </a:r>
            <a:endParaRPr lang="en-US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GPT-2/3, Llama 3, Qwen3, DeepSeek-V3</a:t>
            </a:r>
            <a:endParaRPr lang="en-US" dirty="0"/>
          </a:p>
        </p:txBody>
      </p:sp>
      <p:sp>
        <p:nvSpPr>
          <p:cNvPr id="10" name="Text 6"/>
          <p:cNvSpPr txBox="1"/>
          <p:nvPr/>
        </p:nvSpPr>
        <p:spPr>
          <a:xfrm>
            <a:off x="7985760" y="2048256"/>
            <a:ext cx="3779520" cy="97536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t"/>
          <a:lstStyle/>
          <a:p>
            <a:pPr algn="ctr"/>
            <a:r>
              <a:rPr lang="en-US" sz="1667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language modeling (CLM)</a:t>
            </a:r>
            <a:endParaRPr lang="en-US" sz="1667" dirty="0"/>
          </a:p>
          <a:p>
            <a:pPr algn="ctr"/>
            <a:r>
              <a:rPr lang="en-US" sz="14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token from the previous ones only (left to right)</a:t>
            </a:r>
            <a:endParaRPr lang="en-US" sz="1667" dirty="0"/>
          </a:p>
        </p:txBody>
      </p:sp>
      <p:pic>
        <p:nvPicPr>
          <p:cNvPr id="11" name="Image 2" descr="clm_f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9981" y="3048000"/>
            <a:ext cx="4515158" cy="2295049"/>
          </a:xfrm>
          <a:prstGeom prst="rect">
            <a:avLst/>
          </a:prstGeom>
        </p:spPr>
      </p:pic>
      <p:sp>
        <p:nvSpPr>
          <p:cNvPr id="12" name="takeaway"/>
          <p:cNvSpPr/>
          <p:nvPr/>
        </p:nvSpPr>
        <p:spPr>
          <a:xfrm>
            <a:off x="426720" y="5547360"/>
            <a:ext cx="11338560" cy="585216"/>
          </a:xfrm>
          <a:prstGeom prst="roundRect">
            <a:avLst>
              <a:gd name="adj" fmla="val 1666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8"/>
          <p:cNvSpPr txBox="1"/>
          <p:nvPr/>
        </p:nvSpPr>
        <p:spPr>
          <a:xfrm>
            <a:off x="609600" y="5559552"/>
            <a:ext cx="10972800" cy="560832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1667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LLMs use CLM: </a:t>
            </a:r>
            <a:r>
              <a:rPr lang="en-US" sz="16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 trains generation directly, which MLM does not.</a:t>
            </a:r>
            <a:endParaRPr lang="en-US" sz="1667" dirty="0"/>
          </a:p>
        </p:txBody>
      </p:sp>
      <p:sp>
        <p:nvSpPr>
          <p:cNvPr id="14" name="Text 9"/>
          <p:cNvSpPr txBox="1"/>
          <p:nvPr/>
        </p:nvSpPr>
        <p:spPr>
          <a:xfrm>
            <a:off x="426720" y="6588891"/>
            <a:ext cx="4876800" cy="24384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1133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Figures: taoyds.github.io/courses/comp3361</a:t>
            </a:r>
            <a:endParaRPr lang="en-US" sz="11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0" y="1219200"/>
            <a:ext cx="6127423" cy="353719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LLM training</a:t>
            </a:r>
            <a:endParaRPr lang="en-IN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4A91AF8-DCDA-6C65-F9BC-513EEF2DB245}"/>
              </a:ext>
            </a:extLst>
          </p:cNvPr>
          <p:cNvSpPr txBox="1"/>
          <p:nvPr/>
        </p:nvSpPr>
        <p:spPr>
          <a:xfrm>
            <a:off x="6127424" y="1344985"/>
            <a:ext cx="5816338" cy="3411409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t"/>
          <a:lstStyle/>
          <a:p>
            <a:pPr>
              <a:spcAft>
                <a:spcPts val="267"/>
              </a:spcAft>
            </a:pPr>
            <a:r>
              <a:rPr lang="en-US" sz="2000" b="1" dirty="0">
                <a:solidFill>
                  <a:srgbClr val="C810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Teacher forcing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267"/>
              </a:spcAft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The input at each position is the true previous token, not the model's own guess (unlike generation).</a:t>
            </a:r>
          </a:p>
          <a:p>
            <a:pPr>
              <a:spcAft>
                <a:spcPts val="267"/>
              </a:spcAft>
            </a:pPr>
            <a:r>
              <a:rPr lang="en-US" sz="2000" b="1" dirty="0">
                <a:solidFill>
                  <a:srgbClr val="2F7FB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All positions in parallel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267"/>
              </a:spcAft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One forward pass computes every position's loss at once; the causal mask stops each token seeing the future.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267"/>
              </a:spcAft>
            </a:pPr>
            <a:r>
              <a:rPr lang="en-US" sz="2000" b="1" dirty="0">
                <a:solidFill>
                  <a:srgbClr val="2E7D3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Updates everything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267"/>
              </a:spcAft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The loss is backpropagated through all weights, including the embeddings.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267"/>
              </a:spcAft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92DB7-4040-E5A5-58BE-AC7AAEFD1C3D}"/>
              </a:ext>
            </a:extLst>
          </p:cNvPr>
          <p:cNvSpPr txBox="1"/>
          <p:nvPr/>
        </p:nvSpPr>
        <p:spPr>
          <a:xfrm>
            <a:off x="206139" y="4882179"/>
            <a:ext cx="11860169" cy="152862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Cross-entropy loss over a sequence of T tokens:   </a:t>
            </a: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 = −(1/T) </a:t>
            </a:r>
            <a:r>
              <a:rPr lang="en-US" sz="2000" dirty="0" err="1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Σ</a:t>
            </a:r>
            <a:r>
              <a:rPr lang="en-US" sz="2000" baseline="-40000" dirty="0" err="1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</a:t>
            </a: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log P(w</a:t>
            </a:r>
            <a:r>
              <a:rPr lang="en-US" sz="2000" baseline="-40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t+1</a:t>
            </a: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| </a:t>
            </a:r>
            <a:r>
              <a:rPr lang="en-US" sz="2000" dirty="0" err="1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w</a:t>
            </a:r>
            <a:r>
              <a:rPr lang="en-US" sz="2000" baseline="-40000" dirty="0" err="1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≤t</a:t>
            </a: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)</a:t>
            </a:r>
            <a:r>
              <a:rPr lang="en-US" sz="2000" b="1" dirty="0">
                <a:solidFill>
                  <a:srgbClr val="0E6E7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     Perplexity = exp(L)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Lower perplexity = better next-token prediction.</a:t>
            </a:r>
          </a:p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Scale: </a:t>
            </a: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Llama 3 was pre-trained on ~15T tokens. Each token position is a training example, so no labelling is needed.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839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148036-ED35-DB44-19CC-B63AF4C2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LLM development and training pipeline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75AA7D-D28B-87A3-433E-B2FAACECF509}"/>
              </a:ext>
            </a:extLst>
          </p:cNvPr>
          <p:cNvPicPr>
            <a:picLocks noGrp="1" noChangeAspect="1" noChangeArrowheads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37944"/>
            <a:ext cx="11480800" cy="3939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3D70B7-3136-5726-F999-D4AA408D66D3}"/>
              </a:ext>
            </a:extLst>
          </p:cNvPr>
          <p:cNvSpPr txBox="1"/>
          <p:nvPr/>
        </p:nvSpPr>
        <p:spPr>
          <a:xfrm>
            <a:off x="0" y="6611779"/>
            <a:ext cx="100899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Credits: https://magazine.sebastianraschka.com/p/new-llm-pre-training-and-post-training</a:t>
            </a:r>
          </a:p>
        </p:txBody>
      </p:sp>
    </p:spTree>
    <p:extLst>
      <p:ext uri="{BB962C8B-B14F-4D97-AF65-F5344CB8AC3E}">
        <p14:creationId xmlns:p14="http://schemas.microsoft.com/office/powerpoint/2010/main" val="2881578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73314B-DE61-8C6A-CBE0-A3E20DF91E9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Modern pre-training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427EEF-B0CD-C5ED-AF81-B5AB4C2EB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45" y="1539799"/>
            <a:ext cx="9524620" cy="504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1895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C2546D-7132-6A2F-20D2-BA380884A44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Commonly Used Corpora for Pre-training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E9B6E2-2B9E-877B-6EBA-187F884C8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32" y="1295400"/>
            <a:ext cx="7198108" cy="44750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8403E4-B3B0-7DFC-2D35-D4FE8D82AC69}"/>
              </a:ext>
            </a:extLst>
          </p:cNvPr>
          <p:cNvSpPr txBox="1"/>
          <p:nvPr/>
        </p:nvSpPr>
        <p:spPr>
          <a:xfrm>
            <a:off x="190893" y="5874164"/>
            <a:ext cx="10461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Today’s open corpora: </a:t>
            </a:r>
            <a:r>
              <a:rPr lang="en-IN" b="1" dirty="0" err="1"/>
              <a:t>FineWeb</a:t>
            </a:r>
            <a:r>
              <a:rPr lang="en-IN" dirty="0"/>
              <a:t> (15T tokens), </a:t>
            </a:r>
            <a:r>
              <a:rPr lang="en-IN" b="1" dirty="0"/>
              <a:t>RedPajama-V2</a:t>
            </a:r>
            <a:r>
              <a:rPr lang="en-IN" dirty="0"/>
              <a:t> (30T), </a:t>
            </a:r>
            <a:r>
              <a:rPr lang="en-IN" b="1" dirty="0"/>
              <a:t>Dolma</a:t>
            </a:r>
            <a:r>
              <a:rPr lang="en-IN" dirty="0"/>
              <a:t> (3T, </a:t>
            </a:r>
            <a:r>
              <a:rPr lang="en-IN" dirty="0" err="1"/>
              <a:t>OLMo</a:t>
            </a:r>
            <a:r>
              <a:rPr lang="en-IN" dirty="0"/>
              <a:t>), </a:t>
            </a:r>
            <a:r>
              <a:rPr lang="en-IN" b="1" dirty="0"/>
              <a:t>The Stack v2</a:t>
            </a:r>
            <a:r>
              <a:rPr lang="en-IN" dirty="0"/>
              <a:t> (code).</a:t>
            </a:r>
          </a:p>
        </p:txBody>
      </p:sp>
    </p:spTree>
    <p:extLst>
      <p:ext uri="{BB962C8B-B14F-4D97-AF65-F5344CB8AC3E}">
        <p14:creationId xmlns:p14="http://schemas.microsoft.com/office/powerpoint/2010/main" val="105704489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Pre-training data pipeline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26720" y="1267968"/>
            <a:ext cx="11338560" cy="36576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web text is mostly noise. Each stage removes something before the model sees it.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26720" y="1731264"/>
            <a:ext cx="2243328" cy="585216"/>
          </a:xfrm>
          <a:prstGeom prst="chevron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5" name="Text 3"/>
          <p:cNvSpPr txBox="1"/>
          <p:nvPr/>
        </p:nvSpPr>
        <p:spPr>
          <a:xfrm>
            <a:off x="646176" y="1731264"/>
            <a:ext cx="18653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corpus</a:t>
            </a:r>
            <a:endParaRPr lang="en-US" sz="1600" dirty="0"/>
          </a:p>
        </p:txBody>
      </p:sp>
      <p:sp>
        <p:nvSpPr>
          <p:cNvPr id="6" name="step0"/>
          <p:cNvSpPr/>
          <p:nvPr/>
        </p:nvSpPr>
        <p:spPr>
          <a:xfrm>
            <a:off x="426720" y="2414016"/>
            <a:ext cx="2170176" cy="1889760"/>
          </a:xfrm>
          <a:prstGeom prst="roundRect">
            <a:avLst>
              <a:gd name="adj" fmla="val 5161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crawl, books, code, papers</a:t>
            </a:r>
            <a:endParaRPr lang="en-US" sz="1600" dirty="0"/>
          </a:p>
          <a:p>
            <a:endParaRPr lang="en-IN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3267456"/>
            <a:ext cx="199948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3"/>
            </a:solidFill>
          </a:ln>
        </p:spPr>
        <p:txBody>
          <a:bodyPr wrap="square" lIns="50800" tIns="67733" rIns="67733" bIns="50800" rtlCol="0" anchor="t"/>
          <a:lstStyle/>
          <a:p>
            <a:r>
              <a:rPr lang="en-US" sz="1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 Crawl, GitHub, arXiv, Wikipedia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718816" y="1731264"/>
            <a:ext cx="2243328" cy="585216"/>
          </a:xfrm>
          <a:prstGeom prst="chevron">
            <a:avLst/>
          </a:prstGeom>
          <a:solidFill>
            <a:srgbClr val="2F7FB5"/>
          </a:solidFill>
          <a:ln w="12700">
            <a:solidFill>
              <a:srgbClr val="2F7FB5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0" name="Text 8"/>
          <p:cNvSpPr txBox="1"/>
          <p:nvPr/>
        </p:nvSpPr>
        <p:spPr>
          <a:xfrm>
            <a:off x="2938272" y="1731264"/>
            <a:ext cx="18653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Filter</a:t>
            </a:r>
            <a:endParaRPr lang="en-US" sz="1600" dirty="0"/>
          </a:p>
        </p:txBody>
      </p:sp>
      <p:sp>
        <p:nvSpPr>
          <p:cNvPr id="11" name="step1"/>
          <p:cNvSpPr/>
          <p:nvPr/>
        </p:nvSpPr>
        <p:spPr>
          <a:xfrm>
            <a:off x="2718816" y="2414016"/>
            <a:ext cx="2170176" cy="1889760"/>
          </a:xfrm>
          <a:prstGeom prst="roundRect">
            <a:avLst>
              <a:gd name="adj" fmla="val 5161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low-quality, spam, wrong-language text</a:t>
            </a:r>
            <a:endParaRPr lang="en-US" sz="1600" dirty="0"/>
          </a:p>
          <a:p>
            <a:endParaRPr lang="en-IN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04160" y="3267456"/>
            <a:ext cx="199948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3"/>
            </a:solidFill>
          </a:ln>
        </p:spPr>
        <p:txBody>
          <a:bodyPr wrap="square" lIns="50800" tIns="67733" rIns="67733" bIns="50800" rtlCol="0" anchor="t"/>
          <a:lstStyle/>
          <a:p>
            <a:r>
              <a:rPr lang="en-US" sz="1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is writing a paper. #$^&amp;</a:t>
            </a:r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"#$^&amp;" removed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10912" y="1731264"/>
            <a:ext cx="2243328" cy="585216"/>
          </a:xfrm>
          <a:prstGeom prst="chevron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5" name="Text 13"/>
          <p:cNvSpPr txBox="1"/>
          <p:nvPr/>
        </p:nvSpPr>
        <p:spPr>
          <a:xfrm>
            <a:off x="5230368" y="1731264"/>
            <a:ext cx="18653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De-duplicate</a:t>
            </a:r>
            <a:endParaRPr lang="en-US" sz="1600" dirty="0"/>
          </a:p>
        </p:txBody>
      </p:sp>
      <p:sp>
        <p:nvSpPr>
          <p:cNvPr id="16" name="step2"/>
          <p:cNvSpPr/>
          <p:nvPr/>
        </p:nvSpPr>
        <p:spPr>
          <a:xfrm>
            <a:off x="5010912" y="2414016"/>
            <a:ext cx="2170176" cy="1889760"/>
          </a:xfrm>
          <a:prstGeom prst="roundRect">
            <a:avLst>
              <a:gd name="adj" fmla="val 5161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repeated sentences and near-copy documents</a:t>
            </a:r>
            <a:endParaRPr lang="en-US" sz="1600" dirty="0"/>
          </a:p>
          <a:p>
            <a:endParaRPr lang="en-IN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96256" y="3267456"/>
            <a:ext cx="199948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3"/>
            </a:solidFill>
          </a:ln>
        </p:spPr>
        <p:txBody>
          <a:bodyPr wrap="square" lIns="50800" tIns="67733" rIns="67733" bIns="50800" rtlCol="0" anchor="t"/>
          <a:lstStyle/>
          <a:p>
            <a:r>
              <a:rPr lang="en-US" sz="1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paragraph on 50 sites</a:t>
            </a:r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keep 1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03008" y="1731264"/>
            <a:ext cx="2243328" cy="585216"/>
          </a:xfrm>
          <a:prstGeom prst="chevron">
            <a:avLst/>
          </a:prstGeom>
          <a:solidFill>
            <a:srgbClr val="B5761A"/>
          </a:solidFill>
          <a:ln w="12700">
            <a:solidFill>
              <a:srgbClr val="B5761A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0" name="Text 18"/>
          <p:cNvSpPr txBox="1"/>
          <p:nvPr/>
        </p:nvSpPr>
        <p:spPr>
          <a:xfrm>
            <a:off x="7522464" y="1731264"/>
            <a:ext cx="18653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Remove PII</a:t>
            </a:r>
            <a:endParaRPr lang="en-US" sz="1600" dirty="0"/>
          </a:p>
        </p:txBody>
      </p:sp>
      <p:sp>
        <p:nvSpPr>
          <p:cNvPr id="21" name="step3"/>
          <p:cNvSpPr/>
          <p:nvPr/>
        </p:nvSpPr>
        <p:spPr>
          <a:xfrm>
            <a:off x="7303008" y="2414016"/>
            <a:ext cx="2170176" cy="1889760"/>
          </a:xfrm>
          <a:prstGeom prst="roundRect">
            <a:avLst>
              <a:gd name="adj" fmla="val 5161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names, emails, phone numbers</a:t>
            </a:r>
            <a:endParaRPr lang="en-US" sz="1600" dirty="0"/>
          </a:p>
          <a:p>
            <a:endParaRPr lang="en-IN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88352" y="3267456"/>
            <a:ext cx="199948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3"/>
            </a:solidFill>
          </a:ln>
        </p:spPr>
        <p:txBody>
          <a:bodyPr wrap="square" lIns="50800" tIns="67733" rIns="67733" bIns="50800" rtlCol="0" anchor="t"/>
          <a:lstStyle/>
          <a:p>
            <a:r>
              <a:rPr lang="en-US" sz="1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→ [Somebody]</a:t>
            </a:r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abc@x.com → [EMAIL]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595104" y="1731264"/>
            <a:ext cx="2243328" cy="585216"/>
          </a:xfrm>
          <a:prstGeom prst="chevron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5" name="Text 23"/>
          <p:cNvSpPr txBox="1"/>
          <p:nvPr/>
        </p:nvSpPr>
        <p:spPr>
          <a:xfrm>
            <a:off x="9814560" y="1731264"/>
            <a:ext cx="18653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Tokenize + pack</a:t>
            </a:r>
            <a:endParaRPr lang="en-US" sz="1600" dirty="0"/>
          </a:p>
        </p:txBody>
      </p:sp>
      <p:sp>
        <p:nvSpPr>
          <p:cNvPr id="26" name="step4"/>
          <p:cNvSpPr/>
          <p:nvPr/>
        </p:nvSpPr>
        <p:spPr>
          <a:xfrm>
            <a:off x="9595104" y="2414016"/>
            <a:ext cx="2170176" cy="1889760"/>
          </a:xfrm>
          <a:prstGeom prst="roundRect">
            <a:avLst>
              <a:gd name="adj" fmla="val 5161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Byte-level BPE, then pack docs into full context windows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80448" y="3267456"/>
            <a:ext cx="199948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3"/>
            </a:solidFill>
          </a:ln>
        </p:spPr>
        <p:txBody>
          <a:bodyPr wrap="square" lIns="50800" tIns="67733" rIns="67733" bIns="50800" rtlCol="0" anchor="t"/>
          <a:lstStyle/>
          <a:p>
            <a:r>
              <a:rPr lang="en-US" sz="1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doc1 &lt;eos&gt; doc2 &lt;eos&gt; doc3</a:t>
            </a:r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wasted padding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D7B09F-FE07-18FA-5560-D84EF45D3196}"/>
              </a:ext>
            </a:extLst>
          </p:cNvPr>
          <p:cNvSpPr txBox="1"/>
          <p:nvPr/>
        </p:nvSpPr>
        <p:spPr>
          <a:xfrm>
            <a:off x="5784870" y="4402989"/>
            <a:ext cx="6168318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</a:pPr>
            <a:r>
              <a:rPr lang="en-US" sz="200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de-duplicate?</a:t>
            </a:r>
            <a:endParaRPr lang="en-US" sz="20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text is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memorised</a:t>
            </a:r>
            <a:endParaRPr lang="en-US" sz="20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compute on the same tokens</a:t>
            </a:r>
            <a:endParaRPr lang="en-US" sz="20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test-set contamination: benchmark text in training inflates scores</a:t>
            </a:r>
            <a:endParaRPr lang="en-US" sz="20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n-gram /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MinHash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overlap between documents</a:t>
            </a:r>
            <a:endParaRPr lang="en-US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7D641E-4A0D-65C2-35EB-FC6BBF6F9537}"/>
              </a:ext>
            </a:extLst>
          </p:cNvPr>
          <p:cNvSpPr txBox="1"/>
          <p:nvPr/>
        </p:nvSpPr>
        <p:spPr>
          <a:xfrm>
            <a:off x="100679" y="4541521"/>
            <a:ext cx="5442282" cy="17338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200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filtering is done</a:t>
            </a:r>
            <a:endParaRPr lang="en-US" sz="2000" dirty="0"/>
          </a:p>
          <a:p>
            <a:pPr>
              <a:spcAft>
                <a:spcPts val="400"/>
              </a:spcAft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(cheap):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ID, length, block lists etc.</a:t>
            </a:r>
            <a:endParaRPr lang="en-US" sz="2000" dirty="0"/>
          </a:p>
          <a:p>
            <a:pPr>
              <a:spcAft>
                <a:spcPts val="400"/>
              </a:spcAft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small model on high-quality text, keep what scores well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Data mixture and curriculum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26720" y="1332527"/>
            <a:ext cx="11338560" cy="60960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t"/>
          <a:lstStyle/>
          <a:p>
            <a:r>
              <a:rPr lang="en-US" sz="20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Pre-training data is not fed in randomly from one pool. </a:t>
            </a: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Sources (web, code, math, books…) are mixed in chosen proportions, and the mix changes over training.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curr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2282425"/>
            <a:ext cx="5364480" cy="22931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C9F60D7-0DA3-3B0D-D8BF-4210C6B93EFA}"/>
              </a:ext>
            </a:extLst>
          </p:cNvPr>
          <p:cNvSpPr txBox="1"/>
          <p:nvPr/>
        </p:nvSpPr>
        <p:spPr>
          <a:xfrm>
            <a:off x="5951457" y="2218714"/>
            <a:ext cx="6108568" cy="19389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F5F9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Data mixture: </a:t>
            </a: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what proportion of each source to use, e.g. more code to improve coding ability.</a:t>
            </a:r>
          </a:p>
          <a:p>
            <a:r>
              <a:rPr lang="en-US" sz="2000" b="1" dirty="0">
                <a:solidFill>
                  <a:srgbClr val="B576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Data curriculum: </a:t>
            </a: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how the mixture changes across stages: start with easy, general data, then add harder or </a:t>
            </a:r>
            <a:r>
              <a:rPr lang="en-US" sz="2000" dirty="0" err="1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specialised</a:t>
            </a: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data (math, code, long documents).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56AEE5-1756-00EE-86D7-35F24A6B75F7}"/>
              </a:ext>
            </a:extLst>
          </p:cNvPr>
          <p:cNvSpPr txBox="1"/>
          <p:nvPr/>
        </p:nvSpPr>
        <p:spPr>
          <a:xfrm>
            <a:off x="128835" y="4677199"/>
            <a:ext cx="1164524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b="1" dirty="0">
                <a:solidFill>
                  <a:srgbClr val="0E6E7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 practice: Llama 3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400"/>
              </a:spcAft>
            </a:pPr>
            <a:r>
              <a:rPr lang="en-US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Annealing: </a:t>
            </a:r>
            <a:r>
              <a:rPr lang="en-US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 the final stage, the learning rate is lowered to zero while high-quality data (math, code) is </a:t>
            </a:r>
            <a:r>
              <a:rPr lang="en-US" dirty="0" err="1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upsampled</a:t>
            </a:r>
            <a:r>
              <a:rPr lang="en-US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400"/>
              </a:spcAft>
            </a:pPr>
            <a:r>
              <a:rPr lang="en-US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Result: </a:t>
            </a:r>
            <a:r>
              <a:rPr lang="en-US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Llama 3 8B improved notably on math benchmarks (GSM8K, MATH); gains on 405B were negligible, since larger models already learn well from the general mix.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400"/>
              </a:spcAft>
            </a:pPr>
            <a:r>
              <a:rPr lang="en-US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Long context is also a curriculum: </a:t>
            </a:r>
            <a:r>
              <a:rPr lang="en-US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context length was raised gradually from 8K to 128K tokens in stages.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438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2DC20-182F-A2C7-3FA2-6183E7283BF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92464" y="1450956"/>
            <a:ext cx="11930406" cy="5062966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1F3A5F"/>
                </a:solidFill>
                <a:cs typeface="Calibri" pitchFamily="34" charset="-120"/>
              </a:rPr>
              <a:t>The problem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cs typeface="Calibri" pitchFamily="34" charset="-120"/>
              </a:rPr>
              <a:t>Training a large LLM costs millions of dollars and runs once. You must decide before you start:</a:t>
            </a:r>
            <a:endParaRPr lang="en-US" sz="2000" dirty="0"/>
          </a:p>
          <a:p>
            <a:pPr marL="609585" lvl="1" indent="-304792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cs typeface="Calibri" pitchFamily="34" charset="-120"/>
              </a:rPr>
              <a:t>How big should the model be?  (N = number of parameters)</a:t>
            </a:r>
            <a:endParaRPr lang="en-US" sz="2000" dirty="0"/>
          </a:p>
          <a:p>
            <a:pPr marL="609585" lvl="1" indent="-304792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cs typeface="Calibri" pitchFamily="34" charset="-120"/>
              </a:rPr>
              <a:t>How much text should it read?  (D = number of training tokens)</a:t>
            </a: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  <a:cs typeface="Calibri" pitchFamily="34" charset="-120"/>
              </a:rPr>
              <a:t>Both cost compute:  C ≈ 6 × N × D </a:t>
            </a:r>
            <a:r>
              <a:rPr lang="en-IN" sz="2000" dirty="0"/>
              <a:t>FLOPs for a conventional dense Transformer, as a rough estimate.</a:t>
            </a:r>
            <a:r>
              <a:rPr lang="en-US" sz="2000" dirty="0">
                <a:solidFill>
                  <a:srgbClr val="333333"/>
                </a:solidFill>
                <a:cs typeface="Calibri" pitchFamily="34" charset="-120"/>
              </a:rPr>
              <a:t>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  <a:cs typeface="Calibri" pitchFamily="34" charset="-120"/>
              </a:rPr>
              <a:t>A fixed budget means a bigger model gets less data, and vice versa.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solidFill>
                  <a:srgbClr val="1F3A5F"/>
                </a:solidFill>
                <a:cs typeface="Calibri" pitchFamily="34" charset="-120"/>
              </a:rPr>
              <a:t>The solution – scaling laws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cs typeface="Calibri" pitchFamily="34" charset="-120"/>
              </a:rPr>
              <a:t>Researchers found that loss (prediction error) drops in a smooth, predictable way as N, D or C grows. This rule is a scaling law.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cs typeface="Calibri" pitchFamily="34" charset="-120"/>
              </a:rPr>
              <a:t>Test cheap on small models: Fit the curve, then extrapolate to the big 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cs typeface="Calibri" pitchFamily="34" charset="-120"/>
              </a:rPr>
              <a:t>Lock the recipe before the big run: Set model size, data mix, token budget with confidence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Scaling laws turn large-scale pre-training from largely empirical trial and error into a more systematic, data-driven optimization process—but predictions remain estimates, not guarantees.</a:t>
            </a:r>
            <a:endParaRPr lang="en-US" sz="2000" dirty="0">
              <a:solidFill>
                <a:srgbClr val="1A1A1A"/>
              </a:solidFill>
              <a:cs typeface="Calibr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cs typeface="Calibri" pitchFamily="34" charset="-120"/>
              </a:rPr>
              <a:t> </a:t>
            </a:r>
            <a:r>
              <a:rPr lang="en-IN" sz="2000" dirty="0"/>
              <a:t>Meta trained smaller models on different data mixtures and used scaling laws to identify promising mixtures and predict downstream performance.</a:t>
            </a:r>
          </a:p>
        </p:txBody>
      </p:sp>
      <p:sp>
        <p:nvSpPr>
          <p:cNvPr id="2" name="Text 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Why scaling laws?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800" y="4956175"/>
            <a:ext cx="457200" cy="182563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900" kern="1200">
                <a:solidFill>
                  <a:srgbClr val="7A7A7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Scaling Laws: Kaplan et al., 2020</a:t>
            </a:r>
          </a:p>
        </p:txBody>
      </p:sp>
      <p:pic>
        <p:nvPicPr>
          <p:cNvPr id="3" name="Image 0" descr="kap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1505138"/>
            <a:ext cx="2133600" cy="230848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0" y="1351599"/>
            <a:ext cx="4815840" cy="36394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847" tIns="847" rIns="847" bIns="847" rtlCol="0" anchor="t"/>
          <a:lstStyle/>
          <a:p>
            <a:pPr>
              <a:spcAft>
                <a:spcPts val="400"/>
              </a:spcAft>
            </a:pPr>
            <a:r>
              <a:rPr lang="en-US" b="1" dirty="0">
                <a:solidFill>
                  <a:srgbClr val="1F3A5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How to read these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 = loss (lower is better). N = parameters, D = training tokens, C = compute.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Bigger N, D or C → smaller fraction → lower loss.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dirty="0"/>
              <a:t>α (alpha) is the exponent fitted from experiments: it measures how fast loss falls as you scale up (bigger α = faster improvement).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dirty="0"/>
              <a:t>Here α is small (≈ 0.05–0.1), so returns diminish: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Each gain needs much more scale, but the gains are predictable.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1" descr="kap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188" y="896750"/>
            <a:ext cx="4023360" cy="1257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 2"/>
          <p:cNvSpPr txBox="1"/>
          <p:nvPr/>
        </p:nvSpPr>
        <p:spPr>
          <a:xfrm>
            <a:off x="7863839" y="2376808"/>
            <a:ext cx="4023360" cy="23566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lIns="847" tIns="847" rIns="847" bIns="847" rtlCol="0" anchor="t"/>
          <a:lstStyle/>
          <a:p>
            <a:pPr>
              <a:spcAft>
                <a:spcPts val="400"/>
              </a:spcAft>
            </a:pPr>
            <a:r>
              <a:rPr lang="en-US" sz="2000" b="1" dirty="0">
                <a:solidFill>
                  <a:srgbClr val="1F3A5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Counting parameters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400"/>
              </a:spcAft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Each layer holds about 12 × d² weights (attention 4d² + FFN 8d²), so multiply by the number of layers.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400"/>
              </a:spcAft>
            </a:pPr>
            <a:r>
              <a:rPr lang="en-US" sz="20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GPT-3: 96 layers, d = 12,288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400"/>
              </a:spcAft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12 × 96 × 12,288² ≈ 175B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162770" y="5047456"/>
            <a:ext cx="11960100" cy="164592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t"/>
          <a:lstStyle/>
          <a:p>
            <a:pPr>
              <a:spcAft>
                <a:spcPts val="400"/>
              </a:spcAft>
            </a:pPr>
            <a:r>
              <a:rPr lang="en-US" sz="2000" b="1" dirty="0">
                <a:solidFill>
                  <a:srgbClr val="1F3A5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What Kaplan concluded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Model size matters most; depth vs width barely matters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With 10× more compute, make the model ~5× bigger but give it only ~2× more data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 industry built huge models on little data. GPT-3: 175B parameters but only 300B tokens (~1.7 tokens per parameter)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Chinchilla scaling (Hoffmann et al., 2022)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800" y="4956175"/>
            <a:ext cx="457200" cy="182563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900" kern="1200">
                <a:solidFill>
                  <a:srgbClr val="7A7A7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15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4841" y="1402081"/>
            <a:ext cx="12022318" cy="188976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Kaplan: 10× compute → 5× model, 2× data.   Chinchilla: scale both equally → ~3.2× each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Rule of thumb: ~20 training tokens per parameter is compute-optimal (cheapest route to a given loss, not a minimum)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Existing large models were undertrained: Chinchilla 70B used the same compute as Gopher 280B and beat it, GPT-3 and MT-NLG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chin_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880" y="3291841"/>
            <a:ext cx="8778240" cy="268363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26720" y="6193536"/>
            <a:ext cx="11338560" cy="268224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1133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adapted from UMass CS685 slides (Hoffmann et al., 2022). Tokens per parameter: GPT-3 ≈ 1.7, Gopher ≈ 1.1, MT-NLG ≈ 0.5, Chinchilla = 20.</a:t>
            </a:r>
            <a:endParaRPr lang="en-US" sz="11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laws today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scaling law: </a:t>
            </a:r>
            <a:r>
              <a:rPr lang="en-US" sz="18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more of X → Y improves smoothly and predictably, usually a straight line on a log scale.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691640"/>
          <a:ext cx="11064240" cy="3703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Axis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Spend more of…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…and this improves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Real example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Pre-training (overtraining)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Training tokens, well beyond ~20 tokens per parameter (Chinchilla-optimal)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Loss keeps falling with diminishing returns, and the smaller model is cheaper to serve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Llama 3 8B was trained on ~15T tokens, about 1,900 tokens per parameter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Test-time compute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Thinking tokens or repeated attempts at inference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Accuracy on reasoning tasks rises roughly with log(compute)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o1 and DeepSeek-R1 improve as they are allowed to think longer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RL training compute (emerging)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RL steps on verifiable tasks such as math and code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Reasoning accuracy; responses also grow longer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DeepSeek-R1-Zero's response length grew steadily during RL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106424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pPr>
              <a:spcAft>
                <a:spcPts val="400"/>
              </a:spcAft>
              <a:buSzPct val="100000"/>
            </a:pPr>
            <a:r>
              <a:rPr lang="en-US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same small-scale-experiments-then-extrapolate method now plans how much to spend on thinking and RL, not just on model size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Three ways to get a domain LLM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26720" y="1267968"/>
            <a:ext cx="11338560" cy="36576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2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= general pre-training data,  D2 = domain data (finance, medicine, law, code…)</a:t>
            </a:r>
            <a:endParaRPr lang="en-US" sz="2000" dirty="0"/>
          </a:p>
        </p:txBody>
      </p:sp>
      <p:pic>
        <p:nvPicPr>
          <p:cNvPr id="4" name="Image 0" descr="cpt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18" y="1986033"/>
            <a:ext cx="9885072" cy="241986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99568" y="6614160"/>
            <a:ext cx="8534400" cy="24384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1133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Sebastian Raschka, magazine.sebastianraschka.com/p/tips-for-llm-pretraining-and-evaluating-rms</a:t>
            </a:r>
            <a:endParaRPr lang="en-US" sz="1133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A56C52-06BF-9FFB-C154-6A601F5EAB22}"/>
              </a:ext>
            </a:extLst>
          </p:cNvPr>
          <p:cNvSpPr txBox="1"/>
          <p:nvPr/>
        </p:nvSpPr>
        <p:spPr>
          <a:xfrm>
            <a:off x="0" y="4580721"/>
            <a:ext cx="3851100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</a:pPr>
            <a:r>
              <a:rPr lang="en-US" sz="2000" b="1" dirty="0">
                <a:solidFill>
                  <a:srgbClr val="2F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Regular pre-training</a:t>
            </a:r>
            <a:endParaRPr lang="en-US" sz="2000" dirty="0"/>
          </a:p>
          <a:p>
            <a:pPr>
              <a:spcAft>
                <a:spcPts val="267"/>
              </a:spcAft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weights, trained on D1 only. General model with no domain depth.</a:t>
            </a:r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C96F89-5FC9-FAF7-3D23-59525955332E}"/>
              </a:ext>
            </a:extLst>
          </p:cNvPr>
          <p:cNvSpPr txBox="1"/>
          <p:nvPr/>
        </p:nvSpPr>
        <p:spPr>
          <a:xfrm>
            <a:off x="3851100" y="4598224"/>
            <a:ext cx="3633217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Continued pre-training (CPT)</a:t>
            </a:r>
            <a:endParaRPr lang="en-US" sz="2000" dirty="0"/>
          </a:p>
          <a:p>
            <a:pPr>
              <a:spcAft>
                <a:spcPts val="267"/>
              </a:spcAft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model pre-trained on D1 and keep pre-training on D2 (mixed with some D1).</a:t>
            </a:r>
            <a:endParaRPr lang="en-US" sz="2000" dirty="0"/>
          </a:p>
          <a:p>
            <a:pPr>
              <a:spcAft>
                <a:spcPts val="267"/>
              </a:spcAft>
            </a:pPr>
            <a:r>
              <a:rPr lang="en-US" sz="2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cost; most common choice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33A7EA-CE4C-D423-4CC9-DC62F6798C56}"/>
              </a:ext>
            </a:extLst>
          </p:cNvPr>
          <p:cNvSpPr txBox="1"/>
          <p:nvPr/>
        </p:nvSpPr>
        <p:spPr>
          <a:xfrm>
            <a:off x="7888380" y="4598224"/>
            <a:ext cx="3777792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</a:pPr>
            <a:r>
              <a:rPr lang="en-US" sz="2000" b="1" dirty="0">
                <a:solidFill>
                  <a:srgbClr val="6D4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Domain pre-training from scratch</a:t>
            </a:r>
            <a:endParaRPr lang="en-US" sz="2000" dirty="0"/>
          </a:p>
          <a:p>
            <a:pPr>
              <a:spcAft>
                <a:spcPts val="267"/>
              </a:spcAft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weights, trained on D1 + D2 together from the start.</a:t>
            </a:r>
            <a:endParaRPr lang="en-US" sz="2000" dirty="0"/>
          </a:p>
          <a:p>
            <a:pPr>
              <a:spcAft>
                <a:spcPts val="267"/>
              </a:spcAft>
            </a:pPr>
            <a:r>
              <a:rPr lang="en-US" sz="2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expensive; needs a huge domain corpus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Domain adaptation in practice: finance</a:t>
            </a:r>
          </a:p>
        </p:txBody>
      </p:sp>
      <p:sp>
        <p:nvSpPr>
          <p:cNvPr id="3" name="BloombergGPT"/>
          <p:cNvSpPr/>
          <p:nvPr/>
        </p:nvSpPr>
        <p:spPr>
          <a:xfrm>
            <a:off x="426720" y="1341120"/>
            <a:ext cx="5547360" cy="4084320"/>
          </a:xfrm>
          <a:prstGeom prst="roundRect">
            <a:avLst>
              <a:gd name="adj" fmla="val 2388"/>
            </a:avLst>
          </a:prstGeom>
          <a:solidFill>
            <a:srgbClr val="F3EFFA"/>
          </a:solidFill>
          <a:ln w="12700">
            <a:solidFill>
              <a:srgbClr val="F3EFFA"/>
            </a:solidFill>
            <a:prstDash val="solid"/>
          </a:ln>
        </p:spPr>
        <p:txBody>
          <a:bodyPr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endParaRPr lang="en-US" sz="2000" dirty="0">
              <a:solidFill>
                <a:srgbClr val="1A1A1A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endParaRPr lang="en-US" sz="2000" dirty="0">
              <a:solidFill>
                <a:srgbClr val="1A1A1A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endParaRPr lang="en-US" sz="2000" dirty="0">
              <a:solidFill>
                <a:srgbClr val="1A1A1A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endParaRPr lang="en-US" sz="2000" dirty="0">
              <a:solidFill>
                <a:srgbClr val="1A1A1A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endParaRPr lang="en-US" sz="2000" dirty="0">
              <a:solidFill>
                <a:srgbClr val="1A1A1A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Model size chosen with Chinchilla scaling laws to fit the available finance data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Mixes general data so the model stays good at general language tasks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Requires a large proprietary corpus and a big training budget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73024" y="1341120"/>
            <a:ext cx="54010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BloombergGPT</a:t>
            </a:r>
            <a:endParaRPr lang="en-US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Domain pre-training from scratch (Wu et al., 2023)</a:t>
            </a:r>
            <a:endParaRPr lang="en-US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73024" y="2218944"/>
            <a:ext cx="1682496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847" tIns="847" rIns="847" bIns="847" rtlCol="0" anchor="ctr"/>
          <a:lstStyle/>
          <a:p>
            <a:pPr algn="ctr"/>
            <a:r>
              <a:rPr lang="en-US" sz="2000" b="1" dirty="0">
                <a:solidFill>
                  <a:srgbClr val="6D4BA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50B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dirty="0">
                <a:solidFill>
                  <a:srgbClr val="4A4A4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parameters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2340864" y="2218944"/>
            <a:ext cx="1682496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847" tIns="847" rIns="847" bIns="847" rtlCol="0" anchor="ctr"/>
          <a:lstStyle/>
          <a:p>
            <a:pPr algn="ctr"/>
            <a:r>
              <a:rPr lang="en-US" sz="2000" b="1" dirty="0">
                <a:solidFill>
                  <a:srgbClr val="6D4BA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363B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dirty="0">
                <a:solidFill>
                  <a:srgbClr val="4A4A4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finance tokens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108704" y="2218944"/>
            <a:ext cx="1682496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847" tIns="847" rIns="847" bIns="847" rtlCol="0" anchor="ctr"/>
          <a:lstStyle/>
          <a:p>
            <a:pPr algn="ctr"/>
            <a:r>
              <a:rPr lang="en-US" sz="2000" b="1" dirty="0">
                <a:solidFill>
                  <a:srgbClr val="6D4BA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345B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dirty="0">
                <a:solidFill>
                  <a:srgbClr val="4A4A4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general tokens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FinLLaMA"/>
          <p:cNvSpPr/>
          <p:nvPr/>
        </p:nvSpPr>
        <p:spPr>
          <a:xfrm>
            <a:off x="6217920" y="1341120"/>
            <a:ext cx="5547360" cy="4084320"/>
          </a:xfrm>
          <a:prstGeom prst="roundRect">
            <a:avLst>
              <a:gd name="adj" fmla="val 2388"/>
            </a:avLst>
          </a:prstGeom>
          <a:solidFill>
            <a:srgbClr val="FBEDEF"/>
          </a:solidFill>
          <a:ln w="12700">
            <a:solidFill>
              <a:srgbClr val="FBEDEF"/>
            </a:solidFill>
            <a:prstDash val="solid"/>
          </a:ln>
        </p:spPr>
        <p:txBody>
          <a:bodyPr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endParaRPr lang="en-US" sz="2000" dirty="0">
              <a:solidFill>
                <a:srgbClr val="1A1A1A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endParaRPr lang="en-US" sz="2000" dirty="0">
              <a:solidFill>
                <a:srgbClr val="1A1A1A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endParaRPr lang="en-US" sz="2000" dirty="0">
              <a:solidFill>
                <a:srgbClr val="1A1A1A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endParaRPr lang="en-US" sz="2000" dirty="0">
              <a:solidFill>
                <a:srgbClr val="1A1A1A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endParaRPr lang="en-US" sz="2000" dirty="0">
              <a:solidFill>
                <a:srgbClr val="1A1A1A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Starts from Llama 3 8B, so it inherits its general knowledge and reasoning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Finance : general ≈ 3 : 1, mixed to prevent catastrophic forgetting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Far fewer tokens than training from scratch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339840" y="1402080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FinLLaMA</a:t>
            </a: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Continued pre-training (Open-FinLLMs, 2024)</a:t>
            </a: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364224" y="2218944"/>
            <a:ext cx="1682496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847" tIns="847" rIns="847" bIns="847" rtlCol="0" anchor="ctr"/>
          <a:lstStyle/>
          <a:p>
            <a:pPr algn="ctr"/>
            <a:r>
              <a:rPr lang="en-US" sz="2000" b="1" dirty="0">
                <a:solidFill>
                  <a:srgbClr val="C810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8B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dirty="0">
                <a:solidFill>
                  <a:srgbClr val="4A4A4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Llama 3 base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132064" y="2218944"/>
            <a:ext cx="1682496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847" tIns="847" rIns="847" bIns="847" rtlCol="0" anchor="ctr"/>
          <a:lstStyle/>
          <a:p>
            <a:pPr algn="ctr"/>
            <a:r>
              <a:rPr lang="en-US" sz="2000" b="1" dirty="0">
                <a:solidFill>
                  <a:srgbClr val="C810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52B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dirty="0">
                <a:solidFill>
                  <a:srgbClr val="4A4A4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finance tokens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899904" y="2218944"/>
            <a:ext cx="1682496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847" tIns="847" rIns="847" bIns="847" rtlCol="0" anchor="ctr"/>
          <a:lstStyle/>
          <a:p>
            <a:pPr algn="ctr"/>
            <a:r>
              <a:rPr lang="en-US" sz="2000" b="1" dirty="0">
                <a:solidFill>
                  <a:srgbClr val="C810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18B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dirty="0">
                <a:solidFill>
                  <a:srgbClr val="4A4A4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general tokens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akeaway"/>
          <p:cNvSpPr/>
          <p:nvPr/>
        </p:nvSpPr>
        <p:spPr>
          <a:xfrm>
            <a:off x="426720" y="5547360"/>
            <a:ext cx="11338560" cy="85344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n-IN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09600" y="5571744"/>
            <a:ext cx="10972800" cy="804672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2000" b="1" dirty="0">
                <a:solidFill>
                  <a:srgbClr val="0E6E7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Takeaway: </a:t>
            </a: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both mix general data with domain data so general skills are not lost. CPT is the practical default; from scratch only pays off with a huge domain corpus and budget.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B4CE8CE5-C6F4-FCB4-8162-0FF7D1FD1E8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0527" y="1432103"/>
            <a:ext cx="11952915" cy="45259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cs typeface="Calibri" pitchFamily="34" charset="-120"/>
              </a:rPr>
              <a:t>When a trained network learns new data, the weight updates can overwrite what it learned before. </a:t>
            </a:r>
            <a:r>
              <a:rPr lang="en-US" sz="2000" dirty="0">
                <a:cs typeface="Calibri" pitchFamily="34" charset="-120"/>
              </a:rPr>
              <a:t>The risk is highest when training continues on a different distribution (new domain, new task).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cs typeface="Calibri" pitchFamily="34" charset="-120"/>
              </a:rPr>
              <a:t>LLM example: </a:t>
            </a:r>
            <a:r>
              <a:rPr lang="en-US" sz="2000" dirty="0">
                <a:cs typeface="Calibri" pitchFamily="34" charset="-120"/>
              </a:rPr>
              <a:t>continue pre-training Llama 3 only on finance text → finance improves, but general knowledge, coding and instruction-following drop.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2" name="Text 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Catastrophic forgetting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4134490" y="2956560"/>
            <a:ext cx="4876800" cy="36576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How to mitigate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24256" y="4169664"/>
            <a:ext cx="2487168" cy="103632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t"/>
          <a:lstStyle/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24256" y="5242560"/>
            <a:ext cx="2487168" cy="109728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t"/>
          <a:lstStyle/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413760" y="386486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3413760" y="5242560"/>
            <a:ext cx="2487168" cy="109728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t"/>
          <a:lstStyle/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m2"/>
          <p:cNvSpPr/>
          <p:nvPr/>
        </p:nvSpPr>
        <p:spPr>
          <a:xfrm>
            <a:off x="8151712" y="3305849"/>
            <a:ext cx="2682240" cy="2865120"/>
          </a:xfrm>
          <a:prstGeom prst="roundRect">
            <a:avLst>
              <a:gd name="adj" fmla="val 3636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F5F7F9"/>
            </a:solidFill>
            <a:prstDash val="solid"/>
          </a:ln>
        </p:spPr>
        <p:txBody>
          <a:bodyPr/>
          <a:lstStyle/>
          <a:p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LoRA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/ PEFT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Used in fine-tuning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Freeze base weights; train only small adapter matrices.</a:t>
            </a:r>
          </a:p>
          <a:p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Forgets less, but also learns less new knowledge. Best for fine-tuning.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m2">
            <a:extLst>
              <a:ext uri="{FF2B5EF4-FFF2-40B4-BE49-F238E27FC236}">
                <a16:creationId xmlns:a16="http://schemas.microsoft.com/office/drawing/2014/main" id="{1D344AF0-5A2B-7733-16DA-CCCA44E03F5A}"/>
              </a:ext>
            </a:extLst>
          </p:cNvPr>
          <p:cNvSpPr/>
          <p:nvPr/>
        </p:nvSpPr>
        <p:spPr>
          <a:xfrm>
            <a:off x="4189981" y="3386365"/>
            <a:ext cx="3087511" cy="2865120"/>
          </a:xfrm>
          <a:prstGeom prst="roundRect">
            <a:avLst>
              <a:gd name="adj" fmla="val 3636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F5F7F9"/>
            </a:solidFill>
            <a:prstDash val="solid"/>
          </a:ln>
        </p:spPr>
        <p:txBody>
          <a:bodyPr/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Learning-rate schedule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Used in practice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Re-warm to the peak LR, then decay. Higher LR learns faster but forgets more.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Pair with replay to get both.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m2">
            <a:extLst>
              <a:ext uri="{FF2B5EF4-FFF2-40B4-BE49-F238E27FC236}">
                <a16:creationId xmlns:a16="http://schemas.microsoft.com/office/drawing/2014/main" id="{41B037F8-7C4D-CACE-9463-D610B3132A9F}"/>
              </a:ext>
            </a:extLst>
          </p:cNvPr>
          <p:cNvSpPr/>
          <p:nvPr/>
        </p:nvSpPr>
        <p:spPr>
          <a:xfrm>
            <a:off x="426720" y="3386365"/>
            <a:ext cx="2682240" cy="2865120"/>
          </a:xfrm>
          <a:prstGeom prst="roundRect">
            <a:avLst>
              <a:gd name="adj" fmla="val 3636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F5F7F9"/>
            </a:solidFill>
            <a:prstDash val="solid"/>
          </a:ln>
        </p:spPr>
        <p:txBody>
          <a:bodyPr/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Replay (data mixing)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Used in practice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Mix a share of original general data into the new data.</a:t>
            </a:r>
          </a:p>
          <a:p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Most effective, standard. ~5% replay often enough; </a:t>
            </a:r>
            <a:r>
              <a:rPr lang="en-US" sz="2000" i="1" dirty="0" err="1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FinLLaMA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used ~25%.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LR schedule for continued pre-training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800" y="4956175"/>
            <a:ext cx="457200" cy="182563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900" kern="1200">
                <a:solidFill>
                  <a:srgbClr val="7A7A7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20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6124" y="1400943"/>
            <a:ext cx="12115875" cy="60960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t"/>
          <a:lstStyle/>
          <a:p>
            <a:r>
              <a:rPr lang="en-US" sz="200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Recipe: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original schedule. Re-warm the LR back up to its peak, then re-decay it, and add replay of general data.</a:t>
            </a:r>
            <a:endParaRPr lang="en-US" sz="2000" dirty="0"/>
          </a:p>
        </p:txBody>
      </p:sp>
      <p:pic>
        <p:nvPicPr>
          <p:cNvPr id="4" name="Image 0" descr="lr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2333631"/>
            <a:ext cx="6247457" cy="21907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26720" y="4637793"/>
            <a:ext cx="7315200" cy="268224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1133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Sebastian Raschka, magazine.sebastianraschka.com/p/tips-for-llm-pretraining-and-evaluating-rms</a:t>
            </a:r>
            <a:endParaRPr lang="en-US" sz="1133" dirty="0"/>
          </a:p>
        </p:txBody>
      </p:sp>
      <p:sp>
        <p:nvSpPr>
          <p:cNvPr id="6" name="Text 3"/>
          <p:cNvSpPr txBox="1"/>
          <p:nvPr/>
        </p:nvSpPr>
        <p:spPr>
          <a:xfrm>
            <a:off x="6853287" y="2010543"/>
            <a:ext cx="5147035" cy="34465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847" tIns="847" rIns="847" bIns="847" rtlCol="0" anchor="t"/>
          <a:lstStyle/>
          <a:p>
            <a:pPr>
              <a:spcAft>
                <a:spcPts val="267"/>
              </a:spcAft>
            </a:pPr>
            <a:r>
              <a:rPr lang="en-US" sz="2000" b="1" dirty="0">
                <a:solidFill>
                  <a:srgbClr val="2F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</a:t>
            </a:r>
            <a:endParaRPr lang="en-US" sz="2000" dirty="0"/>
          </a:p>
          <a:p>
            <a:pPr>
              <a:spcAft>
                <a:spcPts val="267"/>
              </a:spcAft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 and ramp up, so the first updates (fresh optimizer stats) don't destabilise training.</a:t>
            </a:r>
          </a:p>
          <a:p>
            <a:pPr>
              <a:spcAft>
                <a:spcPts val="267"/>
              </a:spcAft>
            </a:pPr>
            <a:r>
              <a:rPr lang="en-US" sz="2000" b="1" dirty="0">
                <a:solidFill>
                  <a:srgbClr val="2F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(cosine)</a:t>
            </a:r>
            <a:endParaRPr lang="en-US" sz="2000" dirty="0"/>
          </a:p>
          <a:p>
            <a:pPr>
              <a:spcAft>
                <a:spcPts val="267"/>
              </a:spcAft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LR gradually so the model settles into a good solution.</a:t>
            </a:r>
          </a:p>
          <a:p>
            <a:pPr>
              <a:spcAft>
                <a:spcPts val="267"/>
              </a:spcAft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re-warm?</a:t>
            </a:r>
            <a:endParaRPr lang="en-US" sz="2000" dirty="0"/>
          </a:p>
          <a:p>
            <a:pPr>
              <a:spcAft>
                <a:spcPts val="267"/>
              </a:spcAft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pre-training the LR is ~0, so the model can barely learn the new domain without raising it again.</a:t>
            </a:r>
            <a:endParaRPr lang="en-US" sz="2000" dirty="0"/>
          </a:p>
          <a:p>
            <a:pPr>
              <a:spcAft>
                <a:spcPts val="267"/>
              </a:spcAft>
            </a:pPr>
            <a:endParaRPr lang="en-US" sz="2000" dirty="0"/>
          </a:p>
          <a:p>
            <a:pPr>
              <a:spcAft>
                <a:spcPts val="267"/>
              </a:spcAft>
            </a:pP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56AC08-FA05-64EE-20F5-0A80E0E3241E}"/>
              </a:ext>
            </a:extLst>
          </p:cNvPr>
          <p:cNvSpPr txBox="1"/>
          <p:nvPr/>
        </p:nvSpPr>
        <p:spPr>
          <a:xfrm>
            <a:off x="194274" y="5570481"/>
            <a:ext cx="11102261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B5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higher peak LR learns the new domain faster but forgets more. Replay of general data offsets the forgetting, so re-warm + re-decay + replay together can match retraining from scratch at a fraction of the cost.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Modern pre-training recipes at a glance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304801" y="1404530"/>
            <a:ext cx="11338560" cy="48768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1600" b="1" i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Next-token prediction everywhere (DeepSeek-V3 adds multi-token prediction). The differences are in data, staging and efficiency.</a:t>
            </a:r>
            <a:endParaRPr lang="en-US" sz="16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520615"/>
              </p:ext>
            </p:extLst>
          </p:nvPr>
        </p:nvGraphicFramePr>
        <p:xfrm>
          <a:off x="106837" y="2021067"/>
          <a:ext cx="8594104" cy="4584192"/>
        </p:xfrm>
        <a:graphic>
          <a:graphicData uri="http://schemas.openxmlformats.org/drawingml/2006/table">
            <a:tbl>
              <a:tblPr/>
              <a:tblGrid>
                <a:gridCol w="3645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2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20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B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heuristics + model-based quality scoring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generated by earlier models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i="1" dirty="0">
                          <a:solidFill>
                            <a:srgbClr val="B5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post-training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mixing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proportions of sources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Long-context stage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context near the 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High-quality final stage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annealing on math / code / reasoning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distillation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model learns from a big teacher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i="1" dirty="0">
                          <a:solidFill>
                            <a:srgbClr val="B5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post-training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i="1" dirty="0">
                          <a:solidFill>
                            <a:srgbClr val="B5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post-training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3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efficiency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MoE, multi-token prediction, FP8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8768" marR="48768" marT="48768" marB="48768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8BF7D6D-5E57-74DF-5E3F-4F7ECCE286F5}"/>
              </a:ext>
            </a:extLst>
          </p:cNvPr>
          <p:cNvSpPr txBox="1"/>
          <p:nvPr/>
        </p:nvSpPr>
        <p:spPr>
          <a:xfrm>
            <a:off x="9040304" y="1857756"/>
            <a:ext cx="3151695" cy="4060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"/>
              </a:spcAft>
            </a:pPr>
            <a:r>
              <a:rPr lang="en-US" b="1" dirty="0">
                <a:solidFill>
                  <a:srgbClr val="2E7D3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Gemma 2: distillation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133"/>
              </a:spcAft>
            </a:pPr>
            <a:r>
              <a:rPr lang="en-US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27B from scratch; 2B and 9B learn from a larger teacher</a:t>
            </a:r>
          </a:p>
          <a:p>
            <a:pPr>
              <a:spcAft>
                <a:spcPts val="133"/>
              </a:spcAft>
            </a:pPr>
            <a:endParaRPr lang="en-US" dirty="0">
              <a:solidFill>
                <a:srgbClr val="1A1A1A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>
              <a:spcAft>
                <a:spcPts val="133"/>
              </a:spcAft>
            </a:pPr>
            <a:r>
              <a:rPr lang="en-US" b="1" dirty="0">
                <a:solidFill>
                  <a:srgbClr val="C810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DeepSeek-V3: efficiency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133"/>
              </a:spcAft>
            </a:pPr>
            <a:r>
              <a:rPr lang="en-US" dirty="0" err="1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MoE</a:t>
            </a:r>
            <a:r>
              <a:rPr lang="en-US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671B (37B active), 14.8T tokens; MTP + FP8 ≈ 2.8M H800 GPU-hours</a:t>
            </a:r>
          </a:p>
          <a:p>
            <a:pPr>
              <a:spcAft>
                <a:spcPts val="133"/>
              </a:spcAft>
            </a:pPr>
            <a:endParaRPr lang="en-US" dirty="0">
              <a:solidFill>
                <a:srgbClr val="1A1A1A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>
              <a:spcAft>
                <a:spcPts val="133"/>
              </a:spcAft>
            </a:pPr>
            <a:r>
              <a:rPr lang="en-US" b="1" dirty="0">
                <a:solidFill>
                  <a:srgbClr val="0E6E7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Fully open recipe to explore: </a:t>
            </a:r>
            <a:r>
              <a:rPr lang="en-US" dirty="0" err="1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OLMo</a:t>
            </a:r>
            <a:r>
              <a:rPr lang="en-US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2 (AI2) publishes its pre-training data, code and checkpoints.  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133"/>
              </a:spcAft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7B1E92-8169-AFC7-2D21-BA005413AD27}"/>
              </a:ext>
            </a:extLst>
          </p:cNvPr>
          <p:cNvSpPr txBox="1"/>
          <p:nvPr/>
        </p:nvSpPr>
        <p:spPr>
          <a:xfrm>
            <a:off x="172825" y="6605259"/>
            <a:ext cx="60944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"/>
              </a:spcAft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Checklist adapted from S. Raschka.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Case study: Llama 3 (405B) pre-training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26720" y="1280160"/>
            <a:ext cx="6583680" cy="36576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2000" b="1" dirty="0">
                <a:solidFill>
                  <a:srgbClr val="2F5F9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Three stages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6720" y="1731264"/>
            <a:ext cx="121920" cy="1219200"/>
          </a:xfrm>
          <a:prstGeom prst="rect">
            <a:avLst/>
          </a:prstGeom>
          <a:solidFill>
            <a:srgbClr val="2F7FB5"/>
          </a:solidFill>
          <a:ln w="12700">
            <a:solidFill>
              <a:srgbClr val="2F7FB5"/>
            </a:solidFill>
            <a:prstDash val="solid"/>
          </a:ln>
        </p:spPr>
        <p:txBody>
          <a:bodyPr/>
          <a:lstStyle/>
          <a:p>
            <a:endParaRPr lang="en-IN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70560" y="1731264"/>
            <a:ext cx="6339840" cy="121920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pPr>
              <a:spcAft>
                <a:spcPts val="267"/>
              </a:spcAft>
            </a:pPr>
            <a:r>
              <a:rPr lang="en-US" sz="2000" b="1" dirty="0">
                <a:solidFill>
                  <a:srgbClr val="2F7FB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  Initial pre-training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267"/>
              </a:spcAft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~15.6T tokens at 8K context. Batch grows 4M → 8M → 16M tokens: small batches early for stability, large later for efficiency.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3096768"/>
            <a:ext cx="121920" cy="1219200"/>
          </a:xfrm>
          <a:prstGeom prst="rect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en-IN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70560" y="3096768"/>
            <a:ext cx="6339840" cy="121920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pPr>
              <a:spcAft>
                <a:spcPts val="267"/>
              </a:spcAft>
            </a:pPr>
            <a:r>
              <a:rPr lang="en-US" sz="2000" b="1" dirty="0">
                <a:solidFill>
                  <a:srgbClr val="0E6E7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  Long-context pre-training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267"/>
              </a:spcAft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Context raised 8K → 128K in six steps, using ~800B tokens.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6720" y="4462272"/>
            <a:ext cx="121920" cy="1219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70560" y="4462272"/>
            <a:ext cx="6339840" cy="121920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pPr>
              <a:spcAft>
                <a:spcPts val="267"/>
              </a:spcAft>
            </a:pPr>
            <a:r>
              <a:rPr lang="en-US" sz="2000" b="1" dirty="0">
                <a:solidFill>
                  <a:srgbClr val="C810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3  Annealing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267"/>
              </a:spcAft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Final 40M tokens: learning rate decayed to 0 while upsampling top-quality data (math, code). The last data seen at low LR shapes the final weights.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376160" y="1280160"/>
            <a:ext cx="4389120" cy="36576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2000" b="1" dirty="0">
                <a:solidFill>
                  <a:srgbClr val="2F5F9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Model-as-judge data filtering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376160" y="1731264"/>
            <a:ext cx="4389120" cy="780288"/>
          </a:xfrm>
          <a:prstGeom prst="rect">
            <a:avLst/>
          </a:prstGeom>
          <a:solidFill>
            <a:srgbClr val="F5F7F9"/>
          </a:solidFill>
          <a:ln w="9525">
            <a:solidFill>
              <a:srgbClr val="C8D3DE"/>
            </a:solidFill>
          </a:ln>
        </p:spPr>
        <p:txBody>
          <a:bodyPr wrap="square" lIns="50800" tIns="135467" rIns="135467" bIns="50800" rtlCol="0" anchor="ctr"/>
          <a:lstStyle/>
          <a:p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Web data → clean, de-duplicate, safety filter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570720" y="2523744"/>
            <a:ext cx="0" cy="207264"/>
          </a:xfrm>
          <a:prstGeom prst="line">
            <a:avLst/>
          </a:prstGeom>
          <a:noFill/>
          <a:ln w="15875">
            <a:solidFill>
              <a:srgbClr val="6A6A6A"/>
            </a:solidFill>
            <a:prstDash val="solid"/>
            <a:tailEnd type="triangle"/>
          </a:ln>
        </p:spPr>
        <p:txBody>
          <a:bodyPr/>
          <a:lstStyle/>
          <a:p>
            <a:endParaRPr lang="en-IN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376160" y="2755392"/>
            <a:ext cx="4389120" cy="780288"/>
          </a:xfrm>
          <a:prstGeom prst="rect">
            <a:avLst/>
          </a:prstGeom>
          <a:solidFill>
            <a:srgbClr val="E3EEF9"/>
          </a:solidFill>
          <a:ln w="9525">
            <a:solidFill>
              <a:srgbClr val="C8D3DE"/>
            </a:solidFill>
          </a:ln>
        </p:spPr>
        <p:txBody>
          <a:bodyPr wrap="square" lIns="50800" tIns="135467" rIns="135467" bIns="50800" rtlCol="0" anchor="ctr"/>
          <a:lstStyle/>
          <a:p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Llama 2 labels a sample of documents as high / low quality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570720" y="3547872"/>
            <a:ext cx="0" cy="207264"/>
          </a:xfrm>
          <a:prstGeom prst="line">
            <a:avLst/>
          </a:prstGeom>
          <a:noFill/>
          <a:ln w="15875">
            <a:solidFill>
              <a:srgbClr val="6A6A6A"/>
            </a:solidFill>
            <a:prstDash val="solid"/>
            <a:tailEnd type="triangle"/>
          </a:ln>
        </p:spPr>
        <p:txBody>
          <a:bodyPr/>
          <a:lstStyle/>
          <a:p>
            <a:endParaRPr lang="en-IN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376159" y="3779520"/>
            <a:ext cx="4693915" cy="780288"/>
          </a:xfrm>
          <a:prstGeom prst="rect">
            <a:avLst/>
          </a:prstGeom>
          <a:solidFill>
            <a:srgbClr val="E3EEF9"/>
          </a:solidFill>
          <a:ln w="9525">
            <a:solidFill>
              <a:srgbClr val="C8D3DE"/>
            </a:solidFill>
          </a:ln>
        </p:spPr>
        <p:txBody>
          <a:bodyPr wrap="square" lIns="50800" tIns="135467" rIns="135467" bIns="50800" rtlCol="0" anchor="ctr"/>
          <a:lstStyle/>
          <a:p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Train cheap classifiers on those labels: fastText (fast) and DistilRoBERTa (better)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570720" y="4572000"/>
            <a:ext cx="0" cy="207264"/>
          </a:xfrm>
          <a:prstGeom prst="line">
            <a:avLst/>
          </a:prstGeom>
          <a:noFill/>
          <a:ln w="15875">
            <a:solidFill>
              <a:srgbClr val="6A6A6A"/>
            </a:solidFill>
            <a:prstDash val="solid"/>
            <a:tailEnd type="triangle"/>
          </a:ln>
        </p:spPr>
        <p:txBody>
          <a:bodyPr/>
          <a:lstStyle/>
          <a:p>
            <a:endParaRPr lang="en-IN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376160" y="4803648"/>
            <a:ext cx="4389120" cy="780288"/>
          </a:xfrm>
          <a:prstGeom prst="rect">
            <a:avLst/>
          </a:prstGeom>
          <a:solidFill>
            <a:srgbClr val="E8F4E9"/>
          </a:solidFill>
          <a:ln w="9525">
            <a:solidFill>
              <a:srgbClr val="C8D3DE"/>
            </a:solidFill>
          </a:ln>
        </p:spPr>
        <p:txBody>
          <a:bodyPr wrap="square" lIns="50800" tIns="135467" rIns="135467" bIns="50800" rtlCol="0" anchor="ctr"/>
          <a:lstStyle/>
          <a:p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Classifiers score the full web corpus → keep high-quality data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259005" y="5888736"/>
            <a:ext cx="10972800" cy="780288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 wrap="square" lIns="847" tIns="847" rIns="847" bIns="847" rtlCol="0" anchor="ctr"/>
          <a:lstStyle/>
          <a:p>
            <a:r>
              <a:rPr lang="en-US" sz="2000" b="1" dirty="0">
                <a:solidFill>
                  <a:srgbClr val="0E6E7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Why a judge model? </a:t>
            </a: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Running Llama 2 on trillions of tokens is too costly, so it labels a sample and small classifiers do the bulk scoring.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Case study: Qwen3 pre-training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26720" y="1267968"/>
            <a:ext cx="11338560" cy="36576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2000" i="1" dirty="0">
                <a:solidFill>
                  <a:srgbClr val="4A4A4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Broad language ability → stronger reasoning → longer context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6720" y="1731264"/>
            <a:ext cx="3755136" cy="609600"/>
          </a:xfrm>
          <a:prstGeom prst="chevron">
            <a:avLst/>
          </a:prstGeom>
          <a:solidFill>
            <a:srgbClr val="2F7FB5"/>
          </a:solidFill>
          <a:ln w="12700">
            <a:solidFill>
              <a:srgbClr val="2F7FB5"/>
            </a:solidFill>
            <a:prstDash val="solid"/>
          </a:ln>
        </p:spPr>
        <p:txBody>
          <a:bodyPr/>
          <a:lstStyle/>
          <a:p>
            <a:endParaRPr lang="en-IN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731264"/>
            <a:ext cx="314553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S1  General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0"/>
          <p:cNvSpPr/>
          <p:nvPr/>
        </p:nvSpPr>
        <p:spPr>
          <a:xfrm>
            <a:off x="426720" y="2438400"/>
            <a:ext cx="3633216" cy="1170432"/>
          </a:xfrm>
          <a:prstGeom prst="roundRect">
            <a:avLst>
              <a:gd name="adj" fmla="val 6957"/>
            </a:avLst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  <p:txBody>
          <a:bodyPr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30T+ tokens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4K context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119 languages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79392" y="1731264"/>
            <a:ext cx="3755136" cy="609600"/>
          </a:xfrm>
          <a:prstGeom prst="chevron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84192" y="1731264"/>
            <a:ext cx="314553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S2  Reasoning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1"/>
          <p:cNvSpPr/>
          <p:nvPr/>
        </p:nvSpPr>
        <p:spPr>
          <a:xfrm>
            <a:off x="4279392" y="2438400"/>
            <a:ext cx="3633216" cy="1087225"/>
          </a:xfrm>
          <a:prstGeom prst="roundRect">
            <a:avLst>
              <a:gd name="adj" fmla="val 695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  <p:txBody>
          <a:bodyPr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~5T more tokens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more STEM, code, synthetic data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32064" y="1731264"/>
            <a:ext cx="3755136" cy="609600"/>
          </a:xfrm>
          <a:prstGeom prst="chevron">
            <a:avLst/>
          </a:prstGeom>
          <a:solidFill>
            <a:srgbClr val="B5761A"/>
          </a:solidFill>
          <a:ln w="12700">
            <a:solidFill>
              <a:srgbClr val="B5761A"/>
            </a:solidFill>
            <a:prstDash val="solid"/>
          </a:ln>
        </p:spPr>
        <p:txBody>
          <a:bodyPr/>
          <a:lstStyle/>
          <a:p>
            <a:endParaRPr lang="en-IN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36864" y="1731264"/>
            <a:ext cx="314553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S3  Long context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2"/>
          <p:cNvSpPr/>
          <p:nvPr/>
        </p:nvSpPr>
        <p:spPr>
          <a:xfrm>
            <a:off x="8132064" y="2438400"/>
            <a:ext cx="3633216" cy="1087225"/>
          </a:xfrm>
          <a:prstGeom prst="roundRect">
            <a:avLst>
              <a:gd name="adj" fmla="val 6957"/>
            </a:avLst>
          </a:prstGeom>
          <a:solidFill>
            <a:srgbClr val="FDF2E2"/>
          </a:solidFill>
          <a:ln w="12700">
            <a:solidFill>
              <a:srgbClr val="FDF2E2"/>
            </a:solidFill>
            <a:prstDash val="solid"/>
          </a:ln>
        </p:spPr>
        <p:txBody>
          <a:bodyPr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context → 32K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75% of docs 16K–32K tokens, 25% 4K–16K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29184" y="3706368"/>
            <a:ext cx="11338560" cy="36576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2000" b="1" dirty="0">
                <a:solidFill>
                  <a:srgbClr val="6D4BA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Where the 36T tokens came from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d0"/>
          <p:cNvSpPr/>
          <p:nvPr/>
        </p:nvSpPr>
        <p:spPr>
          <a:xfrm>
            <a:off x="426720" y="4450080"/>
            <a:ext cx="2682240" cy="14020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2700">
            <a:solidFill>
              <a:srgbClr val="F3EFFA"/>
            </a:solidFill>
            <a:prstDash val="solid"/>
          </a:ln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2000" b="1" dirty="0">
                <a:solidFill>
                  <a:srgbClr val="6D4BA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2× the data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400"/>
              </a:spcAft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36T tokens vs 18T in Qwen2.5; 119 languages vs 29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d1"/>
          <p:cNvSpPr/>
          <p:nvPr/>
        </p:nvSpPr>
        <p:spPr>
          <a:xfrm>
            <a:off x="3316224" y="4450080"/>
            <a:ext cx="2682240" cy="134112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2700">
            <a:solidFill>
              <a:srgbClr val="F3EFFA"/>
            </a:solidFill>
            <a:prstDash val="solid"/>
          </a:ln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2000" b="1" dirty="0">
                <a:solidFill>
                  <a:srgbClr val="6D4BA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PDF extraction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400"/>
              </a:spcAft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Qwen2.5-VL reads PDFs; Qwen2.5 cleans the text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d2"/>
          <p:cNvSpPr/>
          <p:nvPr/>
        </p:nvSpPr>
        <p:spPr>
          <a:xfrm>
            <a:off x="6205728" y="4450080"/>
            <a:ext cx="2682240" cy="14020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2700">
            <a:solidFill>
              <a:srgbClr val="F3EFFA"/>
            </a:solidFill>
            <a:prstDash val="solid"/>
          </a:ln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2000" b="1" dirty="0">
                <a:solidFill>
                  <a:srgbClr val="6D4BA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Synthetic data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400"/>
              </a:spcAft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Qwen2.5-Math / Coder write textbooks, Q&amp;A, code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d3"/>
          <p:cNvSpPr/>
          <p:nvPr/>
        </p:nvSpPr>
        <p:spPr>
          <a:xfrm>
            <a:off x="9095232" y="4450080"/>
            <a:ext cx="2961650" cy="1621536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2700">
            <a:solidFill>
              <a:srgbClr val="F3EFFA"/>
            </a:solidFill>
            <a:prstDash val="solid"/>
          </a:ln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2000" b="1" dirty="0">
                <a:solidFill>
                  <a:srgbClr val="6D4BA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Labelled mixing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400"/>
              </a:spcAft>
            </a:pP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Every document tagged (domain, educational value, safety) to tune the mix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438912" y="6132576"/>
            <a:ext cx="11338560" cy="365760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ctr"/>
          <a:lstStyle/>
          <a:p>
            <a:r>
              <a:rPr lang="en-US" sz="2000" b="1" dirty="0">
                <a:solidFill>
                  <a:srgbClr val="0E6E7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Takeaway: </a:t>
            </a:r>
            <a:r>
              <a:rPr lang="en-US" sz="2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earlier models build the data for the next generation: extracting, writing and labelling it.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pre-training costs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87782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C ≈ 6 · N · D </a:t>
            </a:r>
            <a:r>
              <a:rPr lang="en-US" sz="18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 = active parameters, D = training tokens), real runs need thousands of GPUs for months.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713515"/>
              </p:ext>
            </p:extLst>
          </p:nvPr>
        </p:nvGraphicFramePr>
        <p:xfrm>
          <a:off x="411480" y="1418336"/>
          <a:ext cx="11064240" cy="20066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Size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Tokens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Compute (6·N·D)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Hardware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GPU-hours (GPUs × hours)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Precision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Llama 3.1 405B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405B dense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15.6T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~3.8 × 10²⁵ FLOPs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up to 16K H100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~30.8M H100-hours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BF16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DeepSeek-V3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671B MoE (37B active)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14.8T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~3.3 × 10²⁴ FLOPs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2,048 H800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~2.8M H800-hours (2,048 GPUs × ~57 days)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FP8 mixed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7708392" y="3494256"/>
            <a:ext cx="43708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practice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 3 combined tensor, context, pipeline and data parallelism to use 16K GPUs at once.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DeepSeek-V3 used pipeline, expert and data parallelism, with no tensor parallelism.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38328" y="5758136"/>
            <a:ext cx="11484864" cy="9627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r>
              <a:rPr lang="en-IN" dirty="0"/>
              <a:t>Why DeepSeek-V3 was compute-efficient: Its Mixture-of-Experts architecture activates only about 37B of its 671B parameters per token, reducing per-token computation compared with a dense model of similar total size. FP8 mixed-precision training further improves hardware efficiency.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E5FEAD-F7F4-CFD1-09C2-1C6BF57B59C9}"/>
              </a:ext>
            </a:extLst>
          </p:cNvPr>
          <p:cNvSpPr txBox="1"/>
          <p:nvPr/>
        </p:nvSpPr>
        <p:spPr>
          <a:xfrm>
            <a:off x="112776" y="3553968"/>
            <a:ext cx="71658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the work across GPUs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parallel: </a:t>
            </a:r>
            <a:r>
              <a:rPr lang="en-US" sz="20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GPU group trains on different batches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 parallel: </a:t>
            </a:r>
            <a:r>
              <a:rPr lang="en-US" sz="20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matrix multiply is split across GPUs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parallel: </a:t>
            </a:r>
            <a:r>
              <a:rPr lang="en-US" sz="20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layers are split across GPUs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parallel: </a:t>
            </a:r>
            <a:r>
              <a:rPr lang="en-US" sz="20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long sequence is split across GPUs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parallel: </a:t>
            </a:r>
            <a:r>
              <a:rPr lang="en-US" sz="2000" dirty="0" err="1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MoE</a:t>
            </a:r>
            <a:r>
              <a:rPr lang="en-US" sz="20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experts are placed on different GPUs</a:t>
            </a: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Emergent abilities of LLMs</a:t>
            </a:r>
            <a:endParaRPr lang="en-IN" dirty="0"/>
          </a:p>
        </p:txBody>
      </p:sp>
      <p:sp>
        <p:nvSpPr>
          <p:cNvPr id="3" name="Content Placeholder 1"/>
          <p:cNvSpPr txBox="1">
            <a:spLocks/>
          </p:cNvSpPr>
          <p:nvPr/>
        </p:nvSpPr>
        <p:spPr>
          <a:xfrm>
            <a:off x="118534" y="1295400"/>
            <a:ext cx="118872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 sz="2400"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>
              <a:defRPr sz="2400"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2pPr>
            <a:lvl3pPr marL="914400">
              <a:defRPr sz="2400"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3pPr>
            <a:lvl4pPr marL="1371600">
              <a:defRPr sz="2400"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4pPr>
            <a:lvl5pPr marL="1828800">
              <a:defRPr sz="2400"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i="1" kern="0" dirty="0">
                <a:solidFill>
                  <a:sysClr val="windowText" lastClr="000000"/>
                </a:solidFill>
                <a:latin typeface="+mn-lt"/>
              </a:rPr>
              <a:t>“An ability is emergent if it is not present in smaller models but is present in larger models.”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ysClr val="windowText" lastClr="000000"/>
                </a:solidFill>
                <a:latin typeface="+mn-lt"/>
              </a:rPr>
              <a:t>Emergent abilities cannot be predicted simply by extrapolating the performance of smaller models</a:t>
            </a:r>
          </a:p>
          <a:p>
            <a:pPr marL="342900" marR="97155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ysClr val="windowText" lastClr="000000"/>
                </a:solidFill>
                <a:latin typeface="+mn-lt"/>
              </a:rPr>
              <a:t>Ability is emergent when a model has random performance until a certain scale, after which performance increases to well-above random.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kern="0" dirty="0">
              <a:solidFill>
                <a:sysClr val="windowText" lastClr="000000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kern="0" dirty="0">
              <a:solidFill>
                <a:sysClr val="windowText" lastClr="000000"/>
              </a:solidFill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4583072"/>
            <a:ext cx="6640166" cy="19590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05200" y="2742773"/>
            <a:ext cx="8500534" cy="163121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Schaeffer et.al.. 2023</a:t>
            </a:r>
          </a:p>
          <a:p>
            <a:r>
              <a:rPr lang="en-US" sz="2000" dirty="0"/>
              <a:t>Sharpness: Transitioning seemingly instantaneously from not present to present</a:t>
            </a:r>
          </a:p>
          <a:p>
            <a:r>
              <a:rPr lang="en-US" sz="2000" dirty="0"/>
              <a:t>Unpredictability: Appearing at seemingly unforeseeable model scales</a:t>
            </a:r>
          </a:p>
          <a:p>
            <a:r>
              <a:rPr lang="en-US" sz="2000" b="1" i="1" dirty="0">
                <a:solidFill>
                  <a:srgbClr val="FF0000"/>
                </a:solidFill>
              </a:rPr>
              <a:t>Alleged emergent abilities evaporate with different metrics or with better statistics, and may not be a fundamental property of scaling AI models</a:t>
            </a:r>
            <a:endParaRPr lang="en-IN" sz="2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57385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0093D9-F703-035F-7559-FCC16892594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06400" y="152400"/>
            <a:ext cx="11617960" cy="1143000"/>
          </a:xfrm>
        </p:spPr>
        <p:txBody>
          <a:bodyPr>
            <a:normAutofit/>
          </a:bodyPr>
          <a:lstStyle/>
          <a:p>
            <a:r>
              <a:rPr lang="en-IN" sz="3200" b="0" dirty="0"/>
              <a:t>Emergent Abilities and Evolving Capabilities of LLMs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DC1C6-D1DB-FCF2-960C-9A31730CF9A4}"/>
              </a:ext>
            </a:extLst>
          </p:cNvPr>
          <p:cNvSpPr txBox="1"/>
          <p:nvPr/>
        </p:nvSpPr>
        <p:spPr>
          <a:xfrm>
            <a:off x="63061" y="1415561"/>
            <a:ext cx="1189729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1. In-context learning (GPT-3, 2020)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Given an instruction and/or a few examples in the prompt, the model performs the task by generating a continuation.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No gradient updates occur during inference; the model's weights remain unchanged.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2. Instruction following (instruction tuning)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Fine-tuning on diverse instruction–response examples enables models to follow new instructions, often without requiring examples in the prompt.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This capability depends on training data and post-training methods, not model size alone.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3. Step-by-step reasoning (chain-of-thought prompting)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Prompting models to generate intermediate reasoning steps can improve performance on multi-step tasks, such as mathematical word problems.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Early studies found strong scale dependence, with substantial gains on some tasks appearing around 60–100B parameters. However, this is not a universal threshold.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Modern smaller reasoning models, such as Qwen3-4B and Qwen3-8B, demonstrate that reasoning performance can be improved through targeted training, reinforcement learning and distillation.</a:t>
            </a:r>
          </a:p>
          <a:p>
            <a:pPr marL="457200" indent="-457200">
              <a:buFont typeface="+mj-lt"/>
              <a:buAutoNum type="arabicPeriod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76704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What pre-training produces: the base model</a:t>
            </a:r>
          </a:p>
        </p:txBody>
      </p:sp>
      <p:sp>
        <p:nvSpPr>
          <p:cNvPr id="101" name="Text 1"/>
          <p:cNvSpPr txBox="1"/>
          <p:nvPr/>
        </p:nvSpPr>
        <p:spPr>
          <a:xfrm>
            <a:off x="162769" y="1322832"/>
            <a:ext cx="11922393" cy="3112008"/>
          </a:xfrm>
          <a:prstGeom prst="rect">
            <a:avLst/>
          </a:prstGeom>
          <a:noFill/>
          <a:ln/>
        </p:spPr>
        <p:txBody>
          <a:bodyPr wrap="square" lIns="847" tIns="847" rIns="847" bIns="847" rtlCol="0" anchor="t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Base model learns language, facts and patterns through next-token prediction. Its default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is to continue text, rather than reliably behave like a conversational assistant.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 base model may follow instructions or produce a complete answer in some cases, but it is not specifically optimized for reliable instruction following, conversational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or appropriate stopping.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On Hugging Face, base and instruction-tuned versions are often released separately: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Llama 3.1: Meta-Llama-3.1-8B vs. Meta-Llama-3.1-8B-Instruct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Qwen3: Qwen3-8B-Base vs. Qwen3-8B. The standard Qwen3-8B is the post-trained instruction/reasoning model; Qwen3-8B-Base is the pretrained model.</a:t>
            </a:r>
          </a:p>
        </p:txBody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523141"/>
              </p:ext>
            </p:extLst>
          </p:nvPr>
        </p:nvGraphicFramePr>
        <p:xfrm>
          <a:off x="304801" y="4620768"/>
          <a:ext cx="11338560" cy="1828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Prompt:  "What is the capital of France?"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54864" marT="54864" marB="54864" anchor="ctr">
                    <a:lnL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output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54864" marT="54864" marB="54864" anchor="ctr">
                    <a:lnL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54864" marT="54864" marB="54864" anchor="ctr">
                    <a:lnL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"What is the capital of Germany? What is the capital of Italy? …"  (continues a list of quiz questions)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54864" marT="54864" marB="54864" anchor="ctr">
                    <a:lnL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 model (after post-training)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54864" marT="54864" marB="54864" anchor="ctr">
                    <a:lnL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"The capital of France is Paris."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54864" marT="54864" marB="54864" anchor="ctr">
                    <a:lnL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0" y="1295400"/>
            <a:ext cx="117321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Speech and Language Processing (3rd ed. draft) Dan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Jurafsky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Jan 2026 -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- 7, 8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Build a Large Language Model (From Scratch)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SEBASTIAN RASCHKA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 Ch-2,5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https://aws.amazon.com/blogs/machine-learning/an-introduction-to-preparing-your-own-dataset-for-llm-training/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hlinkClick r:id="rId3"/>
              </a:rPr>
              <a:t>https://huggingface.co/spaces/HuggingFaceTB/smol-training-playbook#introduction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Research Papers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Scaling Laws for Neural Language Models (Kaplan law)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Training Compute-Optimal Large Language Models (Chinchilla)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Emergent Abilities of Large Language Models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Are Emergent Abilities of Large Language Models a Mirage?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BloombergGPT:A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Large Language Model  for Finance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Llama 3 Herd of Models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Qwen3 Technical Report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Survey of Large Language Models (https://arxiv.org/pdf/2303.18223)</a:t>
            </a:r>
          </a:p>
        </p:txBody>
      </p:sp>
    </p:spTree>
    <p:extLst>
      <p:ext uri="{BB962C8B-B14F-4D97-AF65-F5344CB8AC3E}">
        <p14:creationId xmlns:p14="http://schemas.microsoft.com/office/powerpoint/2010/main" val="440815354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3428</Words>
  <Application>Microsoft Office PowerPoint</Application>
  <PresentationFormat>Widescreen</PresentationFormat>
  <Paragraphs>413</Paragraphs>
  <Slides>28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Arial</vt:lpstr>
      <vt:lpstr>Arial MT</vt:lpstr>
      <vt:lpstr>Calibri</vt:lpstr>
      <vt:lpstr>Calibri Light</vt:lpstr>
      <vt:lpstr>Cambria</vt:lpstr>
      <vt:lpstr>Courier New</vt:lpstr>
      <vt:lpstr>Montserrat</vt:lpstr>
      <vt:lpstr>Tahoma</vt:lpstr>
      <vt:lpstr>Times New Roman</vt:lpstr>
      <vt:lpstr>Wingdings</vt:lpstr>
      <vt:lpstr>1_Office Theme</vt:lpstr>
      <vt:lpstr>2_Office Theme</vt:lpstr>
      <vt:lpstr> </vt:lpstr>
      <vt:lpstr>PowerPoint Presentation</vt:lpstr>
      <vt:lpstr>PowerPoint Presentation</vt:lpstr>
      <vt:lpstr>PowerPoint Presentation</vt:lpstr>
      <vt:lpstr>Self-Supervised Learning</vt:lpstr>
      <vt:lpstr>Pre-training objectives</vt:lpstr>
      <vt:lpstr>LLM training</vt:lpstr>
      <vt:lpstr>Modern LLM development and training pipeline</vt:lpstr>
      <vt:lpstr>PowerPoint Presentation</vt:lpstr>
      <vt:lpstr>PowerPoint Presentation</vt:lpstr>
      <vt:lpstr>Pre-training data pipeline</vt:lpstr>
      <vt:lpstr>Data mixture and curriculum</vt:lpstr>
      <vt:lpstr>Why scaling laws?</vt:lpstr>
      <vt:lpstr>Scaling Laws: Kaplan et al., 2020</vt:lpstr>
      <vt:lpstr>Chinchilla scaling (Hoffmann et al., 2022)</vt:lpstr>
      <vt:lpstr>PowerPoint Presentation</vt:lpstr>
      <vt:lpstr>Three ways to get a domain LLM</vt:lpstr>
      <vt:lpstr>Domain adaptation in practice: finance</vt:lpstr>
      <vt:lpstr>Catastrophic forgetting</vt:lpstr>
      <vt:lpstr>LR schedule for continued pre-training</vt:lpstr>
      <vt:lpstr>Modern pre-training recipes at a glance</vt:lpstr>
      <vt:lpstr>Case study: Llama 3 (405B) pre-training</vt:lpstr>
      <vt:lpstr>Case study: Qwen3 pre-training</vt:lpstr>
      <vt:lpstr>PowerPoint Presentation</vt:lpstr>
      <vt:lpstr>PowerPoint Presentation</vt:lpstr>
      <vt:lpstr>PowerPoint Presentation</vt:lpstr>
      <vt:lpstr>What pre-training produces: the base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2026-10-29T12:41:03Z</dcterms:created>
  <dcterms:modified xsi:type="dcterms:W3CDTF">2026-10-29T12:41:10Z</dcterms:modified>
</cp:coreProperties>
</file>