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70" r:id="rId4"/>
    <p:sldId id="440" r:id="rId5"/>
    <p:sldId id="473" r:id="rId6"/>
    <p:sldId id="475" r:id="rId7"/>
    <p:sldId id="476" r:id="rId8"/>
    <p:sldId id="477" r:id="rId9"/>
    <p:sldId id="478" r:id="rId10"/>
    <p:sldId id="479" r:id="rId11"/>
    <p:sldId id="496" r:id="rId12"/>
    <p:sldId id="480" r:id="rId13"/>
    <p:sldId id="481" r:id="rId14"/>
    <p:sldId id="498" r:id="rId15"/>
    <p:sldId id="499" r:id="rId16"/>
    <p:sldId id="500" r:id="rId17"/>
    <p:sldId id="501" r:id="rId18"/>
    <p:sldId id="497" r:id="rId19"/>
    <p:sldId id="483" r:id="rId20"/>
    <p:sldId id="482" r:id="rId21"/>
    <p:sldId id="484" r:id="rId22"/>
    <p:sldId id="502" r:id="rId23"/>
    <p:sldId id="485" r:id="rId24"/>
    <p:sldId id="503" r:id="rId25"/>
    <p:sldId id="486" r:id="rId26"/>
    <p:sldId id="505" r:id="rId27"/>
    <p:sldId id="506" r:id="rId28"/>
    <p:sldId id="509" r:id="rId29"/>
    <p:sldId id="507" r:id="rId30"/>
    <p:sldId id="508" r:id="rId31"/>
    <p:sldId id="510" r:id="rId32"/>
    <p:sldId id="487" r:id="rId33"/>
    <p:sldId id="393" r:id="rId34"/>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6"/>
    <p:restoredTop sz="94667"/>
  </p:normalViewPr>
  <p:slideViewPr>
    <p:cSldViewPr snapToGrid="0">
      <p:cViewPr varScale="1">
        <p:scale>
          <a:sx n="64" d="100"/>
          <a:sy n="64" d="100"/>
        </p:scale>
        <p:origin x="16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27" name="Rectangle 3"/>
          <p:cNvSpPr/>
          <p:nvPr/>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28" name="Rectangle 4"/>
          <p:cNvSpPr/>
          <p:nvPr/>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29" name="Rectangle 5"/>
          <p:cNvSpPr/>
          <p:nvPr/>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30" name="Picture 10" descr="Picture 10"/>
          <p:cNvPicPr>
            <a:picLocks noChangeAspect="1"/>
          </p:cNvPicPr>
          <p:nvPr/>
        </p:nvPicPr>
        <p:blipFill>
          <a:blip r:embed="rId3"/>
          <a:srcRect t="2" b="28592"/>
          <a:stretch>
            <a:fillRect/>
          </a:stretch>
        </p:blipFill>
        <p:spPr>
          <a:xfrm>
            <a:off x="76200" y="3352800"/>
            <a:ext cx="2057400" cy="1979614"/>
          </a:xfrm>
          <a:prstGeom prst="rect">
            <a:avLst/>
          </a:prstGeom>
          <a:ln w="12700">
            <a:miter lim="400000"/>
          </a:ln>
        </p:spPr>
      </p:pic>
      <p:sp>
        <p:nvSpPr>
          <p:cNvPr id="31" name="TextBox 8"/>
          <p:cNvSpPr txBox="1"/>
          <p:nvPr/>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43" name="Rectangle 2"/>
          <p:cNvSpPr/>
          <p:nvPr/>
        </p:nvSpPr>
        <p:spPr>
          <a:xfrm>
            <a:off x="0" y="4281488"/>
            <a:ext cx="9144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44" name="Picture 8" descr="Picture 8"/>
          <p:cNvPicPr>
            <a:picLocks noChangeAspect="1"/>
          </p:cNvPicPr>
          <p:nvPr/>
        </p:nvPicPr>
        <p:blipFill>
          <a:blip r:embed="rId3"/>
          <a:srcRect t="2677" b="2677"/>
          <a:stretch>
            <a:fillRect/>
          </a:stretch>
        </p:blipFill>
        <p:spPr>
          <a:xfrm>
            <a:off x="6629400" y="0"/>
            <a:ext cx="2193925" cy="692150"/>
          </a:xfrm>
          <a:prstGeom prst="rect">
            <a:avLst/>
          </a:prstGeom>
          <a:ln w="12700">
            <a:miter lim="400000"/>
          </a:ln>
        </p:spPr>
      </p:pic>
      <p:sp>
        <p:nvSpPr>
          <p:cNvPr id="45" name="Rectangle 4"/>
          <p:cNvSpPr/>
          <p:nvPr/>
        </p:nvSpPr>
        <p:spPr>
          <a:xfrm>
            <a:off x="2882900" y="677545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46" name="Rectangle 5"/>
          <p:cNvSpPr/>
          <p:nvPr/>
        </p:nvSpPr>
        <p:spPr>
          <a:xfrm>
            <a:off x="-12700" y="677545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47" name="Rectangle 6"/>
          <p:cNvSpPr/>
          <p:nvPr/>
        </p:nvSpPr>
        <p:spPr>
          <a:xfrm>
            <a:off x="5778500" y="677545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sp>
        <p:nvSpPr>
          <p:cNvPr id="48" name="TextBox 7"/>
          <p:cNvSpPr txBox="1"/>
          <p:nvPr/>
        </p:nvSpPr>
        <p:spPr>
          <a:xfrm>
            <a:off x="6903719" y="7620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t>BITS</a:t>
            </a:r>
            <a:r>
              <a:rPr b="0"/>
              <a:t> Pilani</a:t>
            </a:r>
          </a:p>
        </p:txBody>
      </p:sp>
      <p:sp>
        <p:nvSpPr>
          <p:cNvPr id="50" name="Body Level One…"/>
          <p:cNvSpPr txBox="1">
            <a:spLocks noGrp="1"/>
          </p:cNvSpPr>
          <p:nvPr>
            <p:ph type="body" sz="half" idx="1"/>
          </p:nvPr>
        </p:nvSpPr>
        <p:spPr>
          <a:xfrm>
            <a:off x="304800" y="4648200"/>
            <a:ext cx="84582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E9826F6-77EC-4995-BFD7-0318A680BA1A}"/>
              </a:ext>
            </a:extLst>
          </p:cNvPr>
          <p:cNvGrpSpPr/>
          <p:nvPr userDrawn="1"/>
        </p:nvGrpSpPr>
        <p:grpSpPr>
          <a:xfrm>
            <a:off x="0" y="0"/>
            <a:ext cx="9144001" cy="6857673"/>
            <a:chOff x="0" y="0"/>
            <a:chExt cx="9144001" cy="6857673"/>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2"/>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FD8716B-A31C-47B4-A0C5-7548CDD430C6}"/>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5680844E-99C5-4EC4-B180-E92A11973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DF246C4-7681-40D2-BD7F-05D1FC48F1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1C3A5CD5-E5A4-4ACE-A91A-27B1E844C5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9469C547-61A0-45EB-B6FA-25B60785AF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217C0F69-5C4A-46A1-81DF-1368943C8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5F7D3B5F-9C84-4CDD-ADC5-1C7AEA7FFA30}"/>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70822080-A35E-497B-A345-0B4F6B3CEC3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5FF49B6-322B-45EA-ADB7-89C68BCD8C5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5201B7A3-E0CF-49C7-BCF5-6D53993FB45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3C6F3F4-5751-43BB-8C7D-E213EC59F5AA}"/>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3100B7FA-AEEE-4B3E-BF82-561149B2BC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CA1F78BE-6A45-4BEE-B3D7-5B27F29777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4F972F80-0475-4E37-81F3-DF25FE0B49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0C8BCD8D-488C-4254-8236-C54B886306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2EDFD120-14DA-495A-8AED-AED69AF682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B2740D71-E14A-4547-9EF5-592B9A01A999}"/>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E9AFB7EB-F4A0-4F61-B3FC-95170197BC58}"/>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0A56C53E-F093-4235-B0C3-8FDF84D95BFF}"/>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B0F0EE30-1431-48B8-8A47-F3CED9AB29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D5745CB-06AA-4B81-957F-FB40813E1114}"/>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9CF6619D-D89D-4695-84F2-4D14B9CE5C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F684C8C-B74B-40AF-ABA0-D163472572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347B43F-FF3F-4A48-9060-6D5ED0C6A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E002E591-4F7B-48A9-9F72-9E4DE09C2B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09B02342-AE14-4FD7-923C-6D9B53B916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12F6725C-53D2-4236-87F9-62DF3413A481}"/>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D53E0125-E6C8-4170-8576-A8B945924E8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BF71A74-AAB4-4ED8-9AC1-98341ED06B55}"/>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AF9A04AC-78E1-4BBC-9A65-F911836357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91D93-81E9-4E44-BA3B-BFC4DB61B9B1}"/>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A03074E5-C395-4142-B82C-55575CC375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5043B723-FDC1-4C80-B36E-65A0302A4A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5DB4FDD8-D8D7-4A39-973E-FF204CF26F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276FF869-530C-4BCB-92FE-054992EB1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D919A7FA-FDD4-4C10-97CC-BCD6F27C1D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CCCFF274-1225-4563-806D-A565D4704B4E}"/>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F4752845-A425-4626-8999-478B6153E307}"/>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E2DF6F5B-D493-4810-B293-745C2BA1A0FC}"/>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09623608-3D09-45A2-8F67-52AC08DC49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600200"/>
            <a:ext cx="5111750"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199" y="1600200"/>
            <a:ext cx="3008315" cy="4525963"/>
          </a:xfrm>
          <a:prstGeom prst="rect">
            <a:avLst/>
          </a:prstGeom>
        </p:spPr>
        <p:txBody>
          <a:bodyPr>
            <a:normAutofit/>
          </a:body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635ADB2-6EA8-4BAD-8DAD-0182A2D9B5D3}"/>
              </a:ext>
            </a:extLst>
          </p:cNvPr>
          <p:cNvGrpSpPr/>
          <p:nvPr userDrawn="1"/>
        </p:nvGrpSpPr>
        <p:grpSpPr>
          <a:xfrm>
            <a:off x="-59470" y="-641099"/>
            <a:ext cx="9267429" cy="8253818"/>
            <a:chOff x="-59470" y="-641099"/>
            <a:chExt cx="9267429" cy="8253818"/>
          </a:xfrm>
        </p:grpSpPr>
        <p:pic>
          <p:nvPicPr>
            <p:cNvPr id="77" name="Graphic 76">
              <a:extLst>
                <a:ext uri="{FF2B5EF4-FFF2-40B4-BE49-F238E27FC236}">
                  <a16:creationId xmlns:a16="http://schemas.microsoft.com/office/drawing/2014/main" id="{A2BB439D-C20C-4C61-883B-5D07B84E6E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id="{A2344A81-D7C5-4E75-BD95-2C31857749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id="{493B14BD-1E4B-4DAF-8B9A-008ACC84DB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id="{1017A1EE-D786-4AD9-8114-7031497F17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id="{5EB74B49-6A5D-4E90-A8EF-F1A27B22DD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id="{80B25D4E-B9E2-4A64-A8A8-6B92913B4C6C}"/>
                </a:ext>
              </a:extLst>
            </p:cNvPr>
            <p:cNvGrpSpPr/>
            <p:nvPr userDrawn="1"/>
          </p:nvGrpSpPr>
          <p:grpSpPr>
            <a:xfrm>
              <a:off x="0" y="0"/>
              <a:ext cx="9144001" cy="6857673"/>
              <a:chOff x="0" y="0"/>
              <a:chExt cx="9144001" cy="6857673"/>
            </a:xfrm>
          </p:grpSpPr>
          <p:grpSp>
            <p:nvGrpSpPr>
              <p:cNvPr id="84" name="Group 6">
                <a:extLst>
                  <a:ext uri="{FF2B5EF4-FFF2-40B4-BE49-F238E27FC236}">
                    <a16:creationId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2" name="Rectangle 7">
                  <a:extLst>
                    <a:ext uri="{FF2B5EF4-FFF2-40B4-BE49-F238E27FC236}">
                      <a16:creationId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3" name="Rectangle 8">
                  <a:extLst>
                    <a:ext uri="{FF2B5EF4-FFF2-40B4-BE49-F238E27FC236}">
                      <a16:creationId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85" name="Group 10">
                <a:extLst>
                  <a:ext uri="{FF2B5EF4-FFF2-40B4-BE49-F238E27FC236}">
                    <a16:creationId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9" name="Rectangle 11">
                  <a:extLst>
                    <a:ext uri="{FF2B5EF4-FFF2-40B4-BE49-F238E27FC236}">
                      <a16:creationId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0" name="Rectangle 12">
                  <a:extLst>
                    <a:ext uri="{FF2B5EF4-FFF2-40B4-BE49-F238E27FC236}">
                      <a16:creationId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86" name="Picture 14" descr="Picture 14">
                <a:extLst>
                  <a:ext uri="{FF2B5EF4-FFF2-40B4-BE49-F238E27FC236}">
                    <a16:creationId xmlns:a16="http://schemas.microsoft.com/office/drawing/2014/main" id="{F8C276B3-EE15-4980-9AC5-AF2F16814A5D}"/>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id="{D133DA9B-065F-4040-94C1-D75BBB8A8147}"/>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83" name="Graphic 82">
              <a:extLst>
                <a:ext uri="{FF2B5EF4-FFF2-40B4-BE49-F238E27FC236}">
                  <a16:creationId xmlns:a16="http://schemas.microsoft.com/office/drawing/2014/main" id="{DD930F25-DAB1-4FE7-A1F6-75A37FD151B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83BBAD0-43A5-4D32-8FC9-062F956D4D42}"/>
              </a:ext>
            </a:extLst>
          </p:cNvPr>
          <p:cNvGrpSpPr/>
          <p:nvPr userDrawn="1"/>
        </p:nvGrpSpPr>
        <p:grpSpPr>
          <a:xfrm>
            <a:off x="-59470" y="-641099"/>
            <a:ext cx="9267429" cy="8253818"/>
            <a:chOff x="-59470" y="-641099"/>
            <a:chExt cx="9267429" cy="8253818"/>
          </a:xfrm>
        </p:grpSpPr>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id="{1C9D4848-2B9E-4B8D-B630-AD31B3520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id="{635F0174-0096-461B-8212-566B0011E8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itle 4"/>
          <p:cNvSpPr txBox="1">
            <a:spLocks noGrp="1"/>
          </p:cNvSpPr>
          <p:nvPr>
            <p:ph type="title"/>
          </p:nvPr>
        </p:nvSpPr>
        <p:spPr>
          <a:prstGeom prst="rect">
            <a:avLst/>
          </a:prstGeom>
        </p:spPr>
        <p:txBody>
          <a:bodyPr/>
          <a:lstStyle>
            <a:lvl1pPr>
              <a:defRPr spc="-200"/>
            </a:lvl1pPr>
          </a:lstStyle>
          <a:p>
            <a:pPr algn="r"/>
            <a:r>
              <a:rPr lang="en-US" dirty="0"/>
              <a:t>Software Engineering for Machine Learning</a:t>
            </a:r>
            <a:endParaRPr dirty="0"/>
          </a:p>
        </p:txBody>
      </p:sp>
      <p:sp>
        <p:nvSpPr>
          <p:cNvPr id="351" name="Content Placeholder 5"/>
          <p:cNvSpPr txBox="1">
            <a:spLocks noGrp="1"/>
          </p:cNvSpPr>
          <p:nvPr>
            <p:ph type="body" sz="quarter" idx="1"/>
          </p:nvPr>
        </p:nvSpPr>
        <p:spPr>
          <a:prstGeom prst="rect">
            <a:avLst/>
          </a:prstGeom>
        </p:spPr>
        <p:txBody>
          <a:bodyPr/>
          <a:lstStyle/>
          <a:p>
            <a:pPr defTabSz="886968">
              <a:lnSpc>
                <a:spcPts val="1700"/>
              </a:lnSpc>
              <a:defRPr sz="1746"/>
            </a:pPr>
            <a:r>
              <a:rPr lang="en-US" dirty="0"/>
              <a:t>Dr. Shreyas Rao</a:t>
            </a:r>
          </a:p>
          <a:p>
            <a:pPr defTabSz="886968">
              <a:lnSpc>
                <a:spcPts val="1700"/>
              </a:lnSpc>
              <a:defRPr sz="1746"/>
            </a:pPr>
            <a:r>
              <a:rPr lang="en-US" dirty="0"/>
              <a:t>Associate Professor, Dept. of CSIS, BITS-Pilani</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p:cNvSpPr txBox="1">
            <a:spLocks noGrp="1"/>
          </p:cNvSpPr>
          <p:nvPr>
            <p:ph type="body" sz="half" idx="1"/>
          </p:nvPr>
        </p:nvSpPr>
        <p:spPr>
          <a:prstGeom prst="rect">
            <a:avLst/>
          </a:prstGeom>
        </p:spPr>
        <p:txBody>
          <a:bodyPr/>
          <a:lstStyle/>
          <a:p>
            <a:pPr algn="ctr" eaLnBrk="1" hangingPunct="1">
              <a:spcBef>
                <a:spcPct val="0"/>
              </a:spcBef>
              <a:defRPr/>
            </a:pPr>
            <a:r>
              <a:rPr lang="en-IN" dirty="0"/>
              <a:t>AIMLCZG546</a:t>
            </a:r>
          </a:p>
          <a:p>
            <a:pPr algn="ctr" eaLnBrk="1" hangingPunct="1">
              <a:spcBef>
                <a:spcPct val="0"/>
              </a:spcBef>
              <a:defRPr/>
            </a:pPr>
            <a:r>
              <a:rPr lang="en-US" dirty="0">
                <a:latin typeface="Arial" charset="0"/>
                <a:cs typeface="Arial" charset="0"/>
              </a:rPr>
              <a:t>Lecture No. 6</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6777E-7F24-2F80-37F1-AE03AA184534}"/>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CB6742C3-5633-26B2-D5E5-F6A7FA5B7BE7}"/>
              </a:ext>
            </a:extLst>
          </p:cNvPr>
          <p:cNvSpPr txBox="1">
            <a:spLocks noGrp="1"/>
          </p:cNvSpPr>
          <p:nvPr>
            <p:ph type="body" idx="1"/>
          </p:nvPr>
        </p:nvSpPr>
        <p:spPr>
          <a:xfrm>
            <a:off x="304800" y="1493837"/>
            <a:ext cx="8229600" cy="4525964"/>
          </a:xfrm>
          <a:prstGeom prst="rect">
            <a:avLst/>
          </a:prstGeom>
        </p:spPr>
        <p:txBody>
          <a:bodyPr anchor="t"/>
          <a:lstStyle>
            <a:lvl1pPr indent="-342900">
              <a:lnSpc>
                <a:spcPct val="100000"/>
              </a:lnSpc>
              <a:spcBef>
                <a:spcPts val="500"/>
              </a:spcBef>
              <a:defRPr sz="2400" b="0" spc="0">
                <a:latin typeface="Open Sans"/>
                <a:ea typeface="Open Sans"/>
                <a:cs typeface="Open Sans"/>
                <a:sym typeface="Open Sans"/>
              </a:defRPr>
            </a:lvl1pPr>
          </a:lstStyle>
          <a:p>
            <a:pPr lvl="0">
              <a:buFont typeface="Wingdings" panose="05000000000000000000" pitchFamily="2" charset="2"/>
              <a:buChar char="Ø"/>
            </a:pPr>
            <a:r>
              <a:rPr lang="en-IN" dirty="0"/>
              <a:t>Architectural Patterns for ML Systems</a:t>
            </a:r>
          </a:p>
          <a:p>
            <a:pPr lvl="1">
              <a:buFont typeface="Wingdings" panose="05000000000000000000" pitchFamily="2" charset="2"/>
              <a:buChar char="Ø"/>
            </a:pPr>
            <a:r>
              <a:rPr lang="en-US" sz="2400" b="0" spc="0" dirty="0">
                <a:latin typeface="Open Sans"/>
                <a:ea typeface="Open Sans"/>
                <a:cs typeface="Open Sans"/>
                <a:sym typeface="Open Sans"/>
              </a:rPr>
              <a:t>Event-driven Architecture </a:t>
            </a:r>
          </a:p>
          <a:p>
            <a:pPr marL="0" indent="0"/>
            <a:endParaRPr lang="en-IN" dirty="0"/>
          </a:p>
          <a:p>
            <a:pPr>
              <a:buFont typeface="Wingdings" panose="05000000000000000000" pitchFamily="2" charset="2"/>
              <a:buChar char="Ø"/>
            </a:pPr>
            <a:r>
              <a:rPr lang="en-IN" dirty="0"/>
              <a:t>Design Patterns for ML Systems</a:t>
            </a:r>
          </a:p>
          <a:p>
            <a:pPr lvl="1">
              <a:buFont typeface="Wingdings" panose="05000000000000000000" pitchFamily="2" charset="2"/>
              <a:buChar char="Ø"/>
            </a:pPr>
            <a:r>
              <a:rPr lang="en-US" sz="2400" b="0" spc="0" dirty="0">
                <a:latin typeface="Open Sans"/>
                <a:ea typeface="Open Sans"/>
                <a:cs typeface="Open Sans"/>
                <a:sym typeface="Open Sans"/>
              </a:rPr>
              <a:t>Model Registry Pattern</a:t>
            </a:r>
          </a:p>
          <a:p>
            <a:pPr lvl="1">
              <a:buFont typeface="Wingdings" panose="05000000000000000000" pitchFamily="2" charset="2"/>
              <a:buChar char="Ø"/>
            </a:pPr>
            <a:r>
              <a:rPr lang="en-US" sz="2400" b="0" spc="0" dirty="0">
                <a:latin typeface="Open Sans"/>
                <a:ea typeface="Open Sans"/>
                <a:cs typeface="Open Sans"/>
              </a:rPr>
              <a:t>Batch vs Real-Time Serving Pattern</a:t>
            </a:r>
            <a:endParaRPr lang="en-US" sz="2400" b="0" spc="0" dirty="0">
              <a:latin typeface="Open Sans"/>
              <a:ea typeface="Open Sans"/>
              <a:cs typeface="Open Sans"/>
              <a:sym typeface="Open Sans"/>
            </a:endParaRPr>
          </a:p>
          <a:p>
            <a:pPr>
              <a:buFont typeface="Wingdings" panose="05000000000000000000" pitchFamily="2" charset="2"/>
              <a:buChar char="Ø"/>
            </a:pPr>
            <a:endParaRPr lang="en-US" dirty="0"/>
          </a:p>
          <a:p>
            <a:pPr lvl="0">
              <a:buFont typeface="Wingdings" panose="05000000000000000000" pitchFamily="2" charset="2"/>
              <a:buChar char="Ø"/>
            </a:pPr>
            <a:endParaRPr lang="en-US" dirty="0"/>
          </a:p>
          <a:p>
            <a:pPr lvl="1">
              <a:buFont typeface="Wingdings" panose="05000000000000000000" pitchFamily="2" charset="2"/>
              <a:buChar char="Ø"/>
            </a:pPr>
            <a:endParaRPr lang="en-US" sz="2400" b="0" spc="0" dirty="0">
              <a:latin typeface="Open Sans"/>
              <a:ea typeface="Open Sans"/>
              <a:cs typeface="Open Sans"/>
              <a:sym typeface="Open Sans"/>
            </a:endParaRPr>
          </a:p>
          <a:p>
            <a:pPr marL="457200" lvl="1" indent="0">
              <a:buNone/>
            </a:pPr>
            <a:endParaRPr lang="en-US" dirty="0"/>
          </a:p>
          <a:p>
            <a:pPr>
              <a:buFont typeface="Wingdings" panose="05000000000000000000" pitchFamily="2" charset="2"/>
              <a:buChar char="Ø"/>
            </a:pPr>
            <a:endParaRPr lang="en-US"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93543123-5753-E4CD-59B8-FDBFF39FDCA3}"/>
              </a:ext>
            </a:extLst>
          </p:cNvPr>
          <p:cNvSpPr txBox="1"/>
          <p:nvPr/>
        </p:nvSpPr>
        <p:spPr>
          <a:xfrm>
            <a:off x="350519"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Agenda</a:t>
            </a:r>
          </a:p>
        </p:txBody>
      </p:sp>
    </p:spTree>
    <p:extLst>
      <p:ext uri="{BB962C8B-B14F-4D97-AF65-F5344CB8AC3E}">
        <p14:creationId xmlns:p14="http://schemas.microsoft.com/office/powerpoint/2010/main" val="168923741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68691-F644-3268-3161-6EDC28EDAE06}"/>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00866AB0-5283-AA5F-B623-A92C3AF8BABA}"/>
              </a:ext>
            </a:extLst>
          </p:cNvPr>
          <p:cNvSpPr txBox="1">
            <a:spLocks noGrp="1"/>
          </p:cNvSpPr>
          <p:nvPr>
            <p:ph type="body" sz="half" idx="1"/>
          </p:nvPr>
        </p:nvSpPr>
        <p:spPr>
          <a:prstGeom prst="rect">
            <a:avLst/>
          </a:prstGeom>
        </p:spPr>
        <p:txBody>
          <a:bodyPr/>
          <a:lstStyle/>
          <a:p>
            <a:pPr algn="ctr">
              <a:spcBef>
                <a:spcPct val="0"/>
              </a:spcBef>
              <a:defRPr/>
            </a:pPr>
            <a:r>
              <a:rPr lang="en-US" dirty="0"/>
              <a:t>Event Driven Architecture</a:t>
            </a:r>
            <a:endParaRPr lang="en-US" dirty="0">
              <a:latin typeface="Arial" charset="0"/>
              <a:cs typeface="Arial" charset="0"/>
            </a:endParaRPr>
          </a:p>
        </p:txBody>
      </p:sp>
    </p:spTree>
    <p:extLst>
      <p:ext uri="{BB962C8B-B14F-4D97-AF65-F5344CB8AC3E}">
        <p14:creationId xmlns:p14="http://schemas.microsoft.com/office/powerpoint/2010/main" val="244205041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F1939-1B49-A6D8-1844-6DBA739E2582}"/>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C07A3835-9572-EEBB-7571-C6C409D98EC8}"/>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Context</a:t>
            </a:r>
          </a:p>
          <a:p>
            <a:pPr marL="0" indent="0" algn="just">
              <a:lnSpc>
                <a:spcPct val="150000"/>
              </a:lnSpc>
              <a:spcBef>
                <a:spcPts val="0"/>
              </a:spcBef>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You are designing a complex software system that needs to handle various asynchronous events, messages, and notifications. These events could be triggered by user actions, external systems, or internal processes. Your goal is to create a system that can efficiently process and respond to these events in a scalable and decoupled manner.</a:t>
            </a:r>
          </a:p>
          <a:p>
            <a:pPr marL="0" indent="0"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Problem</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Asynchronous Communication</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Your system needs to support asynchronous communication to handle events that occur at different times and are not tightly coupled to each other.</a:t>
            </a:r>
          </a:p>
          <a:p>
            <a:pPr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Decoupling</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You want to ensure that different parts of the system can communicate without being tightly coupled, allowing for independent development, scalability, and maintenance.</a:t>
            </a:r>
          </a:p>
          <a:p>
            <a:pPr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Scalability</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The system must be able to scale horizontally to handle an increasing volume of events without adding complexity or bottlenecks.</a:t>
            </a:r>
          </a:p>
          <a:p>
            <a:pPr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Reliability</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You need to ensure that events are reliably delivered and processed, even if components or services go offline temporarily.</a:t>
            </a:r>
          </a:p>
        </p:txBody>
      </p:sp>
      <p:sp>
        <p:nvSpPr>
          <p:cNvPr id="356" name="Content Placeholder 4">
            <a:extLst>
              <a:ext uri="{FF2B5EF4-FFF2-40B4-BE49-F238E27FC236}">
                <a16:creationId xmlns:a16="http://schemas.microsoft.com/office/drawing/2014/main" id="{9F832830-ABBA-6125-FF04-8104C45CB967}"/>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Event Driven Architecture</a:t>
            </a:r>
          </a:p>
        </p:txBody>
      </p:sp>
    </p:spTree>
    <p:extLst>
      <p:ext uri="{BB962C8B-B14F-4D97-AF65-F5344CB8AC3E}">
        <p14:creationId xmlns:p14="http://schemas.microsoft.com/office/powerpoint/2010/main" val="428451375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508D-1D19-057C-3BCB-4C5BE2477F14}"/>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05206E4-D7C5-9224-72F6-2020910F99D8}"/>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Solution</a:t>
            </a:r>
          </a:p>
          <a:p>
            <a:pPr marL="0" indent="0" algn="just">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A. Publish-Subscribe Model</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just">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Publishers</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Components or services that generate events publish them to an event bus or message broker.</a:t>
            </a:r>
          </a:p>
          <a:p>
            <a:pPr algn="just">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Subscribers</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Components or services interested in specific types of events subscribe to the event bus. They receive notifications when relevant events occur.</a:t>
            </a:r>
          </a:p>
          <a:p>
            <a:pPr marL="0" indent="0" algn="just">
              <a:lnSpc>
                <a:spcPct val="150000"/>
              </a:lnSpc>
              <a:spcBef>
                <a:spcPts val="0"/>
              </a:spcBef>
            </a:pPr>
            <a:endPar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50000"/>
              </a:lnSpc>
            </a:pPr>
            <a:r>
              <a:rPr lang="en-US" sz="1600" b="1" dirty="0">
                <a:latin typeface="Microsoft Sans Serif" panose="020B0604020202020204" pitchFamily="34" charset="0"/>
                <a:ea typeface="Microsoft Sans Serif" panose="020B0604020202020204" pitchFamily="34" charset="0"/>
                <a:cs typeface="Microsoft Sans Serif" panose="020B0604020202020204" pitchFamily="34" charset="0"/>
              </a:rPr>
              <a:t>B. Message Brokers</a:t>
            </a:r>
            <a:r>
              <a:rPr lang="en-US" sz="1600" dirty="0">
                <a:latin typeface="Microsoft Sans Serif" panose="020B0604020202020204" pitchFamily="34" charset="0"/>
                <a:ea typeface="Microsoft Sans Serif" panose="020B0604020202020204" pitchFamily="34" charset="0"/>
                <a:cs typeface="Microsoft Sans Serif" panose="020B0604020202020204" pitchFamily="34" charset="0"/>
              </a:rPr>
              <a:t>: Message brokers, such as Apache Kafka, RabbitMQ, or cloud-based services like Amazon SQS or Azure Service Bus, play a crucial role in event-driven architectures. They ensure reliable event delivery, message queuing, and event persistence.</a:t>
            </a:r>
          </a:p>
        </p:txBody>
      </p:sp>
      <p:sp>
        <p:nvSpPr>
          <p:cNvPr id="356" name="Content Placeholder 4">
            <a:extLst>
              <a:ext uri="{FF2B5EF4-FFF2-40B4-BE49-F238E27FC236}">
                <a16:creationId xmlns:a16="http://schemas.microsoft.com/office/drawing/2014/main" id="{E1358644-99A8-AE8A-97B6-073F9F342711}"/>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Event Driven Architecture</a:t>
            </a:r>
          </a:p>
        </p:txBody>
      </p:sp>
    </p:spTree>
    <p:extLst>
      <p:ext uri="{BB962C8B-B14F-4D97-AF65-F5344CB8AC3E}">
        <p14:creationId xmlns:p14="http://schemas.microsoft.com/office/powerpoint/2010/main" val="249483768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1B8C-00A4-319C-CD9F-9151F96256D2}"/>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4D66C19-7A42-1FFB-D11D-C6D7F6B94A50}"/>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Event Driven Architecture</a:t>
            </a:r>
          </a:p>
        </p:txBody>
      </p:sp>
      <p:pic>
        <p:nvPicPr>
          <p:cNvPr id="4" name="Picture 2">
            <a:extLst>
              <a:ext uri="{FF2B5EF4-FFF2-40B4-BE49-F238E27FC236}">
                <a16:creationId xmlns:a16="http://schemas.microsoft.com/office/drawing/2014/main" id="{CD69AA7B-235D-6A9E-BF55-479D41B54C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617" y="1981200"/>
            <a:ext cx="8213725" cy="2590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14D597-66EE-327C-1A9F-00A4117E2883}"/>
              </a:ext>
            </a:extLst>
          </p:cNvPr>
          <p:cNvSpPr txBox="1"/>
          <p:nvPr/>
        </p:nvSpPr>
        <p:spPr>
          <a:xfrm>
            <a:off x="533400" y="4595191"/>
            <a:ext cx="2133600" cy="646331"/>
          </a:xfrm>
          <a:prstGeom prst="rect">
            <a:avLst/>
          </a:prstGeom>
          <a:noFill/>
        </p:spPr>
        <p:txBody>
          <a:bodyPr wrap="square" rtlCol="0">
            <a:spAutoFit/>
          </a:bodyPr>
          <a:lstStyle/>
          <a:p>
            <a:r>
              <a:rPr lang="en-US" b="1" dirty="0"/>
              <a:t>Producers or Publishers</a:t>
            </a:r>
          </a:p>
        </p:txBody>
      </p:sp>
      <p:sp>
        <p:nvSpPr>
          <p:cNvPr id="6" name="Rectangle 5">
            <a:extLst>
              <a:ext uri="{FF2B5EF4-FFF2-40B4-BE49-F238E27FC236}">
                <a16:creationId xmlns:a16="http://schemas.microsoft.com/office/drawing/2014/main" id="{269AA521-4F4E-087D-F7B1-6F5886955184}"/>
              </a:ext>
            </a:extLst>
          </p:cNvPr>
          <p:cNvSpPr/>
          <p:nvPr/>
        </p:nvSpPr>
        <p:spPr>
          <a:xfrm>
            <a:off x="7010400" y="4633969"/>
            <a:ext cx="1813317" cy="646331"/>
          </a:xfrm>
          <a:prstGeom prst="rect">
            <a:avLst/>
          </a:prstGeom>
        </p:spPr>
        <p:txBody>
          <a:bodyPr wrap="none">
            <a:spAutoFit/>
          </a:bodyPr>
          <a:lstStyle/>
          <a:p>
            <a:r>
              <a:rPr lang="en-US" b="1" dirty="0"/>
              <a:t>Consumers or </a:t>
            </a:r>
          </a:p>
          <a:p>
            <a:r>
              <a:rPr lang="en-US" b="1" dirty="0"/>
              <a:t>Subscribers</a:t>
            </a:r>
            <a:endParaRPr lang="en-IN" b="1" dirty="0"/>
          </a:p>
        </p:txBody>
      </p:sp>
    </p:spTree>
    <p:extLst>
      <p:ext uri="{BB962C8B-B14F-4D97-AF65-F5344CB8AC3E}">
        <p14:creationId xmlns:p14="http://schemas.microsoft.com/office/powerpoint/2010/main" val="57530201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3F2DE-729A-2213-C703-87BB790BAA2C}"/>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8A41E5CE-FA8F-9130-7016-323761F1759B}"/>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a:t>Implementation -- Demo</a:t>
            </a:r>
            <a:endParaRPr lang="en-US" sz="3000" dirty="0"/>
          </a:p>
          <a:p>
            <a:pPr hangingPunct="1">
              <a:defRPr/>
            </a:pPr>
            <a:r>
              <a:rPr lang="en-US" sz="3000" dirty="0"/>
              <a:t>[Modified version of Microservices]</a:t>
            </a:r>
          </a:p>
        </p:txBody>
      </p:sp>
      <p:pic>
        <p:nvPicPr>
          <p:cNvPr id="11" name="Picture 10">
            <a:extLst>
              <a:ext uri="{FF2B5EF4-FFF2-40B4-BE49-F238E27FC236}">
                <a16:creationId xmlns:a16="http://schemas.microsoft.com/office/drawing/2014/main" id="{7D26F248-358A-59C5-2C10-9BF7C2810148}"/>
              </a:ext>
            </a:extLst>
          </p:cNvPr>
          <p:cNvPicPr>
            <a:picLocks noChangeAspect="1"/>
          </p:cNvPicPr>
          <p:nvPr/>
        </p:nvPicPr>
        <p:blipFill>
          <a:blip r:embed="rId2"/>
          <a:stretch>
            <a:fillRect/>
          </a:stretch>
        </p:blipFill>
        <p:spPr>
          <a:xfrm>
            <a:off x="155647" y="1490272"/>
            <a:ext cx="7789140" cy="4869502"/>
          </a:xfrm>
          <a:prstGeom prst="rect">
            <a:avLst/>
          </a:prstGeom>
        </p:spPr>
      </p:pic>
    </p:spTree>
    <p:extLst>
      <p:ext uri="{BB962C8B-B14F-4D97-AF65-F5344CB8AC3E}">
        <p14:creationId xmlns:p14="http://schemas.microsoft.com/office/powerpoint/2010/main" val="59561651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27349-71D5-FF8E-9A75-BC6E8CC794D3}"/>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9DDF4B19-3FE4-21A6-C78C-3DD65B627273}"/>
              </a:ext>
            </a:extLst>
          </p:cNvPr>
          <p:cNvSpPr txBox="1">
            <a:spLocks noGrp="1"/>
          </p:cNvSpPr>
          <p:nvPr>
            <p:ph type="body" sz="half" idx="1"/>
          </p:nvPr>
        </p:nvSpPr>
        <p:spPr>
          <a:prstGeom prst="rect">
            <a:avLst/>
          </a:prstGeom>
        </p:spPr>
        <p:txBody>
          <a:bodyPr/>
          <a:lstStyle/>
          <a:p>
            <a:pPr algn="ctr">
              <a:spcBef>
                <a:spcPct val="0"/>
              </a:spcBef>
              <a:defRPr/>
            </a:pPr>
            <a:r>
              <a:rPr lang="en-US" dirty="0"/>
              <a:t>Design Patterns for ML Systems</a:t>
            </a:r>
            <a:endParaRPr lang="en-US" dirty="0">
              <a:latin typeface="Arial" charset="0"/>
              <a:cs typeface="Arial" charset="0"/>
            </a:endParaRPr>
          </a:p>
        </p:txBody>
      </p:sp>
    </p:spTree>
    <p:extLst>
      <p:ext uri="{BB962C8B-B14F-4D97-AF65-F5344CB8AC3E}">
        <p14:creationId xmlns:p14="http://schemas.microsoft.com/office/powerpoint/2010/main" val="29186211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1F1C1-92CB-C923-E899-6B9046B968D9}"/>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367F4143-DFF5-0F41-40DF-2A50D6666281}"/>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Design patterns for Machine Learning (ML) systems are established best practices that solve recurring challenges in data preparation, model training, and production serving.</a:t>
            </a:r>
          </a:p>
          <a:p>
            <a:pPr marL="0" indent="0" algn="just">
              <a:lnSpc>
                <a:spcPct val="150000"/>
              </a:lnSpc>
              <a:spcBef>
                <a:spcPts val="0"/>
              </a:spcBef>
            </a:pPr>
            <a:endPar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87B86C56-0280-74F4-C1BC-880CB54BE90E}"/>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Design Patterns for ML Systems</a:t>
            </a:r>
          </a:p>
        </p:txBody>
      </p:sp>
    </p:spTree>
    <p:extLst>
      <p:ext uri="{BB962C8B-B14F-4D97-AF65-F5344CB8AC3E}">
        <p14:creationId xmlns:p14="http://schemas.microsoft.com/office/powerpoint/2010/main" val="269413418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43141-D31F-A2FA-7F17-7B8EBB58591B}"/>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10A1FEA3-A50F-77DE-9141-DE1BC945A63E}"/>
              </a:ext>
            </a:extLst>
          </p:cNvPr>
          <p:cNvSpPr txBox="1">
            <a:spLocks noGrp="1"/>
          </p:cNvSpPr>
          <p:nvPr>
            <p:ph type="body" sz="half" idx="1"/>
          </p:nvPr>
        </p:nvSpPr>
        <p:spPr>
          <a:prstGeom prst="rect">
            <a:avLst/>
          </a:prstGeom>
        </p:spPr>
        <p:txBody>
          <a:bodyPr/>
          <a:lstStyle/>
          <a:p>
            <a:pPr algn="ctr">
              <a:spcBef>
                <a:spcPct val="0"/>
              </a:spcBef>
              <a:defRPr/>
            </a:pPr>
            <a:r>
              <a:rPr lang="en-US" dirty="0"/>
              <a:t>Model Registry Pattern</a:t>
            </a:r>
            <a:endParaRPr lang="en-US" dirty="0">
              <a:latin typeface="Arial" charset="0"/>
              <a:cs typeface="Arial" charset="0"/>
            </a:endParaRPr>
          </a:p>
        </p:txBody>
      </p:sp>
    </p:spTree>
    <p:extLst>
      <p:ext uri="{BB962C8B-B14F-4D97-AF65-F5344CB8AC3E}">
        <p14:creationId xmlns:p14="http://schemas.microsoft.com/office/powerpoint/2010/main" val="93489068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41A98-5F2A-2B0D-FAA0-3A374F60E029}"/>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F2B6AAFC-AE68-3A88-9DD4-CC8225AE110C}"/>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2200" b="1" dirty="0">
                <a:latin typeface="Microsoft Sans Serif" panose="020B0604020202020204" pitchFamily="34" charset="0"/>
                <a:ea typeface="Microsoft Sans Serif" panose="020B0604020202020204" pitchFamily="34" charset="0"/>
                <a:cs typeface="Microsoft Sans Serif" panose="020B0604020202020204" pitchFamily="34" charset="0"/>
              </a:rPr>
              <a:t>Software Engineering</a:t>
            </a:r>
          </a:p>
          <a:p>
            <a:pPr marL="0" indent="0" algn="just">
              <a:lnSpc>
                <a:spcPct val="150000"/>
              </a:lnSpc>
              <a:spcBef>
                <a:spcPts val="0"/>
              </a:spcBef>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“A creational design pattern acting as a central hub to dynamically register, locate, and retrieve class instances or services”</a:t>
            </a:r>
          </a:p>
          <a:p>
            <a:pPr marL="0" indent="0" algn="just">
              <a:lnSpc>
                <a:spcPct val="150000"/>
              </a:lnSpc>
              <a:spcBef>
                <a:spcPts val="0"/>
              </a:spcBef>
            </a:pPr>
            <a:endParaRPr lang="en-US" sz="22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50000"/>
              </a:lnSpc>
              <a:spcBef>
                <a:spcPts val="0"/>
              </a:spcBef>
            </a:pPr>
            <a:r>
              <a:rPr lang="en-US" sz="2200" b="1" dirty="0">
                <a:latin typeface="Microsoft Sans Serif" panose="020B0604020202020204" pitchFamily="34" charset="0"/>
                <a:ea typeface="Microsoft Sans Serif" panose="020B0604020202020204" pitchFamily="34" charset="0"/>
                <a:cs typeface="Microsoft Sans Serif" panose="020B0604020202020204" pitchFamily="34" charset="0"/>
              </a:rPr>
              <a:t>Machine Learning</a:t>
            </a:r>
          </a:p>
          <a:p>
            <a:pPr marL="0" indent="0" algn="just">
              <a:lnSpc>
                <a:spcPct val="150000"/>
              </a:lnSpc>
              <a:spcBef>
                <a:spcPts val="0"/>
              </a:spcBef>
            </a:pPr>
            <a:r>
              <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rPr>
              <a:t>“A centralized repository that tracks, versions, manages, and governs machine learning models throughout their lifecycle”</a:t>
            </a:r>
          </a:p>
        </p:txBody>
      </p:sp>
      <p:sp>
        <p:nvSpPr>
          <p:cNvPr id="356" name="Content Placeholder 4">
            <a:extLst>
              <a:ext uri="{FF2B5EF4-FFF2-40B4-BE49-F238E27FC236}">
                <a16:creationId xmlns:a16="http://schemas.microsoft.com/office/drawing/2014/main" id="{558107C3-D3EA-3167-3244-D313A2C5531D}"/>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Registry Pattern</a:t>
            </a:r>
          </a:p>
        </p:txBody>
      </p:sp>
    </p:spTree>
    <p:extLst>
      <p:ext uri="{BB962C8B-B14F-4D97-AF65-F5344CB8AC3E}">
        <p14:creationId xmlns:p14="http://schemas.microsoft.com/office/powerpoint/2010/main" val="125179159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573BF-E65A-D8C8-F675-9B4420ACAB55}"/>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19DE89CA-F073-00DE-2112-82963C88EC9B}"/>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Repository (The Storage)</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A repository (or "repo") is the central digital storage location for your project’s files and their entire history.</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Local Repository: Stored on your own machine for individual work.</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Remote Repository: Hosted on a server (like GitHub, GitLab, or Bitbucket) so teams can collaborate and share changes.</a:t>
            </a:r>
          </a:p>
          <a:p>
            <a:pPr marL="285750" indent="-285750" algn="just">
              <a:lnSpc>
                <a:spcPct val="150000"/>
              </a:lnSpc>
              <a:spcBef>
                <a:spcPts val="0"/>
              </a:spcBef>
              <a:buFont typeface="Arial" panose="020B0604020202020204" pitchFamily="34" charset="0"/>
              <a:buChar char="•"/>
            </a:pPr>
            <a:r>
              <a:rPr lang="en-US" sz="1800" dirty="0"/>
              <a:t>ML Repository / Model Repository: Stores ML artifacts such as models, datasets, experiment logs, and metadata using tools like </a:t>
            </a:r>
            <a:r>
              <a:rPr lang="en-US" sz="1800" dirty="0" err="1"/>
              <a:t>MLflow</a:t>
            </a:r>
            <a:r>
              <a:rPr lang="en-US" sz="1800" dirty="0"/>
              <a:t>, DVC, or Weights &amp; Biases.</a:t>
            </a:r>
            <a:endPar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Function: It doesn't just store current files; it keeps every previous version as a "snapshot"</a:t>
            </a:r>
          </a:p>
        </p:txBody>
      </p:sp>
      <p:sp>
        <p:nvSpPr>
          <p:cNvPr id="356" name="Content Placeholder 4">
            <a:extLst>
              <a:ext uri="{FF2B5EF4-FFF2-40B4-BE49-F238E27FC236}">
                <a16:creationId xmlns:a16="http://schemas.microsoft.com/office/drawing/2014/main" id="{835934F2-CADB-D04F-5B28-F80875D1602D}"/>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dirty="0"/>
              <a:t>Common Terms</a:t>
            </a:r>
            <a:endParaRPr lang="en-US" sz="3000" dirty="0"/>
          </a:p>
        </p:txBody>
      </p:sp>
    </p:spTree>
    <p:extLst>
      <p:ext uri="{BB962C8B-B14F-4D97-AF65-F5344CB8AC3E}">
        <p14:creationId xmlns:p14="http://schemas.microsoft.com/office/powerpoint/2010/main" val="421397983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4CEA2-BB98-B873-B604-0C314CE97E1B}"/>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5ACD2AF-9A5C-A75E-306E-4933C9B91143}"/>
              </a:ext>
            </a:extLst>
          </p:cNvPr>
          <p:cNvSpPr txBox="1">
            <a:spLocks noGrp="1"/>
          </p:cNvSpPr>
          <p:nvPr>
            <p:ph type="body" idx="1"/>
          </p:nvPr>
        </p:nvSpPr>
        <p:spPr>
          <a:xfrm>
            <a:off x="304799" y="1493837"/>
            <a:ext cx="8539397" cy="1143000"/>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Definition</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Version control is a system that records changes to a file or set of files over time so that you can recall specific versions later</a:t>
            </a:r>
          </a:p>
          <a:p>
            <a:pPr marL="0" indent="0" algn="just">
              <a:lnSpc>
                <a:spcPct val="150000"/>
              </a:lnSpc>
              <a:spcBef>
                <a:spcPts val="0"/>
              </a:spcBef>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The history of version control tools can be divided into </a:t>
            </a: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three generations</a:t>
            </a:r>
          </a:p>
        </p:txBody>
      </p:sp>
      <p:sp>
        <p:nvSpPr>
          <p:cNvPr id="356" name="Content Placeholder 4">
            <a:extLst>
              <a:ext uri="{FF2B5EF4-FFF2-40B4-BE49-F238E27FC236}">
                <a16:creationId xmlns:a16="http://schemas.microsoft.com/office/drawing/2014/main" id="{6C32BE1A-91AD-F804-2521-35B2029847B2}"/>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Evolution of  Version Control</a:t>
            </a:r>
          </a:p>
        </p:txBody>
      </p:sp>
      <p:graphicFrame>
        <p:nvGraphicFramePr>
          <p:cNvPr id="2" name="Table 1">
            <a:extLst>
              <a:ext uri="{FF2B5EF4-FFF2-40B4-BE49-F238E27FC236}">
                <a16:creationId xmlns:a16="http://schemas.microsoft.com/office/drawing/2014/main" id="{6322C539-287F-C0C0-2D21-E1904770C9F2}"/>
              </a:ext>
            </a:extLst>
          </p:cNvPr>
          <p:cNvGraphicFramePr>
            <a:graphicFrameLocks noGrp="1"/>
          </p:cNvGraphicFramePr>
          <p:nvPr/>
        </p:nvGraphicFramePr>
        <p:xfrm>
          <a:off x="304799" y="2835274"/>
          <a:ext cx="8229600" cy="3108892"/>
        </p:xfrm>
        <a:graphic>
          <a:graphicData uri="http://schemas.openxmlformats.org/drawingml/2006/table">
            <a:tbl>
              <a:tblPr firstRow="1" bandRow="1">
                <a:tableStyleId>{BDBED569-4797-4DF1-A0F4-6AAB3CD982D8}</a:tableStyleId>
              </a:tblPr>
              <a:tblGrid>
                <a:gridCol w="2209800">
                  <a:extLst>
                    <a:ext uri="{9D8B030D-6E8A-4147-A177-3AD203B41FA5}">
                      <a16:colId xmlns:a16="http://schemas.microsoft.com/office/drawing/2014/main" val="3977324587"/>
                    </a:ext>
                  </a:extLst>
                </a:gridCol>
                <a:gridCol w="1906619">
                  <a:extLst>
                    <a:ext uri="{9D8B030D-6E8A-4147-A177-3AD203B41FA5}">
                      <a16:colId xmlns:a16="http://schemas.microsoft.com/office/drawing/2014/main" val="645826306"/>
                    </a:ext>
                  </a:extLst>
                </a:gridCol>
                <a:gridCol w="1779525">
                  <a:extLst>
                    <a:ext uri="{9D8B030D-6E8A-4147-A177-3AD203B41FA5}">
                      <a16:colId xmlns:a16="http://schemas.microsoft.com/office/drawing/2014/main" val="2730104962"/>
                    </a:ext>
                  </a:extLst>
                </a:gridCol>
                <a:gridCol w="2333656">
                  <a:extLst>
                    <a:ext uri="{9D8B030D-6E8A-4147-A177-3AD203B41FA5}">
                      <a16:colId xmlns:a16="http://schemas.microsoft.com/office/drawing/2014/main" val="1130792967"/>
                    </a:ext>
                  </a:extLst>
                </a:gridCol>
              </a:tblGrid>
              <a:tr h="365748">
                <a:tc>
                  <a:txBody>
                    <a:bodyPr/>
                    <a:lstStyle/>
                    <a:p>
                      <a:pPr algn="l"/>
                      <a:r>
                        <a:rPr lang="en-US" sz="1700" dirty="0"/>
                        <a:t>Generation</a:t>
                      </a:r>
                    </a:p>
                  </a:txBody>
                  <a:tcPr marT="45714" marB="45714"/>
                </a:tc>
                <a:tc>
                  <a:txBody>
                    <a:bodyPr/>
                    <a:lstStyle/>
                    <a:p>
                      <a:pPr algn="l"/>
                      <a:r>
                        <a:rPr lang="en-US" sz="1700" dirty="0"/>
                        <a:t>Networking</a:t>
                      </a:r>
                    </a:p>
                  </a:txBody>
                  <a:tcPr marT="45714" marB="45714"/>
                </a:tc>
                <a:tc>
                  <a:txBody>
                    <a:bodyPr/>
                    <a:lstStyle/>
                    <a:p>
                      <a:pPr algn="l"/>
                      <a:r>
                        <a:rPr lang="en-US" sz="1700" dirty="0"/>
                        <a:t>Operations</a:t>
                      </a:r>
                    </a:p>
                  </a:txBody>
                  <a:tcPr marT="45714" marB="45714"/>
                </a:tc>
                <a:tc>
                  <a:txBody>
                    <a:bodyPr/>
                    <a:lstStyle/>
                    <a:p>
                      <a:pPr algn="l"/>
                      <a:r>
                        <a:rPr lang="en-US" sz="1700" dirty="0"/>
                        <a:t>Example Tools (VCS)</a:t>
                      </a:r>
                    </a:p>
                  </a:txBody>
                  <a:tcPr marT="45714" marB="45714"/>
                </a:tc>
                <a:extLst>
                  <a:ext uri="{0D108BD9-81ED-4DB2-BD59-A6C34878D82A}">
                    <a16:rowId xmlns:a16="http://schemas.microsoft.com/office/drawing/2014/main" val="2684783459"/>
                  </a:ext>
                </a:extLst>
              </a:tr>
              <a:tr h="640067">
                <a:tc>
                  <a:txBody>
                    <a:bodyPr/>
                    <a:lstStyle/>
                    <a:p>
                      <a:pPr algn="l"/>
                      <a:r>
                        <a:rPr lang="en-US" sz="1700" dirty="0"/>
                        <a:t>First Generation (SD)</a:t>
                      </a:r>
                    </a:p>
                  </a:txBody>
                  <a:tcPr marT="45714" marB="45714"/>
                </a:tc>
                <a:tc>
                  <a:txBody>
                    <a:bodyPr/>
                    <a:lstStyle/>
                    <a:p>
                      <a:pPr algn="l"/>
                      <a:r>
                        <a:rPr lang="en-US" sz="1700" dirty="0"/>
                        <a:t>None</a:t>
                      </a:r>
                    </a:p>
                  </a:txBody>
                  <a:tcPr marT="45714" marB="45714"/>
                </a:tc>
                <a:tc>
                  <a:txBody>
                    <a:bodyPr/>
                    <a:lstStyle/>
                    <a:p>
                      <a:pPr algn="l"/>
                      <a:r>
                        <a:rPr lang="en-US" sz="1700" kern="1200" dirty="0">
                          <a:effectLst/>
                        </a:rPr>
                        <a:t>One file at a time</a:t>
                      </a:r>
                      <a:endParaRPr lang="en-US" sz="1700" dirty="0"/>
                    </a:p>
                  </a:txBody>
                  <a:tcPr marT="45714" marB="45714"/>
                </a:tc>
                <a:tc>
                  <a:txBody>
                    <a:bodyPr/>
                    <a:lstStyle/>
                    <a:p>
                      <a:pPr algn="l"/>
                      <a:r>
                        <a:rPr lang="en-US" sz="1700" kern="1200" dirty="0">
                          <a:effectLst/>
                        </a:rPr>
                        <a:t>RCS, SCCS</a:t>
                      </a:r>
                      <a:endParaRPr lang="en-US" sz="1700" dirty="0"/>
                    </a:p>
                  </a:txBody>
                  <a:tcPr marT="45714" marB="45714"/>
                </a:tc>
                <a:extLst>
                  <a:ext uri="{0D108BD9-81ED-4DB2-BD59-A6C34878D82A}">
                    <a16:rowId xmlns:a16="http://schemas.microsoft.com/office/drawing/2014/main" val="2970580193"/>
                  </a:ext>
                </a:extLst>
              </a:tr>
              <a:tr h="640061">
                <a:tc>
                  <a:txBody>
                    <a:bodyPr/>
                    <a:lstStyle/>
                    <a:p>
                      <a:pPr algn="l"/>
                      <a:r>
                        <a:rPr lang="en-US" sz="1700" dirty="0"/>
                        <a:t>Second Generation</a:t>
                      </a:r>
                    </a:p>
                    <a:p>
                      <a:pPr algn="l"/>
                      <a:r>
                        <a:rPr lang="en-US" sz="1700" dirty="0"/>
                        <a:t>(SD)</a:t>
                      </a:r>
                    </a:p>
                  </a:txBody>
                  <a:tcPr marT="45714" marB="45714"/>
                </a:tc>
                <a:tc>
                  <a:txBody>
                    <a:bodyPr/>
                    <a:lstStyle/>
                    <a:p>
                      <a:pPr algn="l"/>
                      <a:r>
                        <a:rPr lang="en-US" sz="1700" dirty="0"/>
                        <a:t>Centralized</a:t>
                      </a:r>
                    </a:p>
                  </a:txBody>
                  <a:tcPr marT="45714" marB="45714"/>
                </a:tc>
                <a:tc>
                  <a:txBody>
                    <a:bodyPr/>
                    <a:lstStyle/>
                    <a:p>
                      <a:pPr algn="l"/>
                      <a:r>
                        <a:rPr lang="en-US" sz="1700" kern="1200" dirty="0">
                          <a:effectLst/>
                        </a:rPr>
                        <a:t>Multi-file</a:t>
                      </a:r>
                      <a:endParaRPr lang="en-US" sz="1700" dirty="0"/>
                    </a:p>
                  </a:txBody>
                  <a:tcPr marT="45714" marB="45714"/>
                </a:tc>
                <a:tc>
                  <a:txBody>
                    <a:bodyPr/>
                    <a:lstStyle/>
                    <a:p>
                      <a:pPr algn="l"/>
                      <a:r>
                        <a:rPr lang="en-US" sz="1700" dirty="0"/>
                        <a:t>CVS, Subversion</a:t>
                      </a:r>
                    </a:p>
                  </a:txBody>
                  <a:tcPr marT="45714" marB="45714"/>
                </a:tc>
                <a:extLst>
                  <a:ext uri="{0D108BD9-81ED-4DB2-BD59-A6C34878D82A}">
                    <a16:rowId xmlns:a16="http://schemas.microsoft.com/office/drawing/2014/main" val="3021874380"/>
                  </a:ext>
                </a:extLst>
              </a:tr>
              <a:tr h="557573">
                <a:tc>
                  <a:txBody>
                    <a:bodyPr/>
                    <a:lstStyle/>
                    <a:p>
                      <a:pPr algn="l"/>
                      <a:r>
                        <a:rPr lang="en-US" sz="1700" dirty="0"/>
                        <a:t>Third Generation</a:t>
                      </a:r>
                    </a:p>
                    <a:p>
                      <a:pPr algn="l"/>
                      <a:r>
                        <a:rPr lang="en-US" sz="1700" dirty="0"/>
                        <a:t>(SD)</a:t>
                      </a:r>
                    </a:p>
                  </a:txBody>
                  <a:tcPr marT="45714" marB="45714"/>
                </a:tc>
                <a:tc>
                  <a:txBody>
                    <a:bodyPr/>
                    <a:lstStyle/>
                    <a:p>
                      <a:pPr algn="l"/>
                      <a:r>
                        <a:rPr lang="en-US" sz="1700" dirty="0"/>
                        <a:t>Distributed</a:t>
                      </a:r>
                    </a:p>
                  </a:txBody>
                  <a:tcPr marT="45714" marB="45714"/>
                </a:tc>
                <a:tc>
                  <a:txBody>
                    <a:bodyPr/>
                    <a:lstStyle/>
                    <a:p>
                      <a:pPr algn="l"/>
                      <a:r>
                        <a:rPr lang="en-US" sz="1700" kern="1200" dirty="0">
                          <a:effectLst/>
                        </a:rPr>
                        <a:t>Changesets</a:t>
                      </a:r>
                      <a:endParaRPr lang="en-US" sz="1700" dirty="0"/>
                    </a:p>
                  </a:txBody>
                  <a:tcPr marT="45714" marB="45714"/>
                </a:tc>
                <a:tc>
                  <a:txBody>
                    <a:bodyPr/>
                    <a:lstStyle/>
                    <a:p>
                      <a:pPr algn="l"/>
                      <a:r>
                        <a:rPr lang="en-US" sz="1700" dirty="0"/>
                        <a:t>GIT</a:t>
                      </a:r>
                    </a:p>
                  </a:txBody>
                  <a:tcPr marT="45714" marB="45714"/>
                </a:tc>
                <a:extLst>
                  <a:ext uri="{0D108BD9-81ED-4DB2-BD59-A6C34878D82A}">
                    <a16:rowId xmlns:a16="http://schemas.microsoft.com/office/drawing/2014/main" val="506506187"/>
                  </a:ext>
                </a:extLst>
              </a:tr>
              <a:tr h="557573">
                <a:tc>
                  <a:txBody>
                    <a:bodyPr/>
                    <a:lstStyle/>
                    <a:p>
                      <a:pPr algn="l"/>
                      <a:r>
                        <a:rPr lang="en-US" sz="1700" dirty="0"/>
                        <a:t>Third Generation (ML)</a:t>
                      </a:r>
                    </a:p>
                  </a:txBody>
                  <a:tcPr marT="45714" marB="45714"/>
                </a:tc>
                <a:tc>
                  <a:txBody>
                    <a:bodyPr/>
                    <a:lstStyle/>
                    <a:p>
                      <a:pPr algn="l"/>
                      <a:r>
                        <a:rPr lang="en-US" sz="1700" dirty="0"/>
                        <a:t>Distributed + Artifact Tracking</a:t>
                      </a:r>
                    </a:p>
                  </a:txBody>
                  <a:tcPr marT="45714" marB="45714"/>
                </a:tc>
                <a:tc>
                  <a:txBody>
                    <a:bodyPr/>
                    <a:lstStyle/>
                    <a:p>
                      <a:pPr algn="l"/>
                      <a:r>
                        <a:rPr lang="en-US" sz="1700" dirty="0"/>
                        <a:t>Models, Data, Experiments</a:t>
                      </a:r>
                    </a:p>
                  </a:txBody>
                  <a:tcPr marT="45714" marB="45714"/>
                </a:tc>
                <a:tc>
                  <a:txBody>
                    <a:bodyPr/>
                    <a:lstStyle/>
                    <a:p>
                      <a:pPr algn="l"/>
                      <a:r>
                        <a:rPr lang="en-US" sz="1700" dirty="0" err="1"/>
                        <a:t>MLflow</a:t>
                      </a:r>
                      <a:r>
                        <a:rPr lang="en-US" sz="1700" dirty="0"/>
                        <a:t>, DVC, Weights &amp; Biases</a:t>
                      </a:r>
                    </a:p>
                  </a:txBody>
                  <a:tcPr marT="45714" marB="45714"/>
                </a:tc>
                <a:extLst>
                  <a:ext uri="{0D108BD9-81ED-4DB2-BD59-A6C34878D82A}">
                    <a16:rowId xmlns:a16="http://schemas.microsoft.com/office/drawing/2014/main" val="2083114578"/>
                  </a:ext>
                </a:extLst>
              </a:tr>
            </a:tbl>
          </a:graphicData>
        </a:graphic>
      </p:graphicFrame>
      <p:sp>
        <p:nvSpPr>
          <p:cNvPr id="3" name="TextBox 2">
            <a:extLst>
              <a:ext uri="{FF2B5EF4-FFF2-40B4-BE49-F238E27FC236}">
                <a16:creationId xmlns:a16="http://schemas.microsoft.com/office/drawing/2014/main" id="{BDB0629F-041E-659F-228C-584A44BC9AD1}"/>
              </a:ext>
            </a:extLst>
          </p:cNvPr>
          <p:cNvSpPr txBox="1"/>
          <p:nvPr/>
        </p:nvSpPr>
        <p:spPr>
          <a:xfrm>
            <a:off x="304799" y="6112623"/>
            <a:ext cx="696543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Calibri"/>
                <a:ea typeface="Calibri"/>
                <a:cs typeface="Calibri"/>
                <a:sym typeface="Calibri"/>
              </a:rPr>
              <a:t>*Here, SD refers to Software Development and ML to Machine Learning</a:t>
            </a:r>
          </a:p>
        </p:txBody>
      </p:sp>
    </p:spTree>
    <p:extLst>
      <p:ext uri="{BB962C8B-B14F-4D97-AF65-F5344CB8AC3E}">
        <p14:creationId xmlns:p14="http://schemas.microsoft.com/office/powerpoint/2010/main" val="369178410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23C17-E37D-3C0B-80BE-5412ED3C8999}"/>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2BAD7EEF-7A6D-BC56-2EC7-C622D243F53A}"/>
              </a:ext>
            </a:extLst>
          </p:cNvPr>
          <p:cNvSpPr txBox="1">
            <a:spLocks noGrp="1"/>
          </p:cNvSpPr>
          <p:nvPr>
            <p:ph type="body" idx="1"/>
          </p:nvPr>
        </p:nvSpPr>
        <p:spPr>
          <a:xfrm>
            <a:off x="304799" y="1493837"/>
            <a:ext cx="8539397" cy="1143000"/>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Git is a distributed version control system (VCS) that is widely used for tracking changes in source code during software development. </a:t>
            </a:r>
          </a:p>
          <a:p>
            <a:pPr marL="285750" indent="-285750" algn="just">
              <a:lnSpc>
                <a:spcPct val="150000"/>
              </a:lnSpc>
              <a:spcBef>
                <a:spcPts val="0"/>
              </a:spcBef>
              <a:buFont typeface="Arial" panose="020B0604020202020204" pitchFamily="34" charset="0"/>
              <a:buChar char="•"/>
            </a:pP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It allows multiple developers to work on a project simultaneously and keeps track of all modifications made to the codebase over time. </a:t>
            </a:r>
          </a:p>
          <a:p>
            <a:pPr marL="285750" indent="-285750" algn="just">
              <a:lnSpc>
                <a:spcPct val="150000"/>
              </a:lnSpc>
              <a:spcBef>
                <a:spcPts val="0"/>
              </a:spcBef>
              <a:buFont typeface="Arial" panose="020B0604020202020204" pitchFamily="34" charset="0"/>
              <a:buChar char="•"/>
            </a:pP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Git was created by Linus Torvalds, the creator of the Linux operating system, in 2005.</a:t>
            </a:r>
          </a:p>
        </p:txBody>
      </p:sp>
      <p:sp>
        <p:nvSpPr>
          <p:cNvPr id="356" name="Content Placeholder 4">
            <a:extLst>
              <a:ext uri="{FF2B5EF4-FFF2-40B4-BE49-F238E27FC236}">
                <a16:creationId xmlns:a16="http://schemas.microsoft.com/office/drawing/2014/main" id="{D35EC72B-031C-0E1C-FC94-4553AD9CD4D3}"/>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About GIT</a:t>
            </a:r>
          </a:p>
        </p:txBody>
      </p:sp>
    </p:spTree>
    <p:extLst>
      <p:ext uri="{BB962C8B-B14F-4D97-AF65-F5344CB8AC3E}">
        <p14:creationId xmlns:p14="http://schemas.microsoft.com/office/powerpoint/2010/main" val="9418281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7F17-1157-DFDA-E75D-C201EA45C203}"/>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38E4B275-A2C5-ED1E-B529-3A10EE5ECFF5}"/>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Distributed Version Control System (GIT)</a:t>
            </a:r>
          </a:p>
        </p:txBody>
      </p:sp>
      <p:pic>
        <p:nvPicPr>
          <p:cNvPr id="4" name="Picture 2" descr="Centralized vs Distributed Version Control System">
            <a:extLst>
              <a:ext uri="{FF2B5EF4-FFF2-40B4-BE49-F238E27FC236}">
                <a16:creationId xmlns:a16="http://schemas.microsoft.com/office/drawing/2014/main" id="{33D706CB-D29C-D9EE-AC3B-E123302F5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8153400"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205759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9B652-2418-79D6-F359-87CD83BD62C9}"/>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61AF7431-FF3B-6DD5-54FC-1D47F7C44AC2}"/>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Basic GIT Workflow</a:t>
            </a:r>
          </a:p>
        </p:txBody>
      </p:sp>
      <p:pic>
        <p:nvPicPr>
          <p:cNvPr id="2" name="Picture 2" descr="Git, GitHub, &amp; Workflow Fundamentals - DEV Community">
            <a:extLst>
              <a:ext uri="{FF2B5EF4-FFF2-40B4-BE49-F238E27FC236}">
                <a16:creationId xmlns:a16="http://schemas.microsoft.com/office/drawing/2014/main" id="{CF2B5DD4-BA79-B52C-BA64-08514A0EF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84325"/>
            <a:ext cx="6481602" cy="4604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29862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593AD-E9E4-0713-DFA6-7268DD053E59}"/>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5295C4A-4B4D-1186-C077-2BC311E3E4EF}"/>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500" b="1" dirty="0" err="1">
                <a:latin typeface="Microsoft Sans Serif" panose="020B0604020202020204" pitchFamily="34" charset="0"/>
                <a:ea typeface="Microsoft Sans Serif" panose="020B0604020202020204" pitchFamily="34" charset="0"/>
                <a:cs typeface="Microsoft Sans Serif" panose="020B0604020202020204" pitchFamily="34" charset="0"/>
              </a:rPr>
              <a:t>Redhat</a:t>
            </a: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 definition</a:t>
            </a:r>
          </a:p>
          <a:p>
            <a:pPr marL="0" indent="0" algn="just">
              <a:lnSpc>
                <a:spcPct val="150000"/>
              </a:lnSpc>
              <a:spcBef>
                <a:spcPts val="0"/>
              </a:spcBef>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In data science, the model registry serves as the definitive "source of truth" bridging the gap between model experimentation and production serving. It tracks the entire model lineage from development to deployment</a:t>
            </a:r>
          </a:p>
        </p:txBody>
      </p:sp>
      <p:sp>
        <p:nvSpPr>
          <p:cNvPr id="356" name="Content Placeholder 4">
            <a:extLst>
              <a:ext uri="{FF2B5EF4-FFF2-40B4-BE49-F238E27FC236}">
                <a16:creationId xmlns:a16="http://schemas.microsoft.com/office/drawing/2014/main" id="{67ACE854-8D44-44C0-AF92-DBC06395AB98}"/>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dirty="0"/>
              <a:t>Model Registry Pattern (</a:t>
            </a:r>
            <a:r>
              <a:rPr lang="en-US" dirty="0" err="1"/>
              <a:t>MLOps</a:t>
            </a:r>
            <a:r>
              <a:rPr lang="en-US" dirty="0"/>
              <a:t>)</a:t>
            </a:r>
            <a:endParaRPr lang="en-US" sz="3000" dirty="0"/>
          </a:p>
        </p:txBody>
      </p:sp>
    </p:spTree>
    <p:extLst>
      <p:ext uri="{BB962C8B-B14F-4D97-AF65-F5344CB8AC3E}">
        <p14:creationId xmlns:p14="http://schemas.microsoft.com/office/powerpoint/2010/main" val="134121336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0AE60-8D87-6E08-9611-64C85289014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B2D60B00-C6E8-5662-1323-AF8D67D63B3F}"/>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Git versions source code</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ML registry versions ML artifacts</a:t>
            </a:r>
          </a:p>
          <a:p>
            <a:pPr marL="0" indent="0" algn="just">
              <a:lnSpc>
                <a:spcPct val="150000"/>
              </a:lnSpc>
              <a:spcBef>
                <a:spcPts val="0"/>
              </a:spcBef>
            </a:pPr>
            <a:endPar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Git stores</a:t>
            </a: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 source files, documentation., configuration</a:t>
            </a:r>
          </a:p>
          <a:p>
            <a:pPr marL="0" indent="0" algn="just">
              <a:lnSpc>
                <a:spcPct val="150000"/>
              </a:lnSpc>
              <a:spcBef>
                <a:spcPts val="0"/>
              </a:spcBef>
            </a:pPr>
            <a:endPar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50000"/>
              </a:lnSpc>
              <a:spcBef>
                <a:spcPts val="0"/>
              </a:spcBef>
            </a:pPr>
            <a:r>
              <a:rPr lang="en-US" sz="1500" b="1" dirty="0">
                <a:latin typeface="Microsoft Sans Serif" panose="020B0604020202020204" pitchFamily="34" charset="0"/>
                <a:ea typeface="Microsoft Sans Serif" panose="020B0604020202020204" pitchFamily="34" charset="0"/>
                <a:cs typeface="Microsoft Sans Serif" panose="020B0604020202020204" pitchFamily="34" charset="0"/>
              </a:rPr>
              <a:t>ML Registry stores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trained models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model weights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datasets or references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hyperparameters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metrics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experiment logs</a:t>
            </a:r>
          </a:p>
          <a:p>
            <a:pPr marL="285750" indent="-285750" algn="just">
              <a:lnSpc>
                <a:spcPct val="150000"/>
              </a:lnSpc>
              <a:spcBef>
                <a:spcPts val="0"/>
              </a:spcBef>
              <a:buFont typeface="Arial" panose="020B0604020202020204" pitchFamily="34" charset="0"/>
              <a:buChar char="•"/>
            </a:pPr>
            <a:r>
              <a:rPr lang="en-US" sz="1500" dirty="0">
                <a:latin typeface="Microsoft Sans Serif" panose="020B0604020202020204" pitchFamily="34" charset="0"/>
                <a:ea typeface="Microsoft Sans Serif" panose="020B0604020202020204" pitchFamily="34" charset="0"/>
                <a:cs typeface="Microsoft Sans Serif" panose="020B0604020202020204" pitchFamily="34" charset="0"/>
              </a:rPr>
              <a:t>lineage information</a:t>
            </a:r>
          </a:p>
        </p:txBody>
      </p:sp>
      <p:sp>
        <p:nvSpPr>
          <p:cNvPr id="356" name="Content Placeholder 4">
            <a:extLst>
              <a:ext uri="{FF2B5EF4-FFF2-40B4-BE49-F238E27FC236}">
                <a16:creationId xmlns:a16="http://schemas.microsoft.com/office/drawing/2014/main" id="{CD8A2EE7-7964-8F64-9281-7E17629D213E}"/>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Difference between GIT &amp; ML Registry</a:t>
            </a:r>
          </a:p>
        </p:txBody>
      </p:sp>
    </p:spTree>
    <p:extLst>
      <p:ext uri="{BB962C8B-B14F-4D97-AF65-F5344CB8AC3E}">
        <p14:creationId xmlns:p14="http://schemas.microsoft.com/office/powerpoint/2010/main" val="109223174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6BC9E-90D5-B99F-D853-33EB3FAC4980}"/>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5C7A979F-CC68-9712-739F-85296D1241E6}"/>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Model Registry Tools</a:t>
            </a:r>
          </a:p>
        </p:txBody>
      </p:sp>
      <p:pic>
        <p:nvPicPr>
          <p:cNvPr id="1026" name="Picture 2">
            <a:extLst>
              <a:ext uri="{FF2B5EF4-FFF2-40B4-BE49-F238E27FC236}">
                <a16:creationId xmlns:a16="http://schemas.microsoft.com/office/drawing/2014/main" id="{AB8C2F17-F244-1D90-D3C5-D5C930AC8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74" y="1669193"/>
            <a:ext cx="7450111" cy="4162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27499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C9E44-7905-31C7-80E6-180964038FDE}"/>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AF591053-2023-4C00-2B85-D33F73FF46BB}"/>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err="1"/>
              <a:t>MLFlow</a:t>
            </a:r>
            <a:r>
              <a:rPr lang="en-US" sz="3000" dirty="0"/>
              <a:t> Registry</a:t>
            </a:r>
          </a:p>
        </p:txBody>
      </p:sp>
      <p:sp>
        <p:nvSpPr>
          <p:cNvPr id="4" name="Content Placeholder 2">
            <a:extLst>
              <a:ext uri="{FF2B5EF4-FFF2-40B4-BE49-F238E27FC236}">
                <a16:creationId xmlns:a16="http://schemas.microsoft.com/office/drawing/2014/main" id="{D44ACD48-6F37-3EEA-9F8D-F431A6481009}"/>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US" sz="1800" dirty="0" err="1">
                <a:latin typeface="Microsoft Sans Serif" panose="020B0604020202020204" pitchFamily="34" charset="0"/>
                <a:ea typeface="Microsoft Sans Serif" panose="020B0604020202020204" pitchFamily="34" charset="0"/>
                <a:cs typeface="Microsoft Sans Serif" panose="020B0604020202020204" pitchFamily="34" charset="0"/>
              </a:rPr>
              <a:t>MLflow</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Model Registry is a centralized model store, set of APIs and a UI designed to collaboratively manage the full lifecycle of a machine learning model. </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It provides lineage (i.e., which </a:t>
            </a:r>
            <a:r>
              <a:rPr lang="en-US" sz="1800" dirty="0" err="1">
                <a:latin typeface="Microsoft Sans Serif" panose="020B0604020202020204" pitchFamily="34" charset="0"/>
                <a:ea typeface="Microsoft Sans Serif" panose="020B0604020202020204" pitchFamily="34" charset="0"/>
                <a:cs typeface="Microsoft Sans Serif" panose="020B0604020202020204" pitchFamily="34" charset="0"/>
              </a:rPr>
              <a:t>MLflow</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experiment and run produced the model), versioning, aliasing, metadata tagging and annotation support to ensure that you have the full spectrum of information at every stage from development to production deployment.</a:t>
            </a:r>
          </a:p>
        </p:txBody>
      </p:sp>
    </p:spTree>
    <p:extLst>
      <p:ext uri="{BB962C8B-B14F-4D97-AF65-F5344CB8AC3E}">
        <p14:creationId xmlns:p14="http://schemas.microsoft.com/office/powerpoint/2010/main" val="251537298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3BAF0-4D78-05E7-771E-BB2F7DD87212}"/>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23BC8459-5BFB-57AC-795D-861194090D66}"/>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err="1"/>
              <a:t>MLFlow</a:t>
            </a:r>
            <a:r>
              <a:rPr lang="en-US" sz="3000" dirty="0"/>
              <a:t> Registry - Features</a:t>
            </a:r>
          </a:p>
        </p:txBody>
      </p:sp>
      <p:sp>
        <p:nvSpPr>
          <p:cNvPr id="4" name="Content Placeholder 2">
            <a:extLst>
              <a:ext uri="{FF2B5EF4-FFF2-40B4-BE49-F238E27FC236}">
                <a16:creationId xmlns:a16="http://schemas.microsoft.com/office/drawing/2014/main" id="{DA0BBA86-A06B-D66B-F7D8-747BA8CA925D}"/>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Version Control</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Tracks and manages multiple model versions, enabling comparison, rollback, and parallel deployment workflows.</a:t>
            </a:r>
          </a:p>
          <a:p>
            <a:pPr marL="285750" indent="-285750" algn="just">
              <a:lnSpc>
                <a:spcPct val="150000"/>
              </a:lnSpc>
              <a:spcBef>
                <a:spcPts val="0"/>
              </a:spcBef>
              <a:buFont typeface="Arial" panose="020B0604020202020204" pitchFamily="34" charset="0"/>
              <a:buChar char="•"/>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Model Lineage and Traceability</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Links each model version to its training run, data, and parameters for full reproducibility and traceability.</a:t>
            </a:r>
          </a:p>
          <a:p>
            <a:pPr marL="285750" indent="-285750" algn="just">
              <a:lnSpc>
                <a:spcPct val="150000"/>
              </a:lnSpc>
              <a:spcBef>
                <a:spcPts val="0"/>
              </a:spcBef>
              <a:buFont typeface="Arial" panose="020B0604020202020204" pitchFamily="34" charset="0"/>
              <a:buChar char="•"/>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Production-Ready Workflows</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Supports controlled promotion and deployment of models using aliases, tags, and environment-based workflows.</a:t>
            </a:r>
          </a:p>
          <a:p>
            <a:pPr marL="285750" indent="-285750" algn="just">
              <a:lnSpc>
                <a:spcPct val="150000"/>
              </a:lnSpc>
              <a:spcBef>
                <a:spcPts val="0"/>
              </a:spcBef>
              <a:buFont typeface="Arial" panose="020B0604020202020204" pitchFamily="34" charset="0"/>
              <a:buChar char="•"/>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Governance and Compliance</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Provides metadata, access control, and auditability to support enterprise governance and compliance needs.</a:t>
            </a:r>
          </a:p>
        </p:txBody>
      </p:sp>
    </p:spTree>
    <p:extLst>
      <p:ext uri="{BB962C8B-B14F-4D97-AF65-F5344CB8AC3E}">
        <p14:creationId xmlns:p14="http://schemas.microsoft.com/office/powerpoint/2010/main" val="366120205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FA4D5-0A71-8F1B-83EE-3CF2775BC32A}"/>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E9991AEA-DABA-C818-3BA7-0533DDB67D24}"/>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Demo of </a:t>
            </a:r>
            <a:r>
              <a:rPr lang="en-US" sz="3000" dirty="0" err="1"/>
              <a:t>MLFlow</a:t>
            </a:r>
            <a:endParaRPr lang="en-US" sz="3000" dirty="0"/>
          </a:p>
        </p:txBody>
      </p:sp>
      <p:pic>
        <p:nvPicPr>
          <p:cNvPr id="6" name="object 4">
            <a:extLst>
              <a:ext uri="{FF2B5EF4-FFF2-40B4-BE49-F238E27FC236}">
                <a16:creationId xmlns:a16="http://schemas.microsoft.com/office/drawing/2014/main" id="{880F3237-E0A2-86DC-F89E-DB08FB207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6934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C188F40-9DBE-8A88-32B9-5D6FC75D7527}"/>
              </a:ext>
            </a:extLst>
          </p:cNvPr>
          <p:cNvSpPr txBox="1"/>
          <p:nvPr/>
        </p:nvSpPr>
        <p:spPr>
          <a:xfrm>
            <a:off x="266700" y="5410200"/>
            <a:ext cx="8610600" cy="3231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500" dirty="0"/>
              <a:t>https://www.youtube.com/watch?v=HIb0Y_XaR5s&amp;list=PLvvQ7qimTOknFNB1WloA0s-aRXkA9b6Ib&amp;index=6</a:t>
            </a:r>
          </a:p>
        </p:txBody>
      </p:sp>
    </p:spTree>
    <p:extLst>
      <p:ext uri="{BB962C8B-B14F-4D97-AF65-F5344CB8AC3E}">
        <p14:creationId xmlns:p14="http://schemas.microsoft.com/office/powerpoint/2010/main" val="416157313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AB00D-B149-B16B-ED7A-D5707DB6ABEF}"/>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82E3260A-DF0E-90E4-7966-9B2DB368208C}"/>
              </a:ext>
            </a:extLst>
          </p:cNvPr>
          <p:cNvSpPr txBox="1">
            <a:spLocks noGrp="1"/>
          </p:cNvSpPr>
          <p:nvPr>
            <p:ph type="body" sz="half" idx="1"/>
          </p:nvPr>
        </p:nvSpPr>
        <p:spPr>
          <a:prstGeom prst="rect">
            <a:avLst/>
          </a:prstGeom>
        </p:spPr>
        <p:txBody>
          <a:bodyPr/>
          <a:lstStyle/>
          <a:p>
            <a:pPr algn="ctr">
              <a:spcBef>
                <a:spcPct val="0"/>
              </a:spcBef>
              <a:defRPr/>
            </a:pPr>
            <a:r>
              <a:rPr lang="en-US" dirty="0"/>
              <a:t>Batch vs Real-time Serving Pattern</a:t>
            </a:r>
          </a:p>
          <a:p>
            <a:pPr algn="ctr">
              <a:spcBef>
                <a:spcPct val="0"/>
              </a:spcBef>
              <a:defRPr/>
            </a:pPr>
            <a:r>
              <a:rPr lang="en-US" dirty="0">
                <a:latin typeface="Arial" charset="0"/>
                <a:cs typeface="Arial" charset="0"/>
              </a:rPr>
              <a:t>[Deployment pattern]</a:t>
            </a:r>
          </a:p>
        </p:txBody>
      </p:sp>
    </p:spTree>
    <p:extLst>
      <p:ext uri="{BB962C8B-B14F-4D97-AF65-F5344CB8AC3E}">
        <p14:creationId xmlns:p14="http://schemas.microsoft.com/office/powerpoint/2010/main" val="340767648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58A66-9AF3-4B1A-39B4-8DEC6EC567DA}"/>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1BA6C114-8081-3DBF-98A3-7AAA37D1196D}"/>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Batch and real-time serving are two fundamental design patterns for handling and delivering data in software engineering. </a:t>
            </a:r>
          </a:p>
          <a:p>
            <a:pPr marL="285750" indent="-285750" algn="just">
              <a:lnSpc>
                <a:spcPct val="150000"/>
              </a:lnSpc>
              <a:spcBef>
                <a:spcPts val="0"/>
              </a:spcBef>
              <a:buFont typeface="Arial" panose="020B0604020202020204" pitchFamily="34" charset="0"/>
              <a:buChar char="•"/>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They trade off between data freshness and operational complexity.</a:t>
            </a:r>
          </a:p>
        </p:txBody>
      </p:sp>
      <p:sp>
        <p:nvSpPr>
          <p:cNvPr id="356" name="Content Placeholder 4">
            <a:extLst>
              <a:ext uri="{FF2B5EF4-FFF2-40B4-BE49-F238E27FC236}">
                <a16:creationId xmlns:a16="http://schemas.microsoft.com/office/drawing/2014/main" id="{6F144086-FA68-E52E-CB26-E390EF06EC5B}"/>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 Batch vs Real-time Serving</a:t>
            </a:r>
          </a:p>
        </p:txBody>
      </p:sp>
    </p:spTree>
    <p:extLst>
      <p:ext uri="{BB962C8B-B14F-4D97-AF65-F5344CB8AC3E}">
        <p14:creationId xmlns:p14="http://schemas.microsoft.com/office/powerpoint/2010/main" val="45923722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CD568-06B6-8DCA-5617-FDA161081DC0}"/>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BFE3BC4-A768-6010-283C-E84A6A42C925}"/>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Batch prediction, also known as offline prediction, is a process where the model computes predictions for a large set of observations all at once</a:t>
            </a:r>
          </a:p>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Ex: Imagine you want to send a daily promotional email to customers who are most likely to purchase a specific product. There is no need to identify these customers in real-time. Instead, a process can run every night, analyze the day's customer activity, generate a list of target customers, and save that list for the marketing team to use the next morning.</a:t>
            </a:r>
          </a:p>
        </p:txBody>
      </p:sp>
      <p:sp>
        <p:nvSpPr>
          <p:cNvPr id="356" name="Content Placeholder 4">
            <a:extLst>
              <a:ext uri="{FF2B5EF4-FFF2-40B4-BE49-F238E27FC236}">
                <a16:creationId xmlns:a16="http://schemas.microsoft.com/office/drawing/2014/main" id="{873E6894-DD05-AC73-1C8B-D165807EB4F1}"/>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 </a:t>
            </a:r>
          </a:p>
          <a:p>
            <a:pPr hangingPunct="1">
              <a:defRPr/>
            </a:pPr>
            <a:r>
              <a:rPr lang="en-US" sz="2800" dirty="0"/>
              <a:t>Batch Prediction: Processing Data in Bulk</a:t>
            </a:r>
          </a:p>
          <a:p>
            <a:pPr hangingPunct="1">
              <a:defRPr/>
            </a:pPr>
            <a:endParaRPr lang="en-US" sz="2800" dirty="0"/>
          </a:p>
        </p:txBody>
      </p:sp>
      <p:sp>
        <p:nvSpPr>
          <p:cNvPr id="3" name="TextBox 2">
            <a:extLst>
              <a:ext uri="{FF2B5EF4-FFF2-40B4-BE49-F238E27FC236}">
                <a16:creationId xmlns:a16="http://schemas.microsoft.com/office/drawing/2014/main" id="{6ADD812C-264C-9FFF-3AAC-634D6D46CD6E}"/>
              </a:ext>
            </a:extLst>
          </p:cNvPr>
          <p:cNvSpPr txBox="1"/>
          <p:nvPr/>
        </p:nvSpPr>
        <p:spPr>
          <a:xfrm>
            <a:off x="230223" y="5696635"/>
            <a:ext cx="868355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t>https://apxml.com/courses/introduction-to-mlops/chapter-5-model-deployment-and-serving/deployment-patterns-online-batch</a:t>
            </a:r>
          </a:p>
        </p:txBody>
      </p:sp>
    </p:spTree>
    <p:extLst>
      <p:ext uri="{BB962C8B-B14F-4D97-AF65-F5344CB8AC3E}">
        <p14:creationId xmlns:p14="http://schemas.microsoft.com/office/powerpoint/2010/main" val="36373818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637B2-92FB-C835-3453-5C43F7E414F9}"/>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1B2B7C4-620B-F1C6-89DD-4EBFFE470651}"/>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Batch prediction</a:t>
            </a:r>
          </a:p>
        </p:txBody>
      </p:sp>
      <p:sp>
        <p:nvSpPr>
          <p:cNvPr id="3" name="TextBox 2">
            <a:extLst>
              <a:ext uri="{FF2B5EF4-FFF2-40B4-BE49-F238E27FC236}">
                <a16:creationId xmlns:a16="http://schemas.microsoft.com/office/drawing/2014/main" id="{98580B84-48D5-0334-C680-DDFF70BECA1A}"/>
              </a:ext>
            </a:extLst>
          </p:cNvPr>
          <p:cNvSpPr txBox="1"/>
          <p:nvPr/>
        </p:nvSpPr>
        <p:spPr>
          <a:xfrm>
            <a:off x="230223" y="5696635"/>
            <a:ext cx="868355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t>https://apxml.com/courses/introduction-to-mlops/chapter-5-model-deployment-and-serving/deployment-patterns-online-batch</a:t>
            </a:r>
          </a:p>
        </p:txBody>
      </p:sp>
      <p:pic>
        <p:nvPicPr>
          <p:cNvPr id="8" name="Picture 7">
            <a:extLst>
              <a:ext uri="{FF2B5EF4-FFF2-40B4-BE49-F238E27FC236}">
                <a16:creationId xmlns:a16="http://schemas.microsoft.com/office/drawing/2014/main" id="{D4693594-31E9-69AD-530A-50D5B005999F}"/>
              </a:ext>
            </a:extLst>
          </p:cNvPr>
          <p:cNvPicPr>
            <a:picLocks noChangeAspect="1"/>
          </p:cNvPicPr>
          <p:nvPr/>
        </p:nvPicPr>
        <p:blipFill>
          <a:blip r:embed="rId2"/>
          <a:stretch>
            <a:fillRect/>
          </a:stretch>
        </p:blipFill>
        <p:spPr>
          <a:xfrm>
            <a:off x="230223" y="1633620"/>
            <a:ext cx="8354591" cy="3724795"/>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78062005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FBD58-A6F0-4129-E439-B2CD06103824}"/>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C7B5DD37-55EC-66A1-D4D0-1B76E21075B0}"/>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Batch prediction is suitable when immediate predictions are not a business requirement. </a:t>
            </a:r>
          </a:p>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Common use cases include</a:t>
            </a:r>
          </a:p>
          <a:p>
            <a:pPr algn="just">
              <a:lnSpc>
                <a:spcPct val="150000"/>
              </a:lnSpc>
              <a:spcBef>
                <a:spcPts val="0"/>
              </a:spcBef>
              <a:buFont typeface="+mj-lt"/>
              <a:buAutoNum type="arabicPeriod"/>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Customer Segmentation</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Grouping customers into segments based on their purchasing behavior over the last week.</a:t>
            </a:r>
          </a:p>
          <a:p>
            <a:pPr algn="just">
              <a:lnSpc>
                <a:spcPct val="150000"/>
              </a:lnSpc>
              <a:spcBef>
                <a:spcPts val="0"/>
              </a:spcBef>
              <a:buFont typeface="+mj-lt"/>
              <a:buAutoNum type="arabicPeriod"/>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Product Recommendations in Emails:</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Generating personalized product recommendations to include in a daily newsletter.</a:t>
            </a:r>
          </a:p>
          <a:p>
            <a:pPr algn="just">
              <a:lnSpc>
                <a:spcPct val="150000"/>
              </a:lnSpc>
              <a:spcBef>
                <a:spcPts val="0"/>
              </a:spcBef>
              <a:buFont typeface="+mj-lt"/>
              <a:buAutoNum type="arabicPeriod"/>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Risk Reporting:</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Calculating credit risk scores for all loan applicants at the end of the business day.</a:t>
            </a:r>
          </a:p>
        </p:txBody>
      </p:sp>
      <p:sp>
        <p:nvSpPr>
          <p:cNvPr id="356" name="Content Placeholder 4">
            <a:extLst>
              <a:ext uri="{FF2B5EF4-FFF2-40B4-BE49-F238E27FC236}">
                <a16:creationId xmlns:a16="http://schemas.microsoft.com/office/drawing/2014/main" id="{2105EFFD-5F84-D33B-649A-254D092A4980}"/>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When to use Batch prediction</a:t>
            </a:r>
          </a:p>
        </p:txBody>
      </p:sp>
      <p:sp>
        <p:nvSpPr>
          <p:cNvPr id="3" name="TextBox 2">
            <a:extLst>
              <a:ext uri="{FF2B5EF4-FFF2-40B4-BE49-F238E27FC236}">
                <a16:creationId xmlns:a16="http://schemas.microsoft.com/office/drawing/2014/main" id="{125F32E1-9E20-F091-E769-FA40328CFB2C}"/>
              </a:ext>
            </a:extLst>
          </p:cNvPr>
          <p:cNvSpPr txBox="1"/>
          <p:nvPr/>
        </p:nvSpPr>
        <p:spPr>
          <a:xfrm>
            <a:off x="230223" y="5696635"/>
            <a:ext cx="868355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t>https://apxml.com/courses/introduction-to-mlops/chapter-5-model-deployment-and-serving/deployment-patterns-online-batch</a:t>
            </a:r>
          </a:p>
        </p:txBody>
      </p:sp>
    </p:spTree>
    <p:extLst>
      <p:ext uri="{BB962C8B-B14F-4D97-AF65-F5344CB8AC3E}">
        <p14:creationId xmlns:p14="http://schemas.microsoft.com/office/powerpoint/2010/main" val="24515479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E4E0-E88F-13A8-A46D-AF7E188FE8CC}"/>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7D6C968A-1076-5484-AF44-53AE2A2077BF}"/>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Online prediction, also called real-time or on-demand inference, is designed to provide predictions immediately. In this pattern, the model is deployed as a persistent service, often as a web API, that is always running and waiting for requests.</a:t>
            </a:r>
          </a:p>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Ex: A website must decide whether to approve a credit card transaction. The decision must be made in milliseconds while the customer is waiting at the checkout. An application sends the transaction details to the model's API, and the model must return a "approve" or "deny" prediction almost instantly.</a:t>
            </a:r>
          </a:p>
        </p:txBody>
      </p:sp>
      <p:sp>
        <p:nvSpPr>
          <p:cNvPr id="356" name="Content Placeholder 4">
            <a:extLst>
              <a:ext uri="{FF2B5EF4-FFF2-40B4-BE49-F238E27FC236}">
                <a16:creationId xmlns:a16="http://schemas.microsoft.com/office/drawing/2014/main" id="{8A935CE6-4A06-A856-77BD-BC907728E447}"/>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500" dirty="0"/>
              <a:t>Online Prediction: Serving predictions on demand</a:t>
            </a:r>
          </a:p>
        </p:txBody>
      </p:sp>
      <p:sp>
        <p:nvSpPr>
          <p:cNvPr id="3" name="TextBox 2">
            <a:extLst>
              <a:ext uri="{FF2B5EF4-FFF2-40B4-BE49-F238E27FC236}">
                <a16:creationId xmlns:a16="http://schemas.microsoft.com/office/drawing/2014/main" id="{81AF4E53-5428-8015-3D78-2261AE95789F}"/>
              </a:ext>
            </a:extLst>
          </p:cNvPr>
          <p:cNvSpPr txBox="1"/>
          <p:nvPr/>
        </p:nvSpPr>
        <p:spPr>
          <a:xfrm>
            <a:off x="230223" y="5696635"/>
            <a:ext cx="868355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t>https://apxml.com/courses/introduction-to-mlops/chapter-5-model-deployment-and-serving/deployment-patterns-online-batch</a:t>
            </a:r>
          </a:p>
        </p:txBody>
      </p:sp>
    </p:spTree>
    <p:extLst>
      <p:ext uri="{BB962C8B-B14F-4D97-AF65-F5344CB8AC3E}">
        <p14:creationId xmlns:p14="http://schemas.microsoft.com/office/powerpoint/2010/main" val="257676215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CDCA9-5DE6-A9E4-8445-CE14E25EC126}"/>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1A67421-7219-B6AB-2AB0-D0FD4C6BF6C2}"/>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Realtime prediction</a:t>
            </a:r>
          </a:p>
        </p:txBody>
      </p:sp>
      <p:sp>
        <p:nvSpPr>
          <p:cNvPr id="3" name="TextBox 2">
            <a:extLst>
              <a:ext uri="{FF2B5EF4-FFF2-40B4-BE49-F238E27FC236}">
                <a16:creationId xmlns:a16="http://schemas.microsoft.com/office/drawing/2014/main" id="{E184E175-2697-289C-92DD-34E103763E53}"/>
              </a:ext>
            </a:extLst>
          </p:cNvPr>
          <p:cNvSpPr txBox="1"/>
          <p:nvPr/>
        </p:nvSpPr>
        <p:spPr>
          <a:xfrm>
            <a:off x="230223" y="5696635"/>
            <a:ext cx="868355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t>https://apxml.com/courses/introduction-to-mlops/chapter-5-model-deployment-and-serving/deployment-patterns-online-batch</a:t>
            </a:r>
          </a:p>
        </p:txBody>
      </p:sp>
      <p:pic>
        <p:nvPicPr>
          <p:cNvPr id="4" name="Picture 3">
            <a:extLst>
              <a:ext uri="{FF2B5EF4-FFF2-40B4-BE49-F238E27FC236}">
                <a16:creationId xmlns:a16="http://schemas.microsoft.com/office/drawing/2014/main" id="{FE9033D0-588C-0C2D-2E10-EF346E1C5945}"/>
              </a:ext>
            </a:extLst>
          </p:cNvPr>
          <p:cNvPicPr>
            <a:picLocks noChangeAspect="1"/>
          </p:cNvPicPr>
          <p:nvPr/>
        </p:nvPicPr>
        <p:blipFill>
          <a:blip r:embed="rId2"/>
          <a:stretch>
            <a:fillRect/>
          </a:stretch>
        </p:blipFill>
        <p:spPr>
          <a:xfrm>
            <a:off x="280388" y="1685681"/>
            <a:ext cx="8583223" cy="3486637"/>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29541345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769C6-5C6C-EB5C-AB06-84D5C12179D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8BEB6F78-DC6E-C1E1-44B6-3CCA87281A68}"/>
              </a:ext>
            </a:extLst>
          </p:cNvPr>
          <p:cNvSpPr txBox="1">
            <a:spLocks noGrp="1"/>
          </p:cNvSpPr>
          <p:nvPr>
            <p:ph type="body" idx="1"/>
          </p:nvPr>
        </p:nvSpPr>
        <p:spPr>
          <a:xfrm>
            <a:off x="304799" y="1493837"/>
            <a:ext cx="853939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Online prediction is necessary whenever an application requires an immediate response to function correctly. </a:t>
            </a:r>
          </a:p>
          <a:p>
            <a:pPr marL="0" indent="0" algn="just">
              <a:lnSpc>
                <a:spcPct val="150000"/>
              </a:lnSpc>
              <a:spcBef>
                <a:spcPts val="0"/>
              </a:spcBef>
            </a:pP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Common examples include</a:t>
            </a:r>
          </a:p>
          <a:p>
            <a:pPr algn="just">
              <a:lnSpc>
                <a:spcPct val="150000"/>
              </a:lnSpc>
              <a:spcBef>
                <a:spcPts val="0"/>
              </a:spcBef>
              <a:buFont typeface="+mj-lt"/>
              <a:buAutoNum type="arabicPeriod"/>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Fraud Detection</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Analyzing a transaction in real-time to block it before it is completed.</a:t>
            </a:r>
          </a:p>
          <a:p>
            <a:pPr algn="just">
              <a:lnSpc>
                <a:spcPct val="150000"/>
              </a:lnSpc>
              <a:spcBef>
                <a:spcPts val="0"/>
              </a:spcBef>
              <a:buFont typeface="+mj-lt"/>
              <a:buAutoNum type="arabicPeriod"/>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Dynamic Pricing</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Adjusting the price of a ride-share service based on current supply and demand.</a:t>
            </a:r>
          </a:p>
          <a:p>
            <a:pPr algn="just">
              <a:lnSpc>
                <a:spcPct val="150000"/>
              </a:lnSpc>
              <a:spcBef>
                <a:spcPts val="0"/>
              </a:spcBef>
              <a:buFont typeface="+mj-lt"/>
              <a:buAutoNum type="arabicPeriod"/>
            </a:pPr>
            <a:r>
              <a:rPr lang="en-US" sz="1800" b="1" dirty="0">
                <a:latin typeface="Microsoft Sans Serif" panose="020B0604020202020204" pitchFamily="34" charset="0"/>
                <a:ea typeface="Microsoft Sans Serif" panose="020B0604020202020204" pitchFamily="34" charset="0"/>
                <a:cs typeface="Microsoft Sans Serif" panose="020B0604020202020204" pitchFamily="34" charset="0"/>
              </a:rPr>
              <a:t>Spam Filtering</a:t>
            </a:r>
            <a:r>
              <a:rPr lang="en-US" sz="1800" dirty="0">
                <a:latin typeface="Microsoft Sans Serif" panose="020B0604020202020204" pitchFamily="34" charset="0"/>
                <a:ea typeface="Microsoft Sans Serif" panose="020B0604020202020204" pitchFamily="34" charset="0"/>
                <a:cs typeface="Microsoft Sans Serif" panose="020B0604020202020204" pitchFamily="34" charset="0"/>
              </a:rPr>
              <a:t>: Deciding whether an incoming email is spam before it lands in the user's inbox.</a:t>
            </a:r>
          </a:p>
        </p:txBody>
      </p:sp>
      <p:sp>
        <p:nvSpPr>
          <p:cNvPr id="356" name="Content Placeholder 4">
            <a:extLst>
              <a:ext uri="{FF2B5EF4-FFF2-40B4-BE49-F238E27FC236}">
                <a16:creationId xmlns:a16="http://schemas.microsoft.com/office/drawing/2014/main" id="{C6D33E43-5D80-2BBB-8EAB-C4B808A9DF71}"/>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When to use Realtime prediction</a:t>
            </a:r>
          </a:p>
        </p:txBody>
      </p:sp>
      <p:sp>
        <p:nvSpPr>
          <p:cNvPr id="3" name="TextBox 2">
            <a:extLst>
              <a:ext uri="{FF2B5EF4-FFF2-40B4-BE49-F238E27FC236}">
                <a16:creationId xmlns:a16="http://schemas.microsoft.com/office/drawing/2014/main" id="{67396668-A055-C3EC-1D72-65DE89472154}"/>
              </a:ext>
            </a:extLst>
          </p:cNvPr>
          <p:cNvSpPr txBox="1"/>
          <p:nvPr/>
        </p:nvSpPr>
        <p:spPr>
          <a:xfrm>
            <a:off x="230223" y="5696635"/>
            <a:ext cx="868355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dirty="0"/>
              <a:t>https://apxml.com/courses/introduction-to-mlops/chapter-5-model-deployment-and-serving/deployment-patterns-online-batch</a:t>
            </a:r>
          </a:p>
        </p:txBody>
      </p:sp>
    </p:spTree>
    <p:extLst>
      <p:ext uri="{BB962C8B-B14F-4D97-AF65-F5344CB8AC3E}">
        <p14:creationId xmlns:p14="http://schemas.microsoft.com/office/powerpoint/2010/main" val="385692653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AD9B8-B5B7-0E56-58D3-1EAFBBB06EF1}"/>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31885BB5-269B-D963-2796-4C92B7C7AD3D}"/>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Quick Recap…Batch vs Realtime</a:t>
            </a:r>
          </a:p>
        </p:txBody>
      </p:sp>
      <p:pic>
        <p:nvPicPr>
          <p:cNvPr id="1026" name="Picture 2" descr="Real-Time vs. Batch Predictions in Machine Learning: How They Work, How  They're Deployed, and Where Businesses Use Them | by Pathum Tiranga | Medium">
            <a:extLst>
              <a:ext uri="{FF2B5EF4-FFF2-40B4-BE49-F238E27FC236}">
                <a16:creationId xmlns:a16="http://schemas.microsoft.com/office/drawing/2014/main" id="{77477841-19E4-F941-1F39-8B5B5679C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647" y="1503545"/>
            <a:ext cx="6498066" cy="4792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65072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B218B-4008-1CAD-C722-54E1B8CBE9E1}"/>
            </a:ext>
          </a:extLst>
        </p:cNvPr>
        <p:cNvGrpSpPr/>
        <p:nvPr/>
      </p:nvGrpSpPr>
      <p:grpSpPr>
        <a:xfrm>
          <a:off x="0" y="0"/>
          <a:ext cx="0" cy="0"/>
          <a:chOff x="0" y="0"/>
          <a:chExt cx="0" cy="0"/>
        </a:xfrm>
      </p:grpSpPr>
      <p:pic>
        <p:nvPicPr>
          <p:cNvPr id="2050" name="Picture 2" descr="Thank You Stock Photos, Images and ...">
            <a:extLst>
              <a:ext uri="{FF2B5EF4-FFF2-40B4-BE49-F238E27FC236}">
                <a16:creationId xmlns:a16="http://schemas.microsoft.com/office/drawing/2014/main" id="{2501F4FB-E29C-180C-483D-7E20CE1EE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605" y="2396631"/>
            <a:ext cx="4206146" cy="266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117678"/>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3342</TotalTime>
  <Words>1499</Words>
  <Application>Microsoft Office PowerPoint</Application>
  <PresentationFormat>On-screen Show (4:3)</PresentationFormat>
  <Paragraphs>147</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Microsoft Sans Serif</vt:lpstr>
      <vt:lpstr>Open Sans</vt:lpstr>
      <vt:lpstr>Wingdings</vt:lpstr>
      <vt:lpstr>Office Theme</vt:lpstr>
      <vt:lpstr>Software Engineering for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Shreyas Suresh Rao .</cp:lastModifiedBy>
  <cp:revision>407</cp:revision>
  <dcterms:modified xsi:type="dcterms:W3CDTF">2026-05-27T13:11:21Z</dcterms:modified>
</cp:coreProperties>
</file>