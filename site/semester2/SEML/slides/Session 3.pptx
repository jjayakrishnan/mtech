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70" r:id="rId4"/>
    <p:sldId id="324" r:id="rId5"/>
    <p:sldId id="405" r:id="rId6"/>
    <p:sldId id="394" r:id="rId7"/>
    <p:sldId id="397" r:id="rId8"/>
    <p:sldId id="402" r:id="rId9"/>
    <p:sldId id="398" r:id="rId10"/>
    <p:sldId id="399" r:id="rId11"/>
    <p:sldId id="343" r:id="rId12"/>
    <p:sldId id="325" r:id="rId13"/>
    <p:sldId id="326" r:id="rId14"/>
    <p:sldId id="327" r:id="rId15"/>
    <p:sldId id="328" r:id="rId16"/>
    <p:sldId id="344" r:id="rId17"/>
    <p:sldId id="347" r:id="rId18"/>
    <p:sldId id="345" r:id="rId19"/>
    <p:sldId id="346" r:id="rId20"/>
    <p:sldId id="348" r:id="rId21"/>
    <p:sldId id="349" r:id="rId22"/>
    <p:sldId id="350" r:id="rId23"/>
    <p:sldId id="351" r:id="rId24"/>
    <p:sldId id="329" r:id="rId25"/>
    <p:sldId id="400" r:id="rId26"/>
    <p:sldId id="404" r:id="rId27"/>
    <p:sldId id="403" r:id="rId28"/>
    <p:sldId id="393" r:id="rId29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6"/>
    <p:restoredTop sz="94667"/>
  </p:normalViewPr>
  <p:slideViewPr>
    <p:cSldViewPr snapToGrid="0">
      <p:cViewPr varScale="1">
        <p:scale>
          <a:sx n="64" d="100"/>
          <a:sy n="64" d="100"/>
        </p:scale>
        <p:origin x="16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34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8" name="Shape 34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rial"/>
      </a:defRPr>
    </a:lvl1pPr>
    <a:lvl2pPr indent="228600" latinLnBrk="0">
      <a:defRPr sz="1200">
        <a:latin typeface="+mj-lt"/>
        <a:ea typeface="+mj-ea"/>
        <a:cs typeface="+mj-cs"/>
        <a:sym typeface="Arial"/>
      </a:defRPr>
    </a:lvl2pPr>
    <a:lvl3pPr indent="457200" latinLnBrk="0">
      <a:defRPr sz="1200">
        <a:latin typeface="+mj-lt"/>
        <a:ea typeface="+mj-ea"/>
        <a:cs typeface="+mj-cs"/>
        <a:sym typeface="Arial"/>
      </a:defRPr>
    </a:lvl3pPr>
    <a:lvl4pPr indent="685800" latinLnBrk="0">
      <a:defRPr sz="1200">
        <a:latin typeface="+mj-lt"/>
        <a:ea typeface="+mj-ea"/>
        <a:cs typeface="+mj-cs"/>
        <a:sym typeface="Arial"/>
      </a:defRPr>
    </a:lvl4pPr>
    <a:lvl5pPr indent="914400" latinLnBrk="0">
      <a:defRPr sz="1200">
        <a:latin typeface="+mj-lt"/>
        <a:ea typeface="+mj-ea"/>
        <a:cs typeface="+mj-cs"/>
        <a:sym typeface="Arial"/>
      </a:defRPr>
    </a:lvl5pPr>
    <a:lvl6pPr indent="1143000" latinLnBrk="0">
      <a:defRPr sz="1200">
        <a:latin typeface="+mj-lt"/>
        <a:ea typeface="+mj-ea"/>
        <a:cs typeface="+mj-cs"/>
        <a:sym typeface="Arial"/>
      </a:defRPr>
    </a:lvl6pPr>
    <a:lvl7pPr indent="1371600" latinLnBrk="0">
      <a:defRPr sz="1200">
        <a:latin typeface="+mj-lt"/>
        <a:ea typeface="+mj-ea"/>
        <a:cs typeface="+mj-cs"/>
        <a:sym typeface="Arial"/>
      </a:defRPr>
    </a:lvl7pPr>
    <a:lvl8pPr indent="1600200" latinLnBrk="0">
      <a:defRPr sz="1200">
        <a:latin typeface="+mj-lt"/>
        <a:ea typeface="+mj-ea"/>
        <a:cs typeface="+mj-cs"/>
        <a:sym typeface="Arial"/>
      </a:defRPr>
    </a:lvl8pPr>
    <a:lvl9pPr indent="1828800" latinLnBrk="0">
      <a:defRPr sz="12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F1635D6-F918-E4B0-D8DF-45976B43E5CC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endParaRPr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09FF428-FD03-A3ED-E874-F7399C457B5A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493EE98-E537-385E-2051-74DF0B3608DF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E4627D7-A115-550F-D7B3-42FC43297FF1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" name="Picture 10" descr="Picture 10">
            <a:extLst>
              <a:ext uri="{FF2B5EF4-FFF2-40B4-BE49-F238E27FC236}">
                <a16:creationId xmlns:a16="http://schemas.microsoft.com/office/drawing/2014/main" id="{D695F453-58E4-7D66-AB7F-98878BD646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" b="28592"/>
          <a:stretch>
            <a:fillRect/>
          </a:stretch>
        </p:blipFill>
        <p:spPr>
          <a:xfrm>
            <a:off x="76200" y="3352800"/>
            <a:ext cx="2057400" cy="1979614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Box 8">
            <a:extLst>
              <a:ext uri="{FF2B5EF4-FFF2-40B4-BE49-F238E27FC236}">
                <a16:creationId xmlns:a16="http://schemas.microsoft.com/office/drawing/2014/main" id="{93711A98-B303-E78D-34AC-04374950E07A}"/>
              </a:ext>
            </a:extLst>
          </p:cNvPr>
          <p:cNvSpPr txBox="1"/>
          <p:nvPr userDrawn="1"/>
        </p:nvSpPr>
        <p:spPr>
          <a:xfrm>
            <a:off x="-30481" y="5257800"/>
            <a:ext cx="2118362" cy="498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900" b="1" spc="-15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 dirty="0"/>
              <a:t>BITS</a:t>
            </a:r>
            <a:r>
              <a:rPr b="0" dirty="0"/>
              <a:t> </a:t>
            </a:r>
            <a:r>
              <a:rPr b="0" dirty="0" err="1"/>
              <a:t>Pilani</a:t>
            </a:r>
            <a:endParaRPr b="0" dirty="0"/>
          </a:p>
        </p:txBody>
      </p:sp>
      <p:sp>
        <p:nvSpPr>
          <p:cNvPr id="18" name="Title Text"/>
          <p:cNvSpPr txBox="1">
            <a:spLocks noGrp="1"/>
          </p:cNvSpPr>
          <p:nvPr>
            <p:ph type="title"/>
          </p:nvPr>
        </p:nvSpPr>
        <p:spPr>
          <a:xfrm>
            <a:off x="2667000" y="3898061"/>
            <a:ext cx="6019800" cy="1524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ustom Layou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endParaRPr/>
          </a:p>
        </p:txBody>
      </p:sp>
      <p:sp>
        <p:nvSpPr>
          <p:cNvPr id="27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8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0" name="Picture 10" descr="Picture 10"/>
          <p:cNvPicPr>
            <a:picLocks noChangeAspect="1"/>
          </p:cNvPicPr>
          <p:nvPr/>
        </p:nvPicPr>
        <p:blipFill>
          <a:blip r:embed="rId3"/>
          <a:srcRect t="2" b="28592"/>
          <a:stretch>
            <a:fillRect/>
          </a:stretch>
        </p:blipFill>
        <p:spPr>
          <a:xfrm>
            <a:off x="76200" y="3352800"/>
            <a:ext cx="2057400" cy="1979614"/>
          </a:xfrm>
          <a:prstGeom prst="rect">
            <a:avLst/>
          </a:prstGeom>
          <a:ln w="12700">
            <a:miter lim="400000"/>
          </a:ln>
        </p:spPr>
      </p:pic>
      <p:sp>
        <p:nvSpPr>
          <p:cNvPr id="31" name="TextBox 8"/>
          <p:cNvSpPr txBox="1"/>
          <p:nvPr/>
        </p:nvSpPr>
        <p:spPr>
          <a:xfrm>
            <a:off x="-30481" y="5257800"/>
            <a:ext cx="2118362" cy="498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900" b="1" spc="-15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 dirty="0"/>
              <a:t>BITS</a:t>
            </a:r>
            <a:r>
              <a:rPr b="0" dirty="0"/>
              <a:t> </a:t>
            </a:r>
            <a:r>
              <a:rPr b="0" dirty="0" err="1"/>
              <a:t>Pilani</a:t>
            </a:r>
            <a:endParaRPr b="0" dirty="0"/>
          </a:p>
        </p:txBody>
      </p:sp>
      <p:sp>
        <p:nvSpPr>
          <p:cNvPr id="3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SzTx/>
              <a:buFontTx/>
              <a:buNone/>
              <a:defRPr sz="1800">
                <a:solidFill>
                  <a:srgbClr val="FFFFFF"/>
                </a:solidFill>
              </a:defRPr>
            </a:lvl1pPr>
            <a:lvl2pPr marL="640896" indent="-183696" algn="r">
              <a:lnSpc>
                <a:spcPts val="1800"/>
              </a:lnSpc>
              <a:spcBef>
                <a:spcPts val="0"/>
              </a:spcBef>
              <a:buFontTx/>
              <a:defRPr sz="1800">
                <a:solidFill>
                  <a:srgbClr val="FFFFFF"/>
                </a:solidFill>
              </a:defRPr>
            </a:lvl2pPr>
            <a:lvl3pPr marL="1085850" indent="-171450" algn="r">
              <a:lnSpc>
                <a:spcPts val="1800"/>
              </a:lnSpc>
              <a:spcBef>
                <a:spcPts val="0"/>
              </a:spcBef>
              <a:buFontTx/>
              <a:defRPr sz="1800">
                <a:solidFill>
                  <a:srgbClr val="FFFFFF"/>
                </a:solidFill>
              </a:defRPr>
            </a:lvl3pPr>
            <a:lvl4pPr marL="1577339" indent="-205739" algn="r">
              <a:lnSpc>
                <a:spcPts val="1800"/>
              </a:lnSpc>
              <a:spcBef>
                <a:spcPts val="0"/>
              </a:spcBef>
              <a:buFontTx/>
              <a:defRPr sz="1800">
                <a:solidFill>
                  <a:srgbClr val="FFFFFF"/>
                </a:solidFill>
              </a:defRPr>
            </a:lvl4pPr>
            <a:lvl5pPr marL="2034539" indent="-205739" algn="r">
              <a:lnSpc>
                <a:spcPts val="1800"/>
              </a:lnSpc>
              <a:spcBef>
                <a:spcPts val="0"/>
              </a:spcBef>
              <a:buFontTx/>
              <a:defRPr sz="18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43" name="Rectangle 2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rgbClr val="FFFFFF"/>
          </a:solidFill>
          <a:ln>
            <a:solidFill>
              <a:srgbClr val="4A7EBB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44" name="Picture 8" descr="Picture 8"/>
          <p:cNvPicPr>
            <a:picLocks noChangeAspect="1"/>
          </p:cNvPicPr>
          <p:nvPr/>
        </p:nvPicPr>
        <p:blipFill>
          <a:blip r:embed="rId3"/>
          <a:srcRect t="2677" b="2677"/>
          <a:stretch>
            <a:fillRect/>
          </a:stretch>
        </p:blipFill>
        <p:spPr>
          <a:xfrm>
            <a:off x="6629400" y="0"/>
            <a:ext cx="2193925" cy="692150"/>
          </a:xfrm>
          <a:prstGeom prst="rect">
            <a:avLst/>
          </a:prstGeom>
          <a:ln w="12700">
            <a:miter lim="400000"/>
          </a:ln>
        </p:spPr>
      </p:pic>
      <p:sp>
        <p:nvSpPr>
          <p:cNvPr id="45" name="Rectangle 4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6" name="Rectangle 5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" name="Rectangle 6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" name="TextBox 7"/>
          <p:cNvSpPr txBox="1"/>
          <p:nvPr/>
        </p:nvSpPr>
        <p:spPr>
          <a:xfrm>
            <a:off x="6903719" y="762000"/>
            <a:ext cx="2118362" cy="498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900" b="1" spc="-15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BITS</a:t>
            </a:r>
            <a:r>
              <a:rPr b="0"/>
              <a:t> Pilani</a:t>
            </a:r>
          </a:p>
        </p:txBody>
      </p:sp>
      <p:sp>
        <p:nvSpPr>
          <p:cNvPr id="50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sz="4000" b="1" spc="-150"/>
            </a:lvl1pPr>
            <a:lvl2pPr marL="865414" indent="-408214">
              <a:lnSpc>
                <a:spcPts val="4200"/>
              </a:lnSpc>
              <a:spcBef>
                <a:spcPts val="0"/>
              </a:spcBef>
              <a:buFontTx/>
              <a:defRPr sz="4000" b="1" spc="-150"/>
            </a:lvl2pPr>
            <a:lvl3pPr marL="1295400" indent="-381000">
              <a:lnSpc>
                <a:spcPts val="4200"/>
              </a:lnSpc>
              <a:spcBef>
                <a:spcPts val="0"/>
              </a:spcBef>
              <a:buFontTx/>
              <a:defRPr sz="4000" b="1" spc="-150"/>
            </a:lvl3pPr>
            <a:lvl4pPr marL="1828800" indent="-457200">
              <a:lnSpc>
                <a:spcPts val="4200"/>
              </a:lnSpc>
              <a:spcBef>
                <a:spcPts val="0"/>
              </a:spcBef>
              <a:buFontTx/>
              <a:defRPr sz="4000" b="1" spc="-150"/>
            </a:lvl4pPr>
            <a:lvl5pPr marL="2286000" indent="-457200">
              <a:lnSpc>
                <a:spcPts val="4200"/>
              </a:lnSpc>
              <a:spcBef>
                <a:spcPts val="0"/>
              </a:spcBef>
              <a:buFontTx/>
              <a:defRPr sz="4000" b="1" spc="-1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9E9826F6-77EC-4995-BFD7-0318A680BA1A}"/>
              </a:ext>
            </a:extLst>
          </p:cNvPr>
          <p:cNvGrpSpPr/>
          <p:nvPr userDrawn="1"/>
        </p:nvGrpSpPr>
        <p:grpSpPr>
          <a:xfrm>
            <a:off x="0" y="0"/>
            <a:ext cx="9144001" cy="6857673"/>
            <a:chOff x="0" y="0"/>
            <a:chExt cx="9144001" cy="6857673"/>
          </a:xfrm>
        </p:grpSpPr>
        <p:grpSp>
          <p:nvGrpSpPr>
            <p:cNvPr id="46" name="Group 6">
              <a:extLst>
                <a:ext uri="{FF2B5EF4-FFF2-40B4-BE49-F238E27FC236}">
                  <a16:creationId xmlns:a16="http://schemas.microsoft.com/office/drawing/2014/main" id="{32D72169-E06F-45D8-A5EC-D681EB602EE5}"/>
                </a:ext>
              </a:extLst>
            </p:cNvPr>
            <p:cNvGrpSpPr/>
            <p:nvPr userDrawn="1"/>
          </p:nvGrpSpPr>
          <p:grpSpPr>
            <a:xfrm>
              <a:off x="0" y="1295400"/>
              <a:ext cx="7010401" cy="46038"/>
              <a:chOff x="0" y="0"/>
              <a:chExt cx="7010400" cy="46037"/>
            </a:xfrm>
          </p:grpSpPr>
          <p:sp>
            <p:nvSpPr>
              <p:cNvPr id="53" name="Rectangle 6">
                <a:extLst>
                  <a:ext uri="{FF2B5EF4-FFF2-40B4-BE49-F238E27FC236}">
                    <a16:creationId xmlns:a16="http://schemas.microsoft.com/office/drawing/2014/main" id="{31663E90-6CD3-4B00-A313-2FF6AA636CAA}"/>
                  </a:ext>
                </a:extLst>
              </p:cNvPr>
              <p:cNvSpPr/>
              <p:nvPr/>
            </p:nvSpPr>
            <p:spPr>
              <a:xfrm>
                <a:off x="2362199" y="0"/>
                <a:ext cx="2328865" cy="46038"/>
              </a:xfrm>
              <a:prstGeom prst="rect">
                <a:avLst/>
              </a:prstGeom>
              <a:solidFill>
                <a:srgbClr val="76C2E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54" name="Rectangle 7">
                <a:extLst>
                  <a:ext uri="{FF2B5EF4-FFF2-40B4-BE49-F238E27FC236}">
                    <a16:creationId xmlns:a16="http://schemas.microsoft.com/office/drawing/2014/main" id="{991F866D-51D8-403E-B66D-97E9D9FB560B}"/>
                  </a:ext>
                </a:extLst>
              </p:cNvPr>
              <p:cNvSpPr/>
              <p:nvPr/>
            </p:nvSpPr>
            <p:spPr>
              <a:xfrm>
                <a:off x="-1" y="0"/>
                <a:ext cx="2362201" cy="46038"/>
              </a:xfrm>
              <a:prstGeom prst="rect">
                <a:avLst/>
              </a:prstGeom>
              <a:solidFill>
                <a:srgbClr val="FCB01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55" name="Rectangle 8">
                <a:extLst>
                  <a:ext uri="{FF2B5EF4-FFF2-40B4-BE49-F238E27FC236}">
                    <a16:creationId xmlns:a16="http://schemas.microsoft.com/office/drawing/2014/main" id="{35316865-7F39-4EDA-9213-10248D1FBE99}"/>
                  </a:ext>
                </a:extLst>
              </p:cNvPr>
              <p:cNvSpPr/>
              <p:nvPr/>
            </p:nvSpPr>
            <p:spPr>
              <a:xfrm>
                <a:off x="4681537" y="0"/>
                <a:ext cx="2328864" cy="46038"/>
              </a:xfrm>
              <a:prstGeom prst="rect">
                <a:avLst/>
              </a:prstGeom>
              <a:solidFill>
                <a:srgbClr val="FF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grpSp>
          <p:nvGrpSpPr>
            <p:cNvPr id="47" name="Group 10">
              <a:extLst>
                <a:ext uri="{FF2B5EF4-FFF2-40B4-BE49-F238E27FC236}">
                  <a16:creationId xmlns:a16="http://schemas.microsoft.com/office/drawing/2014/main" id="{2D2DD56F-AE09-49F0-9B99-D2EE701D8FF5}"/>
                </a:ext>
              </a:extLst>
            </p:cNvPr>
            <p:cNvGrpSpPr/>
            <p:nvPr userDrawn="1"/>
          </p:nvGrpSpPr>
          <p:grpSpPr>
            <a:xfrm>
              <a:off x="2133600" y="6553200"/>
              <a:ext cx="7010401" cy="46038"/>
              <a:chOff x="0" y="0"/>
              <a:chExt cx="7010400" cy="46037"/>
            </a:xfrm>
          </p:grpSpPr>
          <p:sp>
            <p:nvSpPr>
              <p:cNvPr id="50" name="Rectangle 10">
                <a:extLst>
                  <a:ext uri="{FF2B5EF4-FFF2-40B4-BE49-F238E27FC236}">
                    <a16:creationId xmlns:a16="http://schemas.microsoft.com/office/drawing/2014/main" id="{DAEB79DB-4734-4234-BD44-76AB6ABA11F2}"/>
                  </a:ext>
                </a:extLst>
              </p:cNvPr>
              <p:cNvSpPr/>
              <p:nvPr/>
            </p:nvSpPr>
            <p:spPr>
              <a:xfrm>
                <a:off x="2362199" y="0"/>
                <a:ext cx="2328865" cy="46038"/>
              </a:xfrm>
              <a:prstGeom prst="rect">
                <a:avLst/>
              </a:prstGeom>
              <a:solidFill>
                <a:srgbClr val="76C2E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51" name="Rectangle 11">
                <a:extLst>
                  <a:ext uri="{FF2B5EF4-FFF2-40B4-BE49-F238E27FC236}">
                    <a16:creationId xmlns:a16="http://schemas.microsoft.com/office/drawing/2014/main" id="{508D804C-A4C7-412F-8063-43C12673820B}"/>
                  </a:ext>
                </a:extLst>
              </p:cNvPr>
              <p:cNvSpPr/>
              <p:nvPr/>
            </p:nvSpPr>
            <p:spPr>
              <a:xfrm>
                <a:off x="-1" y="0"/>
                <a:ext cx="2362201" cy="46038"/>
              </a:xfrm>
              <a:prstGeom prst="rect">
                <a:avLst/>
              </a:prstGeom>
              <a:solidFill>
                <a:srgbClr val="FCB01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52" name="Rectangle 12">
                <a:extLst>
                  <a:ext uri="{FF2B5EF4-FFF2-40B4-BE49-F238E27FC236}">
                    <a16:creationId xmlns:a16="http://schemas.microsoft.com/office/drawing/2014/main" id="{827A04DF-D4FE-44C0-87D7-AF2AA37D3F97}"/>
                  </a:ext>
                </a:extLst>
              </p:cNvPr>
              <p:cNvSpPr/>
              <p:nvPr/>
            </p:nvSpPr>
            <p:spPr>
              <a:xfrm>
                <a:off x="4681537" y="0"/>
                <a:ext cx="2328864" cy="46038"/>
              </a:xfrm>
              <a:prstGeom prst="rect">
                <a:avLst/>
              </a:prstGeom>
              <a:solidFill>
                <a:srgbClr val="FF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pic>
          <p:nvPicPr>
            <p:cNvPr id="48" name="Picture 14" descr="Picture 14">
              <a:extLst>
                <a:ext uri="{FF2B5EF4-FFF2-40B4-BE49-F238E27FC236}">
                  <a16:creationId xmlns:a16="http://schemas.microsoft.com/office/drawing/2014/main" id="{5DC18BF1-5331-4F2F-A174-787311906D1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t="2677" b="2677"/>
            <a:stretch>
              <a:fillRect/>
            </a:stretch>
          </p:blipFill>
          <p:spPr>
            <a:xfrm>
              <a:off x="6629400" y="0"/>
              <a:ext cx="2193925" cy="692150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49" name="TextBox 14">
              <a:extLst>
                <a:ext uri="{FF2B5EF4-FFF2-40B4-BE49-F238E27FC236}">
                  <a16:creationId xmlns:a16="http://schemas.microsoft.com/office/drawing/2014/main" id="{BA5796A7-03C0-4F17-B86D-A3B33F3BC2CE}"/>
                </a:ext>
              </a:extLst>
            </p:cNvPr>
            <p:cNvSpPr txBox="1"/>
            <p:nvPr userDrawn="1"/>
          </p:nvSpPr>
          <p:spPr>
            <a:xfrm>
              <a:off x="3322319" y="6596063"/>
              <a:ext cx="5775962" cy="26161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/>
            <a:p>
              <a:pPr algn="r">
                <a:defRPr sz="1100" b="1">
                  <a:solidFill>
                    <a:srgbClr val="101141"/>
                  </a:solidFill>
                  <a:latin typeface="+mj-lt"/>
                  <a:ea typeface="+mj-ea"/>
                  <a:cs typeface="+mj-cs"/>
                  <a:sym typeface="Arial"/>
                </a:defRPr>
              </a:pPr>
              <a:r>
                <a:rPr lang="en-IN" dirty="0"/>
                <a:t>BITS </a:t>
              </a:r>
              <a:r>
                <a:rPr lang="en-IN" b="0" dirty="0" err="1"/>
                <a:t>Pilani</a:t>
              </a:r>
              <a:r>
                <a:rPr lang="en-IN" b="0" dirty="0"/>
                <a:t>, Deemed to be University under Section 3 of UGC Act, 1956</a:t>
              </a:r>
            </a:p>
          </p:txBody>
        </p:sp>
      </p:grpSp>
      <p:sp>
        <p:nvSpPr>
          <p:cNvPr id="10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indent="-685800">
              <a:lnSpc>
                <a:spcPts val="3600"/>
              </a:lnSpc>
              <a:spcBef>
                <a:spcPts val="0"/>
              </a:spcBef>
              <a:buSzTx/>
              <a:buFontTx/>
              <a:buNone/>
              <a:defRPr sz="3600" b="1" spc="-150"/>
            </a:lvl1pPr>
            <a:lvl2pPr marL="824592" indent="-367392">
              <a:lnSpc>
                <a:spcPts val="3600"/>
              </a:lnSpc>
              <a:spcBef>
                <a:spcPts val="0"/>
              </a:spcBef>
              <a:buFontTx/>
              <a:defRPr sz="3600" b="1" spc="-150"/>
            </a:lvl2pPr>
            <a:lvl3pPr marL="1257300" indent="-342900">
              <a:lnSpc>
                <a:spcPts val="3600"/>
              </a:lnSpc>
              <a:spcBef>
                <a:spcPts val="0"/>
              </a:spcBef>
              <a:buFontTx/>
              <a:defRPr sz="3600" b="1" spc="-150"/>
            </a:lvl3pPr>
            <a:lvl4pPr marL="1783079" indent="-411479">
              <a:lnSpc>
                <a:spcPts val="3600"/>
              </a:lnSpc>
              <a:spcBef>
                <a:spcPts val="0"/>
              </a:spcBef>
              <a:buFontTx/>
              <a:defRPr sz="3600" b="1" spc="-150"/>
            </a:lvl4pPr>
            <a:lvl5pPr marL="2240279" indent="-411479">
              <a:lnSpc>
                <a:spcPts val="3600"/>
              </a:lnSpc>
              <a:spcBef>
                <a:spcPts val="0"/>
              </a:spcBef>
              <a:buFontTx/>
              <a:defRPr sz="3600" b="1" spc="-150"/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10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FD8716B-A31C-47B4-A0C5-7548CDD430C6}"/>
              </a:ext>
            </a:extLst>
          </p:cNvPr>
          <p:cNvGrpSpPr/>
          <p:nvPr userDrawn="1"/>
        </p:nvGrpSpPr>
        <p:grpSpPr>
          <a:xfrm>
            <a:off x="-59470" y="-641099"/>
            <a:ext cx="9267429" cy="8253818"/>
            <a:chOff x="-59470" y="-641099"/>
            <a:chExt cx="9267429" cy="8253818"/>
          </a:xfrm>
        </p:grpSpPr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5680844E-99C5-4EC4-B180-E92A119739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789776">
              <a:off x="1948972" y="1734076"/>
              <a:ext cx="5246055" cy="5246055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3DF246C4-7681-40D2-BD7F-05D1FC48F1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3624369">
              <a:off x="-59470" y="4282884"/>
              <a:ext cx="3329835" cy="3329835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1C3A5CD5-E5A4-4ACE-A91A-27B1E844C5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78124" y="4281440"/>
              <a:ext cx="3329835" cy="3329835"/>
            </a:xfrm>
            <a:prstGeom prst="rect">
              <a:avLst/>
            </a:prstGeom>
          </p:spPr>
        </p:pic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9469C547-61A0-45EB-B6FA-25B60785AF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0318" y="-641098"/>
              <a:ext cx="3329835" cy="3329835"/>
            </a:xfrm>
            <a:prstGeom prst="rect">
              <a:avLst/>
            </a:prstGeom>
          </p:spPr>
        </p:pic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217C0F69-5C4A-46A1-81DF-1368943C859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3604717">
              <a:off x="5806918" y="-641099"/>
              <a:ext cx="3329835" cy="3329835"/>
            </a:xfrm>
            <a:prstGeom prst="rect">
              <a:avLst/>
            </a:prstGeom>
          </p:spPr>
        </p:pic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5F7D3B5F-9C84-4CDD-ADC5-1C7AEA7FFA30}"/>
                </a:ext>
              </a:extLst>
            </p:cNvPr>
            <p:cNvGrpSpPr/>
            <p:nvPr userDrawn="1"/>
          </p:nvGrpSpPr>
          <p:grpSpPr>
            <a:xfrm>
              <a:off x="0" y="0"/>
              <a:ext cx="9144001" cy="6857673"/>
              <a:chOff x="0" y="0"/>
              <a:chExt cx="9144001" cy="6857673"/>
            </a:xfrm>
          </p:grpSpPr>
          <p:grpSp>
            <p:nvGrpSpPr>
              <p:cNvPr id="48" name="Group 6">
                <a:extLst>
                  <a:ext uri="{FF2B5EF4-FFF2-40B4-BE49-F238E27FC236}">
                    <a16:creationId xmlns:a16="http://schemas.microsoft.com/office/drawing/2014/main" id="{94E0EC27-CD44-4116-BDFE-8C07A845F21D}"/>
                  </a:ext>
                </a:extLst>
              </p:cNvPr>
              <p:cNvGrpSpPr/>
              <p:nvPr userDrawn="1"/>
            </p:nvGrpSpPr>
            <p:grpSpPr>
              <a:xfrm>
                <a:off x="0" y="1295400"/>
                <a:ext cx="7010401" cy="46038"/>
                <a:chOff x="0" y="0"/>
                <a:chExt cx="7010400" cy="46037"/>
              </a:xfrm>
            </p:grpSpPr>
            <p:sp>
              <p:nvSpPr>
                <p:cNvPr id="55" name="Rectangle 6">
                  <a:extLst>
                    <a:ext uri="{FF2B5EF4-FFF2-40B4-BE49-F238E27FC236}">
                      <a16:creationId xmlns:a16="http://schemas.microsoft.com/office/drawing/2014/main" id="{A6BF9062-0344-4685-A2A4-47E7FFFD73B2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56" name="Rectangle 7">
                  <a:extLst>
                    <a:ext uri="{FF2B5EF4-FFF2-40B4-BE49-F238E27FC236}">
                      <a16:creationId xmlns:a16="http://schemas.microsoft.com/office/drawing/2014/main" id="{64025BE1-99DE-43D5-BA61-5EE12DD7C1C7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57" name="Rectangle 8">
                  <a:extLst>
                    <a:ext uri="{FF2B5EF4-FFF2-40B4-BE49-F238E27FC236}">
                      <a16:creationId xmlns:a16="http://schemas.microsoft.com/office/drawing/2014/main" id="{074D5DEA-390A-4108-83CB-EE96445CE407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grpSp>
            <p:nvGrpSpPr>
              <p:cNvPr id="49" name="Group 10">
                <a:extLst>
                  <a:ext uri="{FF2B5EF4-FFF2-40B4-BE49-F238E27FC236}">
                    <a16:creationId xmlns:a16="http://schemas.microsoft.com/office/drawing/2014/main" id="{552E09F6-519C-4756-9EA7-45D6DCBE310D}"/>
                  </a:ext>
                </a:extLst>
              </p:cNvPr>
              <p:cNvGrpSpPr/>
              <p:nvPr userDrawn="1"/>
            </p:nvGrpSpPr>
            <p:grpSpPr>
              <a:xfrm>
                <a:off x="2133600" y="6553200"/>
                <a:ext cx="7010401" cy="46038"/>
                <a:chOff x="0" y="0"/>
                <a:chExt cx="7010400" cy="46037"/>
              </a:xfrm>
            </p:grpSpPr>
            <p:sp>
              <p:nvSpPr>
                <p:cNvPr id="52" name="Rectangle 10">
                  <a:extLst>
                    <a:ext uri="{FF2B5EF4-FFF2-40B4-BE49-F238E27FC236}">
                      <a16:creationId xmlns:a16="http://schemas.microsoft.com/office/drawing/2014/main" id="{F6963B12-636B-4383-B53F-0920A9A2D2A0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53" name="Rectangle 11">
                  <a:extLst>
                    <a:ext uri="{FF2B5EF4-FFF2-40B4-BE49-F238E27FC236}">
                      <a16:creationId xmlns:a16="http://schemas.microsoft.com/office/drawing/2014/main" id="{6D65AAF7-65CB-490D-AE4C-56EB3A380F68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54" name="Rectangle 12">
                  <a:extLst>
                    <a:ext uri="{FF2B5EF4-FFF2-40B4-BE49-F238E27FC236}">
                      <a16:creationId xmlns:a16="http://schemas.microsoft.com/office/drawing/2014/main" id="{82692E83-6BB2-4F17-81B3-5FB0B92EA780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pic>
            <p:nvPicPr>
              <p:cNvPr id="50" name="Picture 14" descr="Picture 14">
                <a:extLst>
                  <a:ext uri="{FF2B5EF4-FFF2-40B4-BE49-F238E27FC236}">
                    <a16:creationId xmlns:a16="http://schemas.microsoft.com/office/drawing/2014/main" id="{70822080-A35E-497B-A345-0B4F6B3CEC3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rcRect t="2677" b="2677"/>
              <a:stretch>
                <a:fillRect/>
              </a:stretch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51" name="TextBox 14">
                <a:extLst>
                  <a:ext uri="{FF2B5EF4-FFF2-40B4-BE49-F238E27FC236}">
                    <a16:creationId xmlns:a16="http://schemas.microsoft.com/office/drawing/2014/main" id="{35FF49B6-322B-45EA-ADB7-89C68BCD8C5E}"/>
                  </a:ext>
                </a:extLst>
              </p:cNvPr>
              <p:cNvSpPr txBox="1"/>
              <p:nvPr userDrawn="1"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dirty="0"/>
                  <a:t>BITS </a:t>
                </a:r>
                <a:r>
                  <a:rPr lang="en-IN" b="0" dirty="0" err="1"/>
                  <a:t>Pilani</a:t>
                </a:r>
                <a:r>
                  <a:rPr lang="en-IN" b="0" dirty="0"/>
                  <a:t>, Deemed to be University under Section 3 of UGC Act, 1956</a:t>
                </a:r>
              </a:p>
            </p:txBody>
          </p:sp>
        </p:grpSp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5201B7A3-E0CF-49C7-BCF5-6D53993FB45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10002" y="2493406"/>
              <a:ext cx="1523997" cy="1523997"/>
            </a:xfrm>
            <a:prstGeom prst="rect">
              <a:avLst/>
            </a:prstGeom>
          </p:spPr>
        </p:pic>
      </p:grpSp>
      <p:sp>
        <p:nvSpPr>
          <p:cNvPr id="14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953000" y="1600200"/>
            <a:ext cx="40386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600"/>
              </a:spcBef>
              <a:buSzTx/>
              <a:buFontTx/>
              <a:buNone/>
              <a:defRPr sz="2800"/>
            </a:lvl1pPr>
            <a:lvl2pPr marL="957262" indent="-500062">
              <a:spcBef>
                <a:spcPts val="600"/>
              </a:spcBef>
              <a:buFontTx/>
              <a:defRPr sz="2800"/>
            </a:lvl2pPr>
            <a:lvl3pPr marL="1234439" indent="-320039">
              <a:spcBef>
                <a:spcPts val="600"/>
              </a:spcBef>
              <a:buFontTx/>
              <a:defRPr sz="2800"/>
            </a:lvl3pPr>
            <a:lvl4pPr marL="1727200" indent="-355600">
              <a:spcBef>
                <a:spcPts val="600"/>
              </a:spcBef>
              <a:buFontTx/>
              <a:defRPr sz="2800"/>
            </a:lvl4pPr>
            <a:lvl5pPr marL="2184400" indent="-355600">
              <a:spcBef>
                <a:spcPts val="600"/>
              </a:spcBef>
              <a:buFontTx/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83C6F3F4-5751-43BB-8C7D-E213EC59F5AA}"/>
              </a:ext>
            </a:extLst>
          </p:cNvPr>
          <p:cNvGrpSpPr/>
          <p:nvPr userDrawn="1"/>
        </p:nvGrpSpPr>
        <p:grpSpPr>
          <a:xfrm>
            <a:off x="-59470" y="-641099"/>
            <a:ext cx="9267429" cy="8253818"/>
            <a:chOff x="-59470" y="-641099"/>
            <a:chExt cx="9267429" cy="8253818"/>
          </a:xfrm>
        </p:grpSpPr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3100B7FA-AEEE-4B3E-BF82-561149B2BC1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789776">
              <a:off x="1948972" y="1734076"/>
              <a:ext cx="5246055" cy="5246055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CA1F78BE-6A45-4BEE-B3D7-5B27F29777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3624369">
              <a:off x="-59470" y="4282884"/>
              <a:ext cx="3329835" cy="3329835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4F972F80-0475-4E37-81F3-DF25FE0B49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78124" y="4281440"/>
              <a:ext cx="3329835" cy="3329835"/>
            </a:xfrm>
            <a:prstGeom prst="rect">
              <a:avLst/>
            </a:prstGeom>
          </p:spPr>
        </p:pic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0C8BCD8D-488C-4254-8236-C54B886306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0318" y="-641098"/>
              <a:ext cx="3329835" cy="3329835"/>
            </a:xfrm>
            <a:prstGeom prst="rect">
              <a:avLst/>
            </a:prstGeom>
          </p:spPr>
        </p:pic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2EDFD120-14DA-495A-8AED-AED69AF682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3604717">
              <a:off x="5806918" y="-641099"/>
              <a:ext cx="3329835" cy="3329835"/>
            </a:xfrm>
            <a:prstGeom prst="rect">
              <a:avLst/>
            </a:prstGeom>
          </p:spPr>
        </p:pic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B2740D71-E14A-4547-9EF5-592B9A01A999}"/>
                </a:ext>
              </a:extLst>
            </p:cNvPr>
            <p:cNvGrpSpPr/>
            <p:nvPr userDrawn="1"/>
          </p:nvGrpSpPr>
          <p:grpSpPr>
            <a:xfrm>
              <a:off x="0" y="0"/>
              <a:ext cx="9144001" cy="6857673"/>
              <a:chOff x="0" y="0"/>
              <a:chExt cx="9144001" cy="6857673"/>
            </a:xfrm>
          </p:grpSpPr>
          <p:grpSp>
            <p:nvGrpSpPr>
              <p:cNvPr id="49" name="Group 6">
                <a:extLst>
                  <a:ext uri="{FF2B5EF4-FFF2-40B4-BE49-F238E27FC236}">
                    <a16:creationId xmlns:a16="http://schemas.microsoft.com/office/drawing/2014/main" id="{20AE3508-2CAE-49F6-9380-FEBEC6AE18A1}"/>
                  </a:ext>
                </a:extLst>
              </p:cNvPr>
              <p:cNvGrpSpPr/>
              <p:nvPr userDrawn="1"/>
            </p:nvGrpSpPr>
            <p:grpSpPr>
              <a:xfrm>
                <a:off x="0" y="1295400"/>
                <a:ext cx="7010401" cy="46038"/>
                <a:chOff x="0" y="0"/>
                <a:chExt cx="7010400" cy="46037"/>
              </a:xfrm>
            </p:grpSpPr>
            <p:sp>
              <p:nvSpPr>
                <p:cNvPr id="56" name="Rectangle 6">
                  <a:extLst>
                    <a:ext uri="{FF2B5EF4-FFF2-40B4-BE49-F238E27FC236}">
                      <a16:creationId xmlns:a16="http://schemas.microsoft.com/office/drawing/2014/main" id="{24132926-3854-4E73-9F61-FFAE5A7A1A47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57" name="Rectangle 7">
                  <a:extLst>
                    <a:ext uri="{FF2B5EF4-FFF2-40B4-BE49-F238E27FC236}">
                      <a16:creationId xmlns:a16="http://schemas.microsoft.com/office/drawing/2014/main" id="{62E95AD1-C80F-4E74-A9C5-D34DE62DE821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58" name="Rectangle 8">
                  <a:extLst>
                    <a:ext uri="{FF2B5EF4-FFF2-40B4-BE49-F238E27FC236}">
                      <a16:creationId xmlns:a16="http://schemas.microsoft.com/office/drawing/2014/main" id="{CCFFD9FF-0E13-4ACB-BF93-17B024793B98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grpSp>
            <p:nvGrpSpPr>
              <p:cNvPr id="50" name="Group 10">
                <a:extLst>
                  <a:ext uri="{FF2B5EF4-FFF2-40B4-BE49-F238E27FC236}">
                    <a16:creationId xmlns:a16="http://schemas.microsoft.com/office/drawing/2014/main" id="{0D855871-BE12-498A-AB58-46EF62159C4F}"/>
                  </a:ext>
                </a:extLst>
              </p:cNvPr>
              <p:cNvGrpSpPr/>
              <p:nvPr userDrawn="1"/>
            </p:nvGrpSpPr>
            <p:grpSpPr>
              <a:xfrm>
                <a:off x="2133600" y="6553200"/>
                <a:ext cx="7010401" cy="46038"/>
                <a:chOff x="0" y="0"/>
                <a:chExt cx="7010400" cy="46037"/>
              </a:xfrm>
            </p:grpSpPr>
            <p:sp>
              <p:nvSpPr>
                <p:cNvPr id="53" name="Rectangle 10">
                  <a:extLst>
                    <a:ext uri="{FF2B5EF4-FFF2-40B4-BE49-F238E27FC236}">
                      <a16:creationId xmlns:a16="http://schemas.microsoft.com/office/drawing/2014/main" id="{C977D99F-D1F8-45A3-ADF9-564B6E2C33B2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54" name="Rectangle 11">
                  <a:extLst>
                    <a:ext uri="{FF2B5EF4-FFF2-40B4-BE49-F238E27FC236}">
                      <a16:creationId xmlns:a16="http://schemas.microsoft.com/office/drawing/2014/main" id="{31017A24-6422-4F19-B9AA-92767E4CE1B0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55" name="Rectangle 12">
                  <a:extLst>
                    <a:ext uri="{FF2B5EF4-FFF2-40B4-BE49-F238E27FC236}">
                      <a16:creationId xmlns:a16="http://schemas.microsoft.com/office/drawing/2014/main" id="{9653E56F-820B-4B37-B055-A3C49FF7E2F4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pic>
            <p:nvPicPr>
              <p:cNvPr id="51" name="Picture 14" descr="Picture 14">
                <a:extLst>
                  <a:ext uri="{FF2B5EF4-FFF2-40B4-BE49-F238E27FC236}">
                    <a16:creationId xmlns:a16="http://schemas.microsoft.com/office/drawing/2014/main" id="{E9AFB7EB-F4A0-4F61-B3FC-95170197BC5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rcRect t="2677" b="2677"/>
              <a:stretch>
                <a:fillRect/>
              </a:stretch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52" name="TextBox 14">
                <a:extLst>
                  <a:ext uri="{FF2B5EF4-FFF2-40B4-BE49-F238E27FC236}">
                    <a16:creationId xmlns:a16="http://schemas.microsoft.com/office/drawing/2014/main" id="{0A56C53E-F093-4235-B0C3-8FDF84D95BFF}"/>
                  </a:ext>
                </a:extLst>
              </p:cNvPr>
              <p:cNvSpPr txBox="1"/>
              <p:nvPr userDrawn="1"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dirty="0"/>
                  <a:t>BITS </a:t>
                </a:r>
                <a:r>
                  <a:rPr lang="en-IN" b="0" dirty="0" err="1"/>
                  <a:t>Pilani</a:t>
                </a:r>
                <a:r>
                  <a:rPr lang="en-IN" b="0" dirty="0"/>
                  <a:t>, Deemed to be University under Section 3 of UGC Act, 1956</a:t>
                </a:r>
              </a:p>
            </p:txBody>
          </p:sp>
        </p:grp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B0F0EE30-1431-48B8-8A47-F3CED9AB29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10002" y="2493406"/>
              <a:ext cx="1523997" cy="1523997"/>
            </a:xfrm>
            <a:prstGeom prst="rect">
              <a:avLst/>
            </a:prstGeom>
          </p:spPr>
        </p:pic>
      </p:grpSp>
      <p:sp>
        <p:nvSpPr>
          <p:cNvPr id="19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8270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5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827088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19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FFFFFF">
            <a:alpha val="7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DD5745CB-06AA-4B81-957F-FB40813E1114}"/>
              </a:ext>
            </a:extLst>
          </p:cNvPr>
          <p:cNvGrpSpPr/>
          <p:nvPr userDrawn="1"/>
        </p:nvGrpSpPr>
        <p:grpSpPr>
          <a:xfrm>
            <a:off x="-59470" y="-641099"/>
            <a:ext cx="9267429" cy="8253818"/>
            <a:chOff x="-59470" y="-641099"/>
            <a:chExt cx="9267429" cy="8253818"/>
          </a:xfrm>
        </p:grpSpPr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9CF6619D-D89D-4695-84F2-4D14B9CE5CB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789776">
              <a:off x="1948972" y="1734076"/>
              <a:ext cx="5246055" cy="5246055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3F684C8C-B74B-40AF-ABA0-D1634725725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3624369">
              <a:off x="-59470" y="4282884"/>
              <a:ext cx="3329835" cy="3329835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9347B43F-FF3F-4A48-9060-6D5ED0C6A56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78124" y="4281440"/>
              <a:ext cx="3329835" cy="3329835"/>
            </a:xfrm>
            <a:prstGeom prst="rect">
              <a:avLst/>
            </a:prstGeom>
          </p:spPr>
        </p:pic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E002E591-4F7B-48A9-9F72-9E4DE09C2B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0318" y="-641098"/>
              <a:ext cx="3329835" cy="3329835"/>
            </a:xfrm>
            <a:prstGeom prst="rect">
              <a:avLst/>
            </a:prstGeom>
          </p:spPr>
        </p:pic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09B02342-AE14-4FD7-923C-6D9B53B9160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3604717">
              <a:off x="5806918" y="-641099"/>
              <a:ext cx="3329835" cy="3329835"/>
            </a:xfrm>
            <a:prstGeom prst="rect">
              <a:avLst/>
            </a:prstGeom>
          </p:spPr>
        </p:pic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12F6725C-53D2-4236-87F9-62DF3413A481}"/>
                </a:ext>
              </a:extLst>
            </p:cNvPr>
            <p:cNvGrpSpPr/>
            <p:nvPr userDrawn="1"/>
          </p:nvGrpSpPr>
          <p:grpSpPr>
            <a:xfrm>
              <a:off x="0" y="0"/>
              <a:ext cx="9144001" cy="6857673"/>
              <a:chOff x="0" y="0"/>
              <a:chExt cx="9144001" cy="6857673"/>
            </a:xfrm>
          </p:grpSpPr>
          <p:grpSp>
            <p:nvGrpSpPr>
              <p:cNvPr id="48" name="Group 6">
                <a:extLst>
                  <a:ext uri="{FF2B5EF4-FFF2-40B4-BE49-F238E27FC236}">
                    <a16:creationId xmlns:a16="http://schemas.microsoft.com/office/drawing/2014/main" id="{5D5570D8-518F-4A65-AB4C-10057F149106}"/>
                  </a:ext>
                </a:extLst>
              </p:cNvPr>
              <p:cNvGrpSpPr/>
              <p:nvPr userDrawn="1"/>
            </p:nvGrpSpPr>
            <p:grpSpPr>
              <a:xfrm>
                <a:off x="0" y="1295400"/>
                <a:ext cx="7010401" cy="46038"/>
                <a:chOff x="0" y="0"/>
                <a:chExt cx="7010400" cy="46037"/>
              </a:xfrm>
            </p:grpSpPr>
            <p:sp>
              <p:nvSpPr>
                <p:cNvPr id="55" name="Rectangle 6">
                  <a:extLst>
                    <a:ext uri="{FF2B5EF4-FFF2-40B4-BE49-F238E27FC236}">
                      <a16:creationId xmlns:a16="http://schemas.microsoft.com/office/drawing/2014/main" id="{F8BC0A35-0293-4229-B935-BFF81052072D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56" name="Rectangle 7">
                  <a:extLst>
                    <a:ext uri="{FF2B5EF4-FFF2-40B4-BE49-F238E27FC236}">
                      <a16:creationId xmlns:a16="http://schemas.microsoft.com/office/drawing/2014/main" id="{F86283D0-4A1E-43CD-B49A-B5DEF391613C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57" name="Rectangle 8">
                  <a:extLst>
                    <a:ext uri="{FF2B5EF4-FFF2-40B4-BE49-F238E27FC236}">
                      <a16:creationId xmlns:a16="http://schemas.microsoft.com/office/drawing/2014/main" id="{21009D49-5D49-47D3-9581-2B06B0F95B53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grpSp>
            <p:nvGrpSpPr>
              <p:cNvPr id="49" name="Group 10">
                <a:extLst>
                  <a:ext uri="{FF2B5EF4-FFF2-40B4-BE49-F238E27FC236}">
                    <a16:creationId xmlns:a16="http://schemas.microsoft.com/office/drawing/2014/main" id="{F6AC508B-8E77-4674-8422-3B4DA12D07FD}"/>
                  </a:ext>
                </a:extLst>
              </p:cNvPr>
              <p:cNvGrpSpPr/>
              <p:nvPr userDrawn="1"/>
            </p:nvGrpSpPr>
            <p:grpSpPr>
              <a:xfrm>
                <a:off x="2133600" y="6553200"/>
                <a:ext cx="7010401" cy="46038"/>
                <a:chOff x="0" y="0"/>
                <a:chExt cx="7010400" cy="46037"/>
              </a:xfrm>
            </p:grpSpPr>
            <p:sp>
              <p:nvSpPr>
                <p:cNvPr id="52" name="Rectangle 10">
                  <a:extLst>
                    <a:ext uri="{FF2B5EF4-FFF2-40B4-BE49-F238E27FC236}">
                      <a16:creationId xmlns:a16="http://schemas.microsoft.com/office/drawing/2014/main" id="{EF35E278-0085-4428-A96D-7CA4168C754B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53" name="Rectangle 11">
                  <a:extLst>
                    <a:ext uri="{FF2B5EF4-FFF2-40B4-BE49-F238E27FC236}">
                      <a16:creationId xmlns:a16="http://schemas.microsoft.com/office/drawing/2014/main" id="{476F634D-3AEE-4698-B03A-21206F970959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54" name="Rectangle 12">
                  <a:extLst>
                    <a:ext uri="{FF2B5EF4-FFF2-40B4-BE49-F238E27FC236}">
                      <a16:creationId xmlns:a16="http://schemas.microsoft.com/office/drawing/2014/main" id="{3EC4A554-78FE-4858-9D34-5D12D86AB4F8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pic>
            <p:nvPicPr>
              <p:cNvPr id="50" name="Picture 14" descr="Picture 14">
                <a:extLst>
                  <a:ext uri="{FF2B5EF4-FFF2-40B4-BE49-F238E27FC236}">
                    <a16:creationId xmlns:a16="http://schemas.microsoft.com/office/drawing/2014/main" id="{D53E0125-E6C8-4170-8576-A8B945924E8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rcRect t="2677" b="2677"/>
              <a:stretch>
                <a:fillRect/>
              </a:stretch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51" name="TextBox 14">
                <a:extLst>
                  <a:ext uri="{FF2B5EF4-FFF2-40B4-BE49-F238E27FC236}">
                    <a16:creationId xmlns:a16="http://schemas.microsoft.com/office/drawing/2014/main" id="{3BF71A74-AAB4-4ED8-9AC1-98341ED06B55}"/>
                  </a:ext>
                </a:extLst>
              </p:cNvPr>
              <p:cNvSpPr txBox="1"/>
              <p:nvPr userDrawn="1"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dirty="0"/>
                  <a:t>BITS </a:t>
                </a:r>
                <a:r>
                  <a:rPr lang="en-IN" b="0" dirty="0" err="1"/>
                  <a:t>Pilani</a:t>
                </a:r>
                <a:r>
                  <a:rPr lang="en-IN" b="0" dirty="0"/>
                  <a:t>, Deemed to be University under Section 3 of UGC Act, 1956</a:t>
                </a:r>
              </a:p>
            </p:txBody>
          </p:sp>
        </p:grpSp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AF9A04AC-78E1-4BBC-9A65-F911836357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10002" y="2493406"/>
              <a:ext cx="1523997" cy="1523997"/>
            </a:xfrm>
            <a:prstGeom prst="rect">
              <a:avLst/>
            </a:prstGeom>
          </p:spPr>
        </p:pic>
      </p:grpSp>
      <p:sp>
        <p:nvSpPr>
          <p:cNvPr id="24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indent="-685800">
              <a:lnSpc>
                <a:spcPts val="3600"/>
              </a:lnSpc>
              <a:spcBef>
                <a:spcPts val="0"/>
              </a:spcBef>
              <a:buSzTx/>
              <a:buFontTx/>
              <a:buNone/>
              <a:defRPr sz="3600" b="1" spc="-150"/>
            </a:lvl1pPr>
            <a:lvl2pPr marL="824592" indent="-367392">
              <a:lnSpc>
                <a:spcPts val="3600"/>
              </a:lnSpc>
              <a:spcBef>
                <a:spcPts val="0"/>
              </a:spcBef>
              <a:buFontTx/>
              <a:defRPr sz="3600" b="1" spc="-150"/>
            </a:lvl2pPr>
            <a:lvl3pPr marL="1257300" indent="-342900">
              <a:lnSpc>
                <a:spcPts val="3600"/>
              </a:lnSpc>
              <a:spcBef>
                <a:spcPts val="0"/>
              </a:spcBef>
              <a:buFontTx/>
              <a:defRPr sz="3600" b="1" spc="-150"/>
            </a:lvl3pPr>
            <a:lvl4pPr marL="1783079" indent="-411479">
              <a:lnSpc>
                <a:spcPts val="3600"/>
              </a:lnSpc>
              <a:spcBef>
                <a:spcPts val="0"/>
              </a:spcBef>
              <a:buFontTx/>
              <a:defRPr sz="3600" b="1" spc="-150"/>
            </a:lvl4pPr>
            <a:lvl5pPr marL="2240279" indent="-411479">
              <a:lnSpc>
                <a:spcPts val="3600"/>
              </a:lnSpc>
              <a:spcBef>
                <a:spcPts val="0"/>
              </a:spcBef>
              <a:buFontTx/>
              <a:defRPr sz="3600" b="1" spc="-1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EBA91D93-81E9-4E44-BA3B-BFC4DB61B9B1}"/>
              </a:ext>
            </a:extLst>
          </p:cNvPr>
          <p:cNvGrpSpPr/>
          <p:nvPr userDrawn="1"/>
        </p:nvGrpSpPr>
        <p:grpSpPr>
          <a:xfrm>
            <a:off x="-59470" y="-641099"/>
            <a:ext cx="9267429" cy="8253818"/>
            <a:chOff x="-59470" y="-641099"/>
            <a:chExt cx="9267429" cy="8253818"/>
          </a:xfrm>
        </p:grpSpPr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A03074E5-C395-4142-B82C-55575CC3750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789776">
              <a:off x="1948972" y="1734076"/>
              <a:ext cx="5246055" cy="5246055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5043B723-FDC1-4C80-B36E-65A0302A4A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3624369">
              <a:off x="-59470" y="4282884"/>
              <a:ext cx="3329835" cy="3329835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5DB4FDD8-D8D7-4A39-973E-FF204CF26F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78124" y="4281440"/>
              <a:ext cx="3329835" cy="3329835"/>
            </a:xfrm>
            <a:prstGeom prst="rect">
              <a:avLst/>
            </a:prstGeom>
          </p:spPr>
        </p:pic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276FF869-530C-4BCB-92FE-054992EB10F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0318" y="-641098"/>
              <a:ext cx="3329835" cy="3329835"/>
            </a:xfrm>
            <a:prstGeom prst="rect">
              <a:avLst/>
            </a:prstGeom>
          </p:spPr>
        </p:pic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D919A7FA-FDD4-4C10-97CC-BCD6F27C1D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3604717">
              <a:off x="5806918" y="-641099"/>
              <a:ext cx="3329835" cy="3329835"/>
            </a:xfrm>
            <a:prstGeom prst="rect">
              <a:avLst/>
            </a:prstGeom>
          </p:spPr>
        </p:pic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CCCFF274-1225-4563-806D-A565D4704B4E}"/>
                </a:ext>
              </a:extLst>
            </p:cNvPr>
            <p:cNvGrpSpPr/>
            <p:nvPr userDrawn="1"/>
          </p:nvGrpSpPr>
          <p:grpSpPr>
            <a:xfrm>
              <a:off x="0" y="0"/>
              <a:ext cx="9144001" cy="6857673"/>
              <a:chOff x="0" y="0"/>
              <a:chExt cx="9144001" cy="6857673"/>
            </a:xfrm>
          </p:grpSpPr>
          <p:grpSp>
            <p:nvGrpSpPr>
              <p:cNvPr id="49" name="Group 6">
                <a:extLst>
                  <a:ext uri="{FF2B5EF4-FFF2-40B4-BE49-F238E27FC236}">
                    <a16:creationId xmlns:a16="http://schemas.microsoft.com/office/drawing/2014/main" id="{A78C547C-62FD-49F4-8220-87E6108E1DC0}"/>
                  </a:ext>
                </a:extLst>
              </p:cNvPr>
              <p:cNvGrpSpPr/>
              <p:nvPr userDrawn="1"/>
            </p:nvGrpSpPr>
            <p:grpSpPr>
              <a:xfrm>
                <a:off x="0" y="1295400"/>
                <a:ext cx="7010401" cy="46038"/>
                <a:chOff x="0" y="0"/>
                <a:chExt cx="7010400" cy="46037"/>
              </a:xfrm>
            </p:grpSpPr>
            <p:sp>
              <p:nvSpPr>
                <p:cNvPr id="56" name="Rectangle 6">
                  <a:extLst>
                    <a:ext uri="{FF2B5EF4-FFF2-40B4-BE49-F238E27FC236}">
                      <a16:creationId xmlns:a16="http://schemas.microsoft.com/office/drawing/2014/main" id="{E131FBB3-C3F0-4F2C-AA58-58B5D5B147F0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57" name="Rectangle 7">
                  <a:extLst>
                    <a:ext uri="{FF2B5EF4-FFF2-40B4-BE49-F238E27FC236}">
                      <a16:creationId xmlns:a16="http://schemas.microsoft.com/office/drawing/2014/main" id="{7C694F41-E945-4E8B-BA86-DC9A598526C8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58" name="Rectangle 8">
                  <a:extLst>
                    <a:ext uri="{FF2B5EF4-FFF2-40B4-BE49-F238E27FC236}">
                      <a16:creationId xmlns:a16="http://schemas.microsoft.com/office/drawing/2014/main" id="{857E2CF2-3046-46A4-889D-40063CCC6F37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grpSp>
            <p:nvGrpSpPr>
              <p:cNvPr id="50" name="Group 10">
                <a:extLst>
                  <a:ext uri="{FF2B5EF4-FFF2-40B4-BE49-F238E27FC236}">
                    <a16:creationId xmlns:a16="http://schemas.microsoft.com/office/drawing/2014/main" id="{EC7C1379-6432-4776-8A30-B023A4412329}"/>
                  </a:ext>
                </a:extLst>
              </p:cNvPr>
              <p:cNvGrpSpPr/>
              <p:nvPr userDrawn="1"/>
            </p:nvGrpSpPr>
            <p:grpSpPr>
              <a:xfrm>
                <a:off x="2133600" y="6553200"/>
                <a:ext cx="7010401" cy="46038"/>
                <a:chOff x="0" y="0"/>
                <a:chExt cx="7010400" cy="46037"/>
              </a:xfrm>
            </p:grpSpPr>
            <p:sp>
              <p:nvSpPr>
                <p:cNvPr id="53" name="Rectangle 10">
                  <a:extLst>
                    <a:ext uri="{FF2B5EF4-FFF2-40B4-BE49-F238E27FC236}">
                      <a16:creationId xmlns:a16="http://schemas.microsoft.com/office/drawing/2014/main" id="{A8A7BDE8-B2DB-48A5-BEC9-63C3D85E29DE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54" name="Rectangle 11">
                  <a:extLst>
                    <a:ext uri="{FF2B5EF4-FFF2-40B4-BE49-F238E27FC236}">
                      <a16:creationId xmlns:a16="http://schemas.microsoft.com/office/drawing/2014/main" id="{13B51388-D487-404B-8E80-29EBE51F59E4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55" name="Rectangle 12">
                  <a:extLst>
                    <a:ext uri="{FF2B5EF4-FFF2-40B4-BE49-F238E27FC236}">
                      <a16:creationId xmlns:a16="http://schemas.microsoft.com/office/drawing/2014/main" id="{0726AA02-C9CE-4E8C-A77E-9A458E9F0225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pic>
            <p:nvPicPr>
              <p:cNvPr id="51" name="Picture 14" descr="Picture 14">
                <a:extLst>
                  <a:ext uri="{FF2B5EF4-FFF2-40B4-BE49-F238E27FC236}">
                    <a16:creationId xmlns:a16="http://schemas.microsoft.com/office/drawing/2014/main" id="{F4752845-A425-4626-8999-478B6153E30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rcRect t="2677" b="2677"/>
              <a:stretch>
                <a:fillRect/>
              </a:stretch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52" name="TextBox 14">
                <a:extLst>
                  <a:ext uri="{FF2B5EF4-FFF2-40B4-BE49-F238E27FC236}">
                    <a16:creationId xmlns:a16="http://schemas.microsoft.com/office/drawing/2014/main" id="{E2DF6F5B-D493-4810-B293-745C2BA1A0FC}"/>
                  </a:ext>
                </a:extLst>
              </p:cNvPr>
              <p:cNvSpPr txBox="1"/>
              <p:nvPr userDrawn="1"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dirty="0"/>
                  <a:t>BITS </a:t>
                </a:r>
                <a:r>
                  <a:rPr lang="en-IN" b="0" dirty="0" err="1"/>
                  <a:t>Pilani</a:t>
                </a:r>
                <a:r>
                  <a:rPr lang="en-IN" b="0" dirty="0"/>
                  <a:t>, Deemed to be University under Section 3 of UGC Act, 1956</a:t>
                </a:r>
              </a:p>
            </p:txBody>
          </p:sp>
        </p:grp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09623608-3D09-45A2-8F67-52AC08DC49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10002" y="2493406"/>
              <a:ext cx="1523997" cy="1523997"/>
            </a:xfrm>
            <a:prstGeom prst="rect">
              <a:avLst/>
            </a:prstGeom>
          </p:spPr>
        </p:pic>
      </p:grpSp>
      <p:sp>
        <p:nvSpPr>
          <p:cNvPr id="27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575050" y="1600200"/>
            <a:ext cx="511175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290" name="Text Placeholder 3"/>
          <p:cNvSpPr>
            <a:spLocks noGrp="1"/>
          </p:cNvSpPr>
          <p:nvPr>
            <p:ph type="body" sz="half" idx="21"/>
          </p:nvPr>
        </p:nvSpPr>
        <p:spPr>
          <a:xfrm>
            <a:off x="457199" y="1600200"/>
            <a:ext cx="3008315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 dirty="0"/>
          </a:p>
        </p:txBody>
      </p:sp>
      <p:sp>
        <p:nvSpPr>
          <p:cNvPr id="29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0635ADB2-6EA8-4BAD-8DAD-0182A2D9B5D3}"/>
              </a:ext>
            </a:extLst>
          </p:cNvPr>
          <p:cNvGrpSpPr/>
          <p:nvPr userDrawn="1"/>
        </p:nvGrpSpPr>
        <p:grpSpPr>
          <a:xfrm>
            <a:off x="-59470" y="-641099"/>
            <a:ext cx="9267429" cy="8253818"/>
            <a:chOff x="-59470" y="-641099"/>
            <a:chExt cx="9267429" cy="8253818"/>
          </a:xfrm>
        </p:grpSpPr>
        <p:pic>
          <p:nvPicPr>
            <p:cNvPr id="77" name="Graphic 76">
              <a:extLst>
                <a:ext uri="{FF2B5EF4-FFF2-40B4-BE49-F238E27FC236}">
                  <a16:creationId xmlns:a16="http://schemas.microsoft.com/office/drawing/2014/main" id="{A2BB439D-C20C-4C61-883B-5D07B84E6E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789776">
              <a:off x="1948972" y="1734076"/>
              <a:ext cx="5246055" cy="5246055"/>
            </a:xfrm>
            <a:prstGeom prst="rect">
              <a:avLst/>
            </a:prstGeom>
          </p:spPr>
        </p:pic>
        <p:pic>
          <p:nvPicPr>
            <p:cNvPr id="78" name="Graphic 77">
              <a:extLst>
                <a:ext uri="{FF2B5EF4-FFF2-40B4-BE49-F238E27FC236}">
                  <a16:creationId xmlns:a16="http://schemas.microsoft.com/office/drawing/2014/main" id="{A2344A81-D7C5-4E75-BD95-2C31857749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3624369">
              <a:off x="-59470" y="4282884"/>
              <a:ext cx="3329835" cy="3329835"/>
            </a:xfrm>
            <a:prstGeom prst="rect">
              <a:avLst/>
            </a:prstGeom>
          </p:spPr>
        </p:pic>
        <p:pic>
          <p:nvPicPr>
            <p:cNvPr id="79" name="Graphic 78">
              <a:extLst>
                <a:ext uri="{FF2B5EF4-FFF2-40B4-BE49-F238E27FC236}">
                  <a16:creationId xmlns:a16="http://schemas.microsoft.com/office/drawing/2014/main" id="{493B14BD-1E4B-4DAF-8B9A-008ACC84DBF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78124" y="4281440"/>
              <a:ext cx="3329835" cy="3329835"/>
            </a:xfrm>
            <a:prstGeom prst="rect">
              <a:avLst/>
            </a:prstGeom>
          </p:spPr>
        </p:pic>
        <p:pic>
          <p:nvPicPr>
            <p:cNvPr id="80" name="Graphic 79">
              <a:extLst>
                <a:ext uri="{FF2B5EF4-FFF2-40B4-BE49-F238E27FC236}">
                  <a16:creationId xmlns:a16="http://schemas.microsoft.com/office/drawing/2014/main" id="{1017A1EE-D786-4AD9-8114-7031497F1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0318" y="-641098"/>
              <a:ext cx="3329835" cy="3329835"/>
            </a:xfrm>
            <a:prstGeom prst="rect">
              <a:avLst/>
            </a:prstGeom>
          </p:spPr>
        </p:pic>
        <p:pic>
          <p:nvPicPr>
            <p:cNvPr id="81" name="Graphic 80">
              <a:extLst>
                <a:ext uri="{FF2B5EF4-FFF2-40B4-BE49-F238E27FC236}">
                  <a16:creationId xmlns:a16="http://schemas.microsoft.com/office/drawing/2014/main" id="{5EB74B49-6A5D-4E90-A8EF-F1A27B22DD4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3604717">
              <a:off x="5806918" y="-641099"/>
              <a:ext cx="3329835" cy="3329835"/>
            </a:xfrm>
            <a:prstGeom prst="rect">
              <a:avLst/>
            </a:prstGeom>
          </p:spPr>
        </p:pic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80B25D4E-B9E2-4A64-A8A8-6B92913B4C6C}"/>
                </a:ext>
              </a:extLst>
            </p:cNvPr>
            <p:cNvGrpSpPr/>
            <p:nvPr userDrawn="1"/>
          </p:nvGrpSpPr>
          <p:grpSpPr>
            <a:xfrm>
              <a:off x="0" y="0"/>
              <a:ext cx="9144001" cy="6857673"/>
              <a:chOff x="0" y="0"/>
              <a:chExt cx="9144001" cy="6857673"/>
            </a:xfrm>
          </p:grpSpPr>
          <p:grpSp>
            <p:nvGrpSpPr>
              <p:cNvPr id="84" name="Group 6">
                <a:extLst>
                  <a:ext uri="{FF2B5EF4-FFF2-40B4-BE49-F238E27FC236}">
                    <a16:creationId xmlns:a16="http://schemas.microsoft.com/office/drawing/2014/main" id="{A2EA67C3-44DA-4665-8AE2-141440DB23E2}"/>
                  </a:ext>
                </a:extLst>
              </p:cNvPr>
              <p:cNvGrpSpPr/>
              <p:nvPr userDrawn="1"/>
            </p:nvGrpSpPr>
            <p:grpSpPr>
              <a:xfrm>
                <a:off x="0" y="1295400"/>
                <a:ext cx="7010401" cy="46038"/>
                <a:chOff x="0" y="0"/>
                <a:chExt cx="7010400" cy="46037"/>
              </a:xfrm>
            </p:grpSpPr>
            <p:sp>
              <p:nvSpPr>
                <p:cNvPr id="91" name="Rectangle 6">
                  <a:extLst>
                    <a:ext uri="{FF2B5EF4-FFF2-40B4-BE49-F238E27FC236}">
                      <a16:creationId xmlns:a16="http://schemas.microsoft.com/office/drawing/2014/main" id="{D463F1CA-4C9D-4BCC-B0BD-14721FADA3F5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92" name="Rectangle 7">
                  <a:extLst>
                    <a:ext uri="{FF2B5EF4-FFF2-40B4-BE49-F238E27FC236}">
                      <a16:creationId xmlns:a16="http://schemas.microsoft.com/office/drawing/2014/main" id="{2EF7E6B7-9421-4BAA-AB81-AE89E08FDF08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93" name="Rectangle 8">
                  <a:extLst>
                    <a:ext uri="{FF2B5EF4-FFF2-40B4-BE49-F238E27FC236}">
                      <a16:creationId xmlns:a16="http://schemas.microsoft.com/office/drawing/2014/main" id="{AFEE1048-04C1-4DCE-8973-4784C897E7F9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grpSp>
            <p:nvGrpSpPr>
              <p:cNvPr id="85" name="Group 10">
                <a:extLst>
                  <a:ext uri="{FF2B5EF4-FFF2-40B4-BE49-F238E27FC236}">
                    <a16:creationId xmlns:a16="http://schemas.microsoft.com/office/drawing/2014/main" id="{62DA8075-114E-4D1A-8199-46D51587204A}"/>
                  </a:ext>
                </a:extLst>
              </p:cNvPr>
              <p:cNvGrpSpPr/>
              <p:nvPr userDrawn="1"/>
            </p:nvGrpSpPr>
            <p:grpSpPr>
              <a:xfrm>
                <a:off x="2133600" y="6553200"/>
                <a:ext cx="7010401" cy="46038"/>
                <a:chOff x="0" y="0"/>
                <a:chExt cx="7010400" cy="46037"/>
              </a:xfrm>
            </p:grpSpPr>
            <p:sp>
              <p:nvSpPr>
                <p:cNvPr id="88" name="Rectangle 10">
                  <a:extLst>
                    <a:ext uri="{FF2B5EF4-FFF2-40B4-BE49-F238E27FC236}">
                      <a16:creationId xmlns:a16="http://schemas.microsoft.com/office/drawing/2014/main" id="{42070327-4A30-4BA2-A8E6-6E330B5F30EB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89" name="Rectangle 11">
                  <a:extLst>
                    <a:ext uri="{FF2B5EF4-FFF2-40B4-BE49-F238E27FC236}">
                      <a16:creationId xmlns:a16="http://schemas.microsoft.com/office/drawing/2014/main" id="{EB4AF601-277A-494B-9871-87FBA75E5451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90" name="Rectangle 12">
                  <a:extLst>
                    <a:ext uri="{FF2B5EF4-FFF2-40B4-BE49-F238E27FC236}">
                      <a16:creationId xmlns:a16="http://schemas.microsoft.com/office/drawing/2014/main" id="{AB04FF31-B9E9-4A43-98B4-8DB577BD3837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pic>
            <p:nvPicPr>
              <p:cNvPr id="86" name="Picture 14" descr="Picture 14">
                <a:extLst>
                  <a:ext uri="{FF2B5EF4-FFF2-40B4-BE49-F238E27FC236}">
                    <a16:creationId xmlns:a16="http://schemas.microsoft.com/office/drawing/2014/main" id="{F8C276B3-EE15-4980-9AC5-AF2F16814A5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rcRect t="2677" b="2677"/>
              <a:stretch>
                <a:fillRect/>
              </a:stretch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87" name="TextBox 14">
                <a:extLst>
                  <a:ext uri="{FF2B5EF4-FFF2-40B4-BE49-F238E27FC236}">
                    <a16:creationId xmlns:a16="http://schemas.microsoft.com/office/drawing/2014/main" id="{D133DA9B-065F-4040-94C1-D75BBB8A8147}"/>
                  </a:ext>
                </a:extLst>
              </p:cNvPr>
              <p:cNvSpPr txBox="1"/>
              <p:nvPr userDrawn="1"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dirty="0"/>
                  <a:t>BITS </a:t>
                </a:r>
                <a:r>
                  <a:rPr lang="en-IN" b="0" dirty="0" err="1"/>
                  <a:t>Pilani</a:t>
                </a:r>
                <a:r>
                  <a:rPr lang="en-IN" b="0" dirty="0"/>
                  <a:t>, Deemed to be University under Section 3 of UGC Act, 1956</a:t>
                </a:r>
              </a:p>
            </p:txBody>
          </p:sp>
        </p:grpSp>
        <p:pic>
          <p:nvPicPr>
            <p:cNvPr id="83" name="Graphic 82">
              <a:extLst>
                <a:ext uri="{FF2B5EF4-FFF2-40B4-BE49-F238E27FC236}">
                  <a16:creationId xmlns:a16="http://schemas.microsoft.com/office/drawing/2014/main" id="{DD930F25-DAB1-4FE7-A1F6-75A37FD151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10002" y="2493406"/>
              <a:ext cx="1523997" cy="1523997"/>
            </a:xfrm>
            <a:prstGeom prst="rect">
              <a:avLst/>
            </a:prstGeom>
          </p:spPr>
        </p:pic>
      </p:grpSp>
      <p:sp>
        <p:nvSpPr>
          <p:cNvPr id="337" name="Title Text"/>
          <p:cNvSpPr txBox="1">
            <a:spLocks noGrp="1"/>
          </p:cNvSpPr>
          <p:nvPr>
            <p:ph type="title"/>
          </p:nvPr>
        </p:nvSpPr>
        <p:spPr>
          <a:xfrm>
            <a:off x="1792288" y="5407025"/>
            <a:ext cx="5486401" cy="3048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1800" spc="0"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3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711825"/>
            <a:ext cx="5486401" cy="3048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SzTx/>
              <a:buFontTx/>
              <a:buNone/>
              <a:defRPr sz="1600"/>
            </a:lvl1pPr>
            <a:lvl2pPr marL="0" indent="457200">
              <a:spcBef>
                <a:spcPts val="300"/>
              </a:spcBef>
              <a:buSzTx/>
              <a:buFontTx/>
              <a:buNone/>
              <a:defRPr sz="1600"/>
            </a:lvl2pPr>
            <a:lvl3pPr marL="0" indent="914400">
              <a:spcBef>
                <a:spcPts val="300"/>
              </a:spcBef>
              <a:buSzTx/>
              <a:buFontTx/>
              <a:buNone/>
              <a:defRPr sz="1600"/>
            </a:lvl3pPr>
            <a:lvl4pPr marL="0" indent="1371600">
              <a:spcBef>
                <a:spcPts val="300"/>
              </a:spcBef>
              <a:buSzTx/>
              <a:buFontTx/>
              <a:buNone/>
              <a:defRPr sz="1600"/>
            </a:lvl4pPr>
            <a:lvl5pPr marL="0" indent="1828800">
              <a:spcBef>
                <a:spcPts val="300"/>
              </a:spcBef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9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1792288" y="1828800"/>
            <a:ext cx="5486401" cy="3429000"/>
          </a:xfrm>
          <a:prstGeom prst="rect">
            <a:avLst/>
          </a:prstGeom>
          <a:ln w="57150">
            <a:solidFill>
              <a:srgbClr val="DCE6F2"/>
            </a:solidFill>
            <a:round/>
          </a:ln>
        </p:spPr>
        <p:txBody>
          <a:bodyPr lIns="91439" rIns="91439"/>
          <a:lstStyle/>
          <a:p>
            <a:endParaRPr/>
          </a:p>
        </p:txBody>
      </p:sp>
      <p:sp>
        <p:nvSpPr>
          <p:cNvPr id="3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83BBAD0-43A5-4D32-8FC9-062F956D4D42}"/>
              </a:ext>
            </a:extLst>
          </p:cNvPr>
          <p:cNvGrpSpPr/>
          <p:nvPr userDrawn="1"/>
        </p:nvGrpSpPr>
        <p:grpSpPr>
          <a:xfrm>
            <a:off x="-59470" y="-641099"/>
            <a:ext cx="9267429" cy="8253818"/>
            <a:chOff x="-59470" y="-641099"/>
            <a:chExt cx="9267429" cy="8253818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68C4D830-E082-446B-B643-5F87F72600B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789776">
              <a:off x="1948972" y="1734076"/>
              <a:ext cx="5246055" cy="5246055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1C9D4848-2B9E-4B8D-B630-AD31B35203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3624369">
              <a:off x="-59470" y="4282884"/>
              <a:ext cx="3329835" cy="3329835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635F0174-0096-461B-8212-566B0011E8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78124" y="4281440"/>
              <a:ext cx="3329835" cy="3329835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1B104A8E-51B2-42E7-B651-568B9D1D36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0318" y="-641098"/>
              <a:ext cx="3329835" cy="3329835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62F3D4CE-0862-4E00-B299-11A67A5904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3604717">
              <a:off x="5806918" y="-641099"/>
              <a:ext cx="3329835" cy="3329835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C5A1F24-1ABA-4385-8DF2-98C8D03B2CCD}"/>
                </a:ext>
              </a:extLst>
            </p:cNvPr>
            <p:cNvGrpSpPr/>
            <p:nvPr userDrawn="1"/>
          </p:nvGrpSpPr>
          <p:grpSpPr>
            <a:xfrm>
              <a:off x="0" y="0"/>
              <a:ext cx="9144001" cy="6857673"/>
              <a:chOff x="0" y="0"/>
              <a:chExt cx="9144001" cy="6857673"/>
            </a:xfrm>
          </p:grpSpPr>
          <p:grpSp>
            <p:nvGrpSpPr>
              <p:cNvPr id="330" name="Group 6"/>
              <p:cNvGrpSpPr/>
              <p:nvPr userDrawn="1"/>
            </p:nvGrpSpPr>
            <p:grpSpPr>
              <a:xfrm>
                <a:off x="0" y="1295400"/>
                <a:ext cx="7010401" cy="46038"/>
                <a:chOff x="0" y="0"/>
                <a:chExt cx="7010400" cy="46037"/>
              </a:xfrm>
            </p:grpSpPr>
            <p:sp>
              <p:nvSpPr>
                <p:cNvPr id="327" name="Rectangle 6"/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328" name="Rectangle 7"/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329" name="Rectangle 8"/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grpSp>
            <p:nvGrpSpPr>
              <p:cNvPr id="334" name="Group 10"/>
              <p:cNvGrpSpPr/>
              <p:nvPr userDrawn="1"/>
            </p:nvGrpSpPr>
            <p:grpSpPr>
              <a:xfrm>
                <a:off x="2133600" y="6553200"/>
                <a:ext cx="7010401" cy="46038"/>
                <a:chOff x="0" y="0"/>
                <a:chExt cx="7010400" cy="46037"/>
              </a:xfrm>
            </p:grpSpPr>
            <p:sp>
              <p:nvSpPr>
                <p:cNvPr id="331" name="Rectangle 10"/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332" name="Rectangle 11"/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333" name="Rectangle 12"/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pic>
            <p:nvPicPr>
              <p:cNvPr id="335" name="Picture 14" descr="Picture 14"/>
              <p:cNvPicPr>
                <a:picLocks noChangeAspect="1"/>
              </p:cNvPicPr>
              <p:nvPr userDrawn="1"/>
            </p:nvPicPr>
            <p:blipFill>
              <a:blip r:embed="rId3"/>
              <a:srcRect t="2677" b="2677"/>
              <a:stretch>
                <a:fillRect/>
              </a:stretch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336" name="TextBox 14"/>
              <p:cNvSpPr txBox="1"/>
              <p:nvPr userDrawn="1"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dirty="0"/>
                  <a:t>BITS </a:t>
                </a:r>
                <a:r>
                  <a:rPr lang="en-IN" b="0" dirty="0" err="1"/>
                  <a:t>Pilani</a:t>
                </a:r>
                <a:r>
                  <a:rPr lang="en-IN" b="0" dirty="0"/>
                  <a:t>, Deemed to be University under Section 3 of UGC Act, 1956</a:t>
                </a:r>
              </a:p>
            </p:txBody>
          </p:sp>
        </p:grp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B778ADC1-BEF0-4061-926A-4839BEC48F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10002" y="2493406"/>
              <a:ext cx="1523997" cy="15239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3690160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98989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BC5692C0-A143-3571-7EE1-32346BE87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</p:sldLayoutIdLst>
  <p:transition spd="med"/>
  <p:txStyles>
    <p:titleStyle>
      <a:lvl1pPr marL="0" marR="0" indent="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45720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91440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137160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182880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Title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 algn="r"/>
            <a:r>
              <a:rPr lang="en-US" dirty="0"/>
              <a:t>Software Engineering for Machine Learning</a:t>
            </a:r>
            <a:endParaRPr dirty="0"/>
          </a:p>
        </p:txBody>
      </p:sp>
      <p:sp>
        <p:nvSpPr>
          <p:cNvPr id="351" name="Content Placeholder 5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886968">
              <a:lnSpc>
                <a:spcPts val="1700"/>
              </a:lnSpc>
              <a:defRPr sz="1746"/>
            </a:pPr>
            <a:r>
              <a:rPr lang="en-US" dirty="0"/>
              <a:t>Dr. Shreyas Rao</a:t>
            </a:r>
          </a:p>
          <a:p>
            <a:pPr defTabSz="886968">
              <a:lnSpc>
                <a:spcPts val="1700"/>
              </a:lnSpc>
              <a:defRPr sz="1746"/>
            </a:pPr>
            <a:r>
              <a:rPr lang="en-US" dirty="0"/>
              <a:t>Associate Professor, Dept. of CSIS, BITS-Pilani</a:t>
            </a: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Content Placeholder 1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algn="ctr" eaLnBrk="1" hangingPunct="1">
              <a:spcBef>
                <a:spcPct val="0"/>
              </a:spcBef>
              <a:defRPr/>
            </a:pPr>
            <a:r>
              <a:rPr lang="en-IN" dirty="0"/>
              <a:t>AIMLCZG546</a:t>
            </a:r>
          </a:p>
          <a:p>
            <a:pPr algn="ctr" eaLnBrk="1" hangingPunct="1">
              <a:spcBef>
                <a:spcPct val="0"/>
              </a:spcBef>
              <a:defRPr/>
            </a:pPr>
            <a:r>
              <a:rPr lang="en-US" dirty="0">
                <a:latin typeface="Arial" charset="0"/>
                <a:cs typeface="Arial" charset="0"/>
              </a:rPr>
              <a:t>Lecture No. 3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6777E-7F24-2F80-37F1-AE03AA184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Content Placeholder 2">
            <a:extLst>
              <a:ext uri="{FF2B5EF4-FFF2-40B4-BE49-F238E27FC236}">
                <a16:creationId xmlns:a16="http://schemas.microsoft.com/office/drawing/2014/main" id="{CB6742C3-5633-26B2-D5E5-F6A7FA5B7B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4"/>
          </a:xfrm>
          <a:prstGeom prst="rect">
            <a:avLst/>
          </a:prstGeom>
        </p:spPr>
        <p:txBody>
          <a:bodyPr anchor="t"/>
          <a:lstStyle>
            <a:lvl1pPr indent="-342900">
              <a:lnSpc>
                <a:spcPct val="100000"/>
              </a:lnSpc>
              <a:spcBef>
                <a:spcPts val="500"/>
              </a:spcBef>
              <a:defRPr sz="2400" b="0" spc="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When to use Machine Learning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Requirements Engineering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From Goals to Requirements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GR4ML Modeling Notation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Measuring Goals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56" name="Content Placeholder 4">
            <a:extLst>
              <a:ext uri="{FF2B5EF4-FFF2-40B4-BE49-F238E27FC236}">
                <a16:creationId xmlns:a16="http://schemas.microsoft.com/office/drawing/2014/main" id="{93543123-5753-E4CD-59B8-FDBFF39FDCA3}"/>
              </a:ext>
            </a:extLst>
          </p:cNvPr>
          <p:cNvSpPr txBox="1"/>
          <p:nvPr/>
        </p:nvSpPr>
        <p:spPr>
          <a:xfrm>
            <a:off x="350519" y="152400"/>
            <a:ext cx="648160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68923741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D2702-F0C8-EF64-032E-490DF44B1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Content Placeholder 2">
            <a:extLst>
              <a:ext uri="{FF2B5EF4-FFF2-40B4-BE49-F238E27FC236}">
                <a16:creationId xmlns:a16="http://schemas.microsoft.com/office/drawing/2014/main" id="{06BE63D7-21B4-887B-81EC-E58126A730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4"/>
          </a:xfrm>
          <a:prstGeom prst="rect">
            <a:avLst/>
          </a:prstGeom>
        </p:spPr>
        <p:txBody>
          <a:bodyPr anchor="t">
            <a:noAutofit/>
          </a:bodyPr>
          <a:lstStyle>
            <a:lvl1pPr indent="-342900">
              <a:lnSpc>
                <a:spcPct val="100000"/>
              </a:lnSpc>
              <a:spcBef>
                <a:spcPts val="500"/>
              </a:spcBef>
              <a:defRPr sz="2400" b="0" spc="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marL="0" indent="0" algn="just"/>
            <a:r>
              <a:rPr lang="en-US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Geoff Hulten considers the following cases to use ML</a:t>
            </a:r>
          </a:p>
          <a:p>
            <a:pPr algn="just">
              <a:buFont typeface="+mj-lt"/>
              <a:buAutoNum type="arabicPeriod"/>
            </a:pPr>
            <a:r>
              <a:rPr lang="en-US" sz="1600" b="1" spc="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Open Sans"/>
              </a:rPr>
              <a:t>Intrinsically hard problems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0" spc="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Open Sans"/>
              </a:rPr>
              <a:t>Understanding human language is extremely complex - ambiguity, sarcasm, context, and cultural nuances make it hard to write fixed rules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0" spc="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Open Sans"/>
              </a:rPr>
              <a:t>Rule-based systems (grammar rules, dictionaries) </a:t>
            </a:r>
            <a:r>
              <a:rPr lang="en-US" sz="1600" b="0" spc="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Open Sans"/>
              </a:rPr>
              <a:t>faile</a:t>
            </a:r>
            <a:r>
              <a:rPr lang="en-US" sz="1600" b="0" spc="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Open Sans"/>
              </a:rPr>
              <a:t> to handle real-world variability</a:t>
            </a:r>
          </a:p>
          <a:p>
            <a:pPr algn="just">
              <a:buFont typeface="+mj-lt"/>
              <a:buAutoNum type="arabicPeriod"/>
            </a:pPr>
            <a:endParaRPr lang="en-US" sz="16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0" indent="0" algn="just"/>
            <a:r>
              <a:rPr lang="en-US" sz="1600" b="1" spc="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Open Sans"/>
              </a:rPr>
              <a:t>2. Big Problems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For large, complex problems where manual rule-based systems become unmanageable and hard to maintain, ML offers a more scalable approach by automatically learning and adapting rules from data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0" spc="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Open Sans"/>
              </a:rPr>
              <a:t>Recommending songs to millions of users from tens of millions of tracks</a:t>
            </a:r>
          </a:p>
          <a:p>
            <a:pPr algn="just">
              <a:buFont typeface="+mj-lt"/>
              <a:buAutoNum type="arabicPeriod"/>
            </a:pPr>
            <a:endParaRPr lang="en-US" sz="16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0" indent="0" algn="just"/>
            <a:r>
              <a:rPr lang="en-US" sz="1600" b="1" spc="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Open Sans"/>
              </a:rPr>
              <a:t>3. Time-changing problems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0" spc="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Open Sans"/>
              </a:rPr>
              <a:t>Fraud patterns evolve constantly - new scams, new attack methods, new user behaviors. Rules like "flag transactions above ₹50,000 at night" quickly become outdated and Fraudsters adapt to bypass fixed rules</a:t>
            </a:r>
          </a:p>
        </p:txBody>
      </p:sp>
      <p:sp>
        <p:nvSpPr>
          <p:cNvPr id="356" name="Content Placeholder 4">
            <a:extLst>
              <a:ext uri="{FF2B5EF4-FFF2-40B4-BE49-F238E27FC236}">
                <a16:creationId xmlns:a16="http://schemas.microsoft.com/office/drawing/2014/main" id="{237F73AE-1BD6-C5EF-C693-C84885CA4C27}"/>
              </a:ext>
            </a:extLst>
          </p:cNvPr>
          <p:cNvSpPr txBox="1"/>
          <p:nvPr/>
        </p:nvSpPr>
        <p:spPr>
          <a:xfrm>
            <a:off x="350519" y="152400"/>
            <a:ext cx="648160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US" dirty="0"/>
              <a:t>When to use ML</a:t>
            </a:r>
          </a:p>
        </p:txBody>
      </p:sp>
    </p:spTree>
    <p:extLst>
      <p:ext uri="{BB962C8B-B14F-4D97-AF65-F5344CB8AC3E}">
        <p14:creationId xmlns:p14="http://schemas.microsoft.com/office/powerpoint/2010/main" val="10656477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25552-AAE6-A870-CEE6-28BD21958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Content Placeholder 4">
            <a:extLst>
              <a:ext uri="{FF2B5EF4-FFF2-40B4-BE49-F238E27FC236}">
                <a16:creationId xmlns:a16="http://schemas.microsoft.com/office/drawing/2014/main" id="{83E067C4-CDF9-276F-9817-8084D914A465}"/>
              </a:ext>
            </a:extLst>
          </p:cNvPr>
          <p:cNvSpPr txBox="1"/>
          <p:nvPr/>
        </p:nvSpPr>
        <p:spPr>
          <a:xfrm>
            <a:off x="350519" y="152400"/>
            <a:ext cx="648160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US" dirty="0"/>
              <a:t>Big Data Deluge</a:t>
            </a:r>
          </a:p>
        </p:txBody>
      </p:sp>
      <p:pic>
        <p:nvPicPr>
          <p:cNvPr id="4" name="Picture 6" descr="Image">
            <a:extLst>
              <a:ext uri="{FF2B5EF4-FFF2-40B4-BE49-F238E27FC236}">
                <a16:creationId xmlns:a16="http://schemas.microsoft.com/office/drawing/2014/main" id="{DF4777D9-9432-8BC3-2FF0-BEBE7D685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19" y="1431561"/>
            <a:ext cx="4953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649212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A0107-58B1-43ED-12D0-219922BE1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Content Placeholder 2">
            <a:extLst>
              <a:ext uri="{FF2B5EF4-FFF2-40B4-BE49-F238E27FC236}">
                <a16:creationId xmlns:a16="http://schemas.microsoft.com/office/drawing/2014/main" id="{7C29964F-7860-96F1-B6FF-6F4AAD35C5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4"/>
          </a:xfrm>
          <a:prstGeom prst="rect">
            <a:avLst/>
          </a:prstGeom>
        </p:spPr>
        <p:txBody>
          <a:bodyPr anchor="t">
            <a:noAutofit/>
          </a:bodyPr>
          <a:lstStyle>
            <a:lvl1pPr indent="-342900">
              <a:lnSpc>
                <a:spcPct val="100000"/>
              </a:lnSpc>
              <a:spcBef>
                <a:spcPts val="500"/>
              </a:spcBef>
              <a:defRPr sz="2400" b="0" spc="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Traditional systems → deterministic (same input → same output)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ML systems → probabilistic (output depends on data and learned patterns)</a:t>
            </a:r>
          </a:p>
          <a:p>
            <a:pPr marL="0" indent="0" algn="just"/>
            <a:endParaRPr lang="en-US" sz="16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0" indent="0" algn="just"/>
            <a:r>
              <a:rPr lang="en-US" sz="16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Requirements must consider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Data quality and availability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Model behavior under uncertainty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Continuous learning and updates</a:t>
            </a:r>
          </a:p>
          <a:p>
            <a:pPr marL="0" indent="0" algn="just"/>
            <a:endParaRPr lang="en-US" sz="1600" b="0" spc="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  <a:sym typeface="Open Sans"/>
            </a:endParaRPr>
          </a:p>
          <a:p>
            <a:pPr marL="0" indent="0" algn="just"/>
            <a:r>
              <a:rPr lang="en-US" sz="1600" dirty="0">
                <a:solidFill>
                  <a:srgbClr val="00206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Requirements Engineering in ML systems is about translating high-level goals into measurable, data-aware, and model-aware specifications</a:t>
            </a:r>
            <a:endParaRPr lang="en-US" sz="1600" b="0" spc="0" dirty="0">
              <a:solidFill>
                <a:srgbClr val="002060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  <a:sym typeface="Open Sans"/>
            </a:endParaRPr>
          </a:p>
        </p:txBody>
      </p:sp>
      <p:sp>
        <p:nvSpPr>
          <p:cNvPr id="356" name="Content Placeholder 4">
            <a:extLst>
              <a:ext uri="{FF2B5EF4-FFF2-40B4-BE49-F238E27FC236}">
                <a16:creationId xmlns:a16="http://schemas.microsoft.com/office/drawing/2014/main" id="{C171F15E-EE57-6514-8A9A-0110B0D9135B}"/>
              </a:ext>
            </a:extLst>
          </p:cNvPr>
          <p:cNvSpPr txBox="1"/>
          <p:nvPr/>
        </p:nvSpPr>
        <p:spPr>
          <a:xfrm>
            <a:off x="350519" y="152400"/>
            <a:ext cx="648160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US" dirty="0"/>
              <a:t>Requirements Engineering</a:t>
            </a:r>
          </a:p>
        </p:txBody>
      </p:sp>
    </p:spTree>
    <p:extLst>
      <p:ext uri="{BB962C8B-B14F-4D97-AF65-F5344CB8AC3E}">
        <p14:creationId xmlns:p14="http://schemas.microsoft.com/office/powerpoint/2010/main" val="214857118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1BC5E-47C3-CAE9-B8FD-97196D61D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Content Placeholder 2">
            <a:extLst>
              <a:ext uri="{FF2B5EF4-FFF2-40B4-BE49-F238E27FC236}">
                <a16:creationId xmlns:a16="http://schemas.microsoft.com/office/drawing/2014/main" id="{26E97A05-3231-9399-7683-C9EEDA6D59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4"/>
          </a:xfrm>
          <a:prstGeom prst="rect">
            <a:avLst/>
          </a:prstGeom>
        </p:spPr>
        <p:txBody>
          <a:bodyPr anchor="t">
            <a:noAutofit/>
          </a:bodyPr>
          <a:lstStyle>
            <a:lvl1pPr indent="-342900">
              <a:lnSpc>
                <a:spcPct val="100000"/>
              </a:lnSpc>
              <a:spcBef>
                <a:spcPts val="500"/>
              </a:spcBef>
              <a:defRPr sz="2400" b="0" spc="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 goal in an ML system is a </a:t>
            </a:r>
            <a:r>
              <a:rPr lang="en-US" sz="18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desired outcome of the overall system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aligned across model, system, user, and organizational levels, and ideally expressed in measurable terms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ML systems must align </a:t>
            </a:r>
            <a:r>
              <a:rPr lang="en-US" sz="18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model goals, system goals, user goals, and organizational goals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Focusing only on model accuracy is insufficient for real-world systems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Good goals should be </a:t>
            </a:r>
            <a:r>
              <a:rPr lang="en-US" sz="18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clearly defined and measurable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Example: A chatbot goal is not just “answer questions,” but also </a:t>
            </a:r>
            <a:r>
              <a:rPr lang="en-US" sz="18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generate leads, reduce cost, and improve user experience</a:t>
            </a:r>
            <a:endParaRPr lang="en-US" sz="1800" b="1" spc="0" dirty="0">
              <a:solidFill>
                <a:srgbClr val="002060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  <a:sym typeface="Open Sans"/>
            </a:endParaRPr>
          </a:p>
        </p:txBody>
      </p:sp>
      <p:sp>
        <p:nvSpPr>
          <p:cNvPr id="356" name="Content Placeholder 4">
            <a:extLst>
              <a:ext uri="{FF2B5EF4-FFF2-40B4-BE49-F238E27FC236}">
                <a16:creationId xmlns:a16="http://schemas.microsoft.com/office/drawing/2014/main" id="{20A5A939-F591-4EF9-D0E3-D7CF13CF04C3}"/>
              </a:ext>
            </a:extLst>
          </p:cNvPr>
          <p:cNvSpPr txBox="1"/>
          <p:nvPr/>
        </p:nvSpPr>
        <p:spPr>
          <a:xfrm>
            <a:off x="350519" y="152400"/>
            <a:ext cx="648160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US" dirty="0"/>
              <a:t>Goals</a:t>
            </a:r>
          </a:p>
        </p:txBody>
      </p:sp>
    </p:spTree>
    <p:extLst>
      <p:ext uri="{BB962C8B-B14F-4D97-AF65-F5344CB8AC3E}">
        <p14:creationId xmlns:p14="http://schemas.microsoft.com/office/powerpoint/2010/main" val="44581992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72220-B895-6088-FC12-2886E6BB3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Content Placeholder 4">
            <a:extLst>
              <a:ext uri="{FF2B5EF4-FFF2-40B4-BE49-F238E27FC236}">
                <a16:creationId xmlns:a16="http://schemas.microsoft.com/office/drawing/2014/main" id="{90C88945-50FF-08BA-1C52-0C4DE450F105}"/>
              </a:ext>
            </a:extLst>
          </p:cNvPr>
          <p:cNvSpPr txBox="1"/>
          <p:nvPr/>
        </p:nvSpPr>
        <p:spPr>
          <a:xfrm>
            <a:off x="350519" y="152400"/>
            <a:ext cx="648160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US" dirty="0"/>
              <a:t>Goals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16C1922-6BA7-707A-BF86-E852F535AD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916628"/>
              </p:ext>
            </p:extLst>
          </p:nvPr>
        </p:nvGraphicFramePr>
        <p:xfrm>
          <a:off x="239843" y="2080101"/>
          <a:ext cx="8694294" cy="3627120"/>
        </p:xfrm>
        <a:graphic>
          <a:graphicData uri="http://schemas.openxmlformats.org/drawingml/2006/table">
            <a:tbl>
              <a:tblPr/>
              <a:tblGrid>
                <a:gridCol w="1274164">
                  <a:extLst>
                    <a:ext uri="{9D8B030D-6E8A-4147-A177-3AD203B41FA5}">
                      <a16:colId xmlns:a16="http://schemas.microsoft.com/office/drawing/2014/main" val="3130342297"/>
                    </a:ext>
                  </a:extLst>
                </a:gridCol>
                <a:gridCol w="1214203">
                  <a:extLst>
                    <a:ext uri="{9D8B030D-6E8A-4147-A177-3AD203B41FA5}">
                      <a16:colId xmlns:a16="http://schemas.microsoft.com/office/drawing/2014/main" val="1328185762"/>
                    </a:ext>
                  </a:extLst>
                </a:gridCol>
                <a:gridCol w="1648918">
                  <a:extLst>
                    <a:ext uri="{9D8B030D-6E8A-4147-A177-3AD203B41FA5}">
                      <a16:colId xmlns:a16="http://schemas.microsoft.com/office/drawing/2014/main" val="3837380087"/>
                    </a:ext>
                  </a:extLst>
                </a:gridCol>
                <a:gridCol w="1499016">
                  <a:extLst>
                    <a:ext uri="{9D8B030D-6E8A-4147-A177-3AD203B41FA5}">
                      <a16:colId xmlns:a16="http://schemas.microsoft.com/office/drawing/2014/main" val="4136129327"/>
                    </a:ext>
                  </a:extLst>
                </a:gridCol>
                <a:gridCol w="1349115">
                  <a:extLst>
                    <a:ext uri="{9D8B030D-6E8A-4147-A177-3AD203B41FA5}">
                      <a16:colId xmlns:a16="http://schemas.microsoft.com/office/drawing/2014/main" val="141726788"/>
                    </a:ext>
                  </a:extLst>
                </a:gridCol>
                <a:gridCol w="1708878">
                  <a:extLst>
                    <a:ext uri="{9D8B030D-6E8A-4147-A177-3AD203B41FA5}">
                      <a16:colId xmlns:a16="http://schemas.microsoft.com/office/drawing/2014/main" val="31737066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Goal Type</a:t>
                      </a:r>
                      <a:endParaRPr lang="en-US" sz="130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Focus</a:t>
                      </a:r>
                      <a:endParaRPr lang="en-US" sz="130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What it Answers</a:t>
                      </a:r>
                      <a:endParaRPr lang="en-US" sz="130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Typical Objectives</a:t>
                      </a:r>
                      <a:endParaRPr lang="en-US" sz="13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How Measured</a:t>
                      </a:r>
                      <a:endParaRPr lang="en-US" sz="130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E-commerce Example</a:t>
                      </a:r>
                      <a:endParaRPr lang="en-US" sz="130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363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Organizational</a:t>
                      </a:r>
                      <a:endParaRPr lang="en-US" sz="130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Business outcomes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Why are we building this system?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Increase revenue, profit, market share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KPIs: revenue growth, retention, churn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Increase overall sales revenue by 20%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292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Product</a:t>
                      </a:r>
                      <a:endParaRPr lang="en-US" sz="130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Product behavior &amp; value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What should the product achieve?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Help users solve problems quickly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Task success rate, feature usage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Recommend relevant products to users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993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User</a:t>
                      </a:r>
                      <a:endParaRPr lang="en-US" sz="130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User needs &amp; satisfaction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What do users want to accomplish?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Get accurate answers, complete tasks easily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User satisfaction, completion rate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Find desired products quickly and easily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617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Model</a:t>
                      </a:r>
                      <a:endParaRPr lang="en-US" sz="130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ML performance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How well does the model predict?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Classify correctly, detect fraud accurately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Accuracy, precision, recall, F1-score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Recommendation model achieves high click-through rate (CTR)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12425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008547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6DC36-DAFA-E8E8-1D71-06795F8A5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Content Placeholder 2">
            <a:extLst>
              <a:ext uri="{FF2B5EF4-FFF2-40B4-BE49-F238E27FC236}">
                <a16:creationId xmlns:a16="http://schemas.microsoft.com/office/drawing/2014/main" id="{11A4629C-7468-1FA9-451C-87E70FE2A9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55705" y="1483402"/>
            <a:ext cx="4347147" cy="25339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t">
            <a:noAutofit/>
          </a:bodyPr>
          <a:lstStyle>
            <a:lvl1pPr indent="-342900">
              <a:lnSpc>
                <a:spcPct val="100000"/>
              </a:lnSpc>
              <a:spcBef>
                <a:spcPts val="500"/>
              </a:spcBef>
              <a:defRPr sz="2400" b="0" spc="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Goals across levels are </a:t>
            </a:r>
            <a:r>
              <a:rPr lang="en-US" sz="16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interconnected and hierarchical</a:t>
            </a:r>
          </a:p>
          <a:p>
            <a:pPr marL="0" indent="0" algn="just"/>
            <a:r>
              <a:rPr lang="en-US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Goals may: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Support each other</a:t>
            </a:r>
            <a:r>
              <a:rPr lang="en-US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(accuracy improves user experience)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Conflict</a:t>
            </a:r>
            <a:r>
              <a:rPr lang="en-US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(accuracy vs latency, cost vs quality)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Requires </a:t>
            </a:r>
            <a:r>
              <a:rPr lang="en-US" sz="16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trade-offs and prioritization</a:t>
            </a:r>
            <a:endParaRPr lang="en-US" sz="1600" b="1" spc="0" dirty="0">
              <a:solidFill>
                <a:srgbClr val="002060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  <a:sym typeface="Open Sans"/>
            </a:endParaRPr>
          </a:p>
        </p:txBody>
      </p:sp>
      <p:sp>
        <p:nvSpPr>
          <p:cNvPr id="356" name="Content Placeholder 4">
            <a:extLst>
              <a:ext uri="{FF2B5EF4-FFF2-40B4-BE49-F238E27FC236}">
                <a16:creationId xmlns:a16="http://schemas.microsoft.com/office/drawing/2014/main" id="{DF13FB73-59F5-126B-0AAC-B01AF7EC4D34}"/>
              </a:ext>
            </a:extLst>
          </p:cNvPr>
          <p:cNvSpPr txBox="1"/>
          <p:nvPr/>
        </p:nvSpPr>
        <p:spPr>
          <a:xfrm>
            <a:off x="350519" y="152400"/>
            <a:ext cx="648160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US" dirty="0"/>
              <a:t>Relationship Between Goals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045C4D-9A9D-9A2E-F13C-7A29CFE32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48" y="1483402"/>
            <a:ext cx="4106000" cy="320720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422721683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68F58-3DCD-9D74-AA53-6024E470B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Content Placeholder 2">
            <a:extLst>
              <a:ext uri="{FF2B5EF4-FFF2-40B4-BE49-F238E27FC236}">
                <a16:creationId xmlns:a16="http://schemas.microsoft.com/office/drawing/2014/main" id="{2BAC8BD7-92A1-A7EC-083B-D5A616BBB5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2703409"/>
          </a:xfrm>
          <a:prstGeom prst="rect">
            <a:avLst/>
          </a:prstGeom>
        </p:spPr>
        <p:txBody>
          <a:bodyPr anchor="t">
            <a:noAutofit/>
          </a:bodyPr>
          <a:lstStyle>
            <a:lvl1pPr indent="-342900">
              <a:lnSpc>
                <a:spcPct val="100000"/>
              </a:lnSpc>
              <a:spcBef>
                <a:spcPts val="500"/>
              </a:spcBef>
              <a:defRPr sz="2400" b="0" spc="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marL="0" indent="0" algn="just">
              <a:lnSpc>
                <a:spcPct val="150000"/>
              </a:lnSpc>
            </a:pPr>
            <a:r>
              <a:rPr lang="en-US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Understanding the goals of an organization and the goals of individuals within it, we can </a:t>
            </a:r>
          </a:p>
          <a:p>
            <a:pPr algn="just">
              <a:lnSpc>
                <a:spcPct val="150000"/>
              </a:lnSpc>
              <a:buFont typeface="+mj-lt"/>
              <a:buAutoNum type="alphaLcPeriod"/>
            </a:pPr>
            <a:r>
              <a:rPr lang="en-US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Explore the decisions that people routinely make within the organization to further their goals </a:t>
            </a:r>
          </a:p>
          <a:p>
            <a:pPr algn="just">
              <a:lnSpc>
                <a:spcPct val="150000"/>
              </a:lnSpc>
              <a:buFont typeface="+mj-lt"/>
              <a:buAutoNum type="alphaLcPeriod"/>
            </a:pPr>
            <a:r>
              <a:rPr lang="en-US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Ask </a:t>
            </a:r>
            <a:r>
              <a:rPr lang="en-US" sz="16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which of those decisions could be supported by predictions </a:t>
            </a:r>
          </a:p>
          <a:p>
            <a:pPr algn="just">
              <a:lnSpc>
                <a:spcPct val="150000"/>
              </a:lnSpc>
              <a:buFont typeface="+mj-lt"/>
              <a:buAutoNum type="alphaLcPeriod"/>
            </a:pPr>
            <a:r>
              <a:rPr lang="en-US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Which of those </a:t>
            </a:r>
            <a:r>
              <a:rPr lang="en-US" sz="16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predictions can be supported with machine learning</a:t>
            </a:r>
            <a:endParaRPr lang="en-US" sz="16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0" indent="0" algn="just">
              <a:lnSpc>
                <a:spcPct val="150000"/>
              </a:lnSpc>
            </a:pPr>
            <a:endParaRPr lang="en-US" sz="16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56" name="Content Placeholder 4">
            <a:extLst>
              <a:ext uri="{FF2B5EF4-FFF2-40B4-BE49-F238E27FC236}">
                <a16:creationId xmlns:a16="http://schemas.microsoft.com/office/drawing/2014/main" id="{5D213DF5-61D7-A4D0-6E3D-CF5E7C9763C5}"/>
              </a:ext>
            </a:extLst>
          </p:cNvPr>
          <p:cNvSpPr txBox="1"/>
          <p:nvPr/>
        </p:nvSpPr>
        <p:spPr>
          <a:xfrm>
            <a:off x="350519" y="152400"/>
            <a:ext cx="648160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US" dirty="0"/>
              <a:t>From Goals to Requirements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4F9FA4-7FDA-6C6C-F7E4-8E8ABBCA0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471" y="3694215"/>
            <a:ext cx="5124330" cy="18946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5F9EDB-C0AD-D25C-8714-B198AC9DD302}"/>
              </a:ext>
            </a:extLst>
          </p:cNvPr>
          <p:cNvSpPr txBox="1"/>
          <p:nvPr/>
        </p:nvSpPr>
        <p:spPr>
          <a:xfrm>
            <a:off x="958025" y="5751293"/>
            <a:ext cx="6923149" cy="646331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Connection from goals to questions and predictions has been formalized in the conceptual modeling notation GR4ML</a:t>
            </a:r>
          </a:p>
        </p:txBody>
      </p:sp>
    </p:spTree>
    <p:extLst>
      <p:ext uri="{BB962C8B-B14F-4D97-AF65-F5344CB8AC3E}">
        <p14:creationId xmlns:p14="http://schemas.microsoft.com/office/powerpoint/2010/main" val="234443121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74A65-161F-69AC-D14C-C201A3721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Content Placeholder 1">
            <a:extLst>
              <a:ext uri="{FF2B5EF4-FFF2-40B4-BE49-F238E27FC236}">
                <a16:creationId xmlns:a16="http://schemas.microsoft.com/office/drawing/2014/main" id="{A6C4BB5E-786D-F21F-B74B-5B5CB8E8C232}"/>
              </a:ext>
            </a:extLst>
          </p:cNvPr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pPr algn="ctr" eaLnBrk="1" hangingPunct="1">
              <a:spcBef>
                <a:spcPct val="0"/>
              </a:spcBef>
              <a:defRPr/>
            </a:pPr>
            <a:r>
              <a:rPr lang="en-US" dirty="0">
                <a:latin typeface="Arial" charset="0"/>
                <a:cs typeface="Arial" charset="0"/>
              </a:rPr>
              <a:t>GR4ML Modeling Notation</a:t>
            </a:r>
          </a:p>
          <a:p>
            <a:pPr algn="ctr" eaLnBrk="1" hangingPunct="1">
              <a:spcBef>
                <a:spcPct val="0"/>
              </a:spcBef>
              <a:defRPr/>
            </a:pPr>
            <a:r>
              <a:rPr lang="en-US" sz="2900" dirty="0">
                <a:latin typeface="Arial" charset="0"/>
                <a:cs typeface="Arial" charset="0"/>
              </a:rPr>
              <a:t>[R6 - https://www.cs.toronto.edu/~soroosh/gr4ml_introduction.html]</a:t>
            </a:r>
          </a:p>
        </p:txBody>
      </p:sp>
    </p:spTree>
    <p:extLst>
      <p:ext uri="{BB962C8B-B14F-4D97-AF65-F5344CB8AC3E}">
        <p14:creationId xmlns:p14="http://schemas.microsoft.com/office/powerpoint/2010/main" val="70326735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A3D3E-D37C-DF2A-1FD0-038189E86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Content Placeholder 2">
            <a:extLst>
              <a:ext uri="{FF2B5EF4-FFF2-40B4-BE49-F238E27FC236}">
                <a16:creationId xmlns:a16="http://schemas.microsoft.com/office/drawing/2014/main" id="{E4038670-18E1-9378-CC08-5CE775FBAB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4"/>
          </a:xfrm>
          <a:prstGeom prst="rect">
            <a:avLst/>
          </a:prstGeom>
        </p:spPr>
        <p:txBody>
          <a:bodyPr anchor="t"/>
          <a:lstStyle>
            <a:lvl1pPr indent="-342900">
              <a:lnSpc>
                <a:spcPct val="100000"/>
              </a:lnSpc>
              <a:spcBef>
                <a:spcPts val="500"/>
              </a:spcBef>
              <a:defRPr sz="2400" b="0" spc="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Organizations struggle to apply ML effectively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Gap between business needs and ML solutions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ML projects involve requirements, data, algorithms, deployment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Need a structured approach</a:t>
            </a:r>
          </a:p>
        </p:txBody>
      </p:sp>
      <p:sp>
        <p:nvSpPr>
          <p:cNvPr id="356" name="Content Placeholder 4">
            <a:extLst>
              <a:ext uri="{FF2B5EF4-FFF2-40B4-BE49-F238E27FC236}">
                <a16:creationId xmlns:a16="http://schemas.microsoft.com/office/drawing/2014/main" id="{367D2423-C053-8E7A-CEA6-BBA96E94365C}"/>
              </a:ext>
            </a:extLst>
          </p:cNvPr>
          <p:cNvSpPr txBox="1"/>
          <p:nvPr/>
        </p:nvSpPr>
        <p:spPr>
          <a:xfrm>
            <a:off x="350519" y="152400"/>
            <a:ext cx="648160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US" dirty="0"/>
              <a:t>Why we need GR4ML</a:t>
            </a:r>
          </a:p>
        </p:txBody>
      </p:sp>
    </p:spTree>
    <p:extLst>
      <p:ext uri="{BB962C8B-B14F-4D97-AF65-F5344CB8AC3E}">
        <p14:creationId xmlns:p14="http://schemas.microsoft.com/office/powerpoint/2010/main" val="39112842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93AB7-AE98-D514-06FF-29279B4DB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Content Placeholder 2">
            <a:extLst>
              <a:ext uri="{FF2B5EF4-FFF2-40B4-BE49-F238E27FC236}">
                <a16:creationId xmlns:a16="http://schemas.microsoft.com/office/drawing/2014/main" id="{9CCF2A3D-D848-283B-6DAB-12FF326056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569377" cy="4525964"/>
          </a:xfrm>
          <a:prstGeom prst="rect">
            <a:avLst/>
          </a:prstGeom>
        </p:spPr>
        <p:txBody>
          <a:bodyPr anchor="t"/>
          <a:lstStyle>
            <a:lvl1pPr indent="-342900">
              <a:lnSpc>
                <a:spcPct val="100000"/>
              </a:lnSpc>
              <a:spcBef>
                <a:spcPts val="500"/>
              </a:spcBef>
              <a:defRPr sz="2400" b="0" spc="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Conceptual modeling framework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Supports requirements elicitation, design and development of Machine Learning solutions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Aligns ML systems with business goals</a:t>
            </a:r>
          </a:p>
          <a:p>
            <a:pPr marL="0" indent="0"/>
            <a:endParaRPr 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0" indent="0"/>
            <a:r>
              <a:rPr lang="en-US" u="sng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Core Idea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ML is not just algorithms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Requires alignment of business, analytics, and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GR4ML connects all three layers</a:t>
            </a:r>
          </a:p>
        </p:txBody>
      </p:sp>
      <p:sp>
        <p:nvSpPr>
          <p:cNvPr id="356" name="Content Placeholder 4">
            <a:extLst>
              <a:ext uri="{FF2B5EF4-FFF2-40B4-BE49-F238E27FC236}">
                <a16:creationId xmlns:a16="http://schemas.microsoft.com/office/drawing/2014/main" id="{5D35D100-FB3C-76A5-B22D-39A12A2DE953}"/>
              </a:ext>
            </a:extLst>
          </p:cNvPr>
          <p:cNvSpPr txBox="1"/>
          <p:nvPr/>
        </p:nvSpPr>
        <p:spPr>
          <a:xfrm>
            <a:off x="350519" y="152400"/>
            <a:ext cx="648160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US" dirty="0"/>
              <a:t>What is GR4ML?</a:t>
            </a:r>
          </a:p>
        </p:txBody>
      </p:sp>
    </p:spTree>
    <p:extLst>
      <p:ext uri="{BB962C8B-B14F-4D97-AF65-F5344CB8AC3E}">
        <p14:creationId xmlns:p14="http://schemas.microsoft.com/office/powerpoint/2010/main" val="412083528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03D5C-486F-F5AA-CAD0-C0D199F30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Content Placeholder 2">
            <a:extLst>
              <a:ext uri="{FF2B5EF4-FFF2-40B4-BE49-F238E27FC236}">
                <a16:creationId xmlns:a16="http://schemas.microsoft.com/office/drawing/2014/main" id="{B9AC5CB8-2A57-9798-8C13-259A43FADE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4"/>
          </a:xfrm>
          <a:prstGeom prst="rect">
            <a:avLst/>
          </a:prstGeom>
        </p:spPr>
        <p:txBody>
          <a:bodyPr anchor="t"/>
          <a:lstStyle>
            <a:lvl1pPr indent="-342900">
              <a:lnSpc>
                <a:spcPct val="100000"/>
              </a:lnSpc>
              <a:spcBef>
                <a:spcPts val="500"/>
              </a:spcBef>
              <a:defRPr sz="2400" b="0" spc="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Business 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Analytics Design 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Data Preparation View</a:t>
            </a:r>
          </a:p>
        </p:txBody>
      </p:sp>
      <p:sp>
        <p:nvSpPr>
          <p:cNvPr id="356" name="Content Placeholder 4">
            <a:extLst>
              <a:ext uri="{FF2B5EF4-FFF2-40B4-BE49-F238E27FC236}">
                <a16:creationId xmlns:a16="http://schemas.microsoft.com/office/drawing/2014/main" id="{40D9461A-4B33-EC54-5CA2-3CF09801CDA7}"/>
              </a:ext>
            </a:extLst>
          </p:cNvPr>
          <p:cNvSpPr txBox="1"/>
          <p:nvPr/>
        </p:nvSpPr>
        <p:spPr>
          <a:xfrm>
            <a:off x="350519" y="152400"/>
            <a:ext cx="648160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US" dirty="0"/>
              <a:t>Three Views in GR4ML</a:t>
            </a:r>
          </a:p>
        </p:txBody>
      </p:sp>
    </p:spTree>
    <p:extLst>
      <p:ext uri="{BB962C8B-B14F-4D97-AF65-F5344CB8AC3E}">
        <p14:creationId xmlns:p14="http://schemas.microsoft.com/office/powerpoint/2010/main" val="362539035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56600-3B5B-F405-09E2-FDBDEC1B7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Content Placeholder 2">
            <a:extLst>
              <a:ext uri="{FF2B5EF4-FFF2-40B4-BE49-F238E27FC236}">
                <a16:creationId xmlns:a16="http://schemas.microsoft.com/office/drawing/2014/main" id="{F299154B-B170-12C1-9835-E512335FA5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4"/>
          </a:xfrm>
          <a:prstGeom prst="rect">
            <a:avLst/>
          </a:prstGeom>
        </p:spPr>
        <p:txBody>
          <a:bodyPr anchor="t">
            <a:normAutofit/>
          </a:bodyPr>
          <a:lstStyle>
            <a:lvl1pPr indent="-342900">
              <a:lnSpc>
                <a:spcPct val="100000"/>
              </a:lnSpc>
              <a:spcBef>
                <a:spcPts val="500"/>
              </a:spcBef>
              <a:defRPr sz="2400" b="0" spc="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Identifies actors, goals, and decisions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Defines business objectives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Answers: Who needs ML and why?</a:t>
            </a:r>
          </a:p>
          <a:p>
            <a:pPr marL="0" indent="0" algn="just"/>
            <a:endParaRPr lang="en-US" sz="2200" u="sng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0" indent="0" algn="just"/>
            <a:r>
              <a:rPr lang="en-US" sz="2200" u="sng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Aim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Facilitate the elicitation and clarification of ML requirements in business contexts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Support analysis of those requirements (e.g., prioritization)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Ensure the alignment of business and analytics strategies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main modeling elements are </a:t>
            </a:r>
            <a:r>
              <a:rPr lang="en-US" sz="2200" i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Actors, Strategic Goals, Indicators, Decision Goals, Question Goals, and Insights</a:t>
            </a:r>
            <a:endParaRPr lang="en-US" sz="2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56" name="Content Placeholder 4">
            <a:extLst>
              <a:ext uri="{FF2B5EF4-FFF2-40B4-BE49-F238E27FC236}">
                <a16:creationId xmlns:a16="http://schemas.microsoft.com/office/drawing/2014/main" id="{8E403505-1AF3-8A05-0C24-CE8EF10F7673}"/>
              </a:ext>
            </a:extLst>
          </p:cNvPr>
          <p:cNvSpPr txBox="1"/>
          <p:nvPr/>
        </p:nvSpPr>
        <p:spPr>
          <a:xfrm>
            <a:off x="350519" y="152400"/>
            <a:ext cx="648160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US" dirty="0"/>
              <a:t>Business View (Why?)</a:t>
            </a:r>
          </a:p>
        </p:txBody>
      </p:sp>
    </p:spTree>
    <p:extLst>
      <p:ext uri="{BB962C8B-B14F-4D97-AF65-F5344CB8AC3E}">
        <p14:creationId xmlns:p14="http://schemas.microsoft.com/office/powerpoint/2010/main" val="553822200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C682A-B885-BBEF-0708-03DF972D8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Content Placeholder 4">
            <a:extLst>
              <a:ext uri="{FF2B5EF4-FFF2-40B4-BE49-F238E27FC236}">
                <a16:creationId xmlns:a16="http://schemas.microsoft.com/office/drawing/2014/main" id="{207D6709-6666-369F-1F70-B0C302AC3C41}"/>
              </a:ext>
            </a:extLst>
          </p:cNvPr>
          <p:cNvSpPr txBox="1"/>
          <p:nvPr/>
        </p:nvSpPr>
        <p:spPr>
          <a:xfrm>
            <a:off x="350519" y="152400"/>
            <a:ext cx="648160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US" dirty="0"/>
              <a:t>Business 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24763C-4036-829A-33EC-E9187AE31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19" y="1423632"/>
            <a:ext cx="7715155" cy="26087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02E517-690A-7A40-2576-5BA68C7D5A24}"/>
              </a:ext>
            </a:extLst>
          </p:cNvPr>
          <p:cNvSpPr txBox="1"/>
          <p:nvPr/>
        </p:nvSpPr>
        <p:spPr>
          <a:xfrm>
            <a:off x="352269" y="4482777"/>
            <a:ext cx="8439462" cy="156966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Open Sans"/>
              </a:rPr>
              <a:t>StrategicGoal</a:t>
            </a:r>
            <a:r>
              <a:rPr lang="en-US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Open Sans"/>
              </a:rPr>
              <a:t> → High-level business objective the organization aims to achieve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Open Sans"/>
              </a:rPr>
              <a:t>DecisionGoal</a:t>
            </a:r>
            <a:r>
              <a:rPr lang="en-US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Open Sans"/>
              </a:rPr>
              <a:t> → Specific decisions that need to be made to fulfill strategic goals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Open Sans"/>
              </a:rPr>
              <a:t>QuestionGoal</a:t>
            </a:r>
            <a:r>
              <a:rPr lang="en-US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Open Sans"/>
              </a:rPr>
              <a:t> → Questions that must be answered to support decision-making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Open Sans"/>
              </a:rPr>
              <a:t>Insight → Data-driven answers or findings that address the questions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Open Sans"/>
              </a:rPr>
              <a:t>Indicator → Metrics used to evaluate whether strategic goals are being achieved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Open Sans"/>
              </a:rPr>
              <a:t>Actor → Stakeholder or user who drives decisions and requires insights</a:t>
            </a:r>
          </a:p>
        </p:txBody>
      </p:sp>
    </p:spTree>
    <p:extLst>
      <p:ext uri="{BB962C8B-B14F-4D97-AF65-F5344CB8AC3E}">
        <p14:creationId xmlns:p14="http://schemas.microsoft.com/office/powerpoint/2010/main" val="311535838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26C94-A89E-4BA7-4D4D-4A10118B8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Content Placeholder 4">
            <a:extLst>
              <a:ext uri="{FF2B5EF4-FFF2-40B4-BE49-F238E27FC236}">
                <a16:creationId xmlns:a16="http://schemas.microsoft.com/office/drawing/2014/main" id="{DDEDB653-AD56-96D4-A2C9-43256E935706}"/>
              </a:ext>
            </a:extLst>
          </p:cNvPr>
          <p:cNvSpPr txBox="1"/>
          <p:nvPr/>
        </p:nvSpPr>
        <p:spPr>
          <a:xfrm>
            <a:off x="350519" y="152400"/>
            <a:ext cx="648160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US" dirty="0"/>
              <a:t>Business View - Toy Example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9F1F668-4635-3D0D-5B7E-23986CDFB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298" y="1648227"/>
            <a:ext cx="8529403" cy="2812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3DC575-77FB-EA0C-EBD8-26E787B7D877}"/>
              </a:ext>
            </a:extLst>
          </p:cNvPr>
          <p:cNvSpPr txBox="1"/>
          <p:nvPr/>
        </p:nvSpPr>
        <p:spPr>
          <a:xfrm>
            <a:off x="307298" y="4708161"/>
            <a:ext cx="8282066" cy="18158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kumimoji="0" lang="en-US" sz="16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Scenario</a:t>
            </a: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600" dirty="0"/>
              <a:t>Credit Risk Prediction in a Bank</a:t>
            </a:r>
          </a:p>
          <a:p>
            <a:r>
              <a:rPr lang="en-US" sz="1600" dirty="0"/>
              <a:t>The bank processes loan/credit applications.</a:t>
            </a:r>
          </a:p>
          <a:p>
            <a:r>
              <a:rPr lang="en-US" sz="1600" dirty="0"/>
              <a:t>The goal is to make good lending decisions quickly and safely.</a:t>
            </a:r>
          </a:p>
          <a:p>
            <a:r>
              <a:rPr lang="en-US" sz="1600" b="1" dirty="0"/>
              <a:t>Case worker</a:t>
            </a:r>
            <a:r>
              <a:rPr lang="en-US" sz="1600" dirty="0"/>
              <a:t> is the bank employee who handles and evaluates credit/loan applications</a:t>
            </a:r>
          </a:p>
          <a:p>
            <a:r>
              <a:rPr lang="en-US" sz="1600" dirty="0" err="1"/>
              <a:t>UpdateFrequeuecy</a:t>
            </a:r>
            <a:r>
              <a:rPr lang="en-US" sz="1600" dirty="0"/>
              <a:t>: monthly -&gt; Every month, the bank retrains or refreshes the model using newer data.</a:t>
            </a:r>
          </a:p>
          <a:p>
            <a:r>
              <a:rPr lang="en-US" sz="1600" dirty="0" err="1"/>
              <a:t>learningPeriod</a:t>
            </a:r>
            <a:r>
              <a:rPr lang="en-US" sz="1600" dirty="0"/>
              <a:t> - How much historical data was used to train the model</a:t>
            </a:r>
          </a:p>
        </p:txBody>
      </p:sp>
    </p:spTree>
    <p:extLst>
      <p:ext uri="{BB962C8B-B14F-4D97-AF65-F5344CB8AC3E}">
        <p14:creationId xmlns:p14="http://schemas.microsoft.com/office/powerpoint/2010/main" val="3109516282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F9F44-E5BC-BFE9-3C6C-D09036789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Content Placeholder 2">
            <a:extLst>
              <a:ext uri="{FF2B5EF4-FFF2-40B4-BE49-F238E27FC236}">
                <a16:creationId xmlns:a16="http://schemas.microsoft.com/office/drawing/2014/main" id="{04FD2EF2-3842-A93D-D39B-AA395156F1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4"/>
          </a:xfrm>
          <a:prstGeom prst="rect">
            <a:avLst/>
          </a:prstGeom>
        </p:spPr>
        <p:txBody>
          <a:bodyPr anchor="t">
            <a:normAutofit fontScale="85000" lnSpcReduction="10000"/>
          </a:bodyPr>
          <a:lstStyle>
            <a:lvl1pPr indent="-342900">
              <a:lnSpc>
                <a:spcPct val="100000"/>
              </a:lnSpc>
              <a:spcBef>
                <a:spcPts val="500"/>
              </a:spcBef>
              <a:defRPr sz="2400" b="0" spc="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Defines type of analytics [Descriptive, Diagnostic, Predictive etc.]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Selects algorithms and techniques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Considers trade-offs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Answers: What analytics is needed?</a:t>
            </a:r>
          </a:p>
          <a:p>
            <a:pPr marL="0" indent="0" algn="just"/>
            <a:endParaRPr lang="en-US" u="sng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0" indent="0" algn="just"/>
            <a:r>
              <a:rPr lang="en-US" u="sng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Aim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Support exploration of alternate approaches for the analytical and machine learning problem at hand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Looks to facilitate design of (machine learning) experiments and identify trade-offs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Supports algorithm selection and monitoring their performance over time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main modeling elements are </a:t>
            </a:r>
            <a:r>
              <a:rPr lang="en-US" i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Analytics Goals, Algorithms, </a:t>
            </a:r>
            <a:r>
              <a:rPr lang="en-US" i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Softgoals</a:t>
            </a:r>
            <a:r>
              <a:rPr lang="en-US" i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 and </a:t>
            </a:r>
            <a:r>
              <a:rPr lang="en-US" i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Influences</a:t>
            </a:r>
            <a:endParaRPr 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56" name="Content Placeholder 4">
            <a:extLst>
              <a:ext uri="{FF2B5EF4-FFF2-40B4-BE49-F238E27FC236}">
                <a16:creationId xmlns:a16="http://schemas.microsoft.com/office/drawing/2014/main" id="{5465FDF8-CC53-1B4A-4B7D-D1AE869F1E9D}"/>
              </a:ext>
            </a:extLst>
          </p:cNvPr>
          <p:cNvSpPr txBox="1"/>
          <p:nvPr/>
        </p:nvSpPr>
        <p:spPr>
          <a:xfrm>
            <a:off x="350519" y="152400"/>
            <a:ext cx="648160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 marL="0" indent="0"/>
            <a:r>
              <a:rPr lang="en-US" dirty="0"/>
              <a:t>Analytics Design View (What?)</a:t>
            </a:r>
          </a:p>
        </p:txBody>
      </p:sp>
    </p:spTree>
    <p:extLst>
      <p:ext uri="{BB962C8B-B14F-4D97-AF65-F5344CB8AC3E}">
        <p14:creationId xmlns:p14="http://schemas.microsoft.com/office/powerpoint/2010/main" val="1800781570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2C908-10E6-D7FA-F340-A3D6ED33E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Content Placeholder 4">
            <a:extLst>
              <a:ext uri="{FF2B5EF4-FFF2-40B4-BE49-F238E27FC236}">
                <a16:creationId xmlns:a16="http://schemas.microsoft.com/office/drawing/2014/main" id="{1EA4F28B-F639-C3EC-0F20-C9689A823B7C}"/>
              </a:ext>
            </a:extLst>
          </p:cNvPr>
          <p:cNvSpPr txBox="1"/>
          <p:nvPr/>
        </p:nvSpPr>
        <p:spPr>
          <a:xfrm>
            <a:off x="350519" y="152400"/>
            <a:ext cx="648160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 marL="0" indent="0"/>
            <a:r>
              <a:rPr lang="en-US" dirty="0"/>
              <a:t>Analytics Design 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B8BDE0-E7B4-79C9-6145-6524D65E0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01" y="1484025"/>
            <a:ext cx="3957403" cy="4835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FE274D-8086-5FE1-86EA-84DFFE47FAFF}"/>
              </a:ext>
            </a:extLst>
          </p:cNvPr>
          <p:cNvSpPr txBox="1"/>
          <p:nvPr/>
        </p:nvSpPr>
        <p:spPr>
          <a:xfrm>
            <a:off x="4137284" y="1484025"/>
            <a:ext cx="4836078" cy="304698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Open Sans"/>
              </a:rPr>
              <a:t>Algorithm → A specific computational method used to achieve analytics goals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Open Sans"/>
              </a:rPr>
              <a:t>AnalyticsGoal</a:t>
            </a:r>
            <a:r>
              <a:rPr lang="en-US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Open Sans"/>
              </a:rPr>
              <a:t> → The analytical objective that defines what insight needs to be generated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Open Sans"/>
              </a:rPr>
              <a:t>SoftGoal</a:t>
            </a:r>
            <a:r>
              <a:rPr lang="en-US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Open Sans"/>
              </a:rPr>
              <a:t> → Quality attributes (e.g., accuracy, interpretability) influencing algorithm choice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Open Sans"/>
              </a:rPr>
              <a:t>DescriptionGoal</a:t>
            </a:r>
            <a:r>
              <a:rPr lang="en-US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Open Sans"/>
              </a:rPr>
              <a:t> → Goal focused on understanding patterns or summarizing data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Open Sans"/>
              </a:rPr>
              <a:t>PredictionGoal</a:t>
            </a:r>
            <a:r>
              <a:rPr lang="en-US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Open Sans"/>
              </a:rPr>
              <a:t> → Goal focused on forecasting future or unknown outcomes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Open Sans"/>
              </a:rPr>
              <a:t>PrescriptionGoal</a:t>
            </a:r>
            <a:r>
              <a:rPr lang="en-US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Open Sans"/>
              </a:rPr>
              <a:t> → Goal focused on recommending optimal actions or decisions</a:t>
            </a:r>
          </a:p>
        </p:txBody>
      </p:sp>
    </p:spTree>
    <p:extLst>
      <p:ext uri="{BB962C8B-B14F-4D97-AF65-F5344CB8AC3E}">
        <p14:creationId xmlns:p14="http://schemas.microsoft.com/office/powerpoint/2010/main" val="3862035965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20F4C-AC17-A866-5267-B316F1D15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Content Placeholder 4">
            <a:extLst>
              <a:ext uri="{FF2B5EF4-FFF2-40B4-BE49-F238E27FC236}">
                <a16:creationId xmlns:a16="http://schemas.microsoft.com/office/drawing/2014/main" id="{78711BEA-4BE1-4A04-1DD0-A0BECA09FAB1}"/>
              </a:ext>
            </a:extLst>
          </p:cNvPr>
          <p:cNvSpPr txBox="1"/>
          <p:nvPr/>
        </p:nvSpPr>
        <p:spPr>
          <a:xfrm>
            <a:off x="350519" y="152400"/>
            <a:ext cx="648160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 marL="0" indent="0"/>
            <a:r>
              <a:rPr lang="en-US" sz="3000" dirty="0"/>
              <a:t>Analytics Design View – Toy Example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7949CFAB-8E19-B4B2-59C4-70394AB68A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833" y="2513101"/>
            <a:ext cx="8634334" cy="1831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9113552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65F24-F6B0-170F-7181-63979372C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Content Placeholder 2">
            <a:extLst>
              <a:ext uri="{FF2B5EF4-FFF2-40B4-BE49-F238E27FC236}">
                <a16:creationId xmlns:a16="http://schemas.microsoft.com/office/drawing/2014/main" id="{9C12F8DF-8401-5CC0-47CE-082B18E9C3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4"/>
          </a:xfrm>
          <a:prstGeom prst="rect">
            <a:avLst/>
          </a:prstGeom>
        </p:spPr>
        <p:txBody>
          <a:bodyPr anchor="t">
            <a:normAutofit fontScale="92500" lnSpcReduction="20000"/>
          </a:bodyPr>
          <a:lstStyle>
            <a:lvl1pPr indent="-342900">
              <a:lnSpc>
                <a:spcPct val="100000"/>
              </a:lnSpc>
              <a:spcBef>
                <a:spcPts val="500"/>
              </a:spcBef>
              <a:defRPr sz="2400" b="0" spc="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Defines data sources and features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Handles transformations and cleaning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Represents tables and attributes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Answers: How to prepare data?</a:t>
            </a:r>
          </a:p>
          <a:p>
            <a:pPr marL="0" indent="0" algn="just"/>
            <a:endParaRPr lang="en-US" u="sng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0" indent="0" algn="just"/>
            <a:r>
              <a:rPr lang="en-US" u="sng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Aim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Support the sharing and reuse of prepared data assets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Enhance data awareness among analytics users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Ease data understanding by providing a reference for data engineers (who prepare datasets) on data preparation activities.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main modeling elements are Entities, Relationships Preparation Tasks, Operators, and Data Flows </a:t>
            </a:r>
          </a:p>
        </p:txBody>
      </p:sp>
      <p:sp>
        <p:nvSpPr>
          <p:cNvPr id="356" name="Content Placeholder 4">
            <a:extLst>
              <a:ext uri="{FF2B5EF4-FFF2-40B4-BE49-F238E27FC236}">
                <a16:creationId xmlns:a16="http://schemas.microsoft.com/office/drawing/2014/main" id="{47872C64-CF59-4A87-5A5D-0A9B36A181B2}"/>
              </a:ext>
            </a:extLst>
          </p:cNvPr>
          <p:cNvSpPr txBox="1"/>
          <p:nvPr/>
        </p:nvSpPr>
        <p:spPr>
          <a:xfrm>
            <a:off x="350519" y="152400"/>
            <a:ext cx="648160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 marL="0" indent="0"/>
            <a:r>
              <a:rPr lang="en-US" dirty="0"/>
              <a:t>Data Preparation View (How?)</a:t>
            </a:r>
          </a:p>
        </p:txBody>
      </p:sp>
    </p:spTree>
    <p:extLst>
      <p:ext uri="{BB962C8B-B14F-4D97-AF65-F5344CB8AC3E}">
        <p14:creationId xmlns:p14="http://schemas.microsoft.com/office/powerpoint/2010/main" val="2687057192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932DE-380B-9C10-72AD-93A25450E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Content Placeholder 4">
            <a:extLst>
              <a:ext uri="{FF2B5EF4-FFF2-40B4-BE49-F238E27FC236}">
                <a16:creationId xmlns:a16="http://schemas.microsoft.com/office/drawing/2014/main" id="{C45C0B80-33CA-C26C-657B-7F9AA2E0458D}"/>
              </a:ext>
            </a:extLst>
          </p:cNvPr>
          <p:cNvSpPr txBox="1"/>
          <p:nvPr/>
        </p:nvSpPr>
        <p:spPr>
          <a:xfrm>
            <a:off x="350519" y="152400"/>
            <a:ext cx="648160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 marL="0" indent="0"/>
            <a:r>
              <a:rPr lang="en-US" dirty="0"/>
              <a:t>Data Preparation 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E69355-A327-390A-13CF-AA0832577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01" y="1484025"/>
            <a:ext cx="3957403" cy="4835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409F10-4E7A-72DA-0AB4-6F23F51AD429}"/>
              </a:ext>
            </a:extLst>
          </p:cNvPr>
          <p:cNvSpPr txBox="1"/>
          <p:nvPr/>
        </p:nvSpPr>
        <p:spPr>
          <a:xfrm>
            <a:off x="4137284" y="1484025"/>
            <a:ext cx="4836078" cy="355481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Open Sans"/>
              </a:rPr>
              <a:t>Entity → Represents the data objects or tables used as input/output in the ML pipeline.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Open Sans"/>
              </a:rPr>
              <a:t>DataPreparationTask</a:t>
            </a:r>
            <a:r>
              <a:rPr lang="en-US" sz="15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Open Sans"/>
              </a:rPr>
              <a:t> → Defines operations performed to transform raw data into usable format.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Open Sans"/>
              </a:rPr>
              <a:t>Operator → The method or function that executes a specific data preparation step.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Open Sans"/>
              </a:rPr>
              <a:t>Data Cleaning → Removes noise, missing values, and inconsistencies from data.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Open Sans"/>
              </a:rPr>
              <a:t>Data Reduction → Reduces data size or dimensionality while preserving important information.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Open Sans"/>
              </a:rPr>
              <a:t>Algorithm (in this view) → Technique applied within preprocessing (e.g., normalization, encoding).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Open Sans"/>
              </a:rPr>
              <a:t>Mechanism → The underlying process or implementation used to carry out data operations.</a:t>
            </a:r>
          </a:p>
        </p:txBody>
      </p:sp>
    </p:spTree>
    <p:extLst>
      <p:ext uri="{BB962C8B-B14F-4D97-AF65-F5344CB8AC3E}">
        <p14:creationId xmlns:p14="http://schemas.microsoft.com/office/powerpoint/2010/main" val="659920382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28528-5357-A46C-3F9E-399B5D075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Content Placeholder 4">
            <a:extLst>
              <a:ext uri="{FF2B5EF4-FFF2-40B4-BE49-F238E27FC236}">
                <a16:creationId xmlns:a16="http://schemas.microsoft.com/office/drawing/2014/main" id="{EDB6D3AF-2738-6C12-06B8-1FCB5ADDFA3A}"/>
              </a:ext>
            </a:extLst>
          </p:cNvPr>
          <p:cNvSpPr txBox="1"/>
          <p:nvPr/>
        </p:nvSpPr>
        <p:spPr>
          <a:xfrm>
            <a:off x="350519" y="152400"/>
            <a:ext cx="648160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 marL="0" indent="0"/>
            <a:r>
              <a:rPr lang="en-US" sz="3000" dirty="0"/>
              <a:t>Data Preparation View – Toy Example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FB3093C-4728-6620-B1F5-AB1B13C06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367" y="2134538"/>
            <a:ext cx="8739266" cy="1928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411811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23055-4950-2D9B-9A6A-4C4D707E8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Content Placeholder 4">
            <a:extLst>
              <a:ext uri="{FF2B5EF4-FFF2-40B4-BE49-F238E27FC236}">
                <a16:creationId xmlns:a16="http://schemas.microsoft.com/office/drawing/2014/main" id="{45C4C764-3C9C-B8BB-C35D-BB487C71B73C}"/>
              </a:ext>
            </a:extLst>
          </p:cNvPr>
          <p:cNvSpPr txBox="1"/>
          <p:nvPr/>
        </p:nvSpPr>
        <p:spPr>
          <a:xfrm>
            <a:off x="215608" y="122420"/>
            <a:ext cx="648160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US" sz="3200" dirty="0"/>
              <a:t>Toy Example - Putting it all Together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403E5A-1249-CAC6-9F76-5A6B252D5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08" y="1385340"/>
            <a:ext cx="6481602" cy="5108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630599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15B38-A24F-2297-ACBC-0C204CF98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Content Placeholder 2">
            <a:extLst>
              <a:ext uri="{FF2B5EF4-FFF2-40B4-BE49-F238E27FC236}">
                <a16:creationId xmlns:a16="http://schemas.microsoft.com/office/drawing/2014/main" id="{CAD843E6-AD22-1663-E347-8B87DCA8F2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4"/>
          </a:xfrm>
          <a:prstGeom prst="rect">
            <a:avLst/>
          </a:prstGeom>
        </p:spPr>
        <p:txBody>
          <a:bodyPr anchor="t">
            <a:noAutofit/>
          </a:bodyPr>
          <a:lstStyle>
            <a:lvl1pPr indent="-342900">
              <a:lnSpc>
                <a:spcPct val="100000"/>
              </a:lnSpc>
              <a:spcBef>
                <a:spcPts val="500"/>
              </a:spcBef>
              <a:defRPr sz="2400" b="0" spc="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 measure (generally referred as metric) refers to a method or standard format of measuring something, such as the false-positive rate of a classifier or the number of lines of code written per week</a:t>
            </a:r>
          </a:p>
          <a:p>
            <a:pPr marL="0" indent="0" algn="just"/>
            <a:endParaRPr lang="en-US" sz="18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0" indent="0" algn="just"/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 measure should: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Directly relate to a </a:t>
            </a:r>
            <a:r>
              <a:rPr lang="en-US" sz="18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goal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Be </a:t>
            </a:r>
            <a:r>
              <a:rPr lang="en-US" sz="18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quantifiable and objective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Be </a:t>
            </a:r>
            <a:r>
              <a:rPr lang="en-US" sz="18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practical to collect</a:t>
            </a:r>
          </a:p>
          <a:p>
            <a:pPr marL="0" indent="0" algn="just"/>
            <a:endParaRPr lang="en-US" sz="18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0" indent="0" algn="just"/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Examples:</a:t>
            </a:r>
          </a:p>
          <a:p>
            <a:pPr marL="0" indent="0" algn="just"/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Goal: Improve chatbot usefulness</a:t>
            </a:r>
          </a:p>
          <a:p>
            <a:pPr marL="0" indent="0" algn="just"/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Measures: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Task success rate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User satisfaction score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Conversation completion rate</a:t>
            </a:r>
          </a:p>
          <a:p>
            <a:pPr marL="0" indent="0" algn="just"/>
            <a:endParaRPr lang="en-US" sz="18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56" name="Content Placeholder 4">
            <a:extLst>
              <a:ext uri="{FF2B5EF4-FFF2-40B4-BE49-F238E27FC236}">
                <a16:creationId xmlns:a16="http://schemas.microsoft.com/office/drawing/2014/main" id="{9C10F189-2F0D-A248-DA06-5932395A1CFA}"/>
              </a:ext>
            </a:extLst>
          </p:cNvPr>
          <p:cNvSpPr txBox="1"/>
          <p:nvPr/>
        </p:nvSpPr>
        <p:spPr>
          <a:xfrm>
            <a:off x="350519" y="152400"/>
            <a:ext cx="648160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US" sz="2800" dirty="0"/>
              <a:t>Measure</a:t>
            </a:r>
          </a:p>
        </p:txBody>
      </p:sp>
    </p:spTree>
    <p:extLst>
      <p:ext uri="{BB962C8B-B14F-4D97-AF65-F5344CB8AC3E}">
        <p14:creationId xmlns:p14="http://schemas.microsoft.com/office/powerpoint/2010/main" val="3175110556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1523F-1BEC-62F9-9A4B-B28678D07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Content Placeholder 2">
            <a:extLst>
              <a:ext uri="{FF2B5EF4-FFF2-40B4-BE49-F238E27FC236}">
                <a16:creationId xmlns:a16="http://schemas.microsoft.com/office/drawing/2014/main" id="{80BD2CEE-AFB2-2507-FE27-355B37A7A6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4"/>
          </a:xfrm>
          <a:prstGeom prst="rect">
            <a:avLst/>
          </a:prstGeom>
        </p:spPr>
        <p:txBody>
          <a:bodyPr anchor="t">
            <a:noAutofit/>
          </a:bodyPr>
          <a:lstStyle>
            <a:lvl1pPr indent="-342900">
              <a:lnSpc>
                <a:spcPct val="100000"/>
              </a:lnSpc>
              <a:spcBef>
                <a:spcPts val="500"/>
              </a:spcBef>
              <a:defRPr sz="2400" b="0" spc="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marL="0" indent="0" algn="just"/>
            <a:r>
              <a:rPr lang="en-US" sz="18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Accuracy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- accuracy of a measurement process is concerned with how closely measured values (on average) represent the real value we want to represent</a:t>
            </a:r>
          </a:p>
          <a:p>
            <a:pPr marL="0" indent="0" algn="just"/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Ex: Accuracy of a user-satisfaction measure is evaluated in terms of how well the measured value represents the actual satisfaction of our users</a:t>
            </a:r>
          </a:p>
          <a:p>
            <a:pPr marL="0" indent="0" algn="just"/>
            <a:endParaRPr lang="en-US" sz="18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0" indent="0" algn="just"/>
            <a:r>
              <a:rPr lang="en-US" sz="18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Precision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- refers to how reliably a measurement process produces the same result (whether correct or not)</a:t>
            </a:r>
          </a:p>
          <a:p>
            <a:pPr marL="0" indent="0" algn="just"/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Ex: if we repeatedly ask our users about their satisfaction, we will likely observe some variations in the measured satisfaction</a:t>
            </a:r>
          </a:p>
        </p:txBody>
      </p:sp>
      <p:sp>
        <p:nvSpPr>
          <p:cNvPr id="356" name="Content Placeholder 4">
            <a:extLst>
              <a:ext uri="{FF2B5EF4-FFF2-40B4-BE49-F238E27FC236}">
                <a16:creationId xmlns:a16="http://schemas.microsoft.com/office/drawing/2014/main" id="{8E1A179D-2ED5-5F66-580A-551F61E6FA2F}"/>
              </a:ext>
            </a:extLst>
          </p:cNvPr>
          <p:cNvSpPr txBox="1"/>
          <p:nvPr/>
        </p:nvSpPr>
        <p:spPr>
          <a:xfrm>
            <a:off x="350519" y="152400"/>
            <a:ext cx="648160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US" sz="2800" dirty="0"/>
              <a:t>Accuracy vs Precision</a:t>
            </a:r>
          </a:p>
        </p:txBody>
      </p:sp>
    </p:spTree>
    <p:extLst>
      <p:ext uri="{BB962C8B-B14F-4D97-AF65-F5344CB8AC3E}">
        <p14:creationId xmlns:p14="http://schemas.microsoft.com/office/powerpoint/2010/main" val="2632646601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61430-6347-E1A5-B609-C03B17357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Content Placeholder 4">
            <a:extLst>
              <a:ext uri="{FF2B5EF4-FFF2-40B4-BE49-F238E27FC236}">
                <a16:creationId xmlns:a16="http://schemas.microsoft.com/office/drawing/2014/main" id="{35086509-EFF1-D2CB-F9B1-267E98CB8BDD}"/>
              </a:ext>
            </a:extLst>
          </p:cNvPr>
          <p:cNvSpPr txBox="1"/>
          <p:nvPr/>
        </p:nvSpPr>
        <p:spPr>
          <a:xfrm>
            <a:off x="350519" y="152400"/>
            <a:ext cx="648160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US" sz="2800" dirty="0"/>
              <a:t>Accuracy vs Precision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3B1EBD-98F4-C689-7E4D-E317A17D7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19" y="1528996"/>
            <a:ext cx="4866058" cy="473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548970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B218B-4008-1CAD-C722-54E1B8CBE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hank You Stock Photos, Images and ...">
            <a:extLst>
              <a:ext uri="{FF2B5EF4-FFF2-40B4-BE49-F238E27FC236}">
                <a16:creationId xmlns:a16="http://schemas.microsoft.com/office/drawing/2014/main" id="{2501F4FB-E29C-180C-483D-7E20CE1EE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9605" y="2396631"/>
            <a:ext cx="4206146" cy="266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011767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1567</TotalTime>
  <Words>1436</Words>
  <Application>Microsoft Office PowerPoint</Application>
  <PresentationFormat>On-screen Show (4:3)</PresentationFormat>
  <Paragraphs>188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Microsoft Sans Serif</vt:lpstr>
      <vt:lpstr>Wingdings</vt:lpstr>
      <vt:lpstr>Office Theme</vt:lpstr>
      <vt:lpstr>Software Engineering for Machine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BITS Pilani presentation</dc:title>
  <dc:creator>Rohit WILP</dc:creator>
  <cp:lastModifiedBy>Shreyas Suresh Rao .</cp:lastModifiedBy>
  <cp:revision>178</cp:revision>
  <dcterms:modified xsi:type="dcterms:W3CDTF">2026-05-09T04:39:57Z</dcterms:modified>
</cp:coreProperties>
</file>