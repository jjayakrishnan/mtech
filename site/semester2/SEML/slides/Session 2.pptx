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1"/>
  </p:notesMasterIdLst>
  <p:sldIdLst>
    <p:sldId id="256" r:id="rId2"/>
    <p:sldId id="257" r:id="rId3"/>
    <p:sldId id="318" r:id="rId4"/>
    <p:sldId id="266" r:id="rId5"/>
    <p:sldId id="370" r:id="rId6"/>
    <p:sldId id="372" r:id="rId7"/>
    <p:sldId id="381" r:id="rId8"/>
    <p:sldId id="382" r:id="rId9"/>
    <p:sldId id="373" r:id="rId10"/>
    <p:sldId id="374" r:id="rId11"/>
    <p:sldId id="383" r:id="rId12"/>
    <p:sldId id="384" r:id="rId13"/>
    <p:sldId id="376" r:id="rId14"/>
    <p:sldId id="387" r:id="rId15"/>
    <p:sldId id="388" r:id="rId16"/>
    <p:sldId id="389" r:id="rId17"/>
    <p:sldId id="375" r:id="rId18"/>
    <p:sldId id="385" r:id="rId19"/>
    <p:sldId id="411" r:id="rId20"/>
    <p:sldId id="410" r:id="rId21"/>
    <p:sldId id="390" r:id="rId22"/>
    <p:sldId id="386" r:id="rId23"/>
    <p:sldId id="391" r:id="rId24"/>
    <p:sldId id="392" r:id="rId25"/>
    <p:sldId id="393" r:id="rId26"/>
    <p:sldId id="377" r:id="rId27"/>
    <p:sldId id="394" r:id="rId28"/>
    <p:sldId id="396" r:id="rId29"/>
    <p:sldId id="378" r:id="rId30"/>
    <p:sldId id="413" r:id="rId31"/>
    <p:sldId id="397" r:id="rId32"/>
    <p:sldId id="398" r:id="rId33"/>
    <p:sldId id="414" r:id="rId34"/>
    <p:sldId id="415" r:id="rId35"/>
    <p:sldId id="416" r:id="rId36"/>
    <p:sldId id="379" r:id="rId37"/>
    <p:sldId id="404" r:id="rId38"/>
    <p:sldId id="380" r:id="rId39"/>
    <p:sldId id="400" r:id="rId40"/>
    <p:sldId id="402" r:id="rId41"/>
    <p:sldId id="401" r:id="rId42"/>
    <p:sldId id="403" r:id="rId43"/>
    <p:sldId id="405" r:id="rId44"/>
    <p:sldId id="399" r:id="rId45"/>
    <p:sldId id="409" r:id="rId46"/>
    <p:sldId id="406" r:id="rId47"/>
    <p:sldId id="407" r:id="rId48"/>
    <p:sldId id="408" r:id="rId49"/>
    <p:sldId id="417" r:id="rId50"/>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Calibri"/>
          <a:ea typeface="Calibri"/>
          <a:cs typeface="Calibri"/>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
          <a:latin typeface="Calibri"/>
          <a:ea typeface="Calibri"/>
          <a:cs typeface="Calibri"/>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Calibri"/>
          <a:ea typeface="Calibri"/>
          <a:cs typeface="Calibri"/>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Calibri"/>
          <a:ea typeface="Calibri"/>
          <a:cs typeface="Calibri"/>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316"/>
    <p:restoredTop sz="94667"/>
  </p:normalViewPr>
  <p:slideViewPr>
    <p:cSldViewPr snapToGrid="0">
      <p:cViewPr varScale="1">
        <p:scale>
          <a:sx n="64" d="100"/>
          <a:sy n="64" d="100"/>
        </p:scale>
        <p:origin x="165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47" name="Shape 347"/>
          <p:cNvSpPr>
            <a:spLocks noGrp="1" noRot="1" noChangeAspect="1"/>
          </p:cNvSpPr>
          <p:nvPr>
            <p:ph type="sldImg"/>
          </p:nvPr>
        </p:nvSpPr>
        <p:spPr>
          <a:xfrm>
            <a:off x="1143000" y="685800"/>
            <a:ext cx="4572000" cy="3429000"/>
          </a:xfrm>
          <a:prstGeom prst="rect">
            <a:avLst/>
          </a:prstGeom>
        </p:spPr>
        <p:txBody>
          <a:bodyPr/>
          <a:lstStyle/>
          <a:p>
            <a:endParaRPr/>
          </a:p>
        </p:txBody>
      </p:sp>
      <p:sp>
        <p:nvSpPr>
          <p:cNvPr id="348" name="Shape 34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Arial"/>
      </a:defRPr>
    </a:lvl1pPr>
    <a:lvl2pPr indent="228600" latinLnBrk="0">
      <a:defRPr sz="1200">
        <a:latin typeface="+mj-lt"/>
        <a:ea typeface="+mj-ea"/>
        <a:cs typeface="+mj-cs"/>
        <a:sym typeface="Arial"/>
      </a:defRPr>
    </a:lvl2pPr>
    <a:lvl3pPr indent="457200" latinLnBrk="0">
      <a:defRPr sz="1200">
        <a:latin typeface="+mj-lt"/>
        <a:ea typeface="+mj-ea"/>
        <a:cs typeface="+mj-cs"/>
        <a:sym typeface="Arial"/>
      </a:defRPr>
    </a:lvl3pPr>
    <a:lvl4pPr indent="685800" latinLnBrk="0">
      <a:defRPr sz="1200">
        <a:latin typeface="+mj-lt"/>
        <a:ea typeface="+mj-ea"/>
        <a:cs typeface="+mj-cs"/>
        <a:sym typeface="Arial"/>
      </a:defRPr>
    </a:lvl4pPr>
    <a:lvl5pPr indent="914400" latinLnBrk="0">
      <a:defRPr sz="1200">
        <a:latin typeface="+mj-lt"/>
        <a:ea typeface="+mj-ea"/>
        <a:cs typeface="+mj-cs"/>
        <a:sym typeface="Arial"/>
      </a:defRPr>
    </a:lvl5pPr>
    <a:lvl6pPr indent="1143000" latinLnBrk="0">
      <a:defRPr sz="1200">
        <a:latin typeface="+mj-lt"/>
        <a:ea typeface="+mj-ea"/>
        <a:cs typeface="+mj-cs"/>
        <a:sym typeface="Arial"/>
      </a:defRPr>
    </a:lvl6pPr>
    <a:lvl7pPr indent="1371600" latinLnBrk="0">
      <a:defRPr sz="1200">
        <a:latin typeface="+mj-lt"/>
        <a:ea typeface="+mj-ea"/>
        <a:cs typeface="+mj-cs"/>
        <a:sym typeface="Arial"/>
      </a:defRPr>
    </a:lvl7pPr>
    <a:lvl8pPr indent="1600200" latinLnBrk="0">
      <a:defRPr sz="1200">
        <a:latin typeface="+mj-lt"/>
        <a:ea typeface="+mj-ea"/>
        <a:cs typeface="+mj-cs"/>
        <a:sym typeface="Arial"/>
      </a:defRPr>
    </a:lvl8pPr>
    <a:lvl9pPr indent="1828800" latinLnBrk="0">
      <a:defRPr sz="1200">
        <a:latin typeface="+mj-lt"/>
        <a:ea typeface="+mj-ea"/>
        <a:cs typeface="+mj-cs"/>
        <a:sym typeface="Arial"/>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itle Slide">
    <p:spTree>
      <p:nvGrpSpPr>
        <p:cNvPr id="1" name=""/>
        <p:cNvGrpSpPr/>
        <p:nvPr/>
      </p:nvGrpSpPr>
      <p:grpSpPr>
        <a:xfrm>
          <a:off x="0" y="0"/>
          <a:ext cx="0" cy="0"/>
          <a:chOff x="0" y="0"/>
          <a:chExt cx="0" cy="0"/>
        </a:xfrm>
      </p:grpSpPr>
      <p:sp>
        <p:nvSpPr>
          <p:cNvPr id="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5" name="Rectangle 2">
            <a:extLst>
              <a:ext uri="{FF2B5EF4-FFF2-40B4-BE49-F238E27FC236}">
                <a16:creationId xmlns:a16="http://schemas.microsoft.com/office/drawing/2014/main" id="{4F1635D6-F918-E4B0-D8DF-45976B43E5CC}"/>
              </a:ext>
            </a:extLst>
          </p:cNvPr>
          <p:cNvSpPr/>
          <p:nvPr userDrawn="1"/>
        </p:nvSpPr>
        <p:spPr>
          <a:xfrm>
            <a:off x="0" y="3352800"/>
            <a:ext cx="8686800" cy="2743200"/>
          </a:xfrm>
          <a:prstGeom prst="rect">
            <a:avLst/>
          </a:prstGeom>
          <a:solidFill>
            <a:srgbClr val="101141"/>
          </a:solidFill>
          <a:ln w="12700">
            <a:miter lim="400000"/>
          </a:ln>
        </p:spPr>
        <p:txBody>
          <a:bodyPr lIns="45719" rIns="45719" anchor="ctr"/>
          <a:lstStyle/>
          <a:p>
            <a:pPr algn="ctr">
              <a:defRPr>
                <a:solidFill>
                  <a:srgbClr val="FFFFFF"/>
                </a:solidFill>
                <a:latin typeface="+mj-lt"/>
                <a:ea typeface="+mj-ea"/>
                <a:cs typeface="+mj-cs"/>
                <a:sym typeface="Arial"/>
              </a:defRPr>
            </a:pPr>
            <a:endParaRPr/>
          </a:p>
        </p:txBody>
      </p:sp>
      <p:sp>
        <p:nvSpPr>
          <p:cNvPr id="6" name="Rectangle 3">
            <a:extLst>
              <a:ext uri="{FF2B5EF4-FFF2-40B4-BE49-F238E27FC236}">
                <a16:creationId xmlns:a16="http://schemas.microsoft.com/office/drawing/2014/main" id="{509FF428-FD03-A3ED-E874-F7399C457B5A}"/>
              </a:ext>
            </a:extLst>
          </p:cNvPr>
          <p:cNvSpPr/>
          <p:nvPr userDrawn="1"/>
        </p:nvSpPr>
        <p:spPr>
          <a:xfrm>
            <a:off x="2895600" y="6096000"/>
            <a:ext cx="2895600" cy="76200"/>
          </a:xfrm>
          <a:prstGeom prst="rect">
            <a:avLst/>
          </a:prstGeom>
          <a:solidFill>
            <a:srgbClr val="76C2E5"/>
          </a:solidFill>
          <a:ln w="12700">
            <a:miter lim="400000"/>
          </a:ln>
        </p:spPr>
        <p:txBody>
          <a:bodyPr lIns="45719" rIns="45719" anchor="ctr"/>
          <a:lstStyle/>
          <a:p>
            <a:pPr algn="ctr">
              <a:defRPr>
                <a:solidFill>
                  <a:srgbClr val="FFFFFF"/>
                </a:solidFill>
              </a:defRPr>
            </a:pPr>
            <a:endParaRPr/>
          </a:p>
        </p:txBody>
      </p:sp>
      <p:sp>
        <p:nvSpPr>
          <p:cNvPr id="7" name="Rectangle 4">
            <a:extLst>
              <a:ext uri="{FF2B5EF4-FFF2-40B4-BE49-F238E27FC236}">
                <a16:creationId xmlns:a16="http://schemas.microsoft.com/office/drawing/2014/main" id="{A493EE98-E537-385E-2051-74DF0B3608DF}"/>
              </a:ext>
            </a:extLst>
          </p:cNvPr>
          <p:cNvSpPr/>
          <p:nvPr userDrawn="1"/>
        </p:nvSpPr>
        <p:spPr>
          <a:xfrm>
            <a:off x="0" y="6096000"/>
            <a:ext cx="2895600" cy="76200"/>
          </a:xfrm>
          <a:prstGeom prst="rect">
            <a:avLst/>
          </a:prstGeom>
          <a:solidFill>
            <a:srgbClr val="FCB017"/>
          </a:solidFill>
          <a:ln w="12700">
            <a:miter lim="400000"/>
          </a:ln>
        </p:spPr>
        <p:txBody>
          <a:bodyPr lIns="45719" rIns="45719" anchor="ctr"/>
          <a:lstStyle/>
          <a:p>
            <a:pPr algn="ctr">
              <a:defRPr>
                <a:solidFill>
                  <a:srgbClr val="FFFFFF"/>
                </a:solidFill>
              </a:defRPr>
            </a:pPr>
            <a:endParaRPr/>
          </a:p>
        </p:txBody>
      </p:sp>
      <p:sp>
        <p:nvSpPr>
          <p:cNvPr id="8" name="Rectangle 5">
            <a:extLst>
              <a:ext uri="{FF2B5EF4-FFF2-40B4-BE49-F238E27FC236}">
                <a16:creationId xmlns:a16="http://schemas.microsoft.com/office/drawing/2014/main" id="{DE4627D7-A115-550F-D7B3-42FC43297FF1}"/>
              </a:ext>
            </a:extLst>
          </p:cNvPr>
          <p:cNvSpPr/>
          <p:nvPr userDrawn="1"/>
        </p:nvSpPr>
        <p:spPr>
          <a:xfrm>
            <a:off x="5791200" y="6096000"/>
            <a:ext cx="2895600" cy="76200"/>
          </a:xfrm>
          <a:prstGeom prst="rect">
            <a:avLst/>
          </a:prstGeom>
          <a:solidFill>
            <a:srgbClr val="FF0000"/>
          </a:solidFill>
          <a:ln w="12700">
            <a:miter lim="400000"/>
          </a:ln>
        </p:spPr>
        <p:txBody>
          <a:bodyPr lIns="45719" rIns="45719" anchor="ctr"/>
          <a:lstStyle/>
          <a:p>
            <a:pPr algn="ctr">
              <a:defRPr>
                <a:solidFill>
                  <a:srgbClr val="FFFFFF"/>
                </a:solidFill>
              </a:defRPr>
            </a:pPr>
            <a:endParaRPr/>
          </a:p>
        </p:txBody>
      </p:sp>
      <p:pic>
        <p:nvPicPr>
          <p:cNvPr id="9" name="Picture 10" descr="Picture 10">
            <a:extLst>
              <a:ext uri="{FF2B5EF4-FFF2-40B4-BE49-F238E27FC236}">
                <a16:creationId xmlns:a16="http://schemas.microsoft.com/office/drawing/2014/main" id="{D695F453-58E4-7D66-AB7F-98878BD64651}"/>
              </a:ext>
            </a:extLst>
          </p:cNvPr>
          <p:cNvPicPr>
            <a:picLocks noChangeAspect="1"/>
          </p:cNvPicPr>
          <p:nvPr userDrawn="1"/>
        </p:nvPicPr>
        <p:blipFill>
          <a:blip r:embed="rId2"/>
          <a:srcRect t="2" b="28592"/>
          <a:stretch>
            <a:fillRect/>
          </a:stretch>
        </p:blipFill>
        <p:spPr>
          <a:xfrm>
            <a:off x="76200" y="3352800"/>
            <a:ext cx="2057400" cy="1979614"/>
          </a:xfrm>
          <a:prstGeom prst="rect">
            <a:avLst/>
          </a:prstGeom>
          <a:ln w="12700">
            <a:miter lim="400000"/>
          </a:ln>
        </p:spPr>
      </p:pic>
      <p:sp>
        <p:nvSpPr>
          <p:cNvPr id="10" name="TextBox 8">
            <a:extLst>
              <a:ext uri="{FF2B5EF4-FFF2-40B4-BE49-F238E27FC236}">
                <a16:creationId xmlns:a16="http://schemas.microsoft.com/office/drawing/2014/main" id="{93711A98-B303-E78D-34AC-04374950E07A}"/>
              </a:ext>
            </a:extLst>
          </p:cNvPr>
          <p:cNvSpPr txBox="1"/>
          <p:nvPr userDrawn="1"/>
        </p:nvSpPr>
        <p:spPr>
          <a:xfrm>
            <a:off x="-30481" y="5257800"/>
            <a:ext cx="2118362" cy="4984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ctr">
              <a:defRPr sz="2900" b="1" spc="-150">
                <a:solidFill>
                  <a:srgbClr val="FFFFFF"/>
                </a:solidFill>
                <a:latin typeface="+mj-lt"/>
                <a:ea typeface="+mj-ea"/>
                <a:cs typeface="+mj-cs"/>
                <a:sym typeface="Arial"/>
              </a:defRPr>
            </a:pPr>
            <a:r>
              <a:rPr dirty="0"/>
              <a:t>BITS</a:t>
            </a:r>
            <a:r>
              <a:rPr b="0" dirty="0"/>
              <a:t> </a:t>
            </a:r>
            <a:r>
              <a:rPr b="0" dirty="0" err="1"/>
              <a:t>Pilani</a:t>
            </a:r>
            <a:endParaRPr b="0" dirty="0"/>
          </a:p>
        </p:txBody>
      </p:sp>
      <p:sp>
        <p:nvSpPr>
          <p:cNvPr id="18" name="Title Text"/>
          <p:cNvSpPr txBox="1">
            <a:spLocks noGrp="1"/>
          </p:cNvSpPr>
          <p:nvPr>
            <p:ph type="title"/>
          </p:nvPr>
        </p:nvSpPr>
        <p:spPr>
          <a:xfrm>
            <a:off x="2667000" y="3898061"/>
            <a:ext cx="6019800" cy="1524000"/>
          </a:xfrm>
          <a:prstGeom prst="rect">
            <a:avLst/>
          </a:prstGeom>
        </p:spPr>
        <p:txBody>
          <a:bodyPr/>
          <a:lstStyle/>
          <a:p>
            <a:r>
              <a:t>Title Text</a:t>
            </a: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Custom Layout">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26" name="Rectangle 2"/>
          <p:cNvSpPr/>
          <p:nvPr/>
        </p:nvSpPr>
        <p:spPr>
          <a:xfrm>
            <a:off x="0" y="3352800"/>
            <a:ext cx="8686800" cy="2743200"/>
          </a:xfrm>
          <a:prstGeom prst="rect">
            <a:avLst/>
          </a:prstGeom>
          <a:solidFill>
            <a:srgbClr val="101141"/>
          </a:solidFill>
          <a:ln w="12700">
            <a:miter lim="400000"/>
          </a:ln>
        </p:spPr>
        <p:txBody>
          <a:bodyPr lIns="45719" rIns="45719" anchor="ctr"/>
          <a:lstStyle/>
          <a:p>
            <a:pPr algn="ctr">
              <a:defRPr>
                <a:solidFill>
                  <a:srgbClr val="FFFFFF"/>
                </a:solidFill>
                <a:latin typeface="+mj-lt"/>
                <a:ea typeface="+mj-ea"/>
                <a:cs typeface="+mj-cs"/>
                <a:sym typeface="Arial"/>
              </a:defRPr>
            </a:pPr>
            <a:endParaRPr/>
          </a:p>
        </p:txBody>
      </p:sp>
      <p:sp>
        <p:nvSpPr>
          <p:cNvPr id="27" name="Rectangle 3"/>
          <p:cNvSpPr/>
          <p:nvPr/>
        </p:nvSpPr>
        <p:spPr>
          <a:xfrm>
            <a:off x="2895600" y="6096000"/>
            <a:ext cx="2895600" cy="76200"/>
          </a:xfrm>
          <a:prstGeom prst="rect">
            <a:avLst/>
          </a:prstGeom>
          <a:solidFill>
            <a:srgbClr val="76C2E5"/>
          </a:solidFill>
          <a:ln w="12700">
            <a:miter lim="400000"/>
          </a:ln>
        </p:spPr>
        <p:txBody>
          <a:bodyPr lIns="45719" rIns="45719" anchor="ctr"/>
          <a:lstStyle/>
          <a:p>
            <a:pPr algn="ctr">
              <a:defRPr>
                <a:solidFill>
                  <a:srgbClr val="FFFFFF"/>
                </a:solidFill>
              </a:defRPr>
            </a:pPr>
            <a:endParaRPr/>
          </a:p>
        </p:txBody>
      </p:sp>
      <p:sp>
        <p:nvSpPr>
          <p:cNvPr id="28" name="Rectangle 4"/>
          <p:cNvSpPr/>
          <p:nvPr/>
        </p:nvSpPr>
        <p:spPr>
          <a:xfrm>
            <a:off x="0" y="6096000"/>
            <a:ext cx="2895600" cy="76200"/>
          </a:xfrm>
          <a:prstGeom prst="rect">
            <a:avLst/>
          </a:prstGeom>
          <a:solidFill>
            <a:srgbClr val="FCB017"/>
          </a:solidFill>
          <a:ln w="12700">
            <a:miter lim="400000"/>
          </a:ln>
        </p:spPr>
        <p:txBody>
          <a:bodyPr lIns="45719" rIns="45719" anchor="ctr"/>
          <a:lstStyle/>
          <a:p>
            <a:pPr algn="ctr">
              <a:defRPr>
                <a:solidFill>
                  <a:srgbClr val="FFFFFF"/>
                </a:solidFill>
              </a:defRPr>
            </a:pPr>
            <a:endParaRPr/>
          </a:p>
        </p:txBody>
      </p:sp>
      <p:sp>
        <p:nvSpPr>
          <p:cNvPr id="29" name="Rectangle 5"/>
          <p:cNvSpPr/>
          <p:nvPr/>
        </p:nvSpPr>
        <p:spPr>
          <a:xfrm>
            <a:off x="5791200" y="6096000"/>
            <a:ext cx="2895600" cy="76200"/>
          </a:xfrm>
          <a:prstGeom prst="rect">
            <a:avLst/>
          </a:prstGeom>
          <a:solidFill>
            <a:srgbClr val="FF0000"/>
          </a:solidFill>
          <a:ln w="12700">
            <a:miter lim="400000"/>
          </a:ln>
        </p:spPr>
        <p:txBody>
          <a:bodyPr lIns="45719" rIns="45719" anchor="ctr"/>
          <a:lstStyle/>
          <a:p>
            <a:pPr algn="ctr">
              <a:defRPr>
                <a:solidFill>
                  <a:srgbClr val="FFFFFF"/>
                </a:solidFill>
              </a:defRPr>
            </a:pPr>
            <a:endParaRPr/>
          </a:p>
        </p:txBody>
      </p:sp>
      <p:pic>
        <p:nvPicPr>
          <p:cNvPr id="30" name="Picture 10" descr="Picture 10"/>
          <p:cNvPicPr>
            <a:picLocks noChangeAspect="1"/>
          </p:cNvPicPr>
          <p:nvPr/>
        </p:nvPicPr>
        <p:blipFill>
          <a:blip r:embed="rId3"/>
          <a:srcRect t="2" b="28592"/>
          <a:stretch>
            <a:fillRect/>
          </a:stretch>
        </p:blipFill>
        <p:spPr>
          <a:xfrm>
            <a:off x="76200" y="3352800"/>
            <a:ext cx="2057400" cy="1979614"/>
          </a:xfrm>
          <a:prstGeom prst="rect">
            <a:avLst/>
          </a:prstGeom>
          <a:ln w="12700">
            <a:miter lim="400000"/>
          </a:ln>
        </p:spPr>
      </p:pic>
      <p:sp>
        <p:nvSpPr>
          <p:cNvPr id="31" name="TextBox 8"/>
          <p:cNvSpPr txBox="1"/>
          <p:nvPr/>
        </p:nvSpPr>
        <p:spPr>
          <a:xfrm>
            <a:off x="-30481" y="5257800"/>
            <a:ext cx="2118362" cy="4984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ctr">
              <a:defRPr sz="2900" b="1" spc="-150">
                <a:solidFill>
                  <a:srgbClr val="FFFFFF"/>
                </a:solidFill>
                <a:latin typeface="+mj-lt"/>
                <a:ea typeface="+mj-ea"/>
                <a:cs typeface="+mj-cs"/>
                <a:sym typeface="Arial"/>
              </a:defRPr>
            </a:pPr>
            <a:r>
              <a:rPr dirty="0"/>
              <a:t>BITS</a:t>
            </a:r>
            <a:r>
              <a:rPr b="0" dirty="0"/>
              <a:t> </a:t>
            </a:r>
            <a:r>
              <a:rPr b="0" dirty="0" err="1"/>
              <a:t>Pilani</a:t>
            </a:r>
            <a:endParaRPr b="0" dirty="0"/>
          </a:p>
        </p:txBody>
      </p:sp>
      <p:sp>
        <p:nvSpPr>
          <p:cNvPr id="33" name="Body Level One…"/>
          <p:cNvSpPr txBox="1">
            <a:spLocks noGrp="1"/>
          </p:cNvSpPr>
          <p:nvPr>
            <p:ph type="body" sz="quarter" idx="1"/>
          </p:nvPr>
        </p:nvSpPr>
        <p:spPr>
          <a:xfrm>
            <a:off x="2514600" y="5410200"/>
            <a:ext cx="6019800" cy="533400"/>
          </a:xfrm>
          <a:prstGeom prst="rect">
            <a:avLst/>
          </a:prstGeom>
        </p:spPr>
        <p:txBody>
          <a:bodyPr anchor="b">
            <a:normAutofit/>
          </a:bodyPr>
          <a:lstStyle>
            <a:lvl1pPr marL="0" indent="0" algn="r">
              <a:lnSpc>
                <a:spcPts val="1800"/>
              </a:lnSpc>
              <a:spcBef>
                <a:spcPts val="0"/>
              </a:spcBef>
              <a:buSzTx/>
              <a:buFontTx/>
              <a:buNone/>
              <a:defRPr sz="1800">
                <a:solidFill>
                  <a:srgbClr val="FFFFFF"/>
                </a:solidFill>
              </a:defRPr>
            </a:lvl1pPr>
            <a:lvl2pPr marL="640896" indent="-183696" algn="r">
              <a:lnSpc>
                <a:spcPts val="1800"/>
              </a:lnSpc>
              <a:spcBef>
                <a:spcPts val="0"/>
              </a:spcBef>
              <a:buFontTx/>
              <a:defRPr sz="1800">
                <a:solidFill>
                  <a:srgbClr val="FFFFFF"/>
                </a:solidFill>
              </a:defRPr>
            </a:lvl2pPr>
            <a:lvl3pPr marL="1085850" indent="-171450" algn="r">
              <a:lnSpc>
                <a:spcPts val="1800"/>
              </a:lnSpc>
              <a:spcBef>
                <a:spcPts val="0"/>
              </a:spcBef>
              <a:buFontTx/>
              <a:defRPr sz="1800">
                <a:solidFill>
                  <a:srgbClr val="FFFFFF"/>
                </a:solidFill>
              </a:defRPr>
            </a:lvl3pPr>
            <a:lvl4pPr marL="1577339" indent="-205739" algn="r">
              <a:lnSpc>
                <a:spcPts val="1800"/>
              </a:lnSpc>
              <a:spcBef>
                <a:spcPts val="0"/>
              </a:spcBef>
              <a:buFontTx/>
              <a:defRPr sz="1800">
                <a:solidFill>
                  <a:srgbClr val="FFFFFF"/>
                </a:solidFill>
              </a:defRPr>
            </a:lvl4pPr>
            <a:lvl5pPr marL="2034539" indent="-205739" algn="r">
              <a:lnSpc>
                <a:spcPts val="1800"/>
              </a:lnSpc>
              <a:spcBef>
                <a:spcPts val="0"/>
              </a:spcBef>
              <a:buFontTx/>
              <a:defRPr sz="1800">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34" name="Title Text"/>
          <p:cNvSpPr txBox="1">
            <a:spLocks noGrp="1"/>
          </p:cNvSpPr>
          <p:nvPr>
            <p:ph type="title"/>
          </p:nvPr>
        </p:nvSpPr>
        <p:spPr>
          <a:xfrm>
            <a:off x="2514600" y="3810000"/>
            <a:ext cx="6019800" cy="1524000"/>
          </a:xfrm>
          <a:prstGeom prst="rect">
            <a:avLst/>
          </a:prstGeom>
        </p:spPr>
        <p:txBody>
          <a:bodyPr/>
          <a:lstStyle/>
          <a:p>
            <a:r>
              <a:t>Title Text</a:t>
            </a:r>
          </a:p>
        </p:txBody>
      </p:sp>
      <p:sp>
        <p:nvSpPr>
          <p:cNvPr id="3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Section Header">
    <p:bg>
      <p:bgPr>
        <a:solidFill>
          <a:srgbClr val="FFFFFF"/>
        </a:solidFill>
        <a:effectLst/>
      </p:bgPr>
    </p:bg>
    <p:spTree>
      <p:nvGrpSpPr>
        <p:cNvPr id="1" name=""/>
        <p:cNvGrpSpPr/>
        <p:nvPr/>
      </p:nvGrpSpPr>
      <p:grpSpPr>
        <a:xfrm>
          <a:off x="0" y="0"/>
          <a:ext cx="0" cy="0"/>
          <a:chOff x="0" y="0"/>
          <a:chExt cx="0" cy="0"/>
        </a:xfrm>
      </p:grpSpPr>
      <p:pic>
        <p:nvPicPr>
          <p:cNvPr id="42" name="Picture 6" descr="Picture 6"/>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43" name="Rectangle 2"/>
          <p:cNvSpPr/>
          <p:nvPr/>
        </p:nvSpPr>
        <p:spPr>
          <a:xfrm>
            <a:off x="0" y="4281488"/>
            <a:ext cx="9144000" cy="2576512"/>
          </a:xfrm>
          <a:prstGeom prst="rect">
            <a:avLst/>
          </a:prstGeom>
          <a:solidFill>
            <a:srgbClr val="FFFFFF"/>
          </a:solidFill>
          <a:ln>
            <a:solidFill>
              <a:srgbClr val="4A7EBB"/>
            </a:solidFill>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pic>
        <p:nvPicPr>
          <p:cNvPr id="44" name="Picture 8" descr="Picture 8"/>
          <p:cNvPicPr>
            <a:picLocks noChangeAspect="1"/>
          </p:cNvPicPr>
          <p:nvPr/>
        </p:nvPicPr>
        <p:blipFill>
          <a:blip r:embed="rId3"/>
          <a:srcRect t="2677" b="2677"/>
          <a:stretch>
            <a:fillRect/>
          </a:stretch>
        </p:blipFill>
        <p:spPr>
          <a:xfrm>
            <a:off x="6629400" y="0"/>
            <a:ext cx="2193925" cy="692150"/>
          </a:xfrm>
          <a:prstGeom prst="rect">
            <a:avLst/>
          </a:prstGeom>
          <a:ln w="12700">
            <a:miter lim="400000"/>
          </a:ln>
        </p:spPr>
      </p:pic>
      <p:sp>
        <p:nvSpPr>
          <p:cNvPr id="45" name="Rectangle 4"/>
          <p:cNvSpPr/>
          <p:nvPr/>
        </p:nvSpPr>
        <p:spPr>
          <a:xfrm>
            <a:off x="2882900" y="6775450"/>
            <a:ext cx="2895600" cy="76200"/>
          </a:xfrm>
          <a:prstGeom prst="rect">
            <a:avLst/>
          </a:prstGeom>
          <a:solidFill>
            <a:srgbClr val="76C2E5"/>
          </a:solidFill>
          <a:ln w="12700">
            <a:miter lim="400000"/>
          </a:ln>
        </p:spPr>
        <p:txBody>
          <a:bodyPr lIns="45719" rIns="45719" anchor="ctr"/>
          <a:lstStyle/>
          <a:p>
            <a:pPr algn="ctr">
              <a:defRPr>
                <a:solidFill>
                  <a:srgbClr val="FFFFFF"/>
                </a:solidFill>
              </a:defRPr>
            </a:pPr>
            <a:endParaRPr/>
          </a:p>
        </p:txBody>
      </p:sp>
      <p:sp>
        <p:nvSpPr>
          <p:cNvPr id="46" name="Rectangle 5"/>
          <p:cNvSpPr/>
          <p:nvPr/>
        </p:nvSpPr>
        <p:spPr>
          <a:xfrm>
            <a:off x="-12700" y="6775450"/>
            <a:ext cx="2895600" cy="76200"/>
          </a:xfrm>
          <a:prstGeom prst="rect">
            <a:avLst/>
          </a:prstGeom>
          <a:solidFill>
            <a:srgbClr val="FCB017"/>
          </a:solidFill>
          <a:ln w="12700">
            <a:miter lim="400000"/>
          </a:ln>
        </p:spPr>
        <p:txBody>
          <a:bodyPr lIns="45719" rIns="45719" anchor="ctr"/>
          <a:lstStyle/>
          <a:p>
            <a:pPr algn="ctr">
              <a:defRPr>
                <a:solidFill>
                  <a:srgbClr val="FFFFFF"/>
                </a:solidFill>
              </a:defRPr>
            </a:pPr>
            <a:endParaRPr/>
          </a:p>
        </p:txBody>
      </p:sp>
      <p:sp>
        <p:nvSpPr>
          <p:cNvPr id="47" name="Rectangle 6"/>
          <p:cNvSpPr/>
          <p:nvPr/>
        </p:nvSpPr>
        <p:spPr>
          <a:xfrm>
            <a:off x="5778500" y="6775450"/>
            <a:ext cx="2895600" cy="76200"/>
          </a:xfrm>
          <a:prstGeom prst="rect">
            <a:avLst/>
          </a:prstGeom>
          <a:solidFill>
            <a:srgbClr val="FF0000"/>
          </a:solidFill>
          <a:ln w="12700">
            <a:miter lim="400000"/>
          </a:ln>
        </p:spPr>
        <p:txBody>
          <a:bodyPr lIns="45719" rIns="45719" anchor="ctr"/>
          <a:lstStyle/>
          <a:p>
            <a:pPr algn="ctr">
              <a:defRPr>
                <a:solidFill>
                  <a:srgbClr val="FFFFFF"/>
                </a:solidFill>
              </a:defRPr>
            </a:pPr>
            <a:endParaRPr/>
          </a:p>
        </p:txBody>
      </p:sp>
      <p:sp>
        <p:nvSpPr>
          <p:cNvPr id="48" name="TextBox 7"/>
          <p:cNvSpPr txBox="1"/>
          <p:nvPr/>
        </p:nvSpPr>
        <p:spPr>
          <a:xfrm>
            <a:off x="6903719" y="762000"/>
            <a:ext cx="2118362" cy="4984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ctr">
              <a:defRPr sz="2900" b="1" spc="-150">
                <a:solidFill>
                  <a:srgbClr val="FFFFFF"/>
                </a:solidFill>
                <a:latin typeface="+mj-lt"/>
                <a:ea typeface="+mj-ea"/>
                <a:cs typeface="+mj-cs"/>
                <a:sym typeface="Arial"/>
              </a:defRPr>
            </a:pPr>
            <a:r>
              <a:t>BITS</a:t>
            </a:r>
            <a:r>
              <a:rPr b="0"/>
              <a:t> Pilani</a:t>
            </a:r>
          </a:p>
        </p:txBody>
      </p:sp>
      <p:sp>
        <p:nvSpPr>
          <p:cNvPr id="50" name="Body Level One…"/>
          <p:cNvSpPr txBox="1">
            <a:spLocks noGrp="1"/>
          </p:cNvSpPr>
          <p:nvPr>
            <p:ph type="body" sz="half" idx="1"/>
          </p:nvPr>
        </p:nvSpPr>
        <p:spPr>
          <a:xfrm>
            <a:off x="304800" y="4648200"/>
            <a:ext cx="8458200" cy="1600200"/>
          </a:xfrm>
          <a:prstGeom prst="rect">
            <a:avLst/>
          </a:prstGeom>
        </p:spPr>
        <p:txBody>
          <a:bodyPr>
            <a:normAutofit/>
          </a:bodyPr>
          <a:lstStyle>
            <a:lvl1pPr marL="0" indent="0">
              <a:lnSpc>
                <a:spcPts val="4200"/>
              </a:lnSpc>
              <a:spcBef>
                <a:spcPts val="0"/>
              </a:spcBef>
              <a:buSzTx/>
              <a:buFontTx/>
              <a:buNone/>
              <a:defRPr sz="4000" b="1" spc="-150"/>
            </a:lvl1pPr>
            <a:lvl2pPr marL="865414" indent="-408214">
              <a:lnSpc>
                <a:spcPts val="4200"/>
              </a:lnSpc>
              <a:spcBef>
                <a:spcPts val="0"/>
              </a:spcBef>
              <a:buFontTx/>
              <a:defRPr sz="4000" b="1" spc="-150"/>
            </a:lvl2pPr>
            <a:lvl3pPr marL="1295400" indent="-381000">
              <a:lnSpc>
                <a:spcPts val="4200"/>
              </a:lnSpc>
              <a:spcBef>
                <a:spcPts val="0"/>
              </a:spcBef>
              <a:buFontTx/>
              <a:defRPr sz="4000" b="1" spc="-150"/>
            </a:lvl3pPr>
            <a:lvl4pPr marL="1828800" indent="-457200">
              <a:lnSpc>
                <a:spcPts val="4200"/>
              </a:lnSpc>
              <a:spcBef>
                <a:spcPts val="0"/>
              </a:spcBef>
              <a:buFontTx/>
              <a:defRPr sz="4000" b="1" spc="-150"/>
            </a:lvl4pPr>
            <a:lvl5pPr marL="2286000" indent="-457200">
              <a:lnSpc>
                <a:spcPts val="4200"/>
              </a:lnSpc>
              <a:spcBef>
                <a:spcPts val="0"/>
              </a:spcBef>
              <a:buFontTx/>
              <a:defRPr sz="4000" b="1" spc="-150"/>
            </a:lvl5pPr>
          </a:lstStyle>
          <a:p>
            <a:r>
              <a:t>Body Level One</a:t>
            </a:r>
          </a:p>
          <a:p>
            <a:pPr lvl="1"/>
            <a:r>
              <a:t>Body Level Two</a:t>
            </a:r>
          </a:p>
          <a:p>
            <a:pPr lvl="2"/>
            <a:r>
              <a:t>Body Level Three</a:t>
            </a:r>
          </a:p>
          <a:p>
            <a:pPr lvl="3"/>
            <a:r>
              <a:t>Body Level Four</a:t>
            </a:r>
          </a:p>
          <a:p>
            <a:pPr lvl="4"/>
            <a:r>
              <a:t>Body Level Five</a:t>
            </a:r>
          </a:p>
        </p:txBody>
      </p:sp>
      <p:sp>
        <p:nvSpPr>
          <p:cNvPr id="5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nd Content">
    <p:bg>
      <p:bgPr>
        <a:solidFill>
          <a:srgbClr val="FFFFFF"/>
        </a:solidFill>
        <a:effectLst/>
      </p:bgPr>
    </p:bg>
    <p:spTree>
      <p:nvGrpSpPr>
        <p:cNvPr id="1" name=""/>
        <p:cNvGrpSpPr/>
        <p:nvPr/>
      </p:nvGrpSpPr>
      <p:grpSpPr>
        <a:xfrm>
          <a:off x="0" y="0"/>
          <a:ext cx="0" cy="0"/>
          <a:chOff x="0" y="0"/>
          <a:chExt cx="0" cy="0"/>
        </a:xfrm>
      </p:grpSpPr>
      <p:grpSp>
        <p:nvGrpSpPr>
          <p:cNvPr id="28" name="Group 27">
            <a:extLst>
              <a:ext uri="{FF2B5EF4-FFF2-40B4-BE49-F238E27FC236}">
                <a16:creationId xmlns:a16="http://schemas.microsoft.com/office/drawing/2014/main" id="{9E9826F6-77EC-4995-BFD7-0318A680BA1A}"/>
              </a:ext>
            </a:extLst>
          </p:cNvPr>
          <p:cNvGrpSpPr/>
          <p:nvPr userDrawn="1"/>
        </p:nvGrpSpPr>
        <p:grpSpPr>
          <a:xfrm>
            <a:off x="0" y="0"/>
            <a:ext cx="9144001" cy="6857673"/>
            <a:chOff x="0" y="0"/>
            <a:chExt cx="9144001" cy="6857673"/>
          </a:xfrm>
        </p:grpSpPr>
        <p:grpSp>
          <p:nvGrpSpPr>
            <p:cNvPr id="46" name="Group 6">
              <a:extLst>
                <a:ext uri="{FF2B5EF4-FFF2-40B4-BE49-F238E27FC236}">
                  <a16:creationId xmlns:a16="http://schemas.microsoft.com/office/drawing/2014/main" id="{32D72169-E06F-45D8-A5EC-D681EB602EE5}"/>
                </a:ext>
              </a:extLst>
            </p:cNvPr>
            <p:cNvGrpSpPr/>
            <p:nvPr userDrawn="1"/>
          </p:nvGrpSpPr>
          <p:grpSpPr>
            <a:xfrm>
              <a:off x="0" y="1295400"/>
              <a:ext cx="7010401" cy="46038"/>
              <a:chOff x="0" y="0"/>
              <a:chExt cx="7010400" cy="46037"/>
            </a:xfrm>
          </p:grpSpPr>
          <p:sp>
            <p:nvSpPr>
              <p:cNvPr id="53" name="Rectangle 6">
                <a:extLst>
                  <a:ext uri="{FF2B5EF4-FFF2-40B4-BE49-F238E27FC236}">
                    <a16:creationId xmlns:a16="http://schemas.microsoft.com/office/drawing/2014/main" id="{31663E90-6CD3-4B00-A313-2FF6AA636CAA}"/>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4" name="Rectangle 7">
                <a:extLst>
                  <a:ext uri="{FF2B5EF4-FFF2-40B4-BE49-F238E27FC236}">
                    <a16:creationId xmlns:a16="http://schemas.microsoft.com/office/drawing/2014/main" id="{991F866D-51D8-403E-B66D-97E9D9FB560B}"/>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5" name="Rectangle 8">
                <a:extLst>
                  <a:ext uri="{FF2B5EF4-FFF2-40B4-BE49-F238E27FC236}">
                    <a16:creationId xmlns:a16="http://schemas.microsoft.com/office/drawing/2014/main" id="{35316865-7F39-4EDA-9213-10248D1FBE99}"/>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nvGrpSpPr>
            <p:cNvPr id="47" name="Group 10">
              <a:extLst>
                <a:ext uri="{FF2B5EF4-FFF2-40B4-BE49-F238E27FC236}">
                  <a16:creationId xmlns:a16="http://schemas.microsoft.com/office/drawing/2014/main" id="{2D2DD56F-AE09-49F0-9B99-D2EE701D8FF5}"/>
                </a:ext>
              </a:extLst>
            </p:cNvPr>
            <p:cNvGrpSpPr/>
            <p:nvPr userDrawn="1"/>
          </p:nvGrpSpPr>
          <p:grpSpPr>
            <a:xfrm>
              <a:off x="2133600" y="6553200"/>
              <a:ext cx="7010401" cy="46038"/>
              <a:chOff x="0" y="0"/>
              <a:chExt cx="7010400" cy="46037"/>
            </a:xfrm>
          </p:grpSpPr>
          <p:sp>
            <p:nvSpPr>
              <p:cNvPr id="50" name="Rectangle 10">
                <a:extLst>
                  <a:ext uri="{FF2B5EF4-FFF2-40B4-BE49-F238E27FC236}">
                    <a16:creationId xmlns:a16="http://schemas.microsoft.com/office/drawing/2014/main" id="{DAEB79DB-4734-4234-BD44-76AB6ABA11F2}"/>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1" name="Rectangle 11">
                <a:extLst>
                  <a:ext uri="{FF2B5EF4-FFF2-40B4-BE49-F238E27FC236}">
                    <a16:creationId xmlns:a16="http://schemas.microsoft.com/office/drawing/2014/main" id="{508D804C-A4C7-412F-8063-43C12673820B}"/>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2" name="Rectangle 12">
                <a:extLst>
                  <a:ext uri="{FF2B5EF4-FFF2-40B4-BE49-F238E27FC236}">
                    <a16:creationId xmlns:a16="http://schemas.microsoft.com/office/drawing/2014/main" id="{827A04DF-D4FE-44C0-87D7-AF2AA37D3F97}"/>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pic>
          <p:nvPicPr>
            <p:cNvPr id="48" name="Picture 14" descr="Picture 14">
              <a:extLst>
                <a:ext uri="{FF2B5EF4-FFF2-40B4-BE49-F238E27FC236}">
                  <a16:creationId xmlns:a16="http://schemas.microsoft.com/office/drawing/2014/main" id="{5DC18BF1-5331-4F2F-A174-787311906D18}"/>
                </a:ext>
              </a:extLst>
            </p:cNvPr>
            <p:cNvPicPr>
              <a:picLocks noChangeAspect="1"/>
            </p:cNvPicPr>
            <p:nvPr userDrawn="1"/>
          </p:nvPicPr>
          <p:blipFill>
            <a:blip r:embed="rId2"/>
            <a:srcRect t="2677" b="2677"/>
            <a:stretch>
              <a:fillRect/>
            </a:stretch>
          </p:blipFill>
          <p:spPr>
            <a:xfrm>
              <a:off x="6629400" y="0"/>
              <a:ext cx="2193925" cy="692150"/>
            </a:xfrm>
            <a:prstGeom prst="rect">
              <a:avLst/>
            </a:prstGeom>
            <a:ln w="12700">
              <a:miter lim="400000"/>
            </a:ln>
          </p:spPr>
        </p:pic>
        <p:sp>
          <p:nvSpPr>
            <p:cNvPr id="49" name="TextBox 14">
              <a:extLst>
                <a:ext uri="{FF2B5EF4-FFF2-40B4-BE49-F238E27FC236}">
                  <a16:creationId xmlns:a16="http://schemas.microsoft.com/office/drawing/2014/main" id="{BA5796A7-03C0-4F17-B86D-A3B33F3BC2CE}"/>
                </a:ext>
              </a:extLst>
            </p:cNvPr>
            <p:cNvSpPr txBox="1"/>
            <p:nvPr userDrawn="1"/>
          </p:nvSpPr>
          <p:spPr>
            <a:xfrm>
              <a:off x="3322319" y="6596063"/>
              <a:ext cx="5775962" cy="26161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r">
                <a:defRPr sz="1100" b="1">
                  <a:solidFill>
                    <a:srgbClr val="101141"/>
                  </a:solidFill>
                  <a:latin typeface="+mj-lt"/>
                  <a:ea typeface="+mj-ea"/>
                  <a:cs typeface="+mj-cs"/>
                  <a:sym typeface="Arial"/>
                </a:defRPr>
              </a:pPr>
              <a:r>
                <a:rPr lang="en-IN" dirty="0"/>
                <a:t>BITS </a:t>
              </a:r>
              <a:r>
                <a:rPr lang="en-IN" b="0" dirty="0" err="1"/>
                <a:t>Pilani</a:t>
              </a:r>
              <a:r>
                <a:rPr lang="en-IN" b="0" dirty="0"/>
                <a:t>, Deemed to be University under Section 3 of UGC Act, 1956</a:t>
              </a:r>
            </a:p>
          </p:txBody>
        </p:sp>
      </p:grpSp>
      <p:sp>
        <p:nvSpPr>
          <p:cNvPr id="100" name="Body Level One…"/>
          <p:cNvSpPr txBox="1">
            <a:spLocks noGrp="1"/>
          </p:cNvSpPr>
          <p:nvPr>
            <p:ph type="body" sz="quarter" idx="1"/>
          </p:nvPr>
        </p:nvSpPr>
        <p:spPr>
          <a:xfrm>
            <a:off x="304800" y="152400"/>
            <a:ext cx="6324600" cy="1143000"/>
          </a:xfrm>
          <a:prstGeom prst="rect">
            <a:avLst/>
          </a:prstGeom>
        </p:spPr>
        <p:txBody>
          <a:bodyPr anchor="ctr">
            <a:normAutofit/>
          </a:bodyPr>
          <a:lstStyle>
            <a:lvl1pPr indent="-685800">
              <a:lnSpc>
                <a:spcPts val="3600"/>
              </a:lnSpc>
              <a:spcBef>
                <a:spcPts val="0"/>
              </a:spcBef>
              <a:buSzTx/>
              <a:buFontTx/>
              <a:buNone/>
              <a:defRPr sz="3600" b="1" spc="-150"/>
            </a:lvl1pPr>
            <a:lvl2pPr marL="824592" indent="-367392">
              <a:lnSpc>
                <a:spcPts val="3600"/>
              </a:lnSpc>
              <a:spcBef>
                <a:spcPts val="0"/>
              </a:spcBef>
              <a:buFontTx/>
              <a:defRPr sz="3600" b="1" spc="-150"/>
            </a:lvl2pPr>
            <a:lvl3pPr marL="1257300" indent="-342900">
              <a:lnSpc>
                <a:spcPts val="3600"/>
              </a:lnSpc>
              <a:spcBef>
                <a:spcPts val="0"/>
              </a:spcBef>
              <a:buFontTx/>
              <a:defRPr sz="3600" b="1" spc="-150"/>
            </a:lvl3pPr>
            <a:lvl4pPr marL="1783079" indent="-411479">
              <a:lnSpc>
                <a:spcPts val="3600"/>
              </a:lnSpc>
              <a:spcBef>
                <a:spcPts val="0"/>
              </a:spcBef>
              <a:buFontTx/>
              <a:defRPr sz="3600" b="1" spc="-150"/>
            </a:lvl4pPr>
            <a:lvl5pPr marL="2240279" indent="-411479">
              <a:lnSpc>
                <a:spcPts val="3600"/>
              </a:lnSpc>
              <a:spcBef>
                <a:spcPts val="0"/>
              </a:spcBef>
              <a:buFontTx/>
              <a:defRPr sz="3600" b="1" spc="-150"/>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wo Content">
    <p:bg>
      <p:bgPr>
        <a:solidFill>
          <a:srgbClr val="FFFFFF"/>
        </a:solidFill>
        <a:effectLst/>
      </p:bgPr>
    </p:bg>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FFD8716B-A31C-47B4-A0C5-7548CDD430C6}"/>
              </a:ext>
            </a:extLst>
          </p:cNvPr>
          <p:cNvGrpSpPr/>
          <p:nvPr userDrawn="1"/>
        </p:nvGrpSpPr>
        <p:grpSpPr>
          <a:xfrm>
            <a:off x="-59470" y="-641099"/>
            <a:ext cx="9267429" cy="8253818"/>
            <a:chOff x="-59470" y="-641099"/>
            <a:chExt cx="9267429" cy="8253818"/>
          </a:xfrm>
        </p:grpSpPr>
        <p:pic>
          <p:nvPicPr>
            <p:cNvPr id="23" name="Graphic 22">
              <a:extLst>
                <a:ext uri="{FF2B5EF4-FFF2-40B4-BE49-F238E27FC236}">
                  <a16:creationId xmlns:a16="http://schemas.microsoft.com/office/drawing/2014/main" id="{5680844E-99C5-4EC4-B180-E92A1197398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789776">
              <a:off x="1948972" y="1734076"/>
              <a:ext cx="5246055" cy="5246055"/>
            </a:xfrm>
            <a:prstGeom prst="rect">
              <a:avLst/>
            </a:prstGeom>
          </p:spPr>
        </p:pic>
        <p:pic>
          <p:nvPicPr>
            <p:cNvPr id="24" name="Graphic 23">
              <a:extLst>
                <a:ext uri="{FF2B5EF4-FFF2-40B4-BE49-F238E27FC236}">
                  <a16:creationId xmlns:a16="http://schemas.microsoft.com/office/drawing/2014/main" id="{3DF246C4-7681-40D2-BD7F-05D1FC48F1E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24369">
              <a:off x="-59470" y="4282884"/>
              <a:ext cx="3329835" cy="3329835"/>
            </a:xfrm>
            <a:prstGeom prst="rect">
              <a:avLst/>
            </a:prstGeom>
          </p:spPr>
        </p:pic>
        <p:pic>
          <p:nvPicPr>
            <p:cNvPr id="25" name="Graphic 24">
              <a:extLst>
                <a:ext uri="{FF2B5EF4-FFF2-40B4-BE49-F238E27FC236}">
                  <a16:creationId xmlns:a16="http://schemas.microsoft.com/office/drawing/2014/main" id="{1C3A5CD5-E5A4-4ACE-A91A-27B1E844C52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878124" y="4281440"/>
              <a:ext cx="3329835" cy="3329835"/>
            </a:xfrm>
            <a:prstGeom prst="rect">
              <a:avLst/>
            </a:prstGeom>
          </p:spPr>
        </p:pic>
        <p:pic>
          <p:nvPicPr>
            <p:cNvPr id="44" name="Graphic 43">
              <a:extLst>
                <a:ext uri="{FF2B5EF4-FFF2-40B4-BE49-F238E27FC236}">
                  <a16:creationId xmlns:a16="http://schemas.microsoft.com/office/drawing/2014/main" id="{9469C547-61A0-45EB-B6FA-25B60785AFA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0318" y="-641098"/>
              <a:ext cx="3329835" cy="3329835"/>
            </a:xfrm>
            <a:prstGeom prst="rect">
              <a:avLst/>
            </a:prstGeom>
          </p:spPr>
        </p:pic>
        <p:pic>
          <p:nvPicPr>
            <p:cNvPr id="45" name="Graphic 44">
              <a:extLst>
                <a:ext uri="{FF2B5EF4-FFF2-40B4-BE49-F238E27FC236}">
                  <a16:creationId xmlns:a16="http://schemas.microsoft.com/office/drawing/2014/main" id="{217C0F69-5C4A-46A1-81DF-1368943C859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04717">
              <a:off x="5806918" y="-641099"/>
              <a:ext cx="3329835" cy="3329835"/>
            </a:xfrm>
            <a:prstGeom prst="rect">
              <a:avLst/>
            </a:prstGeom>
          </p:spPr>
        </p:pic>
        <p:grpSp>
          <p:nvGrpSpPr>
            <p:cNvPr id="46" name="Group 45">
              <a:extLst>
                <a:ext uri="{FF2B5EF4-FFF2-40B4-BE49-F238E27FC236}">
                  <a16:creationId xmlns:a16="http://schemas.microsoft.com/office/drawing/2014/main" id="{5F7D3B5F-9C84-4CDD-ADC5-1C7AEA7FFA30}"/>
                </a:ext>
              </a:extLst>
            </p:cNvPr>
            <p:cNvGrpSpPr/>
            <p:nvPr userDrawn="1"/>
          </p:nvGrpSpPr>
          <p:grpSpPr>
            <a:xfrm>
              <a:off x="0" y="0"/>
              <a:ext cx="9144001" cy="6857673"/>
              <a:chOff x="0" y="0"/>
              <a:chExt cx="9144001" cy="6857673"/>
            </a:xfrm>
          </p:grpSpPr>
          <p:grpSp>
            <p:nvGrpSpPr>
              <p:cNvPr id="48" name="Group 6">
                <a:extLst>
                  <a:ext uri="{FF2B5EF4-FFF2-40B4-BE49-F238E27FC236}">
                    <a16:creationId xmlns:a16="http://schemas.microsoft.com/office/drawing/2014/main" id="{94E0EC27-CD44-4116-BDFE-8C07A845F21D}"/>
                  </a:ext>
                </a:extLst>
              </p:cNvPr>
              <p:cNvGrpSpPr/>
              <p:nvPr userDrawn="1"/>
            </p:nvGrpSpPr>
            <p:grpSpPr>
              <a:xfrm>
                <a:off x="0" y="1295400"/>
                <a:ext cx="7010401" cy="46038"/>
                <a:chOff x="0" y="0"/>
                <a:chExt cx="7010400" cy="46037"/>
              </a:xfrm>
            </p:grpSpPr>
            <p:sp>
              <p:nvSpPr>
                <p:cNvPr id="55" name="Rectangle 6">
                  <a:extLst>
                    <a:ext uri="{FF2B5EF4-FFF2-40B4-BE49-F238E27FC236}">
                      <a16:creationId xmlns:a16="http://schemas.microsoft.com/office/drawing/2014/main" id="{A6BF9062-0344-4685-A2A4-47E7FFFD73B2}"/>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6" name="Rectangle 7">
                  <a:extLst>
                    <a:ext uri="{FF2B5EF4-FFF2-40B4-BE49-F238E27FC236}">
                      <a16:creationId xmlns:a16="http://schemas.microsoft.com/office/drawing/2014/main" id="{64025BE1-99DE-43D5-BA61-5EE12DD7C1C7}"/>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7" name="Rectangle 8">
                  <a:extLst>
                    <a:ext uri="{FF2B5EF4-FFF2-40B4-BE49-F238E27FC236}">
                      <a16:creationId xmlns:a16="http://schemas.microsoft.com/office/drawing/2014/main" id="{074D5DEA-390A-4108-83CB-EE96445CE407}"/>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nvGrpSpPr>
              <p:cNvPr id="49" name="Group 10">
                <a:extLst>
                  <a:ext uri="{FF2B5EF4-FFF2-40B4-BE49-F238E27FC236}">
                    <a16:creationId xmlns:a16="http://schemas.microsoft.com/office/drawing/2014/main" id="{552E09F6-519C-4756-9EA7-45D6DCBE310D}"/>
                  </a:ext>
                </a:extLst>
              </p:cNvPr>
              <p:cNvGrpSpPr/>
              <p:nvPr userDrawn="1"/>
            </p:nvGrpSpPr>
            <p:grpSpPr>
              <a:xfrm>
                <a:off x="2133600" y="6553200"/>
                <a:ext cx="7010401" cy="46038"/>
                <a:chOff x="0" y="0"/>
                <a:chExt cx="7010400" cy="46037"/>
              </a:xfrm>
            </p:grpSpPr>
            <p:sp>
              <p:nvSpPr>
                <p:cNvPr id="52" name="Rectangle 10">
                  <a:extLst>
                    <a:ext uri="{FF2B5EF4-FFF2-40B4-BE49-F238E27FC236}">
                      <a16:creationId xmlns:a16="http://schemas.microsoft.com/office/drawing/2014/main" id="{F6963B12-636B-4383-B53F-0920A9A2D2A0}"/>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3" name="Rectangle 11">
                  <a:extLst>
                    <a:ext uri="{FF2B5EF4-FFF2-40B4-BE49-F238E27FC236}">
                      <a16:creationId xmlns:a16="http://schemas.microsoft.com/office/drawing/2014/main" id="{6D65AAF7-65CB-490D-AE4C-56EB3A380F68}"/>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4" name="Rectangle 12">
                  <a:extLst>
                    <a:ext uri="{FF2B5EF4-FFF2-40B4-BE49-F238E27FC236}">
                      <a16:creationId xmlns:a16="http://schemas.microsoft.com/office/drawing/2014/main" id="{82692E83-6BB2-4F17-81B3-5FB0B92EA780}"/>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pic>
            <p:nvPicPr>
              <p:cNvPr id="50" name="Picture 14" descr="Picture 14">
                <a:extLst>
                  <a:ext uri="{FF2B5EF4-FFF2-40B4-BE49-F238E27FC236}">
                    <a16:creationId xmlns:a16="http://schemas.microsoft.com/office/drawing/2014/main" id="{70822080-A35E-497B-A345-0B4F6B3CEC34}"/>
                  </a:ext>
                </a:extLst>
              </p:cNvPr>
              <p:cNvPicPr>
                <a:picLocks noChangeAspect="1"/>
              </p:cNvPicPr>
              <p:nvPr userDrawn="1"/>
            </p:nvPicPr>
            <p:blipFill>
              <a:blip r:embed="rId3"/>
              <a:srcRect t="2677" b="2677"/>
              <a:stretch>
                <a:fillRect/>
              </a:stretch>
            </p:blipFill>
            <p:spPr>
              <a:xfrm>
                <a:off x="6629400" y="0"/>
                <a:ext cx="2193925" cy="692150"/>
              </a:xfrm>
              <a:prstGeom prst="rect">
                <a:avLst/>
              </a:prstGeom>
              <a:ln w="12700">
                <a:miter lim="400000"/>
              </a:ln>
            </p:spPr>
          </p:pic>
          <p:sp>
            <p:nvSpPr>
              <p:cNvPr id="51" name="TextBox 14">
                <a:extLst>
                  <a:ext uri="{FF2B5EF4-FFF2-40B4-BE49-F238E27FC236}">
                    <a16:creationId xmlns:a16="http://schemas.microsoft.com/office/drawing/2014/main" id="{35FF49B6-322B-45EA-ADB7-89C68BCD8C5E}"/>
                  </a:ext>
                </a:extLst>
              </p:cNvPr>
              <p:cNvSpPr txBox="1"/>
              <p:nvPr userDrawn="1"/>
            </p:nvSpPr>
            <p:spPr>
              <a:xfrm>
                <a:off x="3322319" y="6596063"/>
                <a:ext cx="5775962" cy="26161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r">
                  <a:defRPr sz="1100" b="1">
                    <a:solidFill>
                      <a:srgbClr val="101141"/>
                    </a:solidFill>
                    <a:latin typeface="+mj-lt"/>
                    <a:ea typeface="+mj-ea"/>
                    <a:cs typeface="+mj-cs"/>
                    <a:sym typeface="Arial"/>
                  </a:defRPr>
                </a:pPr>
                <a:r>
                  <a:rPr lang="en-IN" dirty="0"/>
                  <a:t>BITS </a:t>
                </a:r>
                <a:r>
                  <a:rPr lang="en-IN" b="0" dirty="0" err="1"/>
                  <a:t>Pilani</a:t>
                </a:r>
                <a:r>
                  <a:rPr lang="en-IN" b="0" dirty="0"/>
                  <a:t>, Deemed to be University under Section 3 of UGC Act, 1956</a:t>
                </a:r>
              </a:p>
            </p:txBody>
          </p:sp>
        </p:grpSp>
        <p:pic>
          <p:nvPicPr>
            <p:cNvPr id="47" name="Graphic 46">
              <a:extLst>
                <a:ext uri="{FF2B5EF4-FFF2-40B4-BE49-F238E27FC236}">
                  <a16:creationId xmlns:a16="http://schemas.microsoft.com/office/drawing/2014/main" id="{5201B7A3-E0CF-49C7-BCF5-6D53993FB453}"/>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810002" y="2493406"/>
              <a:ext cx="1523997" cy="1523997"/>
            </a:xfrm>
            <a:prstGeom prst="rect">
              <a:avLst/>
            </a:prstGeom>
          </p:spPr>
        </p:pic>
      </p:grpSp>
      <p:sp>
        <p:nvSpPr>
          <p:cNvPr id="147" name="Body Level One…"/>
          <p:cNvSpPr txBox="1">
            <a:spLocks noGrp="1"/>
          </p:cNvSpPr>
          <p:nvPr>
            <p:ph type="body" sz="half" idx="1"/>
          </p:nvPr>
        </p:nvSpPr>
        <p:spPr>
          <a:xfrm>
            <a:off x="4953000" y="1600200"/>
            <a:ext cx="4038600" cy="4525963"/>
          </a:xfrm>
          <a:prstGeom prst="rect">
            <a:avLst/>
          </a:prstGeom>
        </p:spPr>
        <p:txBody>
          <a:bodyPr>
            <a:normAutofit/>
          </a:bodyPr>
          <a:lstStyle>
            <a:lvl1pPr>
              <a:spcBef>
                <a:spcPts val="600"/>
              </a:spcBef>
              <a:buSzTx/>
              <a:buFontTx/>
              <a:buNone/>
              <a:defRPr sz="2800"/>
            </a:lvl1pPr>
            <a:lvl2pPr marL="957262" indent="-500062">
              <a:spcBef>
                <a:spcPts val="600"/>
              </a:spcBef>
              <a:buFontTx/>
              <a:defRPr sz="2800"/>
            </a:lvl2pPr>
            <a:lvl3pPr marL="1234439" indent="-320039">
              <a:spcBef>
                <a:spcPts val="600"/>
              </a:spcBef>
              <a:buFontTx/>
              <a:defRPr sz="2800"/>
            </a:lvl3pPr>
            <a:lvl4pPr marL="1727200" indent="-355600">
              <a:spcBef>
                <a:spcPts val="600"/>
              </a:spcBef>
              <a:buFontTx/>
              <a:defRPr sz="2800"/>
            </a:lvl4pPr>
            <a:lvl5pPr marL="2184400" indent="-355600">
              <a:spcBef>
                <a:spcPts val="600"/>
              </a:spcBef>
              <a:buFontTx/>
              <a:defRPr sz="2800"/>
            </a:lvl5pPr>
          </a:lstStyle>
          <a:p>
            <a:r>
              <a:t>Body Level One</a:t>
            </a:r>
          </a:p>
          <a:p>
            <a:pPr lvl="1"/>
            <a:r>
              <a:t>Body Level Two</a:t>
            </a:r>
          </a:p>
          <a:p>
            <a:pPr lvl="2"/>
            <a:r>
              <a:t>Body Level Three</a:t>
            </a:r>
          </a:p>
          <a:p>
            <a:pPr lvl="3"/>
            <a:r>
              <a:t>Body Level Four</a:t>
            </a:r>
          </a:p>
          <a:p>
            <a:pPr lvl="4"/>
            <a:r>
              <a:t>Body Level Five</a:t>
            </a:r>
          </a:p>
        </p:txBody>
      </p:sp>
      <p:sp>
        <p:nvSpPr>
          <p:cNvPr id="1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Comparison">
    <p:bg>
      <p:bgPr>
        <a:solidFill>
          <a:srgbClr val="FFFFFF"/>
        </a:solidFill>
        <a:effectLst/>
      </p:bgPr>
    </p:bg>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83C6F3F4-5751-43BB-8C7D-E213EC59F5AA}"/>
              </a:ext>
            </a:extLst>
          </p:cNvPr>
          <p:cNvGrpSpPr/>
          <p:nvPr userDrawn="1"/>
        </p:nvGrpSpPr>
        <p:grpSpPr>
          <a:xfrm>
            <a:off x="-59470" y="-641099"/>
            <a:ext cx="9267429" cy="8253818"/>
            <a:chOff x="-59470" y="-641099"/>
            <a:chExt cx="9267429" cy="8253818"/>
          </a:xfrm>
        </p:grpSpPr>
        <p:pic>
          <p:nvPicPr>
            <p:cNvPr id="24" name="Graphic 23">
              <a:extLst>
                <a:ext uri="{FF2B5EF4-FFF2-40B4-BE49-F238E27FC236}">
                  <a16:creationId xmlns:a16="http://schemas.microsoft.com/office/drawing/2014/main" id="{3100B7FA-AEEE-4B3E-BF82-561149B2BC1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789776">
              <a:off x="1948972" y="1734076"/>
              <a:ext cx="5246055" cy="5246055"/>
            </a:xfrm>
            <a:prstGeom prst="rect">
              <a:avLst/>
            </a:prstGeom>
          </p:spPr>
        </p:pic>
        <p:pic>
          <p:nvPicPr>
            <p:cNvPr id="25" name="Graphic 24">
              <a:extLst>
                <a:ext uri="{FF2B5EF4-FFF2-40B4-BE49-F238E27FC236}">
                  <a16:creationId xmlns:a16="http://schemas.microsoft.com/office/drawing/2014/main" id="{CA1F78BE-6A45-4BEE-B3D7-5B27F29777F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24369">
              <a:off x="-59470" y="4282884"/>
              <a:ext cx="3329835" cy="3329835"/>
            </a:xfrm>
            <a:prstGeom prst="rect">
              <a:avLst/>
            </a:prstGeom>
          </p:spPr>
        </p:pic>
        <p:pic>
          <p:nvPicPr>
            <p:cNvPr id="26" name="Graphic 25">
              <a:extLst>
                <a:ext uri="{FF2B5EF4-FFF2-40B4-BE49-F238E27FC236}">
                  <a16:creationId xmlns:a16="http://schemas.microsoft.com/office/drawing/2014/main" id="{4F972F80-0475-4E37-81F3-DF25FE0B49A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878124" y="4281440"/>
              <a:ext cx="3329835" cy="3329835"/>
            </a:xfrm>
            <a:prstGeom prst="rect">
              <a:avLst/>
            </a:prstGeom>
          </p:spPr>
        </p:pic>
        <p:pic>
          <p:nvPicPr>
            <p:cNvPr id="45" name="Graphic 44">
              <a:extLst>
                <a:ext uri="{FF2B5EF4-FFF2-40B4-BE49-F238E27FC236}">
                  <a16:creationId xmlns:a16="http://schemas.microsoft.com/office/drawing/2014/main" id="{0C8BCD8D-488C-4254-8236-C54B886306B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0318" y="-641098"/>
              <a:ext cx="3329835" cy="3329835"/>
            </a:xfrm>
            <a:prstGeom prst="rect">
              <a:avLst/>
            </a:prstGeom>
          </p:spPr>
        </p:pic>
        <p:pic>
          <p:nvPicPr>
            <p:cNvPr id="46" name="Graphic 45">
              <a:extLst>
                <a:ext uri="{FF2B5EF4-FFF2-40B4-BE49-F238E27FC236}">
                  <a16:creationId xmlns:a16="http://schemas.microsoft.com/office/drawing/2014/main" id="{2EDFD120-14DA-495A-8AED-AED69AF6823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04717">
              <a:off x="5806918" y="-641099"/>
              <a:ext cx="3329835" cy="3329835"/>
            </a:xfrm>
            <a:prstGeom prst="rect">
              <a:avLst/>
            </a:prstGeom>
          </p:spPr>
        </p:pic>
        <p:grpSp>
          <p:nvGrpSpPr>
            <p:cNvPr id="47" name="Group 46">
              <a:extLst>
                <a:ext uri="{FF2B5EF4-FFF2-40B4-BE49-F238E27FC236}">
                  <a16:creationId xmlns:a16="http://schemas.microsoft.com/office/drawing/2014/main" id="{B2740D71-E14A-4547-9EF5-592B9A01A999}"/>
                </a:ext>
              </a:extLst>
            </p:cNvPr>
            <p:cNvGrpSpPr/>
            <p:nvPr userDrawn="1"/>
          </p:nvGrpSpPr>
          <p:grpSpPr>
            <a:xfrm>
              <a:off x="0" y="0"/>
              <a:ext cx="9144001" cy="6857673"/>
              <a:chOff x="0" y="0"/>
              <a:chExt cx="9144001" cy="6857673"/>
            </a:xfrm>
          </p:grpSpPr>
          <p:grpSp>
            <p:nvGrpSpPr>
              <p:cNvPr id="49" name="Group 6">
                <a:extLst>
                  <a:ext uri="{FF2B5EF4-FFF2-40B4-BE49-F238E27FC236}">
                    <a16:creationId xmlns:a16="http://schemas.microsoft.com/office/drawing/2014/main" id="{20AE3508-2CAE-49F6-9380-FEBEC6AE18A1}"/>
                  </a:ext>
                </a:extLst>
              </p:cNvPr>
              <p:cNvGrpSpPr/>
              <p:nvPr userDrawn="1"/>
            </p:nvGrpSpPr>
            <p:grpSpPr>
              <a:xfrm>
                <a:off x="0" y="1295400"/>
                <a:ext cx="7010401" cy="46038"/>
                <a:chOff x="0" y="0"/>
                <a:chExt cx="7010400" cy="46037"/>
              </a:xfrm>
            </p:grpSpPr>
            <p:sp>
              <p:nvSpPr>
                <p:cNvPr id="56" name="Rectangle 6">
                  <a:extLst>
                    <a:ext uri="{FF2B5EF4-FFF2-40B4-BE49-F238E27FC236}">
                      <a16:creationId xmlns:a16="http://schemas.microsoft.com/office/drawing/2014/main" id="{24132926-3854-4E73-9F61-FFAE5A7A1A47}"/>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7" name="Rectangle 7">
                  <a:extLst>
                    <a:ext uri="{FF2B5EF4-FFF2-40B4-BE49-F238E27FC236}">
                      <a16:creationId xmlns:a16="http://schemas.microsoft.com/office/drawing/2014/main" id="{62E95AD1-C80F-4E74-A9C5-D34DE62DE821}"/>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8" name="Rectangle 8">
                  <a:extLst>
                    <a:ext uri="{FF2B5EF4-FFF2-40B4-BE49-F238E27FC236}">
                      <a16:creationId xmlns:a16="http://schemas.microsoft.com/office/drawing/2014/main" id="{CCFFD9FF-0E13-4ACB-BF93-17B024793B98}"/>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nvGrpSpPr>
              <p:cNvPr id="50" name="Group 10">
                <a:extLst>
                  <a:ext uri="{FF2B5EF4-FFF2-40B4-BE49-F238E27FC236}">
                    <a16:creationId xmlns:a16="http://schemas.microsoft.com/office/drawing/2014/main" id="{0D855871-BE12-498A-AB58-46EF62159C4F}"/>
                  </a:ext>
                </a:extLst>
              </p:cNvPr>
              <p:cNvGrpSpPr/>
              <p:nvPr userDrawn="1"/>
            </p:nvGrpSpPr>
            <p:grpSpPr>
              <a:xfrm>
                <a:off x="2133600" y="6553200"/>
                <a:ext cx="7010401" cy="46038"/>
                <a:chOff x="0" y="0"/>
                <a:chExt cx="7010400" cy="46037"/>
              </a:xfrm>
            </p:grpSpPr>
            <p:sp>
              <p:nvSpPr>
                <p:cNvPr id="53" name="Rectangle 10">
                  <a:extLst>
                    <a:ext uri="{FF2B5EF4-FFF2-40B4-BE49-F238E27FC236}">
                      <a16:creationId xmlns:a16="http://schemas.microsoft.com/office/drawing/2014/main" id="{C977D99F-D1F8-45A3-ADF9-564B6E2C33B2}"/>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4" name="Rectangle 11">
                  <a:extLst>
                    <a:ext uri="{FF2B5EF4-FFF2-40B4-BE49-F238E27FC236}">
                      <a16:creationId xmlns:a16="http://schemas.microsoft.com/office/drawing/2014/main" id="{31017A24-6422-4F19-B9AA-92767E4CE1B0}"/>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5" name="Rectangle 12">
                  <a:extLst>
                    <a:ext uri="{FF2B5EF4-FFF2-40B4-BE49-F238E27FC236}">
                      <a16:creationId xmlns:a16="http://schemas.microsoft.com/office/drawing/2014/main" id="{9653E56F-820B-4B37-B055-A3C49FF7E2F4}"/>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pic>
            <p:nvPicPr>
              <p:cNvPr id="51" name="Picture 14" descr="Picture 14">
                <a:extLst>
                  <a:ext uri="{FF2B5EF4-FFF2-40B4-BE49-F238E27FC236}">
                    <a16:creationId xmlns:a16="http://schemas.microsoft.com/office/drawing/2014/main" id="{E9AFB7EB-F4A0-4F61-B3FC-95170197BC58}"/>
                  </a:ext>
                </a:extLst>
              </p:cNvPr>
              <p:cNvPicPr>
                <a:picLocks noChangeAspect="1"/>
              </p:cNvPicPr>
              <p:nvPr userDrawn="1"/>
            </p:nvPicPr>
            <p:blipFill>
              <a:blip r:embed="rId3"/>
              <a:srcRect t="2677" b="2677"/>
              <a:stretch>
                <a:fillRect/>
              </a:stretch>
            </p:blipFill>
            <p:spPr>
              <a:xfrm>
                <a:off x="6629400" y="0"/>
                <a:ext cx="2193925" cy="692150"/>
              </a:xfrm>
              <a:prstGeom prst="rect">
                <a:avLst/>
              </a:prstGeom>
              <a:ln w="12700">
                <a:miter lim="400000"/>
              </a:ln>
            </p:spPr>
          </p:pic>
          <p:sp>
            <p:nvSpPr>
              <p:cNvPr id="52" name="TextBox 14">
                <a:extLst>
                  <a:ext uri="{FF2B5EF4-FFF2-40B4-BE49-F238E27FC236}">
                    <a16:creationId xmlns:a16="http://schemas.microsoft.com/office/drawing/2014/main" id="{0A56C53E-F093-4235-B0C3-8FDF84D95BFF}"/>
                  </a:ext>
                </a:extLst>
              </p:cNvPr>
              <p:cNvSpPr txBox="1"/>
              <p:nvPr userDrawn="1"/>
            </p:nvSpPr>
            <p:spPr>
              <a:xfrm>
                <a:off x="3322319" y="6596063"/>
                <a:ext cx="5775962" cy="26161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r">
                  <a:defRPr sz="1100" b="1">
                    <a:solidFill>
                      <a:srgbClr val="101141"/>
                    </a:solidFill>
                    <a:latin typeface="+mj-lt"/>
                    <a:ea typeface="+mj-ea"/>
                    <a:cs typeface="+mj-cs"/>
                    <a:sym typeface="Arial"/>
                  </a:defRPr>
                </a:pPr>
                <a:r>
                  <a:rPr lang="en-IN" dirty="0"/>
                  <a:t>BITS </a:t>
                </a:r>
                <a:r>
                  <a:rPr lang="en-IN" b="0" dirty="0" err="1"/>
                  <a:t>Pilani</a:t>
                </a:r>
                <a:r>
                  <a:rPr lang="en-IN" b="0" dirty="0"/>
                  <a:t>, Deemed to be University under Section 3 of UGC Act, 1956</a:t>
                </a:r>
              </a:p>
            </p:txBody>
          </p:sp>
        </p:grpSp>
        <p:pic>
          <p:nvPicPr>
            <p:cNvPr id="48" name="Graphic 47">
              <a:extLst>
                <a:ext uri="{FF2B5EF4-FFF2-40B4-BE49-F238E27FC236}">
                  <a16:creationId xmlns:a16="http://schemas.microsoft.com/office/drawing/2014/main" id="{B0F0EE30-1431-48B8-8A47-F3CED9AB2925}"/>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810002" y="2493406"/>
              <a:ext cx="1523997" cy="1523997"/>
            </a:xfrm>
            <a:prstGeom prst="rect">
              <a:avLst/>
            </a:prstGeom>
          </p:spPr>
        </p:pic>
      </p:grpSp>
      <p:sp>
        <p:nvSpPr>
          <p:cNvPr id="194" name="Body Level One…"/>
          <p:cNvSpPr txBox="1">
            <a:spLocks noGrp="1"/>
          </p:cNvSpPr>
          <p:nvPr>
            <p:ph type="body" sz="quarter" idx="1"/>
          </p:nvPr>
        </p:nvSpPr>
        <p:spPr>
          <a:xfrm>
            <a:off x="457200" y="1535112"/>
            <a:ext cx="4040188" cy="827088"/>
          </a:xfrm>
          <a:prstGeom prst="rect">
            <a:avLst/>
          </a:prstGeom>
        </p:spPr>
        <p:txBody>
          <a:bodyPr anchor="b">
            <a:normAutofit/>
          </a:bodyPr>
          <a:lstStyle>
            <a:lvl1pPr marL="0" indent="0">
              <a:spcBef>
                <a:spcPts val="500"/>
              </a:spcBef>
              <a:buSzTx/>
              <a:buFontTx/>
              <a:buNone/>
              <a:defRPr sz="2400" b="1"/>
            </a:lvl1pPr>
            <a:lvl2pPr marL="0" indent="457200">
              <a:spcBef>
                <a:spcPts val="500"/>
              </a:spcBef>
              <a:buSzTx/>
              <a:buFontTx/>
              <a:buNone/>
              <a:defRPr sz="2400" b="1"/>
            </a:lvl2pPr>
            <a:lvl3pPr marL="0" indent="914400">
              <a:spcBef>
                <a:spcPts val="500"/>
              </a:spcBef>
              <a:buSzTx/>
              <a:buFontTx/>
              <a:buNone/>
              <a:defRPr sz="2400" b="1"/>
            </a:lvl3pPr>
            <a:lvl4pPr marL="0" indent="1371600">
              <a:spcBef>
                <a:spcPts val="500"/>
              </a:spcBef>
              <a:buSzTx/>
              <a:buFontTx/>
              <a:buNone/>
              <a:defRPr sz="2400" b="1"/>
            </a:lvl4pPr>
            <a:lvl5pPr marL="0" indent="1828800">
              <a:spcBef>
                <a:spcPts val="500"/>
              </a:spcBef>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195" name="Text Placeholder 4"/>
          <p:cNvSpPr>
            <a:spLocks noGrp="1"/>
          </p:cNvSpPr>
          <p:nvPr>
            <p:ph type="body" sz="quarter" idx="21"/>
          </p:nvPr>
        </p:nvSpPr>
        <p:spPr>
          <a:xfrm>
            <a:off x="4645025" y="1535112"/>
            <a:ext cx="4041775" cy="827088"/>
          </a:xfrm>
          <a:prstGeom prst="rect">
            <a:avLst/>
          </a:prstGeom>
        </p:spPr>
        <p:txBody>
          <a:bodyPr anchor="b">
            <a:normAutofit/>
          </a:bodyPr>
          <a:lstStyle/>
          <a:p>
            <a:pPr marL="0" indent="0">
              <a:spcBef>
                <a:spcPts val="500"/>
              </a:spcBef>
              <a:buSzTx/>
              <a:buFontTx/>
              <a:buNone/>
              <a:defRPr sz="2400" b="1"/>
            </a:pPr>
            <a:endParaRPr/>
          </a:p>
        </p:txBody>
      </p:sp>
      <p:sp>
        <p:nvSpPr>
          <p:cNvPr id="19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lank">
    <p:bg>
      <p:bgPr>
        <a:solidFill>
          <a:srgbClr val="FFFFFF">
            <a:alpha val="72000"/>
          </a:srgbClr>
        </a:solidFill>
        <a:effectLst/>
      </p:bgPr>
    </p:bg>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DD5745CB-06AA-4B81-957F-FB40813E1114}"/>
              </a:ext>
            </a:extLst>
          </p:cNvPr>
          <p:cNvGrpSpPr/>
          <p:nvPr userDrawn="1"/>
        </p:nvGrpSpPr>
        <p:grpSpPr>
          <a:xfrm>
            <a:off x="-59470" y="-641099"/>
            <a:ext cx="9267429" cy="8253818"/>
            <a:chOff x="-59470" y="-641099"/>
            <a:chExt cx="9267429" cy="8253818"/>
          </a:xfrm>
        </p:grpSpPr>
        <p:pic>
          <p:nvPicPr>
            <p:cNvPr id="23" name="Graphic 22">
              <a:extLst>
                <a:ext uri="{FF2B5EF4-FFF2-40B4-BE49-F238E27FC236}">
                  <a16:creationId xmlns:a16="http://schemas.microsoft.com/office/drawing/2014/main" id="{9CF6619D-D89D-4695-84F2-4D14B9CE5CB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789776">
              <a:off x="1948972" y="1734076"/>
              <a:ext cx="5246055" cy="5246055"/>
            </a:xfrm>
            <a:prstGeom prst="rect">
              <a:avLst/>
            </a:prstGeom>
          </p:spPr>
        </p:pic>
        <p:pic>
          <p:nvPicPr>
            <p:cNvPr id="24" name="Graphic 23">
              <a:extLst>
                <a:ext uri="{FF2B5EF4-FFF2-40B4-BE49-F238E27FC236}">
                  <a16:creationId xmlns:a16="http://schemas.microsoft.com/office/drawing/2014/main" id="{3F684C8C-B74B-40AF-ABA0-D1634725725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24369">
              <a:off x="-59470" y="4282884"/>
              <a:ext cx="3329835" cy="3329835"/>
            </a:xfrm>
            <a:prstGeom prst="rect">
              <a:avLst/>
            </a:prstGeom>
          </p:spPr>
        </p:pic>
        <p:pic>
          <p:nvPicPr>
            <p:cNvPr id="25" name="Graphic 24">
              <a:extLst>
                <a:ext uri="{FF2B5EF4-FFF2-40B4-BE49-F238E27FC236}">
                  <a16:creationId xmlns:a16="http://schemas.microsoft.com/office/drawing/2014/main" id="{9347B43F-FF3F-4A48-9060-6D5ED0C6A56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878124" y="4281440"/>
              <a:ext cx="3329835" cy="3329835"/>
            </a:xfrm>
            <a:prstGeom prst="rect">
              <a:avLst/>
            </a:prstGeom>
          </p:spPr>
        </p:pic>
        <p:pic>
          <p:nvPicPr>
            <p:cNvPr id="44" name="Graphic 43">
              <a:extLst>
                <a:ext uri="{FF2B5EF4-FFF2-40B4-BE49-F238E27FC236}">
                  <a16:creationId xmlns:a16="http://schemas.microsoft.com/office/drawing/2014/main" id="{E002E591-4F7B-48A9-9F72-9E4DE09C2B3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0318" y="-641098"/>
              <a:ext cx="3329835" cy="3329835"/>
            </a:xfrm>
            <a:prstGeom prst="rect">
              <a:avLst/>
            </a:prstGeom>
          </p:spPr>
        </p:pic>
        <p:pic>
          <p:nvPicPr>
            <p:cNvPr id="45" name="Graphic 44">
              <a:extLst>
                <a:ext uri="{FF2B5EF4-FFF2-40B4-BE49-F238E27FC236}">
                  <a16:creationId xmlns:a16="http://schemas.microsoft.com/office/drawing/2014/main" id="{09B02342-AE14-4FD7-923C-6D9B53B9160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04717">
              <a:off x="5806918" y="-641099"/>
              <a:ext cx="3329835" cy="3329835"/>
            </a:xfrm>
            <a:prstGeom prst="rect">
              <a:avLst/>
            </a:prstGeom>
          </p:spPr>
        </p:pic>
        <p:grpSp>
          <p:nvGrpSpPr>
            <p:cNvPr id="46" name="Group 45">
              <a:extLst>
                <a:ext uri="{FF2B5EF4-FFF2-40B4-BE49-F238E27FC236}">
                  <a16:creationId xmlns:a16="http://schemas.microsoft.com/office/drawing/2014/main" id="{12F6725C-53D2-4236-87F9-62DF3413A481}"/>
                </a:ext>
              </a:extLst>
            </p:cNvPr>
            <p:cNvGrpSpPr/>
            <p:nvPr userDrawn="1"/>
          </p:nvGrpSpPr>
          <p:grpSpPr>
            <a:xfrm>
              <a:off x="0" y="0"/>
              <a:ext cx="9144001" cy="6857673"/>
              <a:chOff x="0" y="0"/>
              <a:chExt cx="9144001" cy="6857673"/>
            </a:xfrm>
          </p:grpSpPr>
          <p:grpSp>
            <p:nvGrpSpPr>
              <p:cNvPr id="48" name="Group 6">
                <a:extLst>
                  <a:ext uri="{FF2B5EF4-FFF2-40B4-BE49-F238E27FC236}">
                    <a16:creationId xmlns:a16="http://schemas.microsoft.com/office/drawing/2014/main" id="{5D5570D8-518F-4A65-AB4C-10057F149106}"/>
                  </a:ext>
                </a:extLst>
              </p:cNvPr>
              <p:cNvGrpSpPr/>
              <p:nvPr userDrawn="1"/>
            </p:nvGrpSpPr>
            <p:grpSpPr>
              <a:xfrm>
                <a:off x="0" y="1295400"/>
                <a:ext cx="7010401" cy="46038"/>
                <a:chOff x="0" y="0"/>
                <a:chExt cx="7010400" cy="46037"/>
              </a:xfrm>
            </p:grpSpPr>
            <p:sp>
              <p:nvSpPr>
                <p:cNvPr id="55" name="Rectangle 6">
                  <a:extLst>
                    <a:ext uri="{FF2B5EF4-FFF2-40B4-BE49-F238E27FC236}">
                      <a16:creationId xmlns:a16="http://schemas.microsoft.com/office/drawing/2014/main" id="{F8BC0A35-0293-4229-B935-BFF81052072D}"/>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6" name="Rectangle 7">
                  <a:extLst>
                    <a:ext uri="{FF2B5EF4-FFF2-40B4-BE49-F238E27FC236}">
                      <a16:creationId xmlns:a16="http://schemas.microsoft.com/office/drawing/2014/main" id="{F86283D0-4A1E-43CD-B49A-B5DEF391613C}"/>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7" name="Rectangle 8">
                  <a:extLst>
                    <a:ext uri="{FF2B5EF4-FFF2-40B4-BE49-F238E27FC236}">
                      <a16:creationId xmlns:a16="http://schemas.microsoft.com/office/drawing/2014/main" id="{21009D49-5D49-47D3-9581-2B06B0F95B53}"/>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nvGrpSpPr>
              <p:cNvPr id="49" name="Group 10">
                <a:extLst>
                  <a:ext uri="{FF2B5EF4-FFF2-40B4-BE49-F238E27FC236}">
                    <a16:creationId xmlns:a16="http://schemas.microsoft.com/office/drawing/2014/main" id="{F6AC508B-8E77-4674-8422-3B4DA12D07FD}"/>
                  </a:ext>
                </a:extLst>
              </p:cNvPr>
              <p:cNvGrpSpPr/>
              <p:nvPr userDrawn="1"/>
            </p:nvGrpSpPr>
            <p:grpSpPr>
              <a:xfrm>
                <a:off x="2133600" y="6553200"/>
                <a:ext cx="7010401" cy="46038"/>
                <a:chOff x="0" y="0"/>
                <a:chExt cx="7010400" cy="46037"/>
              </a:xfrm>
            </p:grpSpPr>
            <p:sp>
              <p:nvSpPr>
                <p:cNvPr id="52" name="Rectangle 10">
                  <a:extLst>
                    <a:ext uri="{FF2B5EF4-FFF2-40B4-BE49-F238E27FC236}">
                      <a16:creationId xmlns:a16="http://schemas.microsoft.com/office/drawing/2014/main" id="{EF35E278-0085-4428-A96D-7CA4168C754B}"/>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3" name="Rectangle 11">
                  <a:extLst>
                    <a:ext uri="{FF2B5EF4-FFF2-40B4-BE49-F238E27FC236}">
                      <a16:creationId xmlns:a16="http://schemas.microsoft.com/office/drawing/2014/main" id="{476F634D-3AEE-4698-B03A-21206F970959}"/>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4" name="Rectangle 12">
                  <a:extLst>
                    <a:ext uri="{FF2B5EF4-FFF2-40B4-BE49-F238E27FC236}">
                      <a16:creationId xmlns:a16="http://schemas.microsoft.com/office/drawing/2014/main" id="{3EC4A554-78FE-4858-9D34-5D12D86AB4F8}"/>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pic>
            <p:nvPicPr>
              <p:cNvPr id="50" name="Picture 14" descr="Picture 14">
                <a:extLst>
                  <a:ext uri="{FF2B5EF4-FFF2-40B4-BE49-F238E27FC236}">
                    <a16:creationId xmlns:a16="http://schemas.microsoft.com/office/drawing/2014/main" id="{D53E0125-E6C8-4170-8576-A8B945924E84}"/>
                  </a:ext>
                </a:extLst>
              </p:cNvPr>
              <p:cNvPicPr>
                <a:picLocks noChangeAspect="1"/>
              </p:cNvPicPr>
              <p:nvPr userDrawn="1"/>
            </p:nvPicPr>
            <p:blipFill>
              <a:blip r:embed="rId3"/>
              <a:srcRect t="2677" b="2677"/>
              <a:stretch>
                <a:fillRect/>
              </a:stretch>
            </p:blipFill>
            <p:spPr>
              <a:xfrm>
                <a:off x="6629400" y="0"/>
                <a:ext cx="2193925" cy="692150"/>
              </a:xfrm>
              <a:prstGeom prst="rect">
                <a:avLst/>
              </a:prstGeom>
              <a:ln w="12700">
                <a:miter lim="400000"/>
              </a:ln>
            </p:spPr>
          </p:pic>
          <p:sp>
            <p:nvSpPr>
              <p:cNvPr id="51" name="TextBox 14">
                <a:extLst>
                  <a:ext uri="{FF2B5EF4-FFF2-40B4-BE49-F238E27FC236}">
                    <a16:creationId xmlns:a16="http://schemas.microsoft.com/office/drawing/2014/main" id="{3BF71A74-AAB4-4ED8-9AC1-98341ED06B55}"/>
                  </a:ext>
                </a:extLst>
              </p:cNvPr>
              <p:cNvSpPr txBox="1"/>
              <p:nvPr userDrawn="1"/>
            </p:nvSpPr>
            <p:spPr>
              <a:xfrm>
                <a:off x="3322319" y="6596063"/>
                <a:ext cx="5775962" cy="26161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r">
                  <a:defRPr sz="1100" b="1">
                    <a:solidFill>
                      <a:srgbClr val="101141"/>
                    </a:solidFill>
                    <a:latin typeface="+mj-lt"/>
                    <a:ea typeface="+mj-ea"/>
                    <a:cs typeface="+mj-cs"/>
                    <a:sym typeface="Arial"/>
                  </a:defRPr>
                </a:pPr>
                <a:r>
                  <a:rPr lang="en-IN" dirty="0"/>
                  <a:t>BITS </a:t>
                </a:r>
                <a:r>
                  <a:rPr lang="en-IN" b="0" dirty="0" err="1"/>
                  <a:t>Pilani</a:t>
                </a:r>
                <a:r>
                  <a:rPr lang="en-IN" b="0" dirty="0"/>
                  <a:t>, Deemed to be University under Section 3 of UGC Act, 1956</a:t>
                </a:r>
              </a:p>
            </p:txBody>
          </p:sp>
        </p:grpSp>
        <p:pic>
          <p:nvPicPr>
            <p:cNvPr id="47" name="Graphic 46">
              <a:extLst>
                <a:ext uri="{FF2B5EF4-FFF2-40B4-BE49-F238E27FC236}">
                  <a16:creationId xmlns:a16="http://schemas.microsoft.com/office/drawing/2014/main" id="{AF9A04AC-78E1-4BBC-9A65-F9118363579B}"/>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810002" y="2493406"/>
              <a:ext cx="1523997" cy="1523997"/>
            </a:xfrm>
            <a:prstGeom prst="rect">
              <a:avLst/>
            </a:prstGeom>
          </p:spPr>
        </p:pic>
      </p:grpSp>
      <p:sp>
        <p:nvSpPr>
          <p:cNvPr id="242" name="Body Level One…"/>
          <p:cNvSpPr txBox="1">
            <a:spLocks noGrp="1"/>
          </p:cNvSpPr>
          <p:nvPr>
            <p:ph type="body" sz="quarter" idx="1"/>
          </p:nvPr>
        </p:nvSpPr>
        <p:spPr>
          <a:xfrm>
            <a:off x="304800" y="152400"/>
            <a:ext cx="6324600" cy="1143000"/>
          </a:xfrm>
          <a:prstGeom prst="rect">
            <a:avLst/>
          </a:prstGeom>
        </p:spPr>
        <p:txBody>
          <a:bodyPr anchor="ctr">
            <a:normAutofit/>
          </a:bodyPr>
          <a:lstStyle>
            <a:lvl1pPr indent="-685800">
              <a:lnSpc>
                <a:spcPts val="3600"/>
              </a:lnSpc>
              <a:spcBef>
                <a:spcPts val="0"/>
              </a:spcBef>
              <a:buSzTx/>
              <a:buFontTx/>
              <a:buNone/>
              <a:defRPr sz="3600" b="1" spc="-150"/>
            </a:lvl1pPr>
            <a:lvl2pPr marL="824592" indent="-367392">
              <a:lnSpc>
                <a:spcPts val="3600"/>
              </a:lnSpc>
              <a:spcBef>
                <a:spcPts val="0"/>
              </a:spcBef>
              <a:buFontTx/>
              <a:defRPr sz="3600" b="1" spc="-150"/>
            </a:lvl2pPr>
            <a:lvl3pPr marL="1257300" indent="-342900">
              <a:lnSpc>
                <a:spcPts val="3600"/>
              </a:lnSpc>
              <a:spcBef>
                <a:spcPts val="0"/>
              </a:spcBef>
              <a:buFontTx/>
              <a:defRPr sz="3600" b="1" spc="-150"/>
            </a:lvl3pPr>
            <a:lvl4pPr marL="1783079" indent="-411479">
              <a:lnSpc>
                <a:spcPts val="3600"/>
              </a:lnSpc>
              <a:spcBef>
                <a:spcPts val="0"/>
              </a:spcBef>
              <a:buFontTx/>
              <a:defRPr sz="3600" b="1" spc="-150"/>
            </a:lvl4pPr>
            <a:lvl5pPr marL="2240279" indent="-411479">
              <a:lnSpc>
                <a:spcPts val="3600"/>
              </a:lnSpc>
              <a:spcBef>
                <a:spcPts val="0"/>
              </a:spcBef>
              <a:buFontTx/>
              <a:defRPr sz="3600" b="1" spc="-150"/>
            </a:lvl5pPr>
          </a:lstStyle>
          <a:p>
            <a:r>
              <a:t>Body Level One</a:t>
            </a:r>
          </a:p>
          <a:p>
            <a:pPr lvl="1"/>
            <a:r>
              <a:t>Body Level Two</a:t>
            </a:r>
          </a:p>
          <a:p>
            <a:pPr lvl="2"/>
            <a:r>
              <a:t>Body Level Three</a:t>
            </a:r>
          </a:p>
          <a:p>
            <a:pPr lvl="3"/>
            <a:r>
              <a:t>Body Level Four</a:t>
            </a:r>
          </a:p>
          <a:p>
            <a:pPr lvl="4"/>
            <a:r>
              <a:t>Body Level Five</a:t>
            </a:r>
          </a:p>
        </p:txBody>
      </p:sp>
      <p:sp>
        <p:nvSpPr>
          <p:cNvPr id="24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Content with Caption">
    <p:bg>
      <p:bgPr>
        <a:solidFill>
          <a:srgbClr val="FFFFFF"/>
        </a:solidFill>
        <a:effectLst/>
      </p:bgPr>
    </p:bg>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EBA91D93-81E9-4E44-BA3B-BFC4DB61B9B1}"/>
              </a:ext>
            </a:extLst>
          </p:cNvPr>
          <p:cNvGrpSpPr/>
          <p:nvPr userDrawn="1"/>
        </p:nvGrpSpPr>
        <p:grpSpPr>
          <a:xfrm>
            <a:off x="-59470" y="-641099"/>
            <a:ext cx="9267429" cy="8253818"/>
            <a:chOff x="-59470" y="-641099"/>
            <a:chExt cx="9267429" cy="8253818"/>
          </a:xfrm>
        </p:grpSpPr>
        <p:pic>
          <p:nvPicPr>
            <p:cNvPr id="24" name="Graphic 23">
              <a:extLst>
                <a:ext uri="{FF2B5EF4-FFF2-40B4-BE49-F238E27FC236}">
                  <a16:creationId xmlns:a16="http://schemas.microsoft.com/office/drawing/2014/main" id="{A03074E5-C395-4142-B82C-55575CC3750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789776">
              <a:off x="1948972" y="1734076"/>
              <a:ext cx="5246055" cy="5246055"/>
            </a:xfrm>
            <a:prstGeom prst="rect">
              <a:avLst/>
            </a:prstGeom>
          </p:spPr>
        </p:pic>
        <p:pic>
          <p:nvPicPr>
            <p:cNvPr id="25" name="Graphic 24">
              <a:extLst>
                <a:ext uri="{FF2B5EF4-FFF2-40B4-BE49-F238E27FC236}">
                  <a16:creationId xmlns:a16="http://schemas.microsoft.com/office/drawing/2014/main" id="{5043B723-FDC1-4C80-B36E-65A0302A4A6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24369">
              <a:off x="-59470" y="4282884"/>
              <a:ext cx="3329835" cy="3329835"/>
            </a:xfrm>
            <a:prstGeom prst="rect">
              <a:avLst/>
            </a:prstGeom>
          </p:spPr>
        </p:pic>
        <p:pic>
          <p:nvPicPr>
            <p:cNvPr id="26" name="Graphic 25">
              <a:extLst>
                <a:ext uri="{FF2B5EF4-FFF2-40B4-BE49-F238E27FC236}">
                  <a16:creationId xmlns:a16="http://schemas.microsoft.com/office/drawing/2014/main" id="{5DB4FDD8-D8D7-4A39-973E-FF204CF26F7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878124" y="4281440"/>
              <a:ext cx="3329835" cy="3329835"/>
            </a:xfrm>
            <a:prstGeom prst="rect">
              <a:avLst/>
            </a:prstGeom>
          </p:spPr>
        </p:pic>
        <p:pic>
          <p:nvPicPr>
            <p:cNvPr id="45" name="Graphic 44">
              <a:extLst>
                <a:ext uri="{FF2B5EF4-FFF2-40B4-BE49-F238E27FC236}">
                  <a16:creationId xmlns:a16="http://schemas.microsoft.com/office/drawing/2014/main" id="{276FF869-530C-4BCB-92FE-054992EB10F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0318" y="-641098"/>
              <a:ext cx="3329835" cy="3329835"/>
            </a:xfrm>
            <a:prstGeom prst="rect">
              <a:avLst/>
            </a:prstGeom>
          </p:spPr>
        </p:pic>
        <p:pic>
          <p:nvPicPr>
            <p:cNvPr id="46" name="Graphic 45">
              <a:extLst>
                <a:ext uri="{FF2B5EF4-FFF2-40B4-BE49-F238E27FC236}">
                  <a16:creationId xmlns:a16="http://schemas.microsoft.com/office/drawing/2014/main" id="{D919A7FA-FDD4-4C10-97CC-BCD6F27C1D3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04717">
              <a:off x="5806918" y="-641099"/>
              <a:ext cx="3329835" cy="3329835"/>
            </a:xfrm>
            <a:prstGeom prst="rect">
              <a:avLst/>
            </a:prstGeom>
          </p:spPr>
        </p:pic>
        <p:grpSp>
          <p:nvGrpSpPr>
            <p:cNvPr id="47" name="Group 46">
              <a:extLst>
                <a:ext uri="{FF2B5EF4-FFF2-40B4-BE49-F238E27FC236}">
                  <a16:creationId xmlns:a16="http://schemas.microsoft.com/office/drawing/2014/main" id="{CCCFF274-1225-4563-806D-A565D4704B4E}"/>
                </a:ext>
              </a:extLst>
            </p:cNvPr>
            <p:cNvGrpSpPr/>
            <p:nvPr userDrawn="1"/>
          </p:nvGrpSpPr>
          <p:grpSpPr>
            <a:xfrm>
              <a:off x="0" y="0"/>
              <a:ext cx="9144001" cy="6857673"/>
              <a:chOff x="0" y="0"/>
              <a:chExt cx="9144001" cy="6857673"/>
            </a:xfrm>
          </p:grpSpPr>
          <p:grpSp>
            <p:nvGrpSpPr>
              <p:cNvPr id="49" name="Group 6">
                <a:extLst>
                  <a:ext uri="{FF2B5EF4-FFF2-40B4-BE49-F238E27FC236}">
                    <a16:creationId xmlns:a16="http://schemas.microsoft.com/office/drawing/2014/main" id="{A78C547C-62FD-49F4-8220-87E6108E1DC0}"/>
                  </a:ext>
                </a:extLst>
              </p:cNvPr>
              <p:cNvGrpSpPr/>
              <p:nvPr userDrawn="1"/>
            </p:nvGrpSpPr>
            <p:grpSpPr>
              <a:xfrm>
                <a:off x="0" y="1295400"/>
                <a:ext cx="7010401" cy="46038"/>
                <a:chOff x="0" y="0"/>
                <a:chExt cx="7010400" cy="46037"/>
              </a:xfrm>
            </p:grpSpPr>
            <p:sp>
              <p:nvSpPr>
                <p:cNvPr id="56" name="Rectangle 6">
                  <a:extLst>
                    <a:ext uri="{FF2B5EF4-FFF2-40B4-BE49-F238E27FC236}">
                      <a16:creationId xmlns:a16="http://schemas.microsoft.com/office/drawing/2014/main" id="{E131FBB3-C3F0-4F2C-AA58-58B5D5B147F0}"/>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7" name="Rectangle 7">
                  <a:extLst>
                    <a:ext uri="{FF2B5EF4-FFF2-40B4-BE49-F238E27FC236}">
                      <a16:creationId xmlns:a16="http://schemas.microsoft.com/office/drawing/2014/main" id="{7C694F41-E945-4E8B-BA86-DC9A598526C8}"/>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8" name="Rectangle 8">
                  <a:extLst>
                    <a:ext uri="{FF2B5EF4-FFF2-40B4-BE49-F238E27FC236}">
                      <a16:creationId xmlns:a16="http://schemas.microsoft.com/office/drawing/2014/main" id="{857E2CF2-3046-46A4-889D-40063CCC6F37}"/>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nvGrpSpPr>
              <p:cNvPr id="50" name="Group 10">
                <a:extLst>
                  <a:ext uri="{FF2B5EF4-FFF2-40B4-BE49-F238E27FC236}">
                    <a16:creationId xmlns:a16="http://schemas.microsoft.com/office/drawing/2014/main" id="{EC7C1379-6432-4776-8A30-B023A4412329}"/>
                  </a:ext>
                </a:extLst>
              </p:cNvPr>
              <p:cNvGrpSpPr/>
              <p:nvPr userDrawn="1"/>
            </p:nvGrpSpPr>
            <p:grpSpPr>
              <a:xfrm>
                <a:off x="2133600" y="6553200"/>
                <a:ext cx="7010401" cy="46038"/>
                <a:chOff x="0" y="0"/>
                <a:chExt cx="7010400" cy="46037"/>
              </a:xfrm>
            </p:grpSpPr>
            <p:sp>
              <p:nvSpPr>
                <p:cNvPr id="53" name="Rectangle 10">
                  <a:extLst>
                    <a:ext uri="{FF2B5EF4-FFF2-40B4-BE49-F238E27FC236}">
                      <a16:creationId xmlns:a16="http://schemas.microsoft.com/office/drawing/2014/main" id="{A8A7BDE8-B2DB-48A5-BEC9-63C3D85E29DE}"/>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4" name="Rectangle 11">
                  <a:extLst>
                    <a:ext uri="{FF2B5EF4-FFF2-40B4-BE49-F238E27FC236}">
                      <a16:creationId xmlns:a16="http://schemas.microsoft.com/office/drawing/2014/main" id="{13B51388-D487-404B-8E80-29EBE51F59E4}"/>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5" name="Rectangle 12">
                  <a:extLst>
                    <a:ext uri="{FF2B5EF4-FFF2-40B4-BE49-F238E27FC236}">
                      <a16:creationId xmlns:a16="http://schemas.microsoft.com/office/drawing/2014/main" id="{0726AA02-C9CE-4E8C-A77E-9A458E9F0225}"/>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pic>
            <p:nvPicPr>
              <p:cNvPr id="51" name="Picture 14" descr="Picture 14">
                <a:extLst>
                  <a:ext uri="{FF2B5EF4-FFF2-40B4-BE49-F238E27FC236}">
                    <a16:creationId xmlns:a16="http://schemas.microsoft.com/office/drawing/2014/main" id="{F4752845-A425-4626-8999-478B6153E307}"/>
                  </a:ext>
                </a:extLst>
              </p:cNvPr>
              <p:cNvPicPr>
                <a:picLocks noChangeAspect="1"/>
              </p:cNvPicPr>
              <p:nvPr userDrawn="1"/>
            </p:nvPicPr>
            <p:blipFill>
              <a:blip r:embed="rId3"/>
              <a:srcRect t="2677" b="2677"/>
              <a:stretch>
                <a:fillRect/>
              </a:stretch>
            </p:blipFill>
            <p:spPr>
              <a:xfrm>
                <a:off x="6629400" y="0"/>
                <a:ext cx="2193925" cy="692150"/>
              </a:xfrm>
              <a:prstGeom prst="rect">
                <a:avLst/>
              </a:prstGeom>
              <a:ln w="12700">
                <a:miter lim="400000"/>
              </a:ln>
            </p:spPr>
          </p:pic>
          <p:sp>
            <p:nvSpPr>
              <p:cNvPr id="52" name="TextBox 14">
                <a:extLst>
                  <a:ext uri="{FF2B5EF4-FFF2-40B4-BE49-F238E27FC236}">
                    <a16:creationId xmlns:a16="http://schemas.microsoft.com/office/drawing/2014/main" id="{E2DF6F5B-D493-4810-B293-745C2BA1A0FC}"/>
                  </a:ext>
                </a:extLst>
              </p:cNvPr>
              <p:cNvSpPr txBox="1"/>
              <p:nvPr userDrawn="1"/>
            </p:nvSpPr>
            <p:spPr>
              <a:xfrm>
                <a:off x="3322319" y="6596063"/>
                <a:ext cx="5775962" cy="26161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r">
                  <a:defRPr sz="1100" b="1">
                    <a:solidFill>
                      <a:srgbClr val="101141"/>
                    </a:solidFill>
                    <a:latin typeface="+mj-lt"/>
                    <a:ea typeface="+mj-ea"/>
                    <a:cs typeface="+mj-cs"/>
                    <a:sym typeface="Arial"/>
                  </a:defRPr>
                </a:pPr>
                <a:r>
                  <a:rPr lang="en-IN" dirty="0"/>
                  <a:t>BITS </a:t>
                </a:r>
                <a:r>
                  <a:rPr lang="en-IN" b="0" dirty="0" err="1"/>
                  <a:t>Pilani</a:t>
                </a:r>
                <a:r>
                  <a:rPr lang="en-IN" b="0" dirty="0"/>
                  <a:t>, Deemed to be University under Section 3 of UGC Act, 1956</a:t>
                </a:r>
              </a:p>
            </p:txBody>
          </p:sp>
        </p:grpSp>
        <p:pic>
          <p:nvPicPr>
            <p:cNvPr id="48" name="Graphic 47">
              <a:extLst>
                <a:ext uri="{FF2B5EF4-FFF2-40B4-BE49-F238E27FC236}">
                  <a16:creationId xmlns:a16="http://schemas.microsoft.com/office/drawing/2014/main" id="{09623608-3D09-45A2-8F67-52AC08DC4932}"/>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810002" y="2493406"/>
              <a:ext cx="1523997" cy="1523997"/>
            </a:xfrm>
            <a:prstGeom prst="rect">
              <a:avLst/>
            </a:prstGeom>
          </p:spPr>
        </p:pic>
      </p:grpSp>
      <p:sp>
        <p:nvSpPr>
          <p:cNvPr id="279" name="Body Level One…"/>
          <p:cNvSpPr txBox="1">
            <a:spLocks noGrp="1"/>
          </p:cNvSpPr>
          <p:nvPr>
            <p:ph type="body" sz="half" idx="1"/>
          </p:nvPr>
        </p:nvSpPr>
        <p:spPr>
          <a:xfrm>
            <a:off x="3575050" y="1600200"/>
            <a:ext cx="5111750" cy="4525963"/>
          </a:xfrm>
          <a:prstGeom prst="rect">
            <a:avLst/>
          </a:prstGeom>
        </p:spPr>
        <p:txBody>
          <a:bodyPr>
            <a:normAutofit/>
          </a:body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290" name="Text Placeholder 3"/>
          <p:cNvSpPr>
            <a:spLocks noGrp="1"/>
          </p:cNvSpPr>
          <p:nvPr>
            <p:ph type="body" sz="half" idx="21"/>
          </p:nvPr>
        </p:nvSpPr>
        <p:spPr>
          <a:xfrm>
            <a:off x="457199" y="1600200"/>
            <a:ext cx="3008315" cy="4525963"/>
          </a:xfrm>
          <a:prstGeom prst="rect">
            <a:avLst/>
          </a:prstGeom>
        </p:spPr>
        <p:txBody>
          <a:bodyPr>
            <a:normAutofit/>
          </a:bodyPr>
          <a:lstStyle/>
          <a:p>
            <a:pPr marL="0" indent="0">
              <a:spcBef>
                <a:spcPts val="300"/>
              </a:spcBef>
              <a:buSzTx/>
              <a:buFontTx/>
              <a:buNone/>
              <a:defRPr sz="1400"/>
            </a:pPr>
            <a:endParaRPr dirty="0"/>
          </a:p>
        </p:txBody>
      </p:sp>
      <p:sp>
        <p:nvSpPr>
          <p:cNvPr id="29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icture with Caption">
    <p:bg>
      <p:bgPr>
        <a:solidFill>
          <a:srgbClr val="FFFFFF"/>
        </a:solidFill>
        <a:effectLst/>
      </p:bgPr>
    </p:bg>
    <p:spTree>
      <p:nvGrpSpPr>
        <p:cNvPr id="1" name=""/>
        <p:cNvGrpSpPr/>
        <p:nvPr/>
      </p:nvGrpSpPr>
      <p:grpSpPr>
        <a:xfrm>
          <a:off x="0" y="0"/>
          <a:ext cx="0" cy="0"/>
          <a:chOff x="0" y="0"/>
          <a:chExt cx="0" cy="0"/>
        </a:xfrm>
      </p:grpSpPr>
      <p:grpSp>
        <p:nvGrpSpPr>
          <p:cNvPr id="76" name="Group 75">
            <a:extLst>
              <a:ext uri="{FF2B5EF4-FFF2-40B4-BE49-F238E27FC236}">
                <a16:creationId xmlns:a16="http://schemas.microsoft.com/office/drawing/2014/main" id="{0635ADB2-6EA8-4BAD-8DAD-0182A2D9B5D3}"/>
              </a:ext>
            </a:extLst>
          </p:cNvPr>
          <p:cNvGrpSpPr/>
          <p:nvPr userDrawn="1"/>
        </p:nvGrpSpPr>
        <p:grpSpPr>
          <a:xfrm>
            <a:off x="-59470" y="-641099"/>
            <a:ext cx="9267429" cy="8253818"/>
            <a:chOff x="-59470" y="-641099"/>
            <a:chExt cx="9267429" cy="8253818"/>
          </a:xfrm>
        </p:grpSpPr>
        <p:pic>
          <p:nvPicPr>
            <p:cNvPr id="77" name="Graphic 76">
              <a:extLst>
                <a:ext uri="{FF2B5EF4-FFF2-40B4-BE49-F238E27FC236}">
                  <a16:creationId xmlns:a16="http://schemas.microsoft.com/office/drawing/2014/main" id="{A2BB439D-C20C-4C61-883B-5D07B84E6E7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789776">
              <a:off x="1948972" y="1734076"/>
              <a:ext cx="5246055" cy="5246055"/>
            </a:xfrm>
            <a:prstGeom prst="rect">
              <a:avLst/>
            </a:prstGeom>
          </p:spPr>
        </p:pic>
        <p:pic>
          <p:nvPicPr>
            <p:cNvPr id="78" name="Graphic 77">
              <a:extLst>
                <a:ext uri="{FF2B5EF4-FFF2-40B4-BE49-F238E27FC236}">
                  <a16:creationId xmlns:a16="http://schemas.microsoft.com/office/drawing/2014/main" id="{A2344A81-D7C5-4E75-BD95-2C318577491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24369">
              <a:off x="-59470" y="4282884"/>
              <a:ext cx="3329835" cy="3329835"/>
            </a:xfrm>
            <a:prstGeom prst="rect">
              <a:avLst/>
            </a:prstGeom>
          </p:spPr>
        </p:pic>
        <p:pic>
          <p:nvPicPr>
            <p:cNvPr id="79" name="Graphic 78">
              <a:extLst>
                <a:ext uri="{FF2B5EF4-FFF2-40B4-BE49-F238E27FC236}">
                  <a16:creationId xmlns:a16="http://schemas.microsoft.com/office/drawing/2014/main" id="{493B14BD-1E4B-4DAF-8B9A-008ACC84DBF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878124" y="4281440"/>
              <a:ext cx="3329835" cy="3329835"/>
            </a:xfrm>
            <a:prstGeom prst="rect">
              <a:avLst/>
            </a:prstGeom>
          </p:spPr>
        </p:pic>
        <p:pic>
          <p:nvPicPr>
            <p:cNvPr id="80" name="Graphic 79">
              <a:extLst>
                <a:ext uri="{FF2B5EF4-FFF2-40B4-BE49-F238E27FC236}">
                  <a16:creationId xmlns:a16="http://schemas.microsoft.com/office/drawing/2014/main" id="{1017A1EE-D786-4AD9-8114-7031497F17D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0318" y="-641098"/>
              <a:ext cx="3329835" cy="3329835"/>
            </a:xfrm>
            <a:prstGeom prst="rect">
              <a:avLst/>
            </a:prstGeom>
          </p:spPr>
        </p:pic>
        <p:pic>
          <p:nvPicPr>
            <p:cNvPr id="81" name="Graphic 80">
              <a:extLst>
                <a:ext uri="{FF2B5EF4-FFF2-40B4-BE49-F238E27FC236}">
                  <a16:creationId xmlns:a16="http://schemas.microsoft.com/office/drawing/2014/main" id="{5EB74B49-6A5D-4E90-A8EF-F1A27B22DD4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04717">
              <a:off x="5806918" y="-641099"/>
              <a:ext cx="3329835" cy="3329835"/>
            </a:xfrm>
            <a:prstGeom prst="rect">
              <a:avLst/>
            </a:prstGeom>
          </p:spPr>
        </p:pic>
        <p:grpSp>
          <p:nvGrpSpPr>
            <p:cNvPr id="82" name="Group 81">
              <a:extLst>
                <a:ext uri="{FF2B5EF4-FFF2-40B4-BE49-F238E27FC236}">
                  <a16:creationId xmlns:a16="http://schemas.microsoft.com/office/drawing/2014/main" id="{80B25D4E-B9E2-4A64-A8A8-6B92913B4C6C}"/>
                </a:ext>
              </a:extLst>
            </p:cNvPr>
            <p:cNvGrpSpPr/>
            <p:nvPr userDrawn="1"/>
          </p:nvGrpSpPr>
          <p:grpSpPr>
            <a:xfrm>
              <a:off x="0" y="0"/>
              <a:ext cx="9144001" cy="6857673"/>
              <a:chOff x="0" y="0"/>
              <a:chExt cx="9144001" cy="6857673"/>
            </a:xfrm>
          </p:grpSpPr>
          <p:grpSp>
            <p:nvGrpSpPr>
              <p:cNvPr id="84" name="Group 6">
                <a:extLst>
                  <a:ext uri="{FF2B5EF4-FFF2-40B4-BE49-F238E27FC236}">
                    <a16:creationId xmlns:a16="http://schemas.microsoft.com/office/drawing/2014/main" id="{A2EA67C3-44DA-4665-8AE2-141440DB23E2}"/>
                  </a:ext>
                </a:extLst>
              </p:cNvPr>
              <p:cNvGrpSpPr/>
              <p:nvPr userDrawn="1"/>
            </p:nvGrpSpPr>
            <p:grpSpPr>
              <a:xfrm>
                <a:off x="0" y="1295400"/>
                <a:ext cx="7010401" cy="46038"/>
                <a:chOff x="0" y="0"/>
                <a:chExt cx="7010400" cy="46037"/>
              </a:xfrm>
            </p:grpSpPr>
            <p:sp>
              <p:nvSpPr>
                <p:cNvPr id="91" name="Rectangle 6">
                  <a:extLst>
                    <a:ext uri="{FF2B5EF4-FFF2-40B4-BE49-F238E27FC236}">
                      <a16:creationId xmlns:a16="http://schemas.microsoft.com/office/drawing/2014/main" id="{D463F1CA-4C9D-4BCC-B0BD-14721FADA3F5}"/>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92" name="Rectangle 7">
                  <a:extLst>
                    <a:ext uri="{FF2B5EF4-FFF2-40B4-BE49-F238E27FC236}">
                      <a16:creationId xmlns:a16="http://schemas.microsoft.com/office/drawing/2014/main" id="{2EF7E6B7-9421-4BAA-AB81-AE89E08FDF08}"/>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93" name="Rectangle 8">
                  <a:extLst>
                    <a:ext uri="{FF2B5EF4-FFF2-40B4-BE49-F238E27FC236}">
                      <a16:creationId xmlns:a16="http://schemas.microsoft.com/office/drawing/2014/main" id="{AFEE1048-04C1-4DCE-8973-4784C897E7F9}"/>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nvGrpSpPr>
              <p:cNvPr id="85" name="Group 10">
                <a:extLst>
                  <a:ext uri="{FF2B5EF4-FFF2-40B4-BE49-F238E27FC236}">
                    <a16:creationId xmlns:a16="http://schemas.microsoft.com/office/drawing/2014/main" id="{62DA8075-114E-4D1A-8199-46D51587204A}"/>
                  </a:ext>
                </a:extLst>
              </p:cNvPr>
              <p:cNvGrpSpPr/>
              <p:nvPr userDrawn="1"/>
            </p:nvGrpSpPr>
            <p:grpSpPr>
              <a:xfrm>
                <a:off x="2133600" y="6553200"/>
                <a:ext cx="7010401" cy="46038"/>
                <a:chOff x="0" y="0"/>
                <a:chExt cx="7010400" cy="46037"/>
              </a:xfrm>
            </p:grpSpPr>
            <p:sp>
              <p:nvSpPr>
                <p:cNvPr id="88" name="Rectangle 10">
                  <a:extLst>
                    <a:ext uri="{FF2B5EF4-FFF2-40B4-BE49-F238E27FC236}">
                      <a16:creationId xmlns:a16="http://schemas.microsoft.com/office/drawing/2014/main" id="{42070327-4A30-4BA2-A8E6-6E330B5F30EB}"/>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89" name="Rectangle 11">
                  <a:extLst>
                    <a:ext uri="{FF2B5EF4-FFF2-40B4-BE49-F238E27FC236}">
                      <a16:creationId xmlns:a16="http://schemas.microsoft.com/office/drawing/2014/main" id="{EB4AF601-277A-494B-9871-87FBA75E5451}"/>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90" name="Rectangle 12">
                  <a:extLst>
                    <a:ext uri="{FF2B5EF4-FFF2-40B4-BE49-F238E27FC236}">
                      <a16:creationId xmlns:a16="http://schemas.microsoft.com/office/drawing/2014/main" id="{AB04FF31-B9E9-4A43-98B4-8DB577BD3837}"/>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pic>
            <p:nvPicPr>
              <p:cNvPr id="86" name="Picture 14" descr="Picture 14">
                <a:extLst>
                  <a:ext uri="{FF2B5EF4-FFF2-40B4-BE49-F238E27FC236}">
                    <a16:creationId xmlns:a16="http://schemas.microsoft.com/office/drawing/2014/main" id="{F8C276B3-EE15-4980-9AC5-AF2F16814A5D}"/>
                  </a:ext>
                </a:extLst>
              </p:cNvPr>
              <p:cNvPicPr>
                <a:picLocks noChangeAspect="1"/>
              </p:cNvPicPr>
              <p:nvPr userDrawn="1"/>
            </p:nvPicPr>
            <p:blipFill>
              <a:blip r:embed="rId3"/>
              <a:srcRect t="2677" b="2677"/>
              <a:stretch>
                <a:fillRect/>
              </a:stretch>
            </p:blipFill>
            <p:spPr>
              <a:xfrm>
                <a:off x="6629400" y="0"/>
                <a:ext cx="2193925" cy="692150"/>
              </a:xfrm>
              <a:prstGeom prst="rect">
                <a:avLst/>
              </a:prstGeom>
              <a:ln w="12700">
                <a:miter lim="400000"/>
              </a:ln>
            </p:spPr>
          </p:pic>
          <p:sp>
            <p:nvSpPr>
              <p:cNvPr id="87" name="TextBox 14">
                <a:extLst>
                  <a:ext uri="{FF2B5EF4-FFF2-40B4-BE49-F238E27FC236}">
                    <a16:creationId xmlns:a16="http://schemas.microsoft.com/office/drawing/2014/main" id="{D133DA9B-065F-4040-94C1-D75BBB8A8147}"/>
                  </a:ext>
                </a:extLst>
              </p:cNvPr>
              <p:cNvSpPr txBox="1"/>
              <p:nvPr userDrawn="1"/>
            </p:nvSpPr>
            <p:spPr>
              <a:xfrm>
                <a:off x="3322319" y="6596063"/>
                <a:ext cx="5775962" cy="26161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r">
                  <a:defRPr sz="1100" b="1">
                    <a:solidFill>
                      <a:srgbClr val="101141"/>
                    </a:solidFill>
                    <a:latin typeface="+mj-lt"/>
                    <a:ea typeface="+mj-ea"/>
                    <a:cs typeface="+mj-cs"/>
                    <a:sym typeface="Arial"/>
                  </a:defRPr>
                </a:pPr>
                <a:r>
                  <a:rPr lang="en-IN" dirty="0"/>
                  <a:t>BITS </a:t>
                </a:r>
                <a:r>
                  <a:rPr lang="en-IN" b="0" dirty="0" err="1"/>
                  <a:t>Pilani</a:t>
                </a:r>
                <a:r>
                  <a:rPr lang="en-IN" b="0" dirty="0"/>
                  <a:t>, Deemed to be University under Section 3 of UGC Act, 1956</a:t>
                </a:r>
              </a:p>
            </p:txBody>
          </p:sp>
        </p:grpSp>
        <p:pic>
          <p:nvPicPr>
            <p:cNvPr id="83" name="Graphic 82">
              <a:extLst>
                <a:ext uri="{FF2B5EF4-FFF2-40B4-BE49-F238E27FC236}">
                  <a16:creationId xmlns:a16="http://schemas.microsoft.com/office/drawing/2014/main" id="{DD930F25-DAB1-4FE7-A1F6-75A37FD151BD}"/>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810002" y="2493406"/>
              <a:ext cx="1523997" cy="1523997"/>
            </a:xfrm>
            <a:prstGeom prst="rect">
              <a:avLst/>
            </a:prstGeom>
          </p:spPr>
        </p:pic>
      </p:grpSp>
      <p:sp>
        <p:nvSpPr>
          <p:cNvPr id="337" name="Title Text"/>
          <p:cNvSpPr txBox="1">
            <a:spLocks noGrp="1"/>
          </p:cNvSpPr>
          <p:nvPr>
            <p:ph type="title"/>
          </p:nvPr>
        </p:nvSpPr>
        <p:spPr>
          <a:xfrm>
            <a:off x="1792288" y="5407025"/>
            <a:ext cx="5486401" cy="304800"/>
          </a:xfrm>
          <a:prstGeom prst="rect">
            <a:avLst/>
          </a:prstGeom>
        </p:spPr>
        <p:txBody>
          <a:bodyPr anchor="b"/>
          <a:lstStyle>
            <a:lvl1pPr>
              <a:lnSpc>
                <a:spcPct val="100000"/>
              </a:lnSpc>
              <a:defRPr sz="1800" spc="0">
                <a:solidFill>
                  <a:srgbClr val="000000"/>
                </a:solidFill>
              </a:defRPr>
            </a:lvl1pPr>
          </a:lstStyle>
          <a:p>
            <a:r>
              <a:t>Title Text</a:t>
            </a:r>
          </a:p>
        </p:txBody>
      </p:sp>
      <p:sp>
        <p:nvSpPr>
          <p:cNvPr id="338" name="Body Level One…"/>
          <p:cNvSpPr txBox="1">
            <a:spLocks noGrp="1"/>
          </p:cNvSpPr>
          <p:nvPr>
            <p:ph type="body" sz="quarter" idx="1"/>
          </p:nvPr>
        </p:nvSpPr>
        <p:spPr>
          <a:xfrm>
            <a:off x="1792288" y="5711825"/>
            <a:ext cx="5486401" cy="304800"/>
          </a:xfrm>
          <a:prstGeom prst="rect">
            <a:avLst/>
          </a:prstGeom>
        </p:spPr>
        <p:txBody>
          <a:bodyPr>
            <a:normAutofit/>
          </a:bodyPr>
          <a:lstStyle>
            <a:lvl1pPr marL="0" indent="0">
              <a:spcBef>
                <a:spcPts val="300"/>
              </a:spcBef>
              <a:buSzTx/>
              <a:buFontTx/>
              <a:buNone/>
              <a:defRPr sz="1600"/>
            </a:lvl1pPr>
            <a:lvl2pPr marL="0" indent="457200">
              <a:spcBef>
                <a:spcPts val="300"/>
              </a:spcBef>
              <a:buSzTx/>
              <a:buFontTx/>
              <a:buNone/>
              <a:defRPr sz="1600"/>
            </a:lvl2pPr>
            <a:lvl3pPr marL="0" indent="914400">
              <a:spcBef>
                <a:spcPts val="300"/>
              </a:spcBef>
              <a:buSzTx/>
              <a:buFontTx/>
              <a:buNone/>
              <a:defRPr sz="1600"/>
            </a:lvl3pPr>
            <a:lvl4pPr marL="0" indent="1371600">
              <a:spcBef>
                <a:spcPts val="300"/>
              </a:spcBef>
              <a:buSzTx/>
              <a:buFontTx/>
              <a:buNone/>
              <a:defRPr sz="1600"/>
            </a:lvl4pPr>
            <a:lvl5pPr marL="0" indent="1828800">
              <a:spcBef>
                <a:spcPts val="300"/>
              </a:spcBef>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339" name="Picture Placeholder 2"/>
          <p:cNvSpPr>
            <a:spLocks noGrp="1"/>
          </p:cNvSpPr>
          <p:nvPr>
            <p:ph type="pic" sz="half" idx="21"/>
          </p:nvPr>
        </p:nvSpPr>
        <p:spPr>
          <a:xfrm>
            <a:off x="1792288" y="1828800"/>
            <a:ext cx="5486401" cy="3429000"/>
          </a:xfrm>
          <a:prstGeom prst="rect">
            <a:avLst/>
          </a:prstGeom>
          <a:ln w="57150">
            <a:solidFill>
              <a:srgbClr val="DCE6F2"/>
            </a:solidFill>
            <a:round/>
          </a:ln>
        </p:spPr>
        <p:txBody>
          <a:bodyPr lIns="91439" rIns="91439"/>
          <a:lstStyle/>
          <a:p>
            <a:endParaRPr/>
          </a:p>
        </p:txBody>
      </p:sp>
      <p:sp>
        <p:nvSpPr>
          <p:cNvPr id="34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Picture with Caption">
    <p:bg>
      <p:bgPr>
        <a:solidFill>
          <a:srgbClr val="FFFFFF"/>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983BBAD0-43A5-4D32-8FC9-062F956D4D42}"/>
              </a:ext>
            </a:extLst>
          </p:cNvPr>
          <p:cNvGrpSpPr/>
          <p:nvPr userDrawn="1"/>
        </p:nvGrpSpPr>
        <p:grpSpPr>
          <a:xfrm>
            <a:off x="-59470" y="-641099"/>
            <a:ext cx="9267429" cy="8253818"/>
            <a:chOff x="-59470" y="-641099"/>
            <a:chExt cx="9267429" cy="8253818"/>
          </a:xfrm>
        </p:grpSpPr>
        <p:pic>
          <p:nvPicPr>
            <p:cNvPr id="5" name="Graphic 4">
              <a:extLst>
                <a:ext uri="{FF2B5EF4-FFF2-40B4-BE49-F238E27FC236}">
                  <a16:creationId xmlns:a16="http://schemas.microsoft.com/office/drawing/2014/main" id="{68C4D830-E082-446B-B643-5F87F72600B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789776">
              <a:off x="1948972" y="1734076"/>
              <a:ext cx="5246055" cy="5246055"/>
            </a:xfrm>
            <a:prstGeom prst="rect">
              <a:avLst/>
            </a:prstGeom>
          </p:spPr>
        </p:pic>
        <p:pic>
          <p:nvPicPr>
            <p:cNvPr id="36" name="Graphic 35">
              <a:extLst>
                <a:ext uri="{FF2B5EF4-FFF2-40B4-BE49-F238E27FC236}">
                  <a16:creationId xmlns:a16="http://schemas.microsoft.com/office/drawing/2014/main" id="{1C9D4848-2B9E-4B8D-B630-AD31B352037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24369">
              <a:off x="-59470" y="4282884"/>
              <a:ext cx="3329835" cy="3329835"/>
            </a:xfrm>
            <a:prstGeom prst="rect">
              <a:avLst/>
            </a:prstGeom>
          </p:spPr>
        </p:pic>
        <p:pic>
          <p:nvPicPr>
            <p:cNvPr id="37" name="Graphic 36">
              <a:extLst>
                <a:ext uri="{FF2B5EF4-FFF2-40B4-BE49-F238E27FC236}">
                  <a16:creationId xmlns:a16="http://schemas.microsoft.com/office/drawing/2014/main" id="{635F0174-0096-461B-8212-566B0011E8D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878124" y="4281440"/>
              <a:ext cx="3329835" cy="3329835"/>
            </a:xfrm>
            <a:prstGeom prst="rect">
              <a:avLst/>
            </a:prstGeom>
          </p:spPr>
        </p:pic>
        <p:pic>
          <p:nvPicPr>
            <p:cNvPr id="16" name="Graphic 15">
              <a:extLst>
                <a:ext uri="{FF2B5EF4-FFF2-40B4-BE49-F238E27FC236}">
                  <a16:creationId xmlns:a16="http://schemas.microsoft.com/office/drawing/2014/main" id="{1B104A8E-51B2-42E7-B651-568B9D1D361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0318" y="-641098"/>
              <a:ext cx="3329835" cy="3329835"/>
            </a:xfrm>
            <a:prstGeom prst="rect">
              <a:avLst/>
            </a:prstGeom>
          </p:spPr>
        </p:pic>
        <p:pic>
          <p:nvPicPr>
            <p:cNvPr id="17" name="Graphic 16">
              <a:extLst>
                <a:ext uri="{FF2B5EF4-FFF2-40B4-BE49-F238E27FC236}">
                  <a16:creationId xmlns:a16="http://schemas.microsoft.com/office/drawing/2014/main" id="{62F3D4CE-0862-4E00-B299-11A67A59042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04717">
              <a:off x="5806918" y="-641099"/>
              <a:ext cx="3329835" cy="3329835"/>
            </a:xfrm>
            <a:prstGeom prst="rect">
              <a:avLst/>
            </a:prstGeom>
          </p:spPr>
        </p:pic>
        <p:grpSp>
          <p:nvGrpSpPr>
            <p:cNvPr id="7" name="Group 6">
              <a:extLst>
                <a:ext uri="{FF2B5EF4-FFF2-40B4-BE49-F238E27FC236}">
                  <a16:creationId xmlns:a16="http://schemas.microsoft.com/office/drawing/2014/main" id="{1C5A1F24-1ABA-4385-8DF2-98C8D03B2CCD}"/>
                </a:ext>
              </a:extLst>
            </p:cNvPr>
            <p:cNvGrpSpPr/>
            <p:nvPr userDrawn="1"/>
          </p:nvGrpSpPr>
          <p:grpSpPr>
            <a:xfrm>
              <a:off x="0" y="0"/>
              <a:ext cx="9144001" cy="6857673"/>
              <a:chOff x="0" y="0"/>
              <a:chExt cx="9144001" cy="6857673"/>
            </a:xfrm>
          </p:grpSpPr>
          <p:grpSp>
            <p:nvGrpSpPr>
              <p:cNvPr id="330" name="Group 6"/>
              <p:cNvGrpSpPr/>
              <p:nvPr userDrawn="1"/>
            </p:nvGrpSpPr>
            <p:grpSpPr>
              <a:xfrm>
                <a:off x="0" y="1295400"/>
                <a:ext cx="7010401" cy="46038"/>
                <a:chOff x="0" y="0"/>
                <a:chExt cx="7010400" cy="46037"/>
              </a:xfrm>
            </p:grpSpPr>
            <p:sp>
              <p:nvSpPr>
                <p:cNvPr id="327" name="Rectangle 6"/>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28" name="Rectangle 7"/>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29" name="Rectangle 8"/>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nvGrpSpPr>
              <p:cNvPr id="334" name="Group 10"/>
              <p:cNvGrpSpPr/>
              <p:nvPr userDrawn="1"/>
            </p:nvGrpSpPr>
            <p:grpSpPr>
              <a:xfrm>
                <a:off x="2133600" y="6553200"/>
                <a:ext cx="7010401" cy="46038"/>
                <a:chOff x="0" y="0"/>
                <a:chExt cx="7010400" cy="46037"/>
              </a:xfrm>
            </p:grpSpPr>
            <p:sp>
              <p:nvSpPr>
                <p:cNvPr id="331" name="Rectangle 10"/>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32" name="Rectangle 11"/>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33" name="Rectangle 12"/>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pic>
            <p:nvPicPr>
              <p:cNvPr id="335" name="Picture 14" descr="Picture 14"/>
              <p:cNvPicPr>
                <a:picLocks noChangeAspect="1"/>
              </p:cNvPicPr>
              <p:nvPr userDrawn="1"/>
            </p:nvPicPr>
            <p:blipFill>
              <a:blip r:embed="rId3"/>
              <a:srcRect t="2677" b="2677"/>
              <a:stretch>
                <a:fillRect/>
              </a:stretch>
            </p:blipFill>
            <p:spPr>
              <a:xfrm>
                <a:off x="6629400" y="0"/>
                <a:ext cx="2193925" cy="692150"/>
              </a:xfrm>
              <a:prstGeom prst="rect">
                <a:avLst/>
              </a:prstGeom>
              <a:ln w="12700">
                <a:miter lim="400000"/>
              </a:ln>
            </p:spPr>
          </p:pic>
          <p:sp>
            <p:nvSpPr>
              <p:cNvPr id="336" name="TextBox 14"/>
              <p:cNvSpPr txBox="1"/>
              <p:nvPr userDrawn="1"/>
            </p:nvSpPr>
            <p:spPr>
              <a:xfrm>
                <a:off x="3322319" y="6596063"/>
                <a:ext cx="5775962" cy="26161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r">
                  <a:defRPr sz="1100" b="1">
                    <a:solidFill>
                      <a:srgbClr val="101141"/>
                    </a:solidFill>
                    <a:latin typeface="+mj-lt"/>
                    <a:ea typeface="+mj-ea"/>
                    <a:cs typeface="+mj-cs"/>
                    <a:sym typeface="Arial"/>
                  </a:defRPr>
                </a:pPr>
                <a:r>
                  <a:rPr lang="en-IN" dirty="0"/>
                  <a:t>BITS </a:t>
                </a:r>
                <a:r>
                  <a:rPr lang="en-IN" b="0" dirty="0" err="1"/>
                  <a:t>Pilani</a:t>
                </a:r>
                <a:r>
                  <a:rPr lang="en-IN" b="0" dirty="0"/>
                  <a:t>, Deemed to be University under Section 3 of UGC Act, 1956</a:t>
                </a:r>
              </a:p>
            </p:txBody>
          </p:sp>
        </p:grpSp>
        <p:pic>
          <p:nvPicPr>
            <p:cNvPr id="3" name="Graphic 2">
              <a:extLst>
                <a:ext uri="{FF2B5EF4-FFF2-40B4-BE49-F238E27FC236}">
                  <a16:creationId xmlns:a16="http://schemas.microsoft.com/office/drawing/2014/main" id="{B778ADC1-BEF0-4061-926A-4839BEC48F19}"/>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810002" y="2493406"/>
              <a:ext cx="1523997" cy="1523997"/>
            </a:xfrm>
            <a:prstGeom prst="rect">
              <a:avLst/>
            </a:prstGeom>
          </p:spPr>
        </p:pic>
      </p:grpSp>
    </p:spTree>
    <p:extLst>
      <p:ext uri="{BB962C8B-B14F-4D97-AF65-F5344CB8AC3E}">
        <p14:creationId xmlns:p14="http://schemas.microsoft.com/office/powerpoint/2010/main" val="203690160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2"/>
          <a:srcRect/>
          <a:stretch>
            <a:fillRect/>
          </a:stretch>
        </a:blipFill>
        <a:effectLst/>
      </p:bgPr>
    </p:bg>
    <p:spTree>
      <p:nvGrpSpPr>
        <p:cNvPr id="1" name=""/>
        <p:cNvGrpSpPr/>
        <p:nvPr/>
      </p:nvGrpSpPr>
      <p:grpSpPr>
        <a:xfrm>
          <a:off x="0" y="0"/>
          <a:ext cx="0" cy="0"/>
          <a:chOff x="0" y="0"/>
          <a:chExt cx="0" cy="0"/>
        </a:xfrm>
      </p:grpSpPr>
      <p:sp>
        <p:nvSpPr>
          <p:cNvPr id="10" name="Body Level One…"/>
          <p:cNvSpPr txBox="1">
            <a:spLocks noGrp="1"/>
          </p:cNvSpPr>
          <p:nvPr>
            <p:ph type="body" idx="1"/>
          </p:nvPr>
        </p:nvSpPr>
        <p:spPr>
          <a:xfrm>
            <a:off x="457200" y="1600200"/>
            <a:ext cx="8229600" cy="45259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11" name="Slide Number"/>
          <p:cNvSpPr txBox="1">
            <a:spLocks noGrp="1"/>
          </p:cNvSpPr>
          <p:nvPr>
            <p:ph type="sldNum" sz="quarter" idx="2"/>
          </p:nvPr>
        </p:nvSpPr>
        <p:spPr>
          <a:xfrm>
            <a:off x="4419600" y="6172200"/>
            <a:ext cx="2133600" cy="368301"/>
          </a:xfrm>
          <a:prstGeom prst="rect">
            <a:avLst/>
          </a:prstGeom>
          <a:ln w="12700">
            <a:miter lim="400000"/>
          </a:ln>
        </p:spPr>
        <p:txBody>
          <a:bodyPr wrap="none" lIns="45719" rIns="45719" anchor="ctr">
            <a:spAutoFit/>
          </a:bodyPr>
          <a:lstStyle>
            <a:lvl1pPr algn="r">
              <a:defRPr sz="1200">
                <a:solidFill>
                  <a:srgbClr val="898989"/>
                </a:solidFill>
                <a:latin typeface="+mj-lt"/>
                <a:ea typeface="+mj-ea"/>
                <a:cs typeface="+mj-cs"/>
                <a:sym typeface="Arial"/>
              </a:defRPr>
            </a:lvl1pPr>
          </a:lstStyle>
          <a:p>
            <a:fld id="{86CB4B4D-7CA3-9044-876B-883B54F8677D}" type="slidenum">
              <a:t>‹#›</a:t>
            </a:fld>
            <a:endParaRPr/>
          </a:p>
        </p:txBody>
      </p:sp>
      <p:sp>
        <p:nvSpPr>
          <p:cNvPr id="12" name="Title Placeholder 11">
            <a:extLst>
              <a:ext uri="{FF2B5EF4-FFF2-40B4-BE49-F238E27FC236}">
                <a16:creationId xmlns:a16="http://schemas.microsoft.com/office/drawing/2014/main" id="{BC5692C0-A143-3571-7EE1-32346BE87C3A}"/>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GB"/>
              <a:t>Click to edit Master title style</a:t>
            </a:r>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Lst>
  <p:transition spd="med"/>
  <p:txStyles>
    <p:titleStyle>
      <a:lvl1pPr marL="0" marR="0" indent="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1pPr>
      <a:lvl2pPr marL="0" marR="0" indent="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2pPr>
      <a:lvl3pPr marL="0" marR="0" indent="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3pPr>
      <a:lvl4pPr marL="0" marR="0" indent="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4pPr>
      <a:lvl5pPr marL="0" marR="0" indent="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5pPr>
      <a:lvl6pPr marL="0" marR="0" indent="45720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6pPr>
      <a:lvl7pPr marL="0" marR="0" indent="91440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7pPr>
      <a:lvl8pPr marL="0" marR="0" indent="137160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8pPr>
      <a:lvl9pPr marL="0" marR="0" indent="182880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1pPr>
      <a:lvl2pPr marL="783771" marR="0" indent="-326571"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2pPr>
      <a:lvl3pPr marL="1219200" marR="0" indent="-3048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3pPr>
      <a:lvl4pPr marL="17373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4pPr>
      <a:lvl5pPr marL="21945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5pPr>
      <a:lvl6pPr marL="26517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6pPr>
      <a:lvl7pPr marL="31089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7pPr>
      <a:lvl8pPr marL="35661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8pPr>
      <a:lvl9pPr marL="40233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4.xml"/><Relationship Id="rId4" Type="http://schemas.openxmlformats.org/officeDocument/2006/relationships/image" Target="../media/image1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 name="Title 4"/>
          <p:cNvSpPr txBox="1">
            <a:spLocks noGrp="1"/>
          </p:cNvSpPr>
          <p:nvPr>
            <p:ph type="title"/>
          </p:nvPr>
        </p:nvSpPr>
        <p:spPr>
          <a:prstGeom prst="rect">
            <a:avLst/>
          </a:prstGeom>
        </p:spPr>
        <p:txBody>
          <a:bodyPr/>
          <a:lstStyle>
            <a:lvl1pPr>
              <a:defRPr spc="-200"/>
            </a:lvl1pPr>
          </a:lstStyle>
          <a:p>
            <a:pPr algn="r"/>
            <a:r>
              <a:rPr lang="en-US" dirty="0"/>
              <a:t>Software Engineering for Machine Learning</a:t>
            </a:r>
            <a:endParaRPr dirty="0"/>
          </a:p>
        </p:txBody>
      </p:sp>
      <p:sp>
        <p:nvSpPr>
          <p:cNvPr id="351" name="Content Placeholder 5"/>
          <p:cNvSpPr txBox="1">
            <a:spLocks noGrp="1"/>
          </p:cNvSpPr>
          <p:nvPr>
            <p:ph type="body" sz="quarter" idx="1"/>
          </p:nvPr>
        </p:nvSpPr>
        <p:spPr>
          <a:prstGeom prst="rect">
            <a:avLst/>
          </a:prstGeom>
        </p:spPr>
        <p:txBody>
          <a:bodyPr/>
          <a:lstStyle/>
          <a:p>
            <a:pPr defTabSz="886968">
              <a:lnSpc>
                <a:spcPts val="1700"/>
              </a:lnSpc>
              <a:defRPr sz="1746"/>
            </a:pPr>
            <a:r>
              <a:rPr lang="en-US" dirty="0"/>
              <a:t>Dr. Shreyas Rao</a:t>
            </a:r>
          </a:p>
          <a:p>
            <a:pPr defTabSz="886968">
              <a:lnSpc>
                <a:spcPts val="1700"/>
              </a:lnSpc>
              <a:defRPr sz="1746"/>
            </a:pPr>
            <a:r>
              <a:rPr lang="en-US" dirty="0"/>
              <a:t>Professor, Dept. of CSIS, BITS-Pilani</a:t>
            </a:r>
            <a:endParaRPr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 name="Content Placeholder 1"/>
          <p:cNvSpPr txBox="1">
            <a:spLocks noGrp="1"/>
          </p:cNvSpPr>
          <p:nvPr>
            <p:ph type="body" sz="half" idx="1"/>
          </p:nvPr>
        </p:nvSpPr>
        <p:spPr>
          <a:prstGeom prst="rect">
            <a:avLst/>
          </a:prstGeom>
        </p:spPr>
        <p:txBody>
          <a:bodyPr/>
          <a:lstStyle/>
          <a:p>
            <a:pPr algn="ctr" eaLnBrk="1" hangingPunct="1">
              <a:spcBef>
                <a:spcPct val="0"/>
              </a:spcBef>
              <a:defRPr/>
            </a:pPr>
            <a:r>
              <a:rPr lang="en-IN" dirty="0"/>
              <a:t>AIMLCZG546</a:t>
            </a:r>
          </a:p>
          <a:p>
            <a:pPr algn="ctr" eaLnBrk="1" hangingPunct="1">
              <a:spcBef>
                <a:spcPct val="0"/>
              </a:spcBef>
              <a:defRPr/>
            </a:pPr>
            <a:r>
              <a:rPr lang="en-US" dirty="0">
                <a:latin typeface="Arial" charset="0"/>
                <a:cs typeface="Arial" charset="0"/>
              </a:rPr>
              <a:t>Lecture No. 2</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26DB8-FAF5-D427-ED69-838B703A86F0}"/>
            </a:ext>
          </a:extLst>
        </p:cNvPr>
        <p:cNvGrpSpPr/>
        <p:nvPr/>
      </p:nvGrpSpPr>
      <p:grpSpPr>
        <a:xfrm>
          <a:off x="0" y="0"/>
          <a:ext cx="0" cy="0"/>
          <a:chOff x="0" y="0"/>
          <a:chExt cx="0" cy="0"/>
        </a:xfrm>
      </p:grpSpPr>
      <p:sp>
        <p:nvSpPr>
          <p:cNvPr id="353" name="Content Placeholder 1">
            <a:extLst>
              <a:ext uri="{FF2B5EF4-FFF2-40B4-BE49-F238E27FC236}">
                <a16:creationId xmlns:a16="http://schemas.microsoft.com/office/drawing/2014/main" id="{88723F68-6FA7-F35D-F302-CEEA5C0C9E9C}"/>
              </a:ext>
            </a:extLst>
          </p:cNvPr>
          <p:cNvSpPr txBox="1">
            <a:spLocks noGrp="1"/>
          </p:cNvSpPr>
          <p:nvPr>
            <p:ph type="body" sz="half" idx="1"/>
          </p:nvPr>
        </p:nvSpPr>
        <p:spPr>
          <a:prstGeom prst="rect">
            <a:avLst/>
          </a:prstGeom>
        </p:spPr>
        <p:txBody>
          <a:bodyPr/>
          <a:lstStyle/>
          <a:p>
            <a:pPr algn="ctr" eaLnBrk="1" hangingPunct="1">
              <a:spcBef>
                <a:spcPct val="0"/>
              </a:spcBef>
              <a:defRPr/>
            </a:pPr>
            <a:r>
              <a:rPr lang="en-US" dirty="0">
                <a:latin typeface="Arial" charset="0"/>
                <a:cs typeface="Arial" charset="0"/>
              </a:rPr>
              <a:t>Foundations of ML Systems Engineering</a:t>
            </a:r>
          </a:p>
        </p:txBody>
      </p:sp>
    </p:spTree>
    <p:extLst>
      <p:ext uri="{BB962C8B-B14F-4D97-AF65-F5344CB8AC3E}">
        <p14:creationId xmlns:p14="http://schemas.microsoft.com/office/powerpoint/2010/main" val="1051467629"/>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F3922-D36E-3B8D-C7DD-E93EA9199EE8}"/>
            </a:ext>
          </a:extLst>
        </p:cNvPr>
        <p:cNvGrpSpPr/>
        <p:nvPr/>
      </p:nvGrpSpPr>
      <p:grpSpPr>
        <a:xfrm>
          <a:off x="0" y="0"/>
          <a:ext cx="0" cy="0"/>
          <a:chOff x="0" y="0"/>
          <a:chExt cx="0" cy="0"/>
        </a:xfrm>
      </p:grpSpPr>
      <p:sp>
        <p:nvSpPr>
          <p:cNvPr id="355" name="Content Placeholder 2">
            <a:extLst>
              <a:ext uri="{FF2B5EF4-FFF2-40B4-BE49-F238E27FC236}">
                <a16:creationId xmlns:a16="http://schemas.microsoft.com/office/drawing/2014/main" id="{A8C090B8-7298-3317-99E4-335283AE7E6F}"/>
              </a:ext>
            </a:extLst>
          </p:cNvPr>
          <p:cNvSpPr txBox="1">
            <a:spLocks noGrp="1"/>
          </p:cNvSpPr>
          <p:nvPr>
            <p:ph type="body" idx="1"/>
          </p:nvPr>
        </p:nvSpPr>
        <p:spPr>
          <a:xfrm>
            <a:off x="304800" y="1493837"/>
            <a:ext cx="8229600" cy="4525964"/>
          </a:xfrm>
          <a:prstGeom prst="rect">
            <a:avLst/>
          </a:prstGeom>
        </p:spPr>
        <p:txBody>
          <a:bodyPr anchor="t">
            <a:noAutofit/>
          </a:bodyPr>
          <a:lstStyle>
            <a:lvl1pPr indent="-342900">
              <a:lnSpc>
                <a:spcPct val="100000"/>
              </a:lnSpc>
              <a:spcBef>
                <a:spcPts val="500"/>
              </a:spcBef>
              <a:defRPr sz="2400" b="0" spc="0">
                <a:latin typeface="Open Sans"/>
                <a:ea typeface="Open Sans"/>
                <a:cs typeface="Open Sans"/>
                <a:sym typeface="Open Sans"/>
              </a:defRPr>
            </a:lvl1pPr>
          </a:lstStyle>
          <a:p>
            <a:pPr lvl="0">
              <a:buFont typeface="Arial" panose="020B0604020202020204" pitchFamily="34" charset="0"/>
              <a:buChar char="•"/>
            </a:pPr>
            <a:r>
              <a:rPr lang="en-US" sz="2000" dirty="0"/>
              <a:t>Machine Learning in production: Scope and Challenges</a:t>
            </a:r>
          </a:p>
          <a:p>
            <a:pPr lvl="0">
              <a:buFont typeface="Arial" panose="020B0604020202020204" pitchFamily="34" charset="0"/>
              <a:buChar char="•"/>
            </a:pPr>
            <a:r>
              <a:rPr lang="en-US" sz="2000" dirty="0"/>
              <a:t>From Models to Systems</a:t>
            </a:r>
          </a:p>
          <a:p>
            <a:pPr lvl="0">
              <a:buFont typeface="Arial" panose="020B0604020202020204" pitchFamily="34" charset="0"/>
              <a:buChar char="•"/>
            </a:pPr>
            <a:r>
              <a:rPr lang="en-US" sz="2000" dirty="0"/>
              <a:t>ML and non-ML components in a system</a:t>
            </a:r>
          </a:p>
          <a:p>
            <a:pPr lvl="0">
              <a:buFont typeface="Arial" panose="020B0604020202020204" pitchFamily="34" charset="0"/>
              <a:buChar char="•"/>
            </a:pPr>
            <a:r>
              <a:rPr lang="en-US" sz="2000" dirty="0"/>
              <a:t>AI Paradigms: Predictive, Generative, and Agentic AI</a:t>
            </a:r>
          </a:p>
          <a:p>
            <a:pPr lvl="0">
              <a:buFont typeface="Arial" panose="020B0604020202020204" pitchFamily="34" charset="0"/>
              <a:buChar char="•"/>
            </a:pPr>
            <a:r>
              <a:rPr lang="en-US" sz="2000" dirty="0"/>
              <a:t>Case Studies</a:t>
            </a:r>
          </a:p>
        </p:txBody>
      </p:sp>
      <p:sp>
        <p:nvSpPr>
          <p:cNvPr id="356" name="Content Placeholder 4">
            <a:extLst>
              <a:ext uri="{FF2B5EF4-FFF2-40B4-BE49-F238E27FC236}">
                <a16:creationId xmlns:a16="http://schemas.microsoft.com/office/drawing/2014/main" id="{40677F85-B302-7CB5-FEBC-3FF7FDB1DA44}"/>
              </a:ext>
            </a:extLst>
          </p:cNvPr>
          <p:cNvSpPr txBox="1"/>
          <p:nvPr/>
        </p:nvSpPr>
        <p:spPr>
          <a:xfrm>
            <a:off x="350519" y="152400"/>
            <a:ext cx="6233162"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dirty="0"/>
              <a:t>Agenda</a:t>
            </a:r>
          </a:p>
        </p:txBody>
      </p:sp>
    </p:spTree>
    <p:extLst>
      <p:ext uri="{BB962C8B-B14F-4D97-AF65-F5344CB8AC3E}">
        <p14:creationId xmlns:p14="http://schemas.microsoft.com/office/powerpoint/2010/main" val="2401377876"/>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6CE5A-6ED8-647D-B82E-0EB5C8F5788C}"/>
            </a:ext>
          </a:extLst>
        </p:cNvPr>
        <p:cNvGrpSpPr/>
        <p:nvPr/>
      </p:nvGrpSpPr>
      <p:grpSpPr>
        <a:xfrm>
          <a:off x="0" y="0"/>
          <a:ext cx="0" cy="0"/>
          <a:chOff x="0" y="0"/>
          <a:chExt cx="0" cy="0"/>
        </a:xfrm>
      </p:grpSpPr>
      <p:sp>
        <p:nvSpPr>
          <p:cNvPr id="353" name="Content Placeholder 1">
            <a:extLst>
              <a:ext uri="{FF2B5EF4-FFF2-40B4-BE49-F238E27FC236}">
                <a16:creationId xmlns:a16="http://schemas.microsoft.com/office/drawing/2014/main" id="{B1C97EA8-F85E-E408-A1BF-7BE20FA4ABF7}"/>
              </a:ext>
            </a:extLst>
          </p:cNvPr>
          <p:cNvSpPr txBox="1">
            <a:spLocks noGrp="1"/>
          </p:cNvSpPr>
          <p:nvPr>
            <p:ph type="body" sz="half" idx="1"/>
          </p:nvPr>
        </p:nvSpPr>
        <p:spPr>
          <a:prstGeom prst="rect">
            <a:avLst/>
          </a:prstGeom>
        </p:spPr>
        <p:txBody>
          <a:bodyPr>
            <a:normAutofit/>
          </a:bodyPr>
          <a:lstStyle/>
          <a:p>
            <a:pPr lvl="0" algn="ctr"/>
            <a:r>
              <a:rPr lang="en-US" sz="2700" dirty="0"/>
              <a:t>Machine Learning in Production: Scope and Challenges</a:t>
            </a:r>
          </a:p>
        </p:txBody>
      </p:sp>
    </p:spTree>
    <p:extLst>
      <p:ext uri="{BB962C8B-B14F-4D97-AF65-F5344CB8AC3E}">
        <p14:creationId xmlns:p14="http://schemas.microsoft.com/office/powerpoint/2010/main" val="2110051400"/>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C3BC79-EC37-B394-46F1-F4C4CBF25827}"/>
            </a:ext>
          </a:extLst>
        </p:cNvPr>
        <p:cNvGrpSpPr/>
        <p:nvPr/>
      </p:nvGrpSpPr>
      <p:grpSpPr>
        <a:xfrm>
          <a:off x="0" y="0"/>
          <a:ext cx="0" cy="0"/>
          <a:chOff x="0" y="0"/>
          <a:chExt cx="0" cy="0"/>
        </a:xfrm>
      </p:grpSpPr>
      <p:sp>
        <p:nvSpPr>
          <p:cNvPr id="355" name="Content Placeholder 2">
            <a:extLst>
              <a:ext uri="{FF2B5EF4-FFF2-40B4-BE49-F238E27FC236}">
                <a16:creationId xmlns:a16="http://schemas.microsoft.com/office/drawing/2014/main" id="{E6BD4964-E37F-F086-A64E-BD99341631DC}"/>
              </a:ext>
            </a:extLst>
          </p:cNvPr>
          <p:cNvSpPr txBox="1">
            <a:spLocks noGrp="1"/>
          </p:cNvSpPr>
          <p:nvPr>
            <p:ph type="body" idx="1"/>
          </p:nvPr>
        </p:nvSpPr>
        <p:spPr>
          <a:xfrm>
            <a:off x="149523" y="1295400"/>
            <a:ext cx="8643957" cy="4525964"/>
          </a:xfrm>
          <a:prstGeom prst="rect">
            <a:avLst/>
          </a:prstGeom>
        </p:spPr>
        <p:txBody>
          <a:bodyPr anchor="t">
            <a:normAutofit fontScale="85000" lnSpcReduction="10000"/>
          </a:bodyPr>
          <a:lstStyle>
            <a:lvl1pPr indent="-342900">
              <a:lnSpc>
                <a:spcPct val="100000"/>
              </a:lnSpc>
              <a:spcBef>
                <a:spcPts val="500"/>
              </a:spcBef>
              <a:defRPr sz="2400" b="0" spc="0">
                <a:latin typeface="Open Sans"/>
                <a:ea typeface="Open Sans"/>
                <a:cs typeface="Open Sans"/>
                <a:sym typeface="Open Sans"/>
              </a:defRPr>
            </a:lvl1pPr>
          </a:lstStyle>
          <a:p>
            <a:pPr algn="just">
              <a:lnSpc>
                <a:spcPct val="150000"/>
              </a:lnSpc>
              <a:spcBef>
                <a:spcPct val="0"/>
              </a:spcBef>
              <a:buFont typeface="Arial" panose="020B0604020202020204" pitchFamily="34" charset="0"/>
              <a:buChar char="•"/>
            </a:pPr>
            <a:r>
              <a:rPr lang="en-US" altLang="en-US" sz="2000" dirty="0"/>
              <a:t>A researcher (Sidney) develops </a:t>
            </a:r>
            <a:r>
              <a:rPr lang="en-US" altLang="en-US" sz="2000" b="1" dirty="0"/>
              <a:t>domain-specific speech recognition models </a:t>
            </a:r>
            <a:r>
              <a:rPr lang="en-US" altLang="en-US" sz="2000" dirty="0"/>
              <a:t>using transfer learning</a:t>
            </a:r>
          </a:p>
          <a:p>
            <a:pPr marL="0" indent="0" algn="just">
              <a:lnSpc>
                <a:spcPct val="150000"/>
              </a:lnSpc>
              <a:spcBef>
                <a:spcPct val="0"/>
              </a:spcBef>
            </a:pPr>
            <a:r>
              <a:rPr lang="en-US" altLang="en-US" sz="2000" b="1" dirty="0">
                <a:solidFill>
                  <a:srgbClr val="002060"/>
                </a:solidFill>
              </a:rPr>
              <a:t>Achieves strong results in</a:t>
            </a:r>
          </a:p>
          <a:p>
            <a:pPr algn="just">
              <a:lnSpc>
                <a:spcPct val="150000"/>
              </a:lnSpc>
              <a:spcBef>
                <a:spcPct val="0"/>
              </a:spcBef>
              <a:buFont typeface="Arial" panose="020B0604020202020204" pitchFamily="34" charset="0"/>
              <a:buChar char="•"/>
            </a:pPr>
            <a:r>
              <a:rPr lang="en-US" altLang="en-US" sz="2000" dirty="0"/>
              <a:t>Medical conversations</a:t>
            </a:r>
          </a:p>
          <a:p>
            <a:pPr algn="just">
              <a:lnSpc>
                <a:spcPct val="150000"/>
              </a:lnSpc>
              <a:spcBef>
                <a:spcPct val="0"/>
              </a:spcBef>
              <a:buFont typeface="Arial" panose="020B0604020202020204" pitchFamily="34" charset="0"/>
              <a:buChar char="•"/>
            </a:pPr>
            <a:r>
              <a:rPr lang="en-US" altLang="en-US" sz="2000" dirty="0"/>
              <a:t>Academic talks</a:t>
            </a:r>
          </a:p>
          <a:p>
            <a:pPr algn="just">
              <a:lnSpc>
                <a:spcPct val="150000"/>
              </a:lnSpc>
              <a:spcBef>
                <a:spcPct val="0"/>
              </a:spcBef>
              <a:buFont typeface="Arial" panose="020B0604020202020204" pitchFamily="34" charset="0"/>
              <a:buChar char="•"/>
            </a:pPr>
            <a:r>
              <a:rPr lang="en-US" altLang="en-US" sz="2000" dirty="0"/>
              <a:t>Technical meetups</a:t>
            </a:r>
          </a:p>
          <a:p>
            <a:pPr marL="0" indent="0" algn="just">
              <a:lnSpc>
                <a:spcPct val="150000"/>
              </a:lnSpc>
              <a:spcBef>
                <a:spcPct val="0"/>
              </a:spcBef>
            </a:pPr>
            <a:r>
              <a:rPr lang="en-US" altLang="en-US" sz="2000" b="1" dirty="0">
                <a:solidFill>
                  <a:srgbClr val="002060"/>
                </a:solidFill>
              </a:rPr>
              <a:t>Identifies market need</a:t>
            </a:r>
          </a:p>
          <a:p>
            <a:pPr algn="just">
              <a:lnSpc>
                <a:spcPct val="150000"/>
              </a:lnSpc>
              <a:spcBef>
                <a:spcPct val="0"/>
              </a:spcBef>
              <a:buFont typeface="Arial" panose="020B0604020202020204" pitchFamily="34" charset="0"/>
              <a:buChar char="•"/>
            </a:pPr>
            <a:r>
              <a:rPr lang="en-US" altLang="en-US" sz="2000" dirty="0"/>
              <a:t>Manual transcription is </a:t>
            </a:r>
            <a:r>
              <a:rPr lang="en-US" altLang="en-US" sz="2000" b="1" dirty="0"/>
              <a:t>expensive ($1.50/min) and slow</a:t>
            </a:r>
          </a:p>
          <a:p>
            <a:pPr algn="just">
              <a:lnSpc>
                <a:spcPct val="150000"/>
              </a:lnSpc>
              <a:spcBef>
                <a:spcPct val="0"/>
              </a:spcBef>
              <a:buFont typeface="Arial" panose="020B0604020202020204" pitchFamily="34" charset="0"/>
              <a:buChar char="•"/>
            </a:pPr>
            <a:r>
              <a:rPr lang="en-US" altLang="en-US" sz="2000" dirty="0"/>
              <a:t>Existing automated tools have </a:t>
            </a:r>
            <a:r>
              <a:rPr lang="en-US" altLang="en-US" sz="2000" b="1" dirty="0"/>
              <a:t>poor accuracy for technical terms</a:t>
            </a:r>
          </a:p>
          <a:p>
            <a:pPr marL="0" indent="0" algn="just">
              <a:lnSpc>
                <a:spcPct val="150000"/>
              </a:lnSpc>
              <a:spcBef>
                <a:spcPct val="0"/>
              </a:spcBef>
            </a:pPr>
            <a:r>
              <a:rPr lang="en-US" altLang="en-US" sz="2000" b="1" dirty="0">
                <a:solidFill>
                  <a:srgbClr val="002060"/>
                </a:solidFill>
              </a:rPr>
              <a:t>Launches a start-up to provide</a:t>
            </a:r>
          </a:p>
          <a:p>
            <a:pPr algn="just">
              <a:lnSpc>
                <a:spcPct val="150000"/>
              </a:lnSpc>
              <a:spcBef>
                <a:spcPct val="0"/>
              </a:spcBef>
              <a:buFont typeface="Arial" panose="020B0604020202020204" pitchFamily="34" charset="0"/>
              <a:buChar char="•"/>
            </a:pPr>
            <a:r>
              <a:rPr lang="en-US" altLang="en-US" sz="2000" b="1" dirty="0"/>
              <a:t>Affordable, high-quality transcription</a:t>
            </a:r>
          </a:p>
          <a:p>
            <a:pPr algn="just">
              <a:lnSpc>
                <a:spcPct val="150000"/>
              </a:lnSpc>
              <a:spcBef>
                <a:spcPct val="0"/>
              </a:spcBef>
              <a:buFont typeface="Arial" panose="020B0604020202020204" pitchFamily="34" charset="0"/>
              <a:buChar char="•"/>
            </a:pPr>
            <a:r>
              <a:rPr lang="en-US" altLang="en-US" sz="2000" b="1" dirty="0"/>
              <a:t>Live captioning solutions</a:t>
            </a:r>
            <a:endParaRPr lang="en-IN" altLang="en-US" sz="2000" b="1" dirty="0">
              <a:latin typeface="Microsoft Sans Serif" panose="020B0604020202020204" pitchFamily="34" charset="0"/>
              <a:cs typeface="Microsoft Sans Serif" panose="020B0604020202020204" pitchFamily="34" charset="0"/>
            </a:endParaRPr>
          </a:p>
        </p:txBody>
      </p:sp>
      <p:sp>
        <p:nvSpPr>
          <p:cNvPr id="356" name="Content Placeholder 4">
            <a:extLst>
              <a:ext uri="{FF2B5EF4-FFF2-40B4-BE49-F238E27FC236}">
                <a16:creationId xmlns:a16="http://schemas.microsoft.com/office/drawing/2014/main" id="{685406AB-6646-719D-E42D-CAF125199056}"/>
              </a:ext>
            </a:extLst>
          </p:cNvPr>
          <p:cNvSpPr txBox="1"/>
          <p:nvPr/>
        </p:nvSpPr>
        <p:spPr>
          <a:xfrm>
            <a:off x="350519" y="152400"/>
            <a:ext cx="6233162"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dirty="0"/>
              <a:t>Idea &amp; Opportunity</a:t>
            </a:r>
          </a:p>
        </p:txBody>
      </p:sp>
    </p:spTree>
    <p:extLst>
      <p:ext uri="{BB962C8B-B14F-4D97-AF65-F5344CB8AC3E}">
        <p14:creationId xmlns:p14="http://schemas.microsoft.com/office/powerpoint/2010/main" val="2963190799"/>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13B79-8B1E-798A-0D2B-6C853E671F94}"/>
            </a:ext>
          </a:extLst>
        </p:cNvPr>
        <p:cNvGrpSpPr/>
        <p:nvPr/>
      </p:nvGrpSpPr>
      <p:grpSpPr>
        <a:xfrm>
          <a:off x="0" y="0"/>
          <a:ext cx="0" cy="0"/>
          <a:chOff x="0" y="0"/>
          <a:chExt cx="0" cy="0"/>
        </a:xfrm>
      </p:grpSpPr>
      <p:sp>
        <p:nvSpPr>
          <p:cNvPr id="355" name="Content Placeholder 2">
            <a:extLst>
              <a:ext uri="{FF2B5EF4-FFF2-40B4-BE49-F238E27FC236}">
                <a16:creationId xmlns:a16="http://schemas.microsoft.com/office/drawing/2014/main" id="{D39EA913-4540-E351-8995-FCCC0986837A}"/>
              </a:ext>
            </a:extLst>
          </p:cNvPr>
          <p:cNvSpPr txBox="1">
            <a:spLocks noGrp="1"/>
          </p:cNvSpPr>
          <p:nvPr>
            <p:ph type="body" idx="1"/>
          </p:nvPr>
        </p:nvSpPr>
        <p:spPr>
          <a:xfrm>
            <a:off x="149523" y="1295400"/>
            <a:ext cx="8643957" cy="4525964"/>
          </a:xfrm>
          <a:prstGeom prst="rect">
            <a:avLst/>
          </a:prstGeom>
        </p:spPr>
        <p:txBody>
          <a:bodyPr anchor="t">
            <a:normAutofit fontScale="92500" lnSpcReduction="10000"/>
          </a:bodyPr>
          <a:lstStyle>
            <a:lvl1pPr indent="-342900">
              <a:lnSpc>
                <a:spcPct val="100000"/>
              </a:lnSpc>
              <a:spcBef>
                <a:spcPts val="500"/>
              </a:spcBef>
              <a:defRPr sz="2400" b="0" spc="0">
                <a:latin typeface="Open Sans"/>
                <a:ea typeface="Open Sans"/>
                <a:cs typeface="Open Sans"/>
                <a:sym typeface="Open Sans"/>
              </a:defRPr>
            </a:lvl1pPr>
          </a:lstStyle>
          <a:p>
            <a:pPr marL="0" indent="0" algn="just">
              <a:lnSpc>
                <a:spcPct val="150000"/>
              </a:lnSpc>
              <a:spcBef>
                <a:spcPct val="0"/>
              </a:spcBef>
            </a:pPr>
            <a:r>
              <a:rPr lang="en-US" altLang="en-US" sz="2000" b="1" dirty="0"/>
              <a:t>Real-world data issues</a:t>
            </a:r>
            <a:endParaRPr lang="en-US" altLang="en-US" sz="2000" dirty="0"/>
          </a:p>
          <a:p>
            <a:pPr algn="just">
              <a:lnSpc>
                <a:spcPct val="150000"/>
              </a:lnSpc>
              <a:spcBef>
                <a:spcPct val="0"/>
              </a:spcBef>
              <a:buFont typeface="Arial" panose="020B0604020202020204" pitchFamily="34" charset="0"/>
              <a:buChar char="•"/>
            </a:pPr>
            <a:r>
              <a:rPr lang="en-US" altLang="en-US" sz="2000" dirty="0"/>
              <a:t>Noisy audio reduces model accuracy</a:t>
            </a:r>
          </a:p>
          <a:p>
            <a:pPr marL="0" indent="0" algn="just">
              <a:lnSpc>
                <a:spcPct val="150000"/>
              </a:lnSpc>
              <a:spcBef>
                <a:spcPct val="0"/>
              </a:spcBef>
            </a:pPr>
            <a:r>
              <a:rPr lang="en-US" altLang="en-US" sz="2000" b="1" dirty="0"/>
              <a:t>Performance constraints</a:t>
            </a:r>
          </a:p>
          <a:p>
            <a:pPr algn="just">
              <a:lnSpc>
                <a:spcPct val="150000"/>
              </a:lnSpc>
              <a:spcBef>
                <a:spcPct val="0"/>
              </a:spcBef>
              <a:buFont typeface="Arial" panose="020B0604020202020204" pitchFamily="34" charset="0"/>
              <a:buChar char="•"/>
            </a:pPr>
            <a:r>
              <a:rPr lang="en-US" altLang="en-US" sz="2000" dirty="0"/>
              <a:t>Customers expect results within minutes</a:t>
            </a:r>
          </a:p>
          <a:p>
            <a:pPr algn="just">
              <a:lnSpc>
                <a:spcPct val="150000"/>
              </a:lnSpc>
              <a:spcBef>
                <a:spcPct val="0"/>
              </a:spcBef>
              <a:buFont typeface="Arial" panose="020B0604020202020204" pitchFamily="34" charset="0"/>
              <a:buChar char="•"/>
            </a:pPr>
            <a:r>
              <a:rPr lang="en-US" altLang="en-US" sz="2000" dirty="0"/>
              <a:t>Live captioning requires near real-time processing</a:t>
            </a:r>
          </a:p>
          <a:p>
            <a:pPr marL="0" indent="0" algn="just">
              <a:lnSpc>
                <a:spcPct val="150000"/>
              </a:lnSpc>
              <a:spcBef>
                <a:spcPct val="0"/>
              </a:spcBef>
            </a:pPr>
            <a:r>
              <a:rPr lang="en-US" altLang="en-US" sz="2000" b="1" dirty="0"/>
              <a:t>High costs</a:t>
            </a:r>
          </a:p>
          <a:p>
            <a:pPr algn="just">
              <a:lnSpc>
                <a:spcPct val="150000"/>
              </a:lnSpc>
              <a:spcBef>
                <a:spcPct val="0"/>
              </a:spcBef>
              <a:buFont typeface="Arial" panose="020B0604020202020204" pitchFamily="34" charset="0"/>
              <a:buChar char="•"/>
            </a:pPr>
            <a:r>
              <a:rPr lang="en-US" altLang="en-US" sz="2000" dirty="0"/>
              <a:t>Expensive cloud computation (training + inference)</a:t>
            </a:r>
          </a:p>
          <a:p>
            <a:pPr algn="just">
              <a:lnSpc>
                <a:spcPct val="150000"/>
              </a:lnSpc>
              <a:spcBef>
                <a:spcPct val="0"/>
              </a:spcBef>
              <a:buFont typeface="Arial" panose="020B0604020202020204" pitchFamily="34" charset="0"/>
              <a:buChar char="•"/>
            </a:pPr>
            <a:r>
              <a:rPr lang="en-US" altLang="en-US" sz="2000" dirty="0"/>
              <a:t>LLM APIs and GPU infrastructure increase expenses</a:t>
            </a:r>
          </a:p>
          <a:p>
            <a:pPr marL="0" indent="0" algn="just">
              <a:lnSpc>
                <a:spcPct val="150000"/>
              </a:lnSpc>
              <a:spcBef>
                <a:spcPct val="0"/>
              </a:spcBef>
            </a:pPr>
            <a:r>
              <a:rPr lang="en-US" altLang="en-US" sz="2000" b="1" dirty="0"/>
              <a:t>Scalability issues</a:t>
            </a:r>
          </a:p>
          <a:p>
            <a:pPr algn="just">
              <a:lnSpc>
                <a:spcPct val="150000"/>
              </a:lnSpc>
              <a:spcBef>
                <a:spcPct val="0"/>
              </a:spcBef>
              <a:buFont typeface="Arial" panose="020B0604020202020204" pitchFamily="34" charset="0"/>
              <a:buChar char="•"/>
            </a:pPr>
            <a:r>
              <a:rPr lang="en-US" altLang="en-US" sz="2000" dirty="0"/>
              <a:t>Difficult to balance speed, cost, and quality</a:t>
            </a:r>
          </a:p>
          <a:p>
            <a:pPr algn="just">
              <a:lnSpc>
                <a:spcPct val="150000"/>
              </a:lnSpc>
              <a:spcBef>
                <a:spcPct val="0"/>
              </a:spcBef>
              <a:buFont typeface="Arial" panose="020B0604020202020204" pitchFamily="34" charset="0"/>
              <a:buChar char="•"/>
            </a:pPr>
            <a:r>
              <a:rPr lang="en-US" altLang="en-US" sz="2000" dirty="0"/>
              <a:t>Pricing becomes challenging while maintaining profitability</a:t>
            </a:r>
            <a:endParaRPr lang="en-IN" altLang="en-US" sz="2000" b="1" dirty="0">
              <a:latin typeface="Microsoft Sans Serif" panose="020B0604020202020204" pitchFamily="34" charset="0"/>
              <a:cs typeface="Microsoft Sans Serif" panose="020B0604020202020204" pitchFamily="34" charset="0"/>
            </a:endParaRPr>
          </a:p>
        </p:txBody>
      </p:sp>
      <p:sp>
        <p:nvSpPr>
          <p:cNvPr id="356" name="Content Placeholder 4">
            <a:extLst>
              <a:ext uri="{FF2B5EF4-FFF2-40B4-BE49-F238E27FC236}">
                <a16:creationId xmlns:a16="http://schemas.microsoft.com/office/drawing/2014/main" id="{C4B4079A-62B2-6EF1-0CA8-374713B96685}"/>
              </a:ext>
            </a:extLst>
          </p:cNvPr>
          <p:cNvSpPr txBox="1"/>
          <p:nvPr/>
        </p:nvSpPr>
        <p:spPr>
          <a:xfrm>
            <a:off x="350519" y="152400"/>
            <a:ext cx="6233162"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sz="2800" dirty="0"/>
              <a:t>Technical &amp; Business Challenges</a:t>
            </a:r>
          </a:p>
        </p:txBody>
      </p:sp>
    </p:spTree>
    <p:extLst>
      <p:ext uri="{BB962C8B-B14F-4D97-AF65-F5344CB8AC3E}">
        <p14:creationId xmlns:p14="http://schemas.microsoft.com/office/powerpoint/2010/main" val="1034192021"/>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54D7F7-7C19-124C-7D84-98AF726EAA67}"/>
            </a:ext>
          </a:extLst>
        </p:cNvPr>
        <p:cNvGrpSpPr/>
        <p:nvPr/>
      </p:nvGrpSpPr>
      <p:grpSpPr>
        <a:xfrm>
          <a:off x="0" y="0"/>
          <a:ext cx="0" cy="0"/>
          <a:chOff x="0" y="0"/>
          <a:chExt cx="0" cy="0"/>
        </a:xfrm>
      </p:grpSpPr>
      <p:sp>
        <p:nvSpPr>
          <p:cNvPr id="355" name="Content Placeholder 2">
            <a:extLst>
              <a:ext uri="{FF2B5EF4-FFF2-40B4-BE49-F238E27FC236}">
                <a16:creationId xmlns:a16="http://schemas.microsoft.com/office/drawing/2014/main" id="{282A1838-E5CA-139F-AC9E-D83B41738987}"/>
              </a:ext>
            </a:extLst>
          </p:cNvPr>
          <p:cNvSpPr txBox="1">
            <a:spLocks noGrp="1"/>
          </p:cNvSpPr>
          <p:nvPr>
            <p:ph type="body" idx="1"/>
          </p:nvPr>
        </p:nvSpPr>
        <p:spPr>
          <a:xfrm>
            <a:off x="149523" y="1295400"/>
            <a:ext cx="8643957" cy="4525964"/>
          </a:xfrm>
          <a:prstGeom prst="rect">
            <a:avLst/>
          </a:prstGeom>
        </p:spPr>
        <p:txBody>
          <a:bodyPr anchor="t">
            <a:normAutofit fontScale="85000" lnSpcReduction="10000"/>
          </a:bodyPr>
          <a:lstStyle>
            <a:lvl1pPr indent="-342900">
              <a:lnSpc>
                <a:spcPct val="100000"/>
              </a:lnSpc>
              <a:spcBef>
                <a:spcPts val="500"/>
              </a:spcBef>
              <a:defRPr sz="2400" b="0" spc="0">
                <a:latin typeface="Open Sans"/>
                <a:ea typeface="Open Sans"/>
                <a:cs typeface="Open Sans"/>
                <a:sym typeface="Open Sans"/>
              </a:defRPr>
            </a:lvl1pPr>
          </a:lstStyle>
          <a:p>
            <a:pPr marL="0" indent="0" algn="just">
              <a:lnSpc>
                <a:spcPct val="150000"/>
              </a:lnSpc>
              <a:spcBef>
                <a:spcPct val="0"/>
              </a:spcBef>
            </a:pPr>
            <a:r>
              <a:rPr lang="en-US" altLang="en-US" sz="2000" b="1" dirty="0"/>
              <a:t>Need to build full product ecosystem</a:t>
            </a:r>
          </a:p>
          <a:p>
            <a:pPr algn="just">
              <a:lnSpc>
                <a:spcPct val="150000"/>
              </a:lnSpc>
              <a:spcBef>
                <a:spcPct val="0"/>
              </a:spcBef>
              <a:buFont typeface="Arial" panose="020B0604020202020204" pitchFamily="34" charset="0"/>
              <a:buChar char="•"/>
            </a:pPr>
            <a:r>
              <a:rPr lang="en-US" altLang="en-US" sz="2000" dirty="0"/>
              <a:t>Website/ Web Application, backend systems, payment integration</a:t>
            </a:r>
          </a:p>
          <a:p>
            <a:pPr marL="0" indent="0" algn="just">
              <a:lnSpc>
                <a:spcPct val="150000"/>
              </a:lnSpc>
              <a:spcBef>
                <a:spcPct val="0"/>
              </a:spcBef>
            </a:pPr>
            <a:r>
              <a:rPr lang="en-US" altLang="en-US" sz="2000" b="1" dirty="0"/>
              <a:t>ML pipeline issues</a:t>
            </a:r>
          </a:p>
          <a:p>
            <a:pPr algn="just">
              <a:lnSpc>
                <a:spcPct val="150000"/>
              </a:lnSpc>
              <a:spcBef>
                <a:spcPct val="0"/>
              </a:spcBef>
              <a:buFont typeface="Arial" panose="020B0604020202020204" pitchFamily="34" charset="0"/>
              <a:buChar char="•"/>
            </a:pPr>
            <a:r>
              <a:rPr lang="en-US" altLang="en-US" sz="2000" dirty="0"/>
              <a:t>Manual retraining, fragile workflows, outdated libraries</a:t>
            </a:r>
          </a:p>
          <a:p>
            <a:pPr algn="just">
              <a:lnSpc>
                <a:spcPct val="150000"/>
              </a:lnSpc>
              <a:spcBef>
                <a:spcPct val="0"/>
              </a:spcBef>
              <a:buFont typeface="Arial" panose="020B0604020202020204" pitchFamily="34" charset="0"/>
              <a:buChar char="•"/>
            </a:pPr>
            <a:r>
              <a:rPr lang="en-US" altLang="en-US" sz="2000" dirty="0"/>
              <a:t>Model updates causing outages</a:t>
            </a:r>
          </a:p>
          <a:p>
            <a:pPr marL="0" indent="0" algn="just">
              <a:lnSpc>
                <a:spcPct val="150000"/>
              </a:lnSpc>
              <a:spcBef>
                <a:spcPct val="0"/>
              </a:spcBef>
            </a:pPr>
            <a:r>
              <a:rPr lang="en-US" altLang="en-US" sz="2000" b="1" dirty="0"/>
              <a:t>Team &amp; communication gaps between ML and engineering</a:t>
            </a:r>
          </a:p>
          <a:p>
            <a:pPr marL="0" indent="0" algn="just">
              <a:lnSpc>
                <a:spcPct val="150000"/>
              </a:lnSpc>
              <a:spcBef>
                <a:spcPct val="0"/>
              </a:spcBef>
            </a:pPr>
            <a:r>
              <a:rPr lang="en-US" altLang="en-US" sz="2000" b="1" dirty="0"/>
              <a:t>Monitoring &amp; fairness issues</a:t>
            </a:r>
          </a:p>
          <a:p>
            <a:pPr algn="just">
              <a:lnSpc>
                <a:spcPct val="150000"/>
              </a:lnSpc>
              <a:spcBef>
                <a:spcPct val="0"/>
              </a:spcBef>
              <a:buFont typeface="Arial" panose="020B0604020202020204" pitchFamily="34" charset="0"/>
              <a:buChar char="•"/>
            </a:pPr>
            <a:r>
              <a:rPr lang="en-US" altLang="en-US" sz="2000" dirty="0"/>
              <a:t>Limited visibility into model performance</a:t>
            </a:r>
          </a:p>
          <a:p>
            <a:pPr algn="just">
              <a:lnSpc>
                <a:spcPct val="150000"/>
              </a:lnSpc>
              <a:spcBef>
                <a:spcPct val="0"/>
              </a:spcBef>
              <a:buFont typeface="Arial" panose="020B0604020202020204" pitchFamily="34" charset="0"/>
              <a:buChar char="•"/>
            </a:pPr>
            <a:r>
              <a:rPr lang="en-US" altLang="en-US" sz="2000" dirty="0"/>
              <a:t>Bias and critical errors (e.g., medical, dialect issues)</a:t>
            </a:r>
          </a:p>
          <a:p>
            <a:pPr marL="0" indent="0" algn="just">
              <a:lnSpc>
                <a:spcPct val="150000"/>
              </a:lnSpc>
              <a:spcBef>
                <a:spcPct val="0"/>
              </a:spcBef>
            </a:pPr>
            <a:r>
              <a:rPr lang="en-US" altLang="en-US" sz="2000" b="1" dirty="0">
                <a:solidFill>
                  <a:srgbClr val="C00000"/>
                </a:solidFill>
              </a:rPr>
              <a:t>Key takeaway</a:t>
            </a:r>
          </a:p>
          <a:p>
            <a:pPr algn="just">
              <a:lnSpc>
                <a:spcPct val="150000"/>
              </a:lnSpc>
              <a:spcBef>
                <a:spcPct val="0"/>
              </a:spcBef>
              <a:buFont typeface="Arial" panose="020B0604020202020204" pitchFamily="34" charset="0"/>
              <a:buChar char="•"/>
            </a:pPr>
            <a:r>
              <a:rPr lang="en-US" altLang="en-US" sz="2000" b="1" dirty="0">
                <a:solidFill>
                  <a:srgbClr val="C00000"/>
                </a:solidFill>
              </a:rPr>
              <a:t>Moving from research prototype → production system requires significant engineering beyond ML</a:t>
            </a:r>
            <a:endParaRPr lang="en-IN" altLang="en-US" sz="2000" b="1" dirty="0">
              <a:solidFill>
                <a:srgbClr val="C00000"/>
              </a:solidFill>
              <a:latin typeface="Microsoft Sans Serif" panose="020B0604020202020204" pitchFamily="34" charset="0"/>
              <a:cs typeface="Microsoft Sans Serif" panose="020B0604020202020204" pitchFamily="34" charset="0"/>
            </a:endParaRPr>
          </a:p>
        </p:txBody>
      </p:sp>
      <p:sp>
        <p:nvSpPr>
          <p:cNvPr id="356" name="Content Placeholder 4">
            <a:extLst>
              <a:ext uri="{FF2B5EF4-FFF2-40B4-BE49-F238E27FC236}">
                <a16:creationId xmlns:a16="http://schemas.microsoft.com/office/drawing/2014/main" id="{184EB2E6-0991-0ED0-F300-9C03AA760066}"/>
              </a:ext>
            </a:extLst>
          </p:cNvPr>
          <p:cNvSpPr txBox="1"/>
          <p:nvPr/>
        </p:nvSpPr>
        <p:spPr>
          <a:xfrm>
            <a:off x="350519" y="152400"/>
            <a:ext cx="6233162"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sz="2800" dirty="0"/>
              <a:t>Engineering &amp; Operational Challenges</a:t>
            </a:r>
          </a:p>
        </p:txBody>
      </p:sp>
    </p:spTree>
    <p:extLst>
      <p:ext uri="{BB962C8B-B14F-4D97-AF65-F5344CB8AC3E}">
        <p14:creationId xmlns:p14="http://schemas.microsoft.com/office/powerpoint/2010/main" val="4201968008"/>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44433-9A2B-9DEC-B6BA-4AF405B539F0}"/>
            </a:ext>
          </a:extLst>
        </p:cNvPr>
        <p:cNvGrpSpPr/>
        <p:nvPr/>
      </p:nvGrpSpPr>
      <p:grpSpPr>
        <a:xfrm>
          <a:off x="0" y="0"/>
          <a:ext cx="0" cy="0"/>
          <a:chOff x="0" y="0"/>
          <a:chExt cx="0" cy="0"/>
        </a:xfrm>
      </p:grpSpPr>
      <p:sp>
        <p:nvSpPr>
          <p:cNvPr id="353" name="Content Placeholder 1">
            <a:extLst>
              <a:ext uri="{FF2B5EF4-FFF2-40B4-BE49-F238E27FC236}">
                <a16:creationId xmlns:a16="http://schemas.microsoft.com/office/drawing/2014/main" id="{648FB7EB-30B7-28D3-E2A9-33D4156883AE}"/>
              </a:ext>
            </a:extLst>
          </p:cNvPr>
          <p:cNvSpPr txBox="1">
            <a:spLocks noGrp="1"/>
          </p:cNvSpPr>
          <p:nvPr>
            <p:ph type="body" sz="half" idx="1"/>
          </p:nvPr>
        </p:nvSpPr>
        <p:spPr>
          <a:prstGeom prst="rect">
            <a:avLst/>
          </a:prstGeom>
        </p:spPr>
        <p:txBody>
          <a:bodyPr>
            <a:normAutofit/>
          </a:bodyPr>
          <a:lstStyle/>
          <a:p>
            <a:pPr lvl="0" algn="ctr"/>
            <a:r>
              <a:rPr lang="en-US" sz="2800" dirty="0"/>
              <a:t>From Models to System</a:t>
            </a:r>
          </a:p>
        </p:txBody>
      </p:sp>
    </p:spTree>
    <p:extLst>
      <p:ext uri="{BB962C8B-B14F-4D97-AF65-F5344CB8AC3E}">
        <p14:creationId xmlns:p14="http://schemas.microsoft.com/office/powerpoint/2010/main" val="1174440075"/>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9BE4A-B5B3-03F1-A348-9DFD58A39207}"/>
            </a:ext>
          </a:extLst>
        </p:cNvPr>
        <p:cNvGrpSpPr/>
        <p:nvPr/>
      </p:nvGrpSpPr>
      <p:grpSpPr>
        <a:xfrm>
          <a:off x="0" y="0"/>
          <a:ext cx="0" cy="0"/>
          <a:chOff x="0" y="0"/>
          <a:chExt cx="0" cy="0"/>
        </a:xfrm>
      </p:grpSpPr>
      <p:sp>
        <p:nvSpPr>
          <p:cNvPr id="356" name="Content Placeholder 4">
            <a:extLst>
              <a:ext uri="{FF2B5EF4-FFF2-40B4-BE49-F238E27FC236}">
                <a16:creationId xmlns:a16="http://schemas.microsoft.com/office/drawing/2014/main" id="{2CB6B2A4-2068-4746-4CAE-D74E487E1292}"/>
              </a:ext>
            </a:extLst>
          </p:cNvPr>
          <p:cNvSpPr txBox="1"/>
          <p:nvPr/>
        </p:nvSpPr>
        <p:spPr>
          <a:xfrm>
            <a:off x="350519" y="152400"/>
            <a:ext cx="6233162"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dirty="0"/>
              <a:t>ML Model vs ML System</a:t>
            </a:r>
          </a:p>
        </p:txBody>
      </p:sp>
      <p:sp>
        <p:nvSpPr>
          <p:cNvPr id="4" name="Google Shape;611;p65">
            <a:extLst>
              <a:ext uri="{FF2B5EF4-FFF2-40B4-BE49-F238E27FC236}">
                <a16:creationId xmlns:a16="http://schemas.microsoft.com/office/drawing/2014/main" id="{E0038F2E-8AB3-D41E-585B-59753EF033DE}"/>
              </a:ext>
            </a:extLst>
          </p:cNvPr>
          <p:cNvSpPr/>
          <p:nvPr/>
        </p:nvSpPr>
        <p:spPr>
          <a:xfrm>
            <a:off x="3888106" y="2196680"/>
            <a:ext cx="4905375" cy="3314700"/>
          </a:xfrm>
          <a:prstGeom prst="rect">
            <a:avLst/>
          </a:prstGeom>
          <a:blipFill rotWithShape="1">
            <a:blip r:embed="rId2">
              <a:alphaModFix/>
            </a:blip>
            <a:stretch>
              <a:fillRect/>
            </a:stretch>
          </a:blip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chemeClr val="dk1"/>
              </a:solidFill>
              <a:latin typeface="Calibri"/>
              <a:ea typeface="Calibri"/>
              <a:cs typeface="Calibri"/>
              <a:sym typeface="Calibri"/>
            </a:endParaRPr>
          </a:p>
        </p:txBody>
      </p:sp>
      <p:sp>
        <p:nvSpPr>
          <p:cNvPr id="5" name="Google Shape;612;p65">
            <a:extLst>
              <a:ext uri="{FF2B5EF4-FFF2-40B4-BE49-F238E27FC236}">
                <a16:creationId xmlns:a16="http://schemas.microsoft.com/office/drawing/2014/main" id="{987D4757-0B19-7AB0-BFE7-5C53A7B611D6}"/>
              </a:ext>
            </a:extLst>
          </p:cNvPr>
          <p:cNvSpPr/>
          <p:nvPr/>
        </p:nvSpPr>
        <p:spPr>
          <a:xfrm>
            <a:off x="449581" y="2072855"/>
            <a:ext cx="3181350" cy="3552825"/>
          </a:xfrm>
          <a:prstGeom prst="rect">
            <a:avLst/>
          </a:prstGeom>
          <a:blipFill rotWithShape="1">
            <a:blip r:embed="rId3">
              <a:alphaModFix/>
            </a:blip>
            <a:stretch>
              <a:fillRect/>
            </a:stretch>
          </a:blip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chemeClr val="dk1"/>
              </a:solidFill>
              <a:latin typeface="Calibri"/>
              <a:ea typeface="Calibri"/>
              <a:cs typeface="Calibri"/>
              <a:sym typeface="Calibri"/>
            </a:endParaRPr>
          </a:p>
        </p:txBody>
      </p:sp>
      <p:sp>
        <p:nvSpPr>
          <p:cNvPr id="6" name="Google Shape;614;p65">
            <a:extLst>
              <a:ext uri="{FF2B5EF4-FFF2-40B4-BE49-F238E27FC236}">
                <a16:creationId xmlns:a16="http://schemas.microsoft.com/office/drawing/2014/main" id="{AE3B7C6B-41D7-5737-9A5C-98F67D97139C}"/>
              </a:ext>
            </a:extLst>
          </p:cNvPr>
          <p:cNvSpPr txBox="1"/>
          <p:nvPr/>
        </p:nvSpPr>
        <p:spPr>
          <a:xfrm>
            <a:off x="1308155" y="1575763"/>
            <a:ext cx="3355092" cy="4000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2000" b="1" i="0" u="none" strike="noStrike" cap="none" dirty="0">
                <a:solidFill>
                  <a:srgbClr val="000000"/>
                </a:solidFill>
                <a:latin typeface="Calibri"/>
                <a:ea typeface="Calibri"/>
                <a:cs typeface="Calibri"/>
                <a:sym typeface="Calibri"/>
              </a:rPr>
              <a:t>ML Model</a:t>
            </a:r>
            <a:endParaRPr sz="2000" b="1" i="0" u="none" strike="noStrike" cap="none" dirty="0">
              <a:solidFill>
                <a:srgbClr val="000000"/>
              </a:solidFill>
              <a:latin typeface="Calibri"/>
              <a:ea typeface="Calibri"/>
              <a:cs typeface="Calibri"/>
              <a:sym typeface="Calibri"/>
            </a:endParaRPr>
          </a:p>
        </p:txBody>
      </p:sp>
      <p:sp>
        <p:nvSpPr>
          <p:cNvPr id="7" name="Google Shape;615;p65">
            <a:extLst>
              <a:ext uri="{FF2B5EF4-FFF2-40B4-BE49-F238E27FC236}">
                <a16:creationId xmlns:a16="http://schemas.microsoft.com/office/drawing/2014/main" id="{7EB86E8E-2335-CCA3-06A8-1D9AE54837B7}"/>
              </a:ext>
            </a:extLst>
          </p:cNvPr>
          <p:cNvSpPr txBox="1"/>
          <p:nvPr/>
        </p:nvSpPr>
        <p:spPr>
          <a:xfrm>
            <a:off x="5577647" y="1575763"/>
            <a:ext cx="3355092" cy="4000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2000" b="1" i="0" u="none" strike="noStrike" cap="none" dirty="0">
                <a:solidFill>
                  <a:srgbClr val="000000"/>
                </a:solidFill>
                <a:latin typeface="Calibri"/>
                <a:ea typeface="Calibri"/>
                <a:cs typeface="Calibri"/>
                <a:sym typeface="Calibri"/>
              </a:rPr>
              <a:t>ML System</a:t>
            </a:r>
            <a:endParaRPr sz="2000" b="1" i="0" u="none" strike="noStrike" cap="none" dirty="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65457464"/>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BC3E1-1D01-6CC4-09A2-E6099508C59E}"/>
            </a:ext>
          </a:extLst>
        </p:cNvPr>
        <p:cNvGrpSpPr/>
        <p:nvPr/>
      </p:nvGrpSpPr>
      <p:grpSpPr>
        <a:xfrm>
          <a:off x="0" y="0"/>
          <a:ext cx="0" cy="0"/>
          <a:chOff x="0" y="0"/>
          <a:chExt cx="0" cy="0"/>
        </a:xfrm>
      </p:grpSpPr>
      <p:sp>
        <p:nvSpPr>
          <p:cNvPr id="356" name="Content Placeholder 4">
            <a:extLst>
              <a:ext uri="{FF2B5EF4-FFF2-40B4-BE49-F238E27FC236}">
                <a16:creationId xmlns:a16="http://schemas.microsoft.com/office/drawing/2014/main" id="{34A51E89-F36F-8EBC-C317-DFB56BB9F928}"/>
              </a:ext>
            </a:extLst>
          </p:cNvPr>
          <p:cNvSpPr txBox="1"/>
          <p:nvPr/>
        </p:nvSpPr>
        <p:spPr>
          <a:xfrm>
            <a:off x="350519" y="152400"/>
            <a:ext cx="6233162"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dirty="0"/>
              <a:t>ML Model vs ML System</a:t>
            </a:r>
          </a:p>
        </p:txBody>
      </p:sp>
      <p:sp>
        <p:nvSpPr>
          <p:cNvPr id="2" name="Google Shape;620;p66">
            <a:extLst>
              <a:ext uri="{FF2B5EF4-FFF2-40B4-BE49-F238E27FC236}">
                <a16:creationId xmlns:a16="http://schemas.microsoft.com/office/drawing/2014/main" id="{12CABA22-22B9-B791-C671-CD14C2634F2A}"/>
              </a:ext>
            </a:extLst>
          </p:cNvPr>
          <p:cNvSpPr/>
          <p:nvPr/>
        </p:nvSpPr>
        <p:spPr>
          <a:xfrm>
            <a:off x="5089171" y="2700370"/>
            <a:ext cx="3905250" cy="2133600"/>
          </a:xfrm>
          <a:prstGeom prst="rect">
            <a:avLst/>
          </a:prstGeom>
          <a:blipFill rotWithShape="1">
            <a:blip r:embed="rId2">
              <a:alphaModFix/>
            </a:blip>
            <a:stretch>
              <a:fillRect/>
            </a:stretch>
          </a:blip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chemeClr val="dk1"/>
              </a:solidFill>
              <a:latin typeface="Calibri"/>
              <a:ea typeface="Calibri"/>
              <a:cs typeface="Calibri"/>
              <a:sym typeface="Calibri"/>
            </a:endParaRPr>
          </a:p>
        </p:txBody>
      </p:sp>
      <p:sp>
        <p:nvSpPr>
          <p:cNvPr id="3" name="Google Shape;621;p66">
            <a:extLst>
              <a:ext uri="{FF2B5EF4-FFF2-40B4-BE49-F238E27FC236}">
                <a16:creationId xmlns:a16="http://schemas.microsoft.com/office/drawing/2014/main" id="{A9B427FA-7637-EE31-A935-D400F804197E}"/>
              </a:ext>
            </a:extLst>
          </p:cNvPr>
          <p:cNvSpPr/>
          <p:nvPr/>
        </p:nvSpPr>
        <p:spPr>
          <a:xfrm>
            <a:off x="350519" y="1770071"/>
            <a:ext cx="2371725" cy="3267075"/>
          </a:xfrm>
          <a:prstGeom prst="rect">
            <a:avLst/>
          </a:prstGeom>
          <a:blipFill rotWithShape="1">
            <a:blip r:embed="rId3">
              <a:alphaModFix/>
            </a:blip>
            <a:stretch>
              <a:fillRect/>
            </a:stretch>
          </a:blip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chemeClr val="dk1"/>
              </a:solidFill>
              <a:latin typeface="Calibri"/>
              <a:ea typeface="Calibri"/>
              <a:cs typeface="Calibri"/>
              <a:sym typeface="Calibri"/>
            </a:endParaRPr>
          </a:p>
        </p:txBody>
      </p:sp>
      <p:sp>
        <p:nvSpPr>
          <p:cNvPr id="8" name="Google Shape;623;p66">
            <a:extLst>
              <a:ext uri="{FF2B5EF4-FFF2-40B4-BE49-F238E27FC236}">
                <a16:creationId xmlns:a16="http://schemas.microsoft.com/office/drawing/2014/main" id="{C27BA0A3-E447-7D6A-4209-E2FDCB6962B6}"/>
              </a:ext>
            </a:extLst>
          </p:cNvPr>
          <p:cNvSpPr/>
          <p:nvPr/>
        </p:nvSpPr>
        <p:spPr>
          <a:xfrm>
            <a:off x="977951" y="4004543"/>
            <a:ext cx="3905250" cy="1843518"/>
          </a:xfrm>
          <a:prstGeom prst="rect">
            <a:avLst/>
          </a:prstGeom>
          <a:blipFill rotWithShape="1">
            <a:blip r:embed="rId4">
              <a:alphaModFix/>
            </a:blip>
            <a:stretch>
              <a:fillRect/>
            </a:stretch>
          </a:blip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chemeClr val="dk1"/>
              </a:solidFill>
              <a:latin typeface="Calibri"/>
              <a:ea typeface="Calibri"/>
              <a:cs typeface="Calibri"/>
              <a:sym typeface="Calibri"/>
            </a:endParaRPr>
          </a:p>
        </p:txBody>
      </p:sp>
      <p:sp>
        <p:nvSpPr>
          <p:cNvPr id="9" name="Google Shape;625;p66">
            <a:extLst>
              <a:ext uri="{FF2B5EF4-FFF2-40B4-BE49-F238E27FC236}">
                <a16:creationId xmlns:a16="http://schemas.microsoft.com/office/drawing/2014/main" id="{FA1B5A19-47D5-BA61-90D9-F58A0693CED3}"/>
              </a:ext>
            </a:extLst>
          </p:cNvPr>
          <p:cNvSpPr txBox="1"/>
          <p:nvPr/>
        </p:nvSpPr>
        <p:spPr>
          <a:xfrm>
            <a:off x="2184110" y="5848061"/>
            <a:ext cx="3355092" cy="4000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2000" b="1" i="0" u="none" strike="noStrike" cap="none" dirty="0">
                <a:solidFill>
                  <a:srgbClr val="000000"/>
                </a:solidFill>
                <a:latin typeface="Calibri"/>
                <a:ea typeface="Calibri"/>
                <a:cs typeface="Calibri"/>
                <a:sym typeface="Calibri"/>
              </a:rPr>
              <a:t>ML Model</a:t>
            </a:r>
            <a:endParaRPr sz="2000" b="1" i="0" u="none" strike="noStrike" cap="none" dirty="0">
              <a:solidFill>
                <a:srgbClr val="000000"/>
              </a:solidFill>
              <a:latin typeface="Calibri"/>
              <a:ea typeface="Calibri"/>
              <a:cs typeface="Calibri"/>
              <a:sym typeface="Calibri"/>
            </a:endParaRPr>
          </a:p>
        </p:txBody>
      </p:sp>
      <p:sp>
        <p:nvSpPr>
          <p:cNvPr id="10" name="Google Shape;626;p66">
            <a:extLst>
              <a:ext uri="{FF2B5EF4-FFF2-40B4-BE49-F238E27FC236}">
                <a16:creationId xmlns:a16="http://schemas.microsoft.com/office/drawing/2014/main" id="{2E71C318-779E-42E2-7AB5-67D726A0C406}"/>
              </a:ext>
            </a:extLst>
          </p:cNvPr>
          <p:cNvSpPr txBox="1"/>
          <p:nvPr/>
        </p:nvSpPr>
        <p:spPr>
          <a:xfrm>
            <a:off x="6148962" y="2195923"/>
            <a:ext cx="3355092" cy="4000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2000" b="1" i="0" u="none" strike="noStrike" cap="none" dirty="0">
                <a:solidFill>
                  <a:srgbClr val="000000"/>
                </a:solidFill>
                <a:latin typeface="Calibri"/>
                <a:ea typeface="Calibri"/>
                <a:cs typeface="Calibri"/>
                <a:sym typeface="Calibri"/>
              </a:rPr>
              <a:t>ML System</a:t>
            </a:r>
            <a:endParaRPr sz="2000" b="1" i="0" u="none" strike="noStrike" cap="none" dirty="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944780198"/>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7A006-92EC-BEB9-8C83-E5310A3A790D}"/>
            </a:ext>
          </a:extLst>
        </p:cNvPr>
        <p:cNvGrpSpPr/>
        <p:nvPr/>
      </p:nvGrpSpPr>
      <p:grpSpPr>
        <a:xfrm>
          <a:off x="0" y="0"/>
          <a:ext cx="0" cy="0"/>
          <a:chOff x="0" y="0"/>
          <a:chExt cx="0" cy="0"/>
        </a:xfrm>
      </p:grpSpPr>
      <p:sp>
        <p:nvSpPr>
          <p:cNvPr id="355" name="Content Placeholder 2">
            <a:extLst>
              <a:ext uri="{FF2B5EF4-FFF2-40B4-BE49-F238E27FC236}">
                <a16:creationId xmlns:a16="http://schemas.microsoft.com/office/drawing/2014/main" id="{6F7A59EE-C6CB-1386-8651-6DB6BC106BC3}"/>
              </a:ext>
            </a:extLst>
          </p:cNvPr>
          <p:cNvSpPr txBox="1">
            <a:spLocks noGrp="1"/>
          </p:cNvSpPr>
          <p:nvPr>
            <p:ph type="body" idx="1"/>
          </p:nvPr>
        </p:nvSpPr>
        <p:spPr>
          <a:xfrm>
            <a:off x="149523" y="1295400"/>
            <a:ext cx="8643957" cy="4525964"/>
          </a:xfrm>
          <a:prstGeom prst="rect">
            <a:avLst/>
          </a:prstGeom>
        </p:spPr>
        <p:txBody>
          <a:bodyPr anchor="t">
            <a:normAutofit/>
          </a:bodyPr>
          <a:lstStyle>
            <a:lvl1pPr indent="-342900">
              <a:lnSpc>
                <a:spcPct val="100000"/>
              </a:lnSpc>
              <a:spcBef>
                <a:spcPts val="500"/>
              </a:spcBef>
              <a:defRPr sz="2400" b="0" spc="0">
                <a:latin typeface="Open Sans"/>
                <a:ea typeface="Open Sans"/>
                <a:cs typeface="Open Sans"/>
                <a:sym typeface="Open Sans"/>
              </a:defRPr>
            </a:lvl1pPr>
          </a:lstStyle>
          <a:p>
            <a:pPr algn="just">
              <a:lnSpc>
                <a:spcPct val="150000"/>
              </a:lnSpc>
              <a:spcBef>
                <a:spcPct val="0"/>
              </a:spcBef>
              <a:buFont typeface="Arial" panose="020B0604020202020204" pitchFamily="34" charset="0"/>
              <a:buChar char="•"/>
            </a:pPr>
            <a:r>
              <a:rPr lang="en-US" altLang="en-US" sz="2200" b="1" dirty="0">
                <a:latin typeface="Microsoft Sans Serif" panose="020B0604020202020204" pitchFamily="34" charset="0"/>
                <a:cs typeface="Microsoft Sans Serif" panose="020B0604020202020204" pitchFamily="34" charset="0"/>
              </a:rPr>
              <a:t>Model-Centric View: </a:t>
            </a:r>
            <a:r>
              <a:rPr lang="en-US" altLang="en-US" sz="2200" dirty="0">
                <a:latin typeface="Microsoft Sans Serif" panose="020B0604020202020204" pitchFamily="34" charset="0"/>
                <a:cs typeface="Microsoft Sans Serif" panose="020B0604020202020204" pitchFamily="34" charset="0"/>
              </a:rPr>
              <a:t>Focuses on improving the machine learning model by tuning algorithms, features, and hyperparameters to achieve better accuracy.</a:t>
            </a:r>
          </a:p>
          <a:p>
            <a:pPr algn="just">
              <a:lnSpc>
                <a:spcPct val="150000"/>
              </a:lnSpc>
              <a:spcBef>
                <a:spcPct val="0"/>
              </a:spcBef>
              <a:buFont typeface="Arial" panose="020B0604020202020204" pitchFamily="34" charset="0"/>
              <a:buChar char="•"/>
            </a:pPr>
            <a:endParaRPr lang="en-US" altLang="en-US" sz="2200" dirty="0">
              <a:latin typeface="Microsoft Sans Serif" panose="020B0604020202020204" pitchFamily="34" charset="0"/>
              <a:cs typeface="Microsoft Sans Serif" panose="020B0604020202020204" pitchFamily="34" charset="0"/>
            </a:endParaRPr>
          </a:p>
          <a:p>
            <a:pPr algn="just">
              <a:lnSpc>
                <a:spcPct val="150000"/>
              </a:lnSpc>
              <a:spcBef>
                <a:spcPct val="0"/>
              </a:spcBef>
              <a:buFont typeface="Arial" panose="020B0604020202020204" pitchFamily="34" charset="0"/>
              <a:buChar char="•"/>
            </a:pPr>
            <a:r>
              <a:rPr lang="en-US" altLang="en-US" sz="2200" b="1" dirty="0">
                <a:latin typeface="Microsoft Sans Serif" panose="020B0604020202020204" pitchFamily="34" charset="0"/>
                <a:cs typeface="Microsoft Sans Serif" panose="020B0604020202020204" pitchFamily="34" charset="0"/>
              </a:rPr>
              <a:t>System-Centric View</a:t>
            </a:r>
            <a:r>
              <a:rPr lang="en-US" altLang="en-US" sz="2200" dirty="0">
                <a:latin typeface="Microsoft Sans Serif" panose="020B0604020202020204" pitchFamily="34" charset="0"/>
                <a:cs typeface="Microsoft Sans Serif" panose="020B0604020202020204" pitchFamily="34" charset="0"/>
              </a:rPr>
              <a:t>: Focuses on improving the entire end-to-end system, including data, infrastructure, deployment, and user experience, to deliver reliable real-world performance.</a:t>
            </a:r>
            <a:endParaRPr lang="en-IN" altLang="en-US" sz="2200" dirty="0">
              <a:latin typeface="Microsoft Sans Serif" panose="020B0604020202020204" pitchFamily="34" charset="0"/>
              <a:cs typeface="Microsoft Sans Serif" panose="020B0604020202020204" pitchFamily="34" charset="0"/>
            </a:endParaRPr>
          </a:p>
        </p:txBody>
      </p:sp>
      <p:sp>
        <p:nvSpPr>
          <p:cNvPr id="356" name="Content Placeholder 4">
            <a:extLst>
              <a:ext uri="{FF2B5EF4-FFF2-40B4-BE49-F238E27FC236}">
                <a16:creationId xmlns:a16="http://schemas.microsoft.com/office/drawing/2014/main" id="{8745ED6F-41B4-5459-E771-B97448C5B219}"/>
              </a:ext>
            </a:extLst>
          </p:cNvPr>
          <p:cNvSpPr txBox="1"/>
          <p:nvPr/>
        </p:nvSpPr>
        <p:spPr>
          <a:xfrm>
            <a:off x="350519" y="152400"/>
            <a:ext cx="6233162"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dirty="0"/>
              <a:t>ML Model vs ML System</a:t>
            </a:r>
          </a:p>
        </p:txBody>
      </p:sp>
    </p:spTree>
    <p:extLst>
      <p:ext uri="{BB962C8B-B14F-4D97-AF65-F5344CB8AC3E}">
        <p14:creationId xmlns:p14="http://schemas.microsoft.com/office/powerpoint/2010/main" val="1089419043"/>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A9AD5-A518-AB4E-3E2C-EE6492D392B3}"/>
            </a:ext>
          </a:extLst>
        </p:cNvPr>
        <p:cNvGrpSpPr/>
        <p:nvPr/>
      </p:nvGrpSpPr>
      <p:grpSpPr>
        <a:xfrm>
          <a:off x="0" y="0"/>
          <a:ext cx="0" cy="0"/>
          <a:chOff x="0" y="0"/>
          <a:chExt cx="0" cy="0"/>
        </a:xfrm>
      </p:grpSpPr>
      <p:sp>
        <p:nvSpPr>
          <p:cNvPr id="356" name="Content Placeholder 4">
            <a:extLst>
              <a:ext uri="{FF2B5EF4-FFF2-40B4-BE49-F238E27FC236}">
                <a16:creationId xmlns:a16="http://schemas.microsoft.com/office/drawing/2014/main" id="{BFA74102-03D8-B0DB-7861-EEE057D28D3B}"/>
              </a:ext>
            </a:extLst>
          </p:cNvPr>
          <p:cNvSpPr txBox="1"/>
          <p:nvPr/>
        </p:nvSpPr>
        <p:spPr>
          <a:xfrm>
            <a:off x="350519" y="152400"/>
            <a:ext cx="6233162"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dirty="0"/>
              <a:t>Machine Learning Pipeline</a:t>
            </a:r>
          </a:p>
        </p:txBody>
      </p:sp>
      <p:sp>
        <p:nvSpPr>
          <p:cNvPr id="4" name="Google Shape;652;p70">
            <a:extLst>
              <a:ext uri="{FF2B5EF4-FFF2-40B4-BE49-F238E27FC236}">
                <a16:creationId xmlns:a16="http://schemas.microsoft.com/office/drawing/2014/main" id="{F47EF8C0-B5BD-01FD-D802-F7A5FA4EE3A7}"/>
              </a:ext>
            </a:extLst>
          </p:cNvPr>
          <p:cNvSpPr/>
          <p:nvPr/>
        </p:nvSpPr>
        <p:spPr>
          <a:xfrm>
            <a:off x="0" y="1895475"/>
            <a:ext cx="9144000" cy="1552575"/>
          </a:xfrm>
          <a:prstGeom prst="rect">
            <a:avLst/>
          </a:prstGeom>
          <a:blipFill rotWithShape="1">
            <a:blip r:embed="rId2">
              <a:alphaModFix/>
            </a:blip>
            <a:stretch>
              <a:fillRect/>
            </a:stretch>
          </a:blip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907830275"/>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E9EF6-892D-8A4F-2FD8-AB974B9243D1}"/>
            </a:ext>
          </a:extLst>
        </p:cNvPr>
        <p:cNvGrpSpPr/>
        <p:nvPr/>
      </p:nvGrpSpPr>
      <p:grpSpPr>
        <a:xfrm>
          <a:off x="0" y="0"/>
          <a:ext cx="0" cy="0"/>
          <a:chOff x="0" y="0"/>
          <a:chExt cx="0" cy="0"/>
        </a:xfrm>
      </p:grpSpPr>
      <p:sp>
        <p:nvSpPr>
          <p:cNvPr id="356" name="Content Placeholder 4">
            <a:extLst>
              <a:ext uri="{FF2B5EF4-FFF2-40B4-BE49-F238E27FC236}">
                <a16:creationId xmlns:a16="http://schemas.microsoft.com/office/drawing/2014/main" id="{8560A15B-0533-49D6-08D6-BDF2CF08813E}"/>
              </a:ext>
            </a:extLst>
          </p:cNvPr>
          <p:cNvSpPr txBox="1"/>
          <p:nvPr/>
        </p:nvSpPr>
        <p:spPr>
          <a:xfrm>
            <a:off x="350519" y="152400"/>
            <a:ext cx="6233162"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dirty="0"/>
              <a:t>A Closer look…</a:t>
            </a:r>
          </a:p>
        </p:txBody>
      </p:sp>
      <p:sp>
        <p:nvSpPr>
          <p:cNvPr id="2" name="Google Shape;659;p71">
            <a:extLst>
              <a:ext uri="{FF2B5EF4-FFF2-40B4-BE49-F238E27FC236}">
                <a16:creationId xmlns:a16="http://schemas.microsoft.com/office/drawing/2014/main" id="{481ACE84-922E-C270-6A5F-93078EF146E5}"/>
              </a:ext>
            </a:extLst>
          </p:cNvPr>
          <p:cNvSpPr/>
          <p:nvPr/>
        </p:nvSpPr>
        <p:spPr>
          <a:xfrm>
            <a:off x="0" y="1519687"/>
            <a:ext cx="8858250" cy="1562100"/>
          </a:xfrm>
          <a:prstGeom prst="rect">
            <a:avLst/>
          </a:prstGeom>
          <a:blipFill rotWithShape="1">
            <a:blip r:embed="rId2">
              <a:alphaModFix/>
            </a:blip>
            <a:stretch>
              <a:fillRect/>
            </a:stretch>
          </a:blip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chemeClr val="dk1"/>
              </a:solidFill>
              <a:latin typeface="Calibri"/>
              <a:ea typeface="Calibri"/>
              <a:cs typeface="Calibri"/>
              <a:sym typeface="Calibri"/>
            </a:endParaRPr>
          </a:p>
        </p:txBody>
      </p:sp>
      <p:sp>
        <p:nvSpPr>
          <p:cNvPr id="3" name="Google Shape;660;p71">
            <a:extLst>
              <a:ext uri="{FF2B5EF4-FFF2-40B4-BE49-F238E27FC236}">
                <a16:creationId xmlns:a16="http://schemas.microsoft.com/office/drawing/2014/main" id="{5450EA96-8AC5-8455-24C6-6DE0CAA25A6D}"/>
              </a:ext>
            </a:extLst>
          </p:cNvPr>
          <p:cNvSpPr/>
          <p:nvPr/>
        </p:nvSpPr>
        <p:spPr>
          <a:xfrm>
            <a:off x="3413508" y="3306074"/>
            <a:ext cx="5444742" cy="2406552"/>
          </a:xfrm>
          <a:prstGeom prst="rect">
            <a:avLst/>
          </a:prstGeom>
          <a:blipFill rotWithShape="1">
            <a:blip r:embed="rId3">
              <a:alphaModFix/>
            </a:blip>
            <a:stretch>
              <a:fillRect/>
            </a:stretch>
          </a:blip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chemeClr val="dk1"/>
              </a:solidFill>
              <a:latin typeface="Calibri"/>
              <a:ea typeface="Calibri"/>
              <a:cs typeface="Calibri"/>
              <a:sym typeface="Calibri"/>
            </a:endParaRPr>
          </a:p>
        </p:txBody>
      </p:sp>
      <p:sp>
        <p:nvSpPr>
          <p:cNvPr id="5" name="Google Shape;661;p71">
            <a:extLst>
              <a:ext uri="{FF2B5EF4-FFF2-40B4-BE49-F238E27FC236}">
                <a16:creationId xmlns:a16="http://schemas.microsoft.com/office/drawing/2014/main" id="{85140FD4-931D-DA71-3B59-CAD4EB27D98D}"/>
              </a:ext>
            </a:extLst>
          </p:cNvPr>
          <p:cNvSpPr txBox="1"/>
          <p:nvPr/>
        </p:nvSpPr>
        <p:spPr>
          <a:xfrm>
            <a:off x="125765" y="3655148"/>
            <a:ext cx="3566340" cy="677108"/>
          </a:xfrm>
          <a:prstGeom prst="rect">
            <a:avLst/>
          </a:prstGeom>
          <a:noFill/>
          <a:ln>
            <a:noFill/>
          </a:ln>
        </p:spPr>
        <p:txBody>
          <a:bodyPr spcFirstLastPara="1" wrap="square" lIns="0" tIns="0" rIns="0" bIns="0" anchor="t" anchorCtr="0">
            <a:spAutoFit/>
          </a:bodyPr>
          <a:lstStyle/>
          <a:p>
            <a:pPr marL="0" marR="0" lvl="0" indent="0" algn="l" rtl="0">
              <a:lnSpc>
                <a:spcPct val="110125"/>
              </a:lnSpc>
              <a:spcBef>
                <a:spcPts val="0"/>
              </a:spcBef>
              <a:spcAft>
                <a:spcPts val="0"/>
              </a:spcAft>
              <a:buClr>
                <a:srgbClr val="000000"/>
              </a:buClr>
              <a:buSzPts val="1600"/>
              <a:buFont typeface="Arial"/>
              <a:buNone/>
            </a:pPr>
            <a:r>
              <a:rPr lang="en-US" sz="2000" b="1" dirty="0">
                <a:latin typeface="Microsoft Sans Serif" panose="020B0604020202020204" pitchFamily="34" charset="0"/>
                <a:ea typeface="Open Sans"/>
                <a:cs typeface="Microsoft Sans Serif" panose="020B0604020202020204" pitchFamily="34" charset="0"/>
              </a:rPr>
              <a:t>Focus</a:t>
            </a:r>
            <a:r>
              <a:rPr lang="en-US" sz="2000" dirty="0">
                <a:latin typeface="Microsoft Sans Serif" panose="020B0604020202020204" pitchFamily="34" charset="0"/>
                <a:ea typeface="Open Sans"/>
                <a:cs typeface="Microsoft Sans Serif" panose="020B0604020202020204" pitchFamily="34" charset="0"/>
              </a:rPr>
              <a:t>: building models from given data, evaluating accuracy</a:t>
            </a:r>
            <a:endParaRPr sz="2000" dirty="0">
              <a:latin typeface="Microsoft Sans Serif" panose="020B0604020202020204" pitchFamily="34" charset="0"/>
              <a:ea typeface="Open Sans"/>
              <a:cs typeface="Microsoft Sans Serif" panose="020B0604020202020204" pitchFamily="34" charset="0"/>
            </a:endParaRPr>
          </a:p>
        </p:txBody>
      </p:sp>
    </p:spTree>
    <p:extLst>
      <p:ext uri="{BB962C8B-B14F-4D97-AF65-F5344CB8AC3E}">
        <p14:creationId xmlns:p14="http://schemas.microsoft.com/office/powerpoint/2010/main" val="803201378"/>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15906-8B42-2205-7766-F3102F14C1BA}"/>
            </a:ext>
          </a:extLst>
        </p:cNvPr>
        <p:cNvGrpSpPr/>
        <p:nvPr/>
      </p:nvGrpSpPr>
      <p:grpSpPr>
        <a:xfrm>
          <a:off x="0" y="0"/>
          <a:ext cx="0" cy="0"/>
          <a:chOff x="0" y="0"/>
          <a:chExt cx="0" cy="0"/>
        </a:xfrm>
      </p:grpSpPr>
      <p:sp>
        <p:nvSpPr>
          <p:cNvPr id="355" name="Content Placeholder 2">
            <a:extLst>
              <a:ext uri="{FF2B5EF4-FFF2-40B4-BE49-F238E27FC236}">
                <a16:creationId xmlns:a16="http://schemas.microsoft.com/office/drawing/2014/main" id="{B5D97D6E-9E8A-8CEF-BD07-4DE497D2F19E}"/>
              </a:ext>
            </a:extLst>
          </p:cNvPr>
          <p:cNvSpPr txBox="1">
            <a:spLocks noGrp="1"/>
          </p:cNvSpPr>
          <p:nvPr>
            <p:ph type="body" idx="1"/>
          </p:nvPr>
        </p:nvSpPr>
        <p:spPr>
          <a:xfrm>
            <a:off x="149523" y="1295400"/>
            <a:ext cx="8643957" cy="4525964"/>
          </a:xfrm>
          <a:prstGeom prst="rect">
            <a:avLst/>
          </a:prstGeom>
        </p:spPr>
        <p:txBody>
          <a:bodyPr anchor="t">
            <a:noAutofit/>
          </a:bodyPr>
          <a:lstStyle>
            <a:lvl1pPr indent="-342900">
              <a:lnSpc>
                <a:spcPct val="100000"/>
              </a:lnSpc>
              <a:spcBef>
                <a:spcPts val="500"/>
              </a:spcBef>
              <a:defRPr sz="2400" b="0" spc="0">
                <a:latin typeface="Open Sans"/>
                <a:ea typeface="Open Sans"/>
                <a:cs typeface="Open Sans"/>
                <a:sym typeface="Open Sans"/>
              </a:defRPr>
            </a:lvl1pPr>
          </a:lstStyle>
          <a:p>
            <a:pPr marL="0" indent="0" algn="just">
              <a:lnSpc>
                <a:spcPct val="150000"/>
              </a:lnSpc>
              <a:spcBef>
                <a:spcPct val="0"/>
              </a:spcBef>
            </a:pPr>
            <a:r>
              <a:rPr lang="en-US" altLang="en-US" sz="1600" b="1" dirty="0">
                <a:latin typeface="Microsoft Sans Serif" panose="020B0604020202020204" pitchFamily="34" charset="0"/>
                <a:cs typeface="Microsoft Sans Serif" panose="020B0604020202020204" pitchFamily="34" charset="0"/>
              </a:rPr>
              <a:t>Static</a:t>
            </a:r>
          </a:p>
          <a:p>
            <a:pPr marL="285750" indent="-285750" algn="just">
              <a:lnSpc>
                <a:spcPct val="150000"/>
              </a:lnSpc>
              <a:spcBef>
                <a:spcPct val="0"/>
              </a:spcBef>
              <a:buFont typeface="Arial" panose="020B0604020202020204" pitchFamily="34" charset="0"/>
              <a:buChar char="•"/>
            </a:pPr>
            <a:r>
              <a:rPr lang="en-US" altLang="en-US" sz="1600" dirty="0">
                <a:latin typeface="Microsoft Sans Serif" panose="020B0604020202020204" pitchFamily="34" charset="0"/>
                <a:cs typeface="Microsoft Sans Serif" panose="020B0604020202020204" pitchFamily="34" charset="0"/>
              </a:rPr>
              <a:t>Get labeled data (data collection, cleaning and, labeling)</a:t>
            </a:r>
          </a:p>
          <a:p>
            <a:pPr marL="285750" indent="-285750" algn="just">
              <a:lnSpc>
                <a:spcPct val="150000"/>
              </a:lnSpc>
              <a:spcBef>
                <a:spcPct val="0"/>
              </a:spcBef>
              <a:buFont typeface="Arial" panose="020B0604020202020204" pitchFamily="34" charset="0"/>
              <a:buChar char="•"/>
            </a:pPr>
            <a:r>
              <a:rPr lang="en-US" altLang="en-US" sz="1600" dirty="0">
                <a:latin typeface="Microsoft Sans Serif" panose="020B0604020202020204" pitchFamily="34" charset="0"/>
                <a:cs typeface="Microsoft Sans Serif" panose="020B0604020202020204" pitchFamily="34" charset="0"/>
              </a:rPr>
              <a:t>Identify and extract features (feature engineering)</a:t>
            </a:r>
          </a:p>
          <a:p>
            <a:pPr marL="285750" indent="-285750" algn="just">
              <a:lnSpc>
                <a:spcPct val="150000"/>
              </a:lnSpc>
              <a:spcBef>
                <a:spcPct val="0"/>
              </a:spcBef>
              <a:buFont typeface="Arial" panose="020B0604020202020204" pitchFamily="34" charset="0"/>
              <a:buChar char="•"/>
            </a:pPr>
            <a:r>
              <a:rPr lang="en-US" altLang="en-US" sz="1600" dirty="0">
                <a:latin typeface="Microsoft Sans Serif" panose="020B0604020202020204" pitchFamily="34" charset="0"/>
                <a:cs typeface="Microsoft Sans Serif" panose="020B0604020202020204" pitchFamily="34" charset="0"/>
              </a:rPr>
              <a:t>Split data into training and evaluation set</a:t>
            </a:r>
          </a:p>
          <a:p>
            <a:pPr marL="285750" indent="-285750" algn="just">
              <a:lnSpc>
                <a:spcPct val="150000"/>
              </a:lnSpc>
              <a:spcBef>
                <a:spcPct val="0"/>
              </a:spcBef>
              <a:buFont typeface="Arial" panose="020B0604020202020204" pitchFamily="34" charset="0"/>
              <a:buChar char="•"/>
            </a:pPr>
            <a:r>
              <a:rPr lang="en-US" altLang="en-US" sz="1600" dirty="0">
                <a:latin typeface="Microsoft Sans Serif" panose="020B0604020202020204" pitchFamily="34" charset="0"/>
                <a:cs typeface="Microsoft Sans Serif" panose="020B0604020202020204" pitchFamily="34" charset="0"/>
              </a:rPr>
              <a:t>Learn model from training data (model training)</a:t>
            </a:r>
          </a:p>
          <a:p>
            <a:pPr marL="285750" indent="-285750" algn="just">
              <a:lnSpc>
                <a:spcPct val="150000"/>
              </a:lnSpc>
              <a:spcBef>
                <a:spcPct val="0"/>
              </a:spcBef>
              <a:buFont typeface="Arial" panose="020B0604020202020204" pitchFamily="34" charset="0"/>
              <a:buChar char="•"/>
            </a:pPr>
            <a:r>
              <a:rPr lang="en-US" altLang="en-US" sz="1600" dirty="0">
                <a:latin typeface="Microsoft Sans Serif" panose="020B0604020202020204" pitchFamily="34" charset="0"/>
                <a:cs typeface="Microsoft Sans Serif" panose="020B0604020202020204" pitchFamily="34" charset="0"/>
              </a:rPr>
              <a:t>Evaluate model on evaluation data (model evaluation)</a:t>
            </a:r>
          </a:p>
          <a:p>
            <a:pPr marL="285750" indent="-285750" algn="just">
              <a:lnSpc>
                <a:spcPct val="150000"/>
              </a:lnSpc>
              <a:spcBef>
                <a:spcPct val="0"/>
              </a:spcBef>
              <a:buFont typeface="Arial" panose="020B0604020202020204" pitchFamily="34" charset="0"/>
              <a:buChar char="•"/>
            </a:pPr>
            <a:r>
              <a:rPr lang="en-US" altLang="en-US" sz="1600" dirty="0">
                <a:latin typeface="Microsoft Sans Serif" panose="020B0604020202020204" pitchFamily="34" charset="0"/>
                <a:cs typeface="Microsoft Sans Serif" panose="020B0604020202020204" pitchFamily="34" charset="0"/>
              </a:rPr>
              <a:t>Repeat, revising features</a:t>
            </a:r>
          </a:p>
          <a:p>
            <a:pPr marL="0" indent="0" algn="just">
              <a:lnSpc>
                <a:spcPct val="150000"/>
              </a:lnSpc>
              <a:spcBef>
                <a:spcPct val="0"/>
              </a:spcBef>
            </a:pPr>
            <a:endParaRPr lang="en-US" altLang="en-US" sz="1600" b="1" dirty="0">
              <a:latin typeface="Microsoft Sans Serif" panose="020B0604020202020204" pitchFamily="34" charset="0"/>
              <a:cs typeface="Microsoft Sans Serif" panose="020B0604020202020204" pitchFamily="34" charset="0"/>
            </a:endParaRPr>
          </a:p>
          <a:p>
            <a:pPr marL="0" indent="0" algn="just">
              <a:lnSpc>
                <a:spcPct val="150000"/>
              </a:lnSpc>
              <a:spcBef>
                <a:spcPct val="0"/>
              </a:spcBef>
            </a:pPr>
            <a:r>
              <a:rPr lang="en-US" altLang="en-US" sz="1600" b="1" dirty="0">
                <a:latin typeface="Microsoft Sans Serif" panose="020B0604020202020204" pitchFamily="34" charset="0"/>
                <a:cs typeface="Microsoft Sans Serif" panose="020B0604020202020204" pitchFamily="34" charset="0"/>
              </a:rPr>
              <a:t>In production</a:t>
            </a:r>
          </a:p>
          <a:p>
            <a:pPr marL="285750" indent="-285750" algn="just">
              <a:lnSpc>
                <a:spcPct val="150000"/>
              </a:lnSpc>
              <a:spcBef>
                <a:spcPct val="0"/>
              </a:spcBef>
              <a:buFont typeface="Arial" panose="020B0604020202020204" pitchFamily="34" charset="0"/>
              <a:buChar char="•"/>
            </a:pPr>
            <a:r>
              <a:rPr lang="en-US" altLang="en-US" sz="1600" dirty="0">
                <a:latin typeface="Microsoft Sans Serif" panose="020B0604020202020204" pitchFamily="34" charset="0"/>
                <a:cs typeface="Microsoft Sans Serif" panose="020B0604020202020204" pitchFamily="34" charset="0"/>
              </a:rPr>
              <a:t>Evaluate model on production data; monitor (model monitoring)</a:t>
            </a:r>
          </a:p>
          <a:p>
            <a:pPr marL="285750" indent="-285750" algn="just">
              <a:lnSpc>
                <a:spcPct val="150000"/>
              </a:lnSpc>
              <a:spcBef>
                <a:spcPct val="0"/>
              </a:spcBef>
              <a:buFont typeface="Arial" panose="020B0604020202020204" pitchFamily="34" charset="0"/>
              <a:buChar char="•"/>
            </a:pPr>
            <a:r>
              <a:rPr lang="en-US" altLang="en-US" sz="1600" dirty="0">
                <a:latin typeface="Microsoft Sans Serif" panose="020B0604020202020204" pitchFamily="34" charset="0"/>
                <a:cs typeface="Microsoft Sans Serif" panose="020B0604020202020204" pitchFamily="34" charset="0"/>
              </a:rPr>
              <a:t>Select production data for retraining (model training + evaluation)</a:t>
            </a:r>
          </a:p>
          <a:p>
            <a:pPr marL="285750" indent="-285750" algn="just">
              <a:lnSpc>
                <a:spcPct val="150000"/>
              </a:lnSpc>
              <a:spcBef>
                <a:spcPct val="0"/>
              </a:spcBef>
              <a:buFont typeface="Arial" panose="020B0604020202020204" pitchFamily="34" charset="0"/>
              <a:buChar char="•"/>
            </a:pPr>
            <a:r>
              <a:rPr lang="en-US" altLang="en-US" sz="1600" dirty="0">
                <a:latin typeface="Microsoft Sans Serif" panose="020B0604020202020204" pitchFamily="34" charset="0"/>
                <a:cs typeface="Microsoft Sans Serif" panose="020B0604020202020204" pitchFamily="34" charset="0"/>
              </a:rPr>
              <a:t>Update model regularly (model deployment)</a:t>
            </a:r>
          </a:p>
        </p:txBody>
      </p:sp>
      <p:sp>
        <p:nvSpPr>
          <p:cNvPr id="356" name="Content Placeholder 4">
            <a:extLst>
              <a:ext uri="{FF2B5EF4-FFF2-40B4-BE49-F238E27FC236}">
                <a16:creationId xmlns:a16="http://schemas.microsoft.com/office/drawing/2014/main" id="{7B7F32DE-3346-CBF0-58C2-A1DBE7D640E7}"/>
              </a:ext>
            </a:extLst>
          </p:cNvPr>
          <p:cNvSpPr txBox="1"/>
          <p:nvPr/>
        </p:nvSpPr>
        <p:spPr>
          <a:xfrm>
            <a:off x="350519" y="152400"/>
            <a:ext cx="6233162"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dirty="0"/>
              <a:t>Typical ML Pipeline</a:t>
            </a:r>
          </a:p>
        </p:txBody>
      </p:sp>
    </p:spTree>
    <p:extLst>
      <p:ext uri="{BB962C8B-B14F-4D97-AF65-F5344CB8AC3E}">
        <p14:creationId xmlns:p14="http://schemas.microsoft.com/office/powerpoint/2010/main" val="691676645"/>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4321F-93D5-8747-5F91-D001474549E1}"/>
            </a:ext>
          </a:extLst>
        </p:cNvPr>
        <p:cNvGrpSpPr/>
        <p:nvPr/>
      </p:nvGrpSpPr>
      <p:grpSpPr>
        <a:xfrm>
          <a:off x="0" y="0"/>
          <a:ext cx="0" cy="0"/>
          <a:chOff x="0" y="0"/>
          <a:chExt cx="0" cy="0"/>
        </a:xfrm>
      </p:grpSpPr>
      <p:sp>
        <p:nvSpPr>
          <p:cNvPr id="356" name="Content Placeholder 4">
            <a:extLst>
              <a:ext uri="{FF2B5EF4-FFF2-40B4-BE49-F238E27FC236}">
                <a16:creationId xmlns:a16="http://schemas.microsoft.com/office/drawing/2014/main" id="{91726F5C-E6AE-769C-459F-D46BEB60B03C}"/>
              </a:ext>
            </a:extLst>
          </p:cNvPr>
          <p:cNvSpPr txBox="1"/>
          <p:nvPr/>
        </p:nvSpPr>
        <p:spPr>
          <a:xfrm>
            <a:off x="350519" y="152400"/>
            <a:ext cx="6233162"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dirty="0"/>
              <a:t>Only a fraction of real-world ML systems is ML code…</a:t>
            </a:r>
          </a:p>
        </p:txBody>
      </p:sp>
      <p:sp>
        <p:nvSpPr>
          <p:cNvPr id="4" name="Google Shape;667;p72">
            <a:extLst>
              <a:ext uri="{FF2B5EF4-FFF2-40B4-BE49-F238E27FC236}">
                <a16:creationId xmlns:a16="http://schemas.microsoft.com/office/drawing/2014/main" id="{DDF8C6D4-3807-9435-7034-A1A98705262E}"/>
              </a:ext>
            </a:extLst>
          </p:cNvPr>
          <p:cNvSpPr/>
          <p:nvPr/>
        </p:nvSpPr>
        <p:spPr>
          <a:xfrm>
            <a:off x="350519" y="1735706"/>
            <a:ext cx="8048625" cy="2695575"/>
          </a:xfrm>
          <a:prstGeom prst="rect">
            <a:avLst/>
          </a:prstGeom>
          <a:blipFill rotWithShape="1">
            <a:blip r:embed="rId2">
              <a:alphaModFix/>
            </a:blip>
            <a:stretch>
              <a:fillRect/>
            </a:stretch>
          </a:blip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chemeClr val="dk1"/>
              </a:solidFill>
              <a:latin typeface="Calibri"/>
              <a:ea typeface="Calibri"/>
              <a:cs typeface="Calibri"/>
              <a:sym typeface="Calibri"/>
            </a:endParaRPr>
          </a:p>
        </p:txBody>
      </p:sp>
      <p:sp>
        <p:nvSpPr>
          <p:cNvPr id="5" name="Google Shape;668;p72">
            <a:extLst>
              <a:ext uri="{FF2B5EF4-FFF2-40B4-BE49-F238E27FC236}">
                <a16:creationId xmlns:a16="http://schemas.microsoft.com/office/drawing/2014/main" id="{277B910D-0338-BEF6-3207-D9956BB8FE0E}"/>
              </a:ext>
            </a:extLst>
          </p:cNvPr>
          <p:cNvSpPr txBox="1"/>
          <p:nvPr/>
        </p:nvSpPr>
        <p:spPr>
          <a:xfrm>
            <a:off x="3638692" y="4609986"/>
            <a:ext cx="1033699" cy="430887"/>
          </a:xfrm>
          <a:prstGeom prst="rect">
            <a:avLst/>
          </a:prstGeom>
          <a:noFill/>
          <a:ln>
            <a:noFill/>
          </a:ln>
        </p:spPr>
        <p:txBody>
          <a:bodyPr spcFirstLastPara="1" wrap="square" lIns="0" tIns="0" rIns="0" bIns="0" anchor="t" anchorCtr="0">
            <a:spAutoFit/>
          </a:bodyPr>
          <a:lstStyle/>
          <a:p>
            <a:pPr marL="0" marR="0" lvl="0" indent="0" algn="l" rtl="0">
              <a:lnSpc>
                <a:spcPct val="139771"/>
              </a:lnSpc>
              <a:spcBef>
                <a:spcPts val="0"/>
              </a:spcBef>
              <a:spcAft>
                <a:spcPts val="0"/>
              </a:spcAft>
              <a:buClr>
                <a:srgbClr val="000000"/>
              </a:buClr>
              <a:buSzPts val="1750"/>
              <a:buFont typeface="Arial"/>
              <a:buNone/>
            </a:pPr>
            <a:r>
              <a:rPr lang="en-US" sz="2000" b="1" i="0" u="none" strike="noStrike" cap="none" dirty="0">
                <a:solidFill>
                  <a:srgbClr val="000000"/>
                </a:solidFill>
                <a:latin typeface="Microsoft Sans Serif" panose="020B0604020202020204" pitchFamily="34" charset="0"/>
                <a:ea typeface="Microsoft Sans Serif" panose="020B0604020202020204" pitchFamily="34" charset="0"/>
                <a:cs typeface="Microsoft Sans Serif" panose="020B0604020202020204" pitchFamily="34" charset="0"/>
                <a:sym typeface="Lato"/>
              </a:rPr>
              <a:t>ML Code</a:t>
            </a:r>
            <a:endParaRPr sz="2000" b="1" i="0" u="none" strike="noStrike" cap="none" dirty="0">
              <a:solidFill>
                <a:srgbClr val="000000"/>
              </a:solidFill>
              <a:latin typeface="Microsoft Sans Serif" panose="020B0604020202020204" pitchFamily="34" charset="0"/>
              <a:ea typeface="Microsoft Sans Serif" panose="020B0604020202020204" pitchFamily="34" charset="0"/>
              <a:cs typeface="Microsoft Sans Serif" panose="020B0604020202020204" pitchFamily="34" charset="0"/>
              <a:sym typeface="Arial"/>
            </a:endParaRPr>
          </a:p>
        </p:txBody>
      </p:sp>
      <p:sp>
        <p:nvSpPr>
          <p:cNvPr id="6" name="Google Shape;669;p72">
            <a:extLst>
              <a:ext uri="{FF2B5EF4-FFF2-40B4-BE49-F238E27FC236}">
                <a16:creationId xmlns:a16="http://schemas.microsoft.com/office/drawing/2014/main" id="{493EC061-33CD-8DF7-AFAD-2AAF70E829F6}"/>
              </a:ext>
            </a:extLst>
          </p:cNvPr>
          <p:cNvSpPr txBox="1"/>
          <p:nvPr/>
        </p:nvSpPr>
        <p:spPr>
          <a:xfrm>
            <a:off x="350519" y="6081353"/>
            <a:ext cx="6576346" cy="254347"/>
          </a:xfrm>
          <a:prstGeom prst="rect">
            <a:avLst/>
          </a:prstGeom>
          <a:noFill/>
          <a:ln>
            <a:noFill/>
          </a:ln>
        </p:spPr>
        <p:txBody>
          <a:bodyPr spcFirstLastPara="1" wrap="square" lIns="0" tIns="0" rIns="0" bIns="0" anchor="t" anchorCtr="0">
            <a:spAutoFit/>
          </a:bodyPr>
          <a:lstStyle/>
          <a:p>
            <a:pPr marL="0" marR="0" lvl="0" indent="0" algn="l" rtl="0">
              <a:lnSpc>
                <a:spcPct val="141833"/>
              </a:lnSpc>
              <a:spcBef>
                <a:spcPts val="0"/>
              </a:spcBef>
              <a:spcAft>
                <a:spcPts val="0"/>
              </a:spcAft>
              <a:buClr>
                <a:srgbClr val="000000"/>
              </a:buClr>
              <a:buSzPts val="1200"/>
              <a:buFont typeface="Arial"/>
              <a:buNone/>
            </a:pPr>
            <a:r>
              <a:rPr lang="en-US" sz="1200" b="0" i="0" u="none" strike="noStrike" cap="none" dirty="0">
                <a:solidFill>
                  <a:srgbClr val="24292F"/>
                </a:solidFill>
                <a:latin typeface="Lato"/>
                <a:ea typeface="Lato"/>
                <a:cs typeface="Lato"/>
                <a:sym typeface="Lato"/>
              </a:rPr>
              <a:t>Sculley, et al. </a:t>
            </a:r>
            <a:r>
              <a:rPr lang="en-US" sz="1200" b="0" i="1" u="none" strike="noStrike" cap="none" dirty="0">
                <a:solidFill>
                  <a:srgbClr val="24292F"/>
                </a:solidFill>
                <a:latin typeface="Lato"/>
                <a:ea typeface="Lato"/>
                <a:cs typeface="Lato"/>
                <a:sym typeface="Lato"/>
              </a:rPr>
              <a:t>"Hidden technical debt in machine learning systems." </a:t>
            </a:r>
            <a:r>
              <a:rPr lang="en-US" sz="1200" b="0" i="0" u="none" strike="noStrike" cap="none" dirty="0" err="1">
                <a:solidFill>
                  <a:srgbClr val="24292F"/>
                </a:solidFill>
                <a:latin typeface="Lato"/>
                <a:ea typeface="Lato"/>
                <a:cs typeface="Lato"/>
                <a:sym typeface="Lato"/>
              </a:rPr>
              <a:t>NeurIPS</a:t>
            </a:r>
            <a:r>
              <a:rPr lang="en-US" sz="1200" b="0" i="0" u="none" strike="noStrike" cap="none" dirty="0">
                <a:solidFill>
                  <a:srgbClr val="24292F"/>
                </a:solidFill>
                <a:latin typeface="Lato"/>
                <a:ea typeface="Lato"/>
                <a:cs typeface="Lato"/>
                <a:sym typeface="Lato"/>
              </a:rPr>
              <a:t> 28 (2015): 2503-2511.</a:t>
            </a: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796449744"/>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23A18-D87E-B6AF-606C-575B36BE535F}"/>
            </a:ext>
          </a:extLst>
        </p:cNvPr>
        <p:cNvGrpSpPr/>
        <p:nvPr/>
      </p:nvGrpSpPr>
      <p:grpSpPr>
        <a:xfrm>
          <a:off x="0" y="0"/>
          <a:ext cx="0" cy="0"/>
          <a:chOff x="0" y="0"/>
          <a:chExt cx="0" cy="0"/>
        </a:xfrm>
      </p:grpSpPr>
      <p:sp>
        <p:nvSpPr>
          <p:cNvPr id="353" name="Content Placeholder 1">
            <a:extLst>
              <a:ext uri="{FF2B5EF4-FFF2-40B4-BE49-F238E27FC236}">
                <a16:creationId xmlns:a16="http://schemas.microsoft.com/office/drawing/2014/main" id="{861706D8-9349-DE2B-7CF4-A5F2C3E83585}"/>
              </a:ext>
            </a:extLst>
          </p:cNvPr>
          <p:cNvSpPr txBox="1">
            <a:spLocks noGrp="1"/>
          </p:cNvSpPr>
          <p:nvPr>
            <p:ph type="body" sz="half" idx="1"/>
          </p:nvPr>
        </p:nvSpPr>
        <p:spPr>
          <a:prstGeom prst="rect">
            <a:avLst/>
          </a:prstGeom>
        </p:spPr>
        <p:txBody>
          <a:bodyPr>
            <a:normAutofit/>
          </a:bodyPr>
          <a:lstStyle/>
          <a:p>
            <a:pPr lvl="0" algn="ctr"/>
            <a:r>
              <a:rPr lang="en-US" sz="2800" dirty="0"/>
              <a:t>ML and non-ML components in a system</a:t>
            </a:r>
          </a:p>
        </p:txBody>
      </p:sp>
    </p:spTree>
    <p:extLst>
      <p:ext uri="{BB962C8B-B14F-4D97-AF65-F5344CB8AC3E}">
        <p14:creationId xmlns:p14="http://schemas.microsoft.com/office/powerpoint/2010/main" val="987870409"/>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75FE0-B0E0-A329-5EBD-A07D03018A07}"/>
            </a:ext>
          </a:extLst>
        </p:cNvPr>
        <p:cNvGrpSpPr/>
        <p:nvPr/>
      </p:nvGrpSpPr>
      <p:grpSpPr>
        <a:xfrm>
          <a:off x="0" y="0"/>
          <a:ext cx="0" cy="0"/>
          <a:chOff x="0" y="0"/>
          <a:chExt cx="0" cy="0"/>
        </a:xfrm>
      </p:grpSpPr>
      <p:sp>
        <p:nvSpPr>
          <p:cNvPr id="356" name="Content Placeholder 4">
            <a:extLst>
              <a:ext uri="{FF2B5EF4-FFF2-40B4-BE49-F238E27FC236}">
                <a16:creationId xmlns:a16="http://schemas.microsoft.com/office/drawing/2014/main" id="{EA034E55-8FA8-50CB-2121-AA5B5F6E4570}"/>
              </a:ext>
            </a:extLst>
          </p:cNvPr>
          <p:cNvSpPr txBox="1"/>
          <p:nvPr/>
        </p:nvSpPr>
        <p:spPr>
          <a:xfrm>
            <a:off x="350519" y="152400"/>
            <a:ext cx="6233162"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sz="2800" dirty="0"/>
              <a:t>Transcription System: “Speech Recognition” is CORE Functionality</a:t>
            </a:r>
          </a:p>
        </p:txBody>
      </p:sp>
      <p:pic>
        <p:nvPicPr>
          <p:cNvPr id="3" name="Picture 2">
            <a:extLst>
              <a:ext uri="{FF2B5EF4-FFF2-40B4-BE49-F238E27FC236}">
                <a16:creationId xmlns:a16="http://schemas.microsoft.com/office/drawing/2014/main" id="{A1221626-376F-0A7E-0A97-E7D90E65A745}"/>
              </a:ext>
            </a:extLst>
          </p:cNvPr>
          <p:cNvPicPr>
            <a:picLocks noChangeAspect="1"/>
          </p:cNvPicPr>
          <p:nvPr/>
        </p:nvPicPr>
        <p:blipFill>
          <a:blip r:embed="rId2"/>
          <a:stretch>
            <a:fillRect/>
          </a:stretch>
        </p:blipFill>
        <p:spPr>
          <a:xfrm>
            <a:off x="729617" y="1716587"/>
            <a:ext cx="7260878" cy="3735307"/>
          </a:xfrm>
          <a:prstGeom prst="rect">
            <a:avLst/>
          </a:prstGeom>
        </p:spPr>
      </p:pic>
    </p:spTree>
    <p:extLst>
      <p:ext uri="{BB962C8B-B14F-4D97-AF65-F5344CB8AC3E}">
        <p14:creationId xmlns:p14="http://schemas.microsoft.com/office/powerpoint/2010/main" val="2940211435"/>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83D46-8A8A-6DAA-CB7E-8AD2293FFCDA}"/>
            </a:ext>
          </a:extLst>
        </p:cNvPr>
        <p:cNvGrpSpPr/>
        <p:nvPr/>
      </p:nvGrpSpPr>
      <p:grpSpPr>
        <a:xfrm>
          <a:off x="0" y="0"/>
          <a:ext cx="0" cy="0"/>
          <a:chOff x="0" y="0"/>
          <a:chExt cx="0" cy="0"/>
        </a:xfrm>
      </p:grpSpPr>
      <p:sp>
        <p:nvSpPr>
          <p:cNvPr id="356" name="Content Placeholder 4">
            <a:extLst>
              <a:ext uri="{FF2B5EF4-FFF2-40B4-BE49-F238E27FC236}">
                <a16:creationId xmlns:a16="http://schemas.microsoft.com/office/drawing/2014/main" id="{8D1CBD9D-3009-AEE7-A82A-03602161F589}"/>
              </a:ext>
            </a:extLst>
          </p:cNvPr>
          <p:cNvSpPr txBox="1"/>
          <p:nvPr/>
        </p:nvSpPr>
        <p:spPr>
          <a:xfrm>
            <a:off x="350519" y="152400"/>
            <a:ext cx="6233162"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sz="2800" dirty="0"/>
              <a:t>Tax Software: “Audit Risk” Prediction is </a:t>
            </a:r>
            <a:r>
              <a:rPr lang="en-US" sz="2800" dirty="0" err="1"/>
              <a:t>Auxilliary</a:t>
            </a:r>
            <a:r>
              <a:rPr lang="en-US" sz="2800" dirty="0"/>
              <a:t> or </a:t>
            </a:r>
            <a:r>
              <a:rPr lang="en-US" sz="2800"/>
              <a:t>Add-on Functionality</a:t>
            </a:r>
            <a:endParaRPr lang="en-US" sz="2800" dirty="0"/>
          </a:p>
        </p:txBody>
      </p:sp>
      <p:pic>
        <p:nvPicPr>
          <p:cNvPr id="4" name="Picture 3">
            <a:extLst>
              <a:ext uri="{FF2B5EF4-FFF2-40B4-BE49-F238E27FC236}">
                <a16:creationId xmlns:a16="http://schemas.microsoft.com/office/drawing/2014/main" id="{5AD6211D-4673-8D9A-7470-F46082515F1C}"/>
              </a:ext>
            </a:extLst>
          </p:cNvPr>
          <p:cNvPicPr>
            <a:picLocks noChangeAspect="1"/>
          </p:cNvPicPr>
          <p:nvPr/>
        </p:nvPicPr>
        <p:blipFill>
          <a:blip r:embed="rId2"/>
          <a:stretch>
            <a:fillRect/>
          </a:stretch>
        </p:blipFill>
        <p:spPr>
          <a:xfrm>
            <a:off x="824243" y="1680918"/>
            <a:ext cx="7782592" cy="3978010"/>
          </a:xfrm>
          <a:prstGeom prst="rect">
            <a:avLst/>
          </a:prstGeom>
        </p:spPr>
      </p:pic>
    </p:spTree>
    <p:extLst>
      <p:ext uri="{BB962C8B-B14F-4D97-AF65-F5344CB8AC3E}">
        <p14:creationId xmlns:p14="http://schemas.microsoft.com/office/powerpoint/2010/main" val="4097019705"/>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2BD5A-86F6-CC94-F984-7B3482AFC8B3}"/>
            </a:ext>
          </a:extLst>
        </p:cNvPr>
        <p:cNvGrpSpPr/>
        <p:nvPr/>
      </p:nvGrpSpPr>
      <p:grpSpPr>
        <a:xfrm>
          <a:off x="0" y="0"/>
          <a:ext cx="0" cy="0"/>
          <a:chOff x="0" y="0"/>
          <a:chExt cx="0" cy="0"/>
        </a:xfrm>
      </p:grpSpPr>
      <p:sp>
        <p:nvSpPr>
          <p:cNvPr id="356" name="Content Placeholder 4">
            <a:extLst>
              <a:ext uri="{FF2B5EF4-FFF2-40B4-BE49-F238E27FC236}">
                <a16:creationId xmlns:a16="http://schemas.microsoft.com/office/drawing/2014/main" id="{5D61B176-4253-D98E-B928-ACF6061C1AD2}"/>
              </a:ext>
            </a:extLst>
          </p:cNvPr>
          <p:cNvSpPr txBox="1"/>
          <p:nvPr/>
        </p:nvSpPr>
        <p:spPr>
          <a:xfrm>
            <a:off x="350519" y="152400"/>
            <a:ext cx="6233162"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sz="2800" dirty="0"/>
              <a:t>ML is a Component in a System</a:t>
            </a:r>
          </a:p>
        </p:txBody>
      </p:sp>
      <p:sp>
        <p:nvSpPr>
          <p:cNvPr id="4" name="Google Shape;699;p76">
            <a:extLst>
              <a:ext uri="{FF2B5EF4-FFF2-40B4-BE49-F238E27FC236}">
                <a16:creationId xmlns:a16="http://schemas.microsoft.com/office/drawing/2014/main" id="{59C10F97-7023-A7AD-4AFE-E27DED6D22FF}"/>
              </a:ext>
            </a:extLst>
          </p:cNvPr>
          <p:cNvSpPr/>
          <p:nvPr/>
        </p:nvSpPr>
        <p:spPr>
          <a:xfrm>
            <a:off x="350518" y="1809750"/>
            <a:ext cx="8327655" cy="3590386"/>
          </a:xfrm>
          <a:prstGeom prst="rect">
            <a:avLst/>
          </a:prstGeom>
          <a:blipFill rotWithShape="1">
            <a:blip r:embed="rId2">
              <a:alphaModFix/>
            </a:blip>
            <a:stretch>
              <a:fillRect/>
            </a:stretch>
          </a:blip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00297114"/>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BAE16-F723-B324-8BC6-6770DA919BA2}"/>
            </a:ext>
          </a:extLst>
        </p:cNvPr>
        <p:cNvGrpSpPr/>
        <p:nvPr/>
      </p:nvGrpSpPr>
      <p:grpSpPr>
        <a:xfrm>
          <a:off x="0" y="0"/>
          <a:ext cx="0" cy="0"/>
          <a:chOff x="0" y="0"/>
          <a:chExt cx="0" cy="0"/>
        </a:xfrm>
      </p:grpSpPr>
      <p:sp>
        <p:nvSpPr>
          <p:cNvPr id="356" name="Content Placeholder 4">
            <a:extLst>
              <a:ext uri="{FF2B5EF4-FFF2-40B4-BE49-F238E27FC236}">
                <a16:creationId xmlns:a16="http://schemas.microsoft.com/office/drawing/2014/main" id="{9B10A2A6-9E31-3371-B78D-509A8C6DF610}"/>
              </a:ext>
            </a:extLst>
          </p:cNvPr>
          <p:cNvSpPr txBox="1"/>
          <p:nvPr/>
        </p:nvSpPr>
        <p:spPr>
          <a:xfrm>
            <a:off x="350519" y="152400"/>
            <a:ext cx="6233162"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sz="2800" dirty="0"/>
              <a:t>Or Many ML Components Actually</a:t>
            </a:r>
          </a:p>
        </p:txBody>
      </p:sp>
      <p:sp>
        <p:nvSpPr>
          <p:cNvPr id="2" name="Google Shape;705;p77">
            <a:extLst>
              <a:ext uri="{FF2B5EF4-FFF2-40B4-BE49-F238E27FC236}">
                <a16:creationId xmlns:a16="http://schemas.microsoft.com/office/drawing/2014/main" id="{74DDE3D5-7A93-04C2-D434-6D46E6371621}"/>
              </a:ext>
            </a:extLst>
          </p:cNvPr>
          <p:cNvSpPr/>
          <p:nvPr/>
        </p:nvSpPr>
        <p:spPr>
          <a:xfrm>
            <a:off x="350519" y="1724025"/>
            <a:ext cx="6895670" cy="4210949"/>
          </a:xfrm>
          <a:prstGeom prst="rect">
            <a:avLst/>
          </a:prstGeom>
          <a:blipFill rotWithShape="1">
            <a:blip r:embed="rId2">
              <a:alphaModFix/>
            </a:blip>
            <a:stretch>
              <a:fillRect/>
            </a:stretch>
          </a:blip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5505858"/>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F7FD4-C6D5-4CE2-9343-091BA62D3FBB}"/>
            </a:ext>
          </a:extLst>
        </p:cNvPr>
        <p:cNvGrpSpPr/>
        <p:nvPr/>
      </p:nvGrpSpPr>
      <p:grpSpPr>
        <a:xfrm>
          <a:off x="0" y="0"/>
          <a:ext cx="0" cy="0"/>
          <a:chOff x="0" y="0"/>
          <a:chExt cx="0" cy="0"/>
        </a:xfrm>
      </p:grpSpPr>
      <p:sp>
        <p:nvSpPr>
          <p:cNvPr id="356" name="Content Placeholder 4">
            <a:extLst>
              <a:ext uri="{FF2B5EF4-FFF2-40B4-BE49-F238E27FC236}">
                <a16:creationId xmlns:a16="http://schemas.microsoft.com/office/drawing/2014/main" id="{04A599A0-8CDD-2A0E-8B30-F8DA3A8CD293}"/>
              </a:ext>
            </a:extLst>
          </p:cNvPr>
          <p:cNvSpPr txBox="1"/>
          <p:nvPr/>
        </p:nvSpPr>
        <p:spPr>
          <a:xfrm>
            <a:off x="350519" y="152400"/>
            <a:ext cx="6233162"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sz="2800" dirty="0"/>
              <a:t>ML Introduces Additional Complexities in Software Systems</a:t>
            </a:r>
          </a:p>
        </p:txBody>
      </p:sp>
      <p:sp>
        <p:nvSpPr>
          <p:cNvPr id="5" name="Google Shape;726;p82">
            <a:extLst>
              <a:ext uri="{FF2B5EF4-FFF2-40B4-BE49-F238E27FC236}">
                <a16:creationId xmlns:a16="http://schemas.microsoft.com/office/drawing/2014/main" id="{A236088B-571E-9FEB-6499-8D01FFF45F37}"/>
              </a:ext>
            </a:extLst>
          </p:cNvPr>
          <p:cNvSpPr/>
          <p:nvPr/>
        </p:nvSpPr>
        <p:spPr>
          <a:xfrm>
            <a:off x="350519" y="1667878"/>
            <a:ext cx="8553450" cy="2876550"/>
          </a:xfrm>
          <a:prstGeom prst="rect">
            <a:avLst/>
          </a:prstGeom>
          <a:blipFill rotWithShape="1">
            <a:blip r:embed="rId2">
              <a:alphaModFix/>
            </a:blip>
            <a:stretch>
              <a:fillRect/>
            </a:stretch>
          </a:blip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chemeClr val="dk1"/>
              </a:solidFill>
              <a:latin typeface="Calibri"/>
              <a:ea typeface="Calibri"/>
              <a:cs typeface="Calibri"/>
              <a:sym typeface="Calibri"/>
            </a:endParaRPr>
          </a:p>
        </p:txBody>
      </p:sp>
      <p:sp>
        <p:nvSpPr>
          <p:cNvPr id="6" name="Google Shape;727;p82">
            <a:extLst>
              <a:ext uri="{FF2B5EF4-FFF2-40B4-BE49-F238E27FC236}">
                <a16:creationId xmlns:a16="http://schemas.microsoft.com/office/drawing/2014/main" id="{B5D94B16-C770-A977-4284-3A3650475EE1}"/>
              </a:ext>
            </a:extLst>
          </p:cNvPr>
          <p:cNvSpPr txBox="1"/>
          <p:nvPr/>
        </p:nvSpPr>
        <p:spPr>
          <a:xfrm>
            <a:off x="456936" y="5893404"/>
            <a:ext cx="8687064" cy="176790"/>
          </a:xfrm>
          <a:prstGeom prst="rect">
            <a:avLst/>
          </a:prstGeom>
          <a:noFill/>
          <a:ln>
            <a:noFill/>
          </a:ln>
        </p:spPr>
        <p:txBody>
          <a:bodyPr spcFirstLastPara="1" wrap="square" lIns="0" tIns="0" rIns="0" bIns="0" anchor="t" anchorCtr="0">
            <a:spAutoFit/>
          </a:bodyPr>
          <a:lstStyle/>
          <a:p>
            <a:pPr marL="0" marR="0" lvl="0" indent="0" algn="l" rtl="0">
              <a:lnSpc>
                <a:spcPct val="109200"/>
              </a:lnSpc>
              <a:spcBef>
                <a:spcPts val="0"/>
              </a:spcBef>
              <a:spcAft>
                <a:spcPts val="0"/>
              </a:spcAft>
              <a:buClr>
                <a:srgbClr val="000000"/>
              </a:buClr>
              <a:buSzPts val="1000"/>
              <a:buFont typeface="Arial"/>
              <a:buNone/>
            </a:pPr>
            <a:r>
              <a:rPr lang="en-US" sz="1000" b="0" i="0" u="none" strike="noStrike" cap="none" dirty="0" err="1">
                <a:solidFill>
                  <a:srgbClr val="000000"/>
                </a:solidFill>
                <a:latin typeface="Arial"/>
                <a:ea typeface="Arial"/>
                <a:cs typeface="Arial"/>
                <a:sym typeface="Arial"/>
              </a:rPr>
              <a:t>Hesenius</a:t>
            </a:r>
            <a:r>
              <a:rPr lang="en-US" sz="1000" b="0" i="0" u="none" strike="noStrike" cap="none" dirty="0">
                <a:solidFill>
                  <a:srgbClr val="000000"/>
                </a:solidFill>
                <a:latin typeface="Arial"/>
                <a:ea typeface="Arial"/>
                <a:cs typeface="Arial"/>
                <a:sym typeface="Arial"/>
              </a:rPr>
              <a:t>, Marc, et al. "Towards a software engineering process for developing data-driven applications." 2019 IEEE/ACM 7th International Workshop on</a:t>
            </a:r>
            <a:endParaRPr sz="1400" b="0" i="0" u="none" strike="noStrike" cap="none" dirty="0">
              <a:solidFill>
                <a:srgbClr val="000000"/>
              </a:solidFill>
              <a:latin typeface="Arial"/>
              <a:ea typeface="Arial"/>
              <a:cs typeface="Arial"/>
              <a:sym typeface="Arial"/>
            </a:endParaRPr>
          </a:p>
        </p:txBody>
      </p:sp>
      <p:sp>
        <p:nvSpPr>
          <p:cNvPr id="7" name="Google Shape;728;p82">
            <a:extLst>
              <a:ext uri="{FF2B5EF4-FFF2-40B4-BE49-F238E27FC236}">
                <a16:creationId xmlns:a16="http://schemas.microsoft.com/office/drawing/2014/main" id="{E3533CF5-E111-1894-D19C-3FDFB984DD35}"/>
              </a:ext>
            </a:extLst>
          </p:cNvPr>
          <p:cNvSpPr txBox="1"/>
          <p:nvPr/>
        </p:nvSpPr>
        <p:spPr>
          <a:xfrm>
            <a:off x="456936" y="6046122"/>
            <a:ext cx="5028821" cy="176790"/>
          </a:xfrm>
          <a:prstGeom prst="rect">
            <a:avLst/>
          </a:prstGeom>
          <a:noFill/>
          <a:ln>
            <a:noFill/>
          </a:ln>
        </p:spPr>
        <p:txBody>
          <a:bodyPr spcFirstLastPara="1" wrap="square" lIns="0" tIns="0" rIns="0" bIns="0" anchor="t" anchorCtr="0">
            <a:spAutoFit/>
          </a:bodyPr>
          <a:lstStyle/>
          <a:p>
            <a:pPr marL="0" marR="0" lvl="0" indent="0" algn="l" rtl="0">
              <a:lnSpc>
                <a:spcPct val="109200"/>
              </a:lnSpc>
              <a:spcBef>
                <a:spcPts val="0"/>
              </a:spcBef>
              <a:spcAft>
                <a:spcPts val="0"/>
              </a:spcAft>
              <a:buClr>
                <a:srgbClr val="000000"/>
              </a:buClr>
              <a:buSzPts val="1000"/>
              <a:buFont typeface="Arial"/>
              <a:buNone/>
            </a:pPr>
            <a:r>
              <a:rPr lang="en-US" sz="1000" b="0" i="0" u="none" strike="noStrike" cap="none" dirty="0">
                <a:solidFill>
                  <a:srgbClr val="000000"/>
                </a:solidFill>
                <a:latin typeface="Arial"/>
                <a:ea typeface="Arial"/>
                <a:cs typeface="Arial"/>
                <a:sym typeface="Arial"/>
              </a:rPr>
              <a:t>Realizing Artificial Intelligence Synergies in Software Engineering (RAISE). IEEE, 2019.</a:t>
            </a: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2710919606"/>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8A2A3-3082-68C3-BC5B-3D8071895707}"/>
            </a:ext>
          </a:extLst>
        </p:cNvPr>
        <p:cNvGrpSpPr/>
        <p:nvPr/>
      </p:nvGrpSpPr>
      <p:grpSpPr>
        <a:xfrm>
          <a:off x="0" y="0"/>
          <a:ext cx="0" cy="0"/>
          <a:chOff x="0" y="0"/>
          <a:chExt cx="0" cy="0"/>
        </a:xfrm>
      </p:grpSpPr>
      <p:sp>
        <p:nvSpPr>
          <p:cNvPr id="355" name="Content Placeholder 2">
            <a:extLst>
              <a:ext uri="{FF2B5EF4-FFF2-40B4-BE49-F238E27FC236}">
                <a16:creationId xmlns:a16="http://schemas.microsoft.com/office/drawing/2014/main" id="{DA0F9987-95DB-BDCA-C41C-F1087FA35A81}"/>
              </a:ext>
            </a:extLst>
          </p:cNvPr>
          <p:cNvSpPr txBox="1">
            <a:spLocks noGrp="1"/>
          </p:cNvSpPr>
          <p:nvPr>
            <p:ph type="body" idx="1"/>
          </p:nvPr>
        </p:nvSpPr>
        <p:spPr>
          <a:xfrm>
            <a:off x="149523" y="1295400"/>
            <a:ext cx="8643957" cy="4525964"/>
          </a:xfrm>
          <a:prstGeom prst="rect">
            <a:avLst/>
          </a:prstGeom>
        </p:spPr>
        <p:txBody>
          <a:bodyPr anchor="t">
            <a:noAutofit/>
          </a:bodyPr>
          <a:lstStyle>
            <a:lvl1pPr indent="-342900">
              <a:lnSpc>
                <a:spcPct val="100000"/>
              </a:lnSpc>
              <a:spcBef>
                <a:spcPts val="500"/>
              </a:spcBef>
              <a:defRPr sz="2400" b="0" spc="0">
                <a:latin typeface="Open Sans"/>
                <a:ea typeface="Open Sans"/>
                <a:cs typeface="Open Sans"/>
                <a:sym typeface="Open Sans"/>
              </a:defRPr>
            </a:lvl1pPr>
          </a:lstStyle>
          <a:p>
            <a:pPr algn="just">
              <a:lnSpc>
                <a:spcPct val="150000"/>
              </a:lnSpc>
              <a:spcBef>
                <a:spcPct val="0"/>
              </a:spcBef>
              <a:buFont typeface="Arial" panose="020B0604020202020204" pitchFamily="34" charset="0"/>
              <a:buChar char="•"/>
            </a:pPr>
            <a:r>
              <a:rPr lang="en-US" altLang="en-US" sz="2000" dirty="0">
                <a:latin typeface="Microsoft Sans Serif" panose="020B0604020202020204" pitchFamily="34" charset="0"/>
                <a:cs typeface="Microsoft Sans Serif" panose="020B0604020202020204" pitchFamily="34" charset="0"/>
              </a:rPr>
              <a:t>Understand system needs and goals and interactions with environment</a:t>
            </a:r>
          </a:p>
          <a:p>
            <a:pPr algn="just">
              <a:lnSpc>
                <a:spcPct val="150000"/>
              </a:lnSpc>
              <a:spcBef>
                <a:spcPct val="0"/>
              </a:spcBef>
              <a:buFont typeface="Arial" panose="020B0604020202020204" pitchFamily="34" charset="0"/>
              <a:buChar char="•"/>
            </a:pPr>
            <a:r>
              <a:rPr lang="en-US" altLang="en-US" sz="2000" dirty="0">
                <a:latin typeface="Microsoft Sans Serif" panose="020B0604020202020204" pitchFamily="34" charset="0"/>
                <a:cs typeface="Microsoft Sans Serif" panose="020B0604020202020204" pitchFamily="34" charset="0"/>
              </a:rPr>
              <a:t>Designing components and integrating ML and non-ML parts into a system</a:t>
            </a:r>
          </a:p>
          <a:p>
            <a:pPr algn="just">
              <a:lnSpc>
                <a:spcPct val="150000"/>
              </a:lnSpc>
              <a:spcBef>
                <a:spcPct val="0"/>
              </a:spcBef>
              <a:buFont typeface="Arial" panose="020B0604020202020204" pitchFamily="34" charset="0"/>
              <a:buChar char="•"/>
            </a:pPr>
            <a:r>
              <a:rPr lang="en-US" altLang="en-US" sz="2000" dirty="0">
                <a:latin typeface="Microsoft Sans Serif" panose="020B0604020202020204" pitchFamily="34" charset="0"/>
                <a:cs typeface="Microsoft Sans Serif" panose="020B0604020202020204" pitchFamily="34" charset="0"/>
              </a:rPr>
              <a:t>Many roles and stakeholders, interdisciplinary </a:t>
            </a:r>
            <a:r>
              <a:rPr lang="en-US" altLang="en-US" sz="2000" dirty="0" err="1">
                <a:latin typeface="Microsoft Sans Serif" panose="020B0604020202020204" pitchFamily="34" charset="0"/>
                <a:cs typeface="Microsoft Sans Serif" panose="020B0604020202020204" pitchFamily="34" charset="0"/>
              </a:rPr>
              <a:t>endeavour</a:t>
            </a:r>
            <a:endParaRPr lang="en-US" altLang="en-US" sz="2000" dirty="0">
              <a:latin typeface="Microsoft Sans Serif" panose="020B0604020202020204" pitchFamily="34" charset="0"/>
              <a:cs typeface="Microsoft Sans Serif" panose="020B0604020202020204" pitchFamily="34" charset="0"/>
            </a:endParaRPr>
          </a:p>
        </p:txBody>
      </p:sp>
      <p:sp>
        <p:nvSpPr>
          <p:cNvPr id="356" name="Content Placeholder 4">
            <a:extLst>
              <a:ext uri="{FF2B5EF4-FFF2-40B4-BE49-F238E27FC236}">
                <a16:creationId xmlns:a16="http://schemas.microsoft.com/office/drawing/2014/main" id="{31B8D7B9-2C11-2021-B80A-FB5767F5ED02}"/>
              </a:ext>
            </a:extLst>
          </p:cNvPr>
          <p:cNvSpPr txBox="1"/>
          <p:nvPr/>
        </p:nvSpPr>
        <p:spPr>
          <a:xfrm>
            <a:off x="299480" y="0"/>
            <a:ext cx="6233162"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dirty="0"/>
              <a:t>Systems Thinking</a:t>
            </a:r>
          </a:p>
        </p:txBody>
      </p:sp>
    </p:spTree>
    <p:extLst>
      <p:ext uri="{BB962C8B-B14F-4D97-AF65-F5344CB8AC3E}">
        <p14:creationId xmlns:p14="http://schemas.microsoft.com/office/powerpoint/2010/main" val="2839363014"/>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1C206-99F7-13A8-4143-BDC092D19CF8}"/>
            </a:ext>
          </a:extLst>
        </p:cNvPr>
        <p:cNvGrpSpPr/>
        <p:nvPr/>
      </p:nvGrpSpPr>
      <p:grpSpPr>
        <a:xfrm>
          <a:off x="0" y="0"/>
          <a:ext cx="0" cy="0"/>
          <a:chOff x="0" y="0"/>
          <a:chExt cx="0" cy="0"/>
        </a:xfrm>
      </p:grpSpPr>
      <p:sp>
        <p:nvSpPr>
          <p:cNvPr id="356" name="Content Placeholder 4">
            <a:extLst>
              <a:ext uri="{FF2B5EF4-FFF2-40B4-BE49-F238E27FC236}">
                <a16:creationId xmlns:a16="http://schemas.microsoft.com/office/drawing/2014/main" id="{DBFD8AB6-3BB0-1525-0201-0DE8CB8ABC36}"/>
              </a:ext>
            </a:extLst>
          </p:cNvPr>
          <p:cNvSpPr txBox="1"/>
          <p:nvPr/>
        </p:nvSpPr>
        <p:spPr>
          <a:xfrm>
            <a:off x="299480" y="0"/>
            <a:ext cx="6233162"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dirty="0"/>
              <a:t>Systems Thinking</a:t>
            </a:r>
          </a:p>
        </p:txBody>
      </p:sp>
      <p:sp>
        <p:nvSpPr>
          <p:cNvPr id="4" name="Google Shape;860;p102">
            <a:extLst>
              <a:ext uri="{FF2B5EF4-FFF2-40B4-BE49-F238E27FC236}">
                <a16:creationId xmlns:a16="http://schemas.microsoft.com/office/drawing/2014/main" id="{539EF9BF-F66C-7E78-A9D2-5ACA3601E43E}"/>
              </a:ext>
            </a:extLst>
          </p:cNvPr>
          <p:cNvSpPr/>
          <p:nvPr/>
        </p:nvSpPr>
        <p:spPr>
          <a:xfrm>
            <a:off x="299480" y="1883794"/>
            <a:ext cx="8115300" cy="3381375"/>
          </a:xfrm>
          <a:prstGeom prst="rect">
            <a:avLst/>
          </a:prstGeom>
          <a:blipFill rotWithShape="1">
            <a:blip r:embed="rId2">
              <a:alphaModFix/>
            </a:blip>
            <a:stretch>
              <a:fillRect/>
            </a:stretch>
          </a:blip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57809144"/>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BC44D-3A74-25A9-70A9-7EB0F0463205}"/>
            </a:ext>
          </a:extLst>
        </p:cNvPr>
        <p:cNvGrpSpPr/>
        <p:nvPr/>
      </p:nvGrpSpPr>
      <p:grpSpPr>
        <a:xfrm>
          <a:off x="0" y="0"/>
          <a:ext cx="0" cy="0"/>
          <a:chOff x="0" y="0"/>
          <a:chExt cx="0" cy="0"/>
        </a:xfrm>
      </p:grpSpPr>
      <p:sp>
        <p:nvSpPr>
          <p:cNvPr id="356" name="Content Placeholder 4">
            <a:extLst>
              <a:ext uri="{FF2B5EF4-FFF2-40B4-BE49-F238E27FC236}">
                <a16:creationId xmlns:a16="http://schemas.microsoft.com/office/drawing/2014/main" id="{5CD9DE91-6455-3D06-0A01-11EC7C7F2D72}"/>
              </a:ext>
            </a:extLst>
          </p:cNvPr>
          <p:cNvSpPr txBox="1"/>
          <p:nvPr/>
        </p:nvSpPr>
        <p:spPr>
          <a:xfrm>
            <a:off x="299480" y="0"/>
            <a:ext cx="6233162"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dirty="0"/>
              <a:t>What to do when the ML component makes mistake?</a:t>
            </a:r>
          </a:p>
        </p:txBody>
      </p:sp>
      <p:sp>
        <p:nvSpPr>
          <p:cNvPr id="2" name="Google Shape;866;p103">
            <a:extLst>
              <a:ext uri="{FF2B5EF4-FFF2-40B4-BE49-F238E27FC236}">
                <a16:creationId xmlns:a16="http://schemas.microsoft.com/office/drawing/2014/main" id="{254FE97D-A2BF-13FD-5792-70AE59EBB686}"/>
              </a:ext>
            </a:extLst>
          </p:cNvPr>
          <p:cNvSpPr/>
          <p:nvPr/>
        </p:nvSpPr>
        <p:spPr>
          <a:xfrm>
            <a:off x="299480" y="1696529"/>
            <a:ext cx="7924799" cy="3019425"/>
          </a:xfrm>
          <a:prstGeom prst="rect">
            <a:avLst/>
          </a:prstGeom>
          <a:blipFill rotWithShape="1">
            <a:blip r:embed="rId2">
              <a:alphaModFix/>
            </a:blip>
            <a:stretch>
              <a:fillRect/>
            </a:stretch>
          </a:blip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216331316"/>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2F242-EF0D-F6D6-6A32-73AB013226F2}"/>
            </a:ext>
          </a:extLst>
        </p:cNvPr>
        <p:cNvGrpSpPr/>
        <p:nvPr/>
      </p:nvGrpSpPr>
      <p:grpSpPr>
        <a:xfrm>
          <a:off x="0" y="0"/>
          <a:ext cx="0" cy="0"/>
          <a:chOff x="0" y="0"/>
          <a:chExt cx="0" cy="0"/>
        </a:xfrm>
      </p:grpSpPr>
      <p:sp>
        <p:nvSpPr>
          <p:cNvPr id="353" name="Content Placeholder 1">
            <a:extLst>
              <a:ext uri="{FF2B5EF4-FFF2-40B4-BE49-F238E27FC236}">
                <a16:creationId xmlns:a16="http://schemas.microsoft.com/office/drawing/2014/main" id="{5FE84E80-C3D7-ADE1-83B1-AE74D0619BC6}"/>
              </a:ext>
            </a:extLst>
          </p:cNvPr>
          <p:cNvSpPr txBox="1">
            <a:spLocks noGrp="1"/>
          </p:cNvSpPr>
          <p:nvPr>
            <p:ph type="body" sz="half" idx="1"/>
          </p:nvPr>
        </p:nvSpPr>
        <p:spPr>
          <a:prstGeom prst="rect">
            <a:avLst/>
          </a:prstGeom>
        </p:spPr>
        <p:txBody>
          <a:bodyPr>
            <a:normAutofit/>
          </a:bodyPr>
          <a:lstStyle/>
          <a:p>
            <a:pPr lvl="0" algn="ctr"/>
            <a:r>
              <a:rPr lang="en-US" sz="2800" dirty="0"/>
              <a:t>AI Paradigms: Predictive, Generative, and Agentic AI</a:t>
            </a:r>
          </a:p>
        </p:txBody>
      </p:sp>
      <p:sp>
        <p:nvSpPr>
          <p:cNvPr id="3" name="TextBox 2">
            <a:extLst>
              <a:ext uri="{FF2B5EF4-FFF2-40B4-BE49-F238E27FC236}">
                <a16:creationId xmlns:a16="http://schemas.microsoft.com/office/drawing/2014/main" id="{584D25DF-0199-722E-3607-2C95276259F3}"/>
              </a:ext>
            </a:extLst>
          </p:cNvPr>
          <p:cNvSpPr txBox="1"/>
          <p:nvPr/>
        </p:nvSpPr>
        <p:spPr>
          <a:xfrm>
            <a:off x="557841" y="5793357"/>
            <a:ext cx="7952117"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dirty="0"/>
              <a:t>J. Schneider, "Generative to agentic AI: Survey, conceptualization, and challenges," </a:t>
            </a:r>
            <a:r>
              <a:rPr lang="en-US" dirty="0" err="1"/>
              <a:t>arXiv</a:t>
            </a:r>
            <a:r>
              <a:rPr lang="en-US" dirty="0"/>
              <a:t> preprint, arXiv:2504.18875, 2025. </a:t>
            </a:r>
            <a:r>
              <a:rPr lang="en-US" dirty="0" err="1"/>
              <a:t>doi</a:t>
            </a:r>
            <a:r>
              <a:rPr lang="en-US" dirty="0"/>
              <a:t>: 10.48550/arXiv.2504.18875</a:t>
            </a:r>
          </a:p>
        </p:txBody>
      </p:sp>
    </p:spTree>
    <p:extLst>
      <p:ext uri="{BB962C8B-B14F-4D97-AF65-F5344CB8AC3E}">
        <p14:creationId xmlns:p14="http://schemas.microsoft.com/office/powerpoint/2010/main" val="2626114633"/>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E0806-9BDA-C230-8603-041DFE5FF046}"/>
            </a:ext>
          </a:extLst>
        </p:cNvPr>
        <p:cNvGrpSpPr/>
        <p:nvPr/>
      </p:nvGrpSpPr>
      <p:grpSpPr>
        <a:xfrm>
          <a:off x="0" y="0"/>
          <a:ext cx="0" cy="0"/>
          <a:chOff x="0" y="0"/>
          <a:chExt cx="0" cy="0"/>
        </a:xfrm>
      </p:grpSpPr>
      <p:sp>
        <p:nvSpPr>
          <p:cNvPr id="355" name="Content Placeholder 2">
            <a:extLst>
              <a:ext uri="{FF2B5EF4-FFF2-40B4-BE49-F238E27FC236}">
                <a16:creationId xmlns:a16="http://schemas.microsoft.com/office/drawing/2014/main" id="{A9D46452-228C-692D-16C4-E33D2F74D6D7}"/>
              </a:ext>
            </a:extLst>
          </p:cNvPr>
          <p:cNvSpPr txBox="1">
            <a:spLocks noGrp="1"/>
          </p:cNvSpPr>
          <p:nvPr>
            <p:ph type="body" idx="1"/>
          </p:nvPr>
        </p:nvSpPr>
        <p:spPr>
          <a:xfrm>
            <a:off x="149523" y="1295400"/>
            <a:ext cx="8643957" cy="4525964"/>
          </a:xfrm>
          <a:prstGeom prst="rect">
            <a:avLst/>
          </a:prstGeom>
        </p:spPr>
        <p:txBody>
          <a:bodyPr anchor="t">
            <a:noAutofit/>
          </a:bodyPr>
          <a:lstStyle>
            <a:lvl1pPr indent="-342900">
              <a:lnSpc>
                <a:spcPct val="100000"/>
              </a:lnSpc>
              <a:spcBef>
                <a:spcPts val="500"/>
              </a:spcBef>
              <a:defRPr sz="2400" b="0" spc="0">
                <a:latin typeface="Open Sans"/>
                <a:ea typeface="Open Sans"/>
                <a:cs typeface="Open Sans"/>
                <a:sym typeface="Open Sans"/>
              </a:defRPr>
            </a:lvl1pPr>
          </a:lstStyle>
          <a:p>
            <a:pPr algn="just">
              <a:lnSpc>
                <a:spcPct val="150000"/>
              </a:lnSpc>
              <a:spcBef>
                <a:spcPct val="0"/>
              </a:spcBef>
              <a:buFont typeface="Arial" panose="020B0604020202020204" pitchFamily="34" charset="0"/>
              <a:buChar char="•"/>
            </a:pPr>
            <a:r>
              <a:rPr lang="en-US" altLang="en-US" sz="2000" b="1" dirty="0">
                <a:latin typeface="Microsoft Sans Serif" panose="020B0604020202020204" pitchFamily="34" charset="0"/>
                <a:cs typeface="Microsoft Sans Serif" panose="020B0604020202020204" pitchFamily="34" charset="0"/>
              </a:rPr>
              <a:t>Predictive AI</a:t>
            </a:r>
            <a:r>
              <a:rPr lang="en-US" altLang="en-US" sz="2000" dirty="0">
                <a:latin typeface="Microsoft Sans Serif" panose="020B0604020202020204" pitchFamily="34" charset="0"/>
                <a:cs typeface="Microsoft Sans Serif" panose="020B0604020202020204" pitchFamily="34" charset="0"/>
              </a:rPr>
              <a:t>: Uses past data to predict future outcomes.</a:t>
            </a:r>
          </a:p>
          <a:p>
            <a:pPr algn="just">
              <a:lnSpc>
                <a:spcPct val="150000"/>
              </a:lnSpc>
              <a:spcBef>
                <a:spcPct val="0"/>
              </a:spcBef>
              <a:buFont typeface="Arial" panose="020B0604020202020204" pitchFamily="34" charset="0"/>
              <a:buChar char="•"/>
            </a:pPr>
            <a:r>
              <a:rPr lang="en-US" altLang="en-US" sz="2000" b="1" dirty="0">
                <a:latin typeface="Microsoft Sans Serif" panose="020B0604020202020204" pitchFamily="34" charset="0"/>
                <a:cs typeface="Microsoft Sans Serif" panose="020B0604020202020204" pitchFamily="34" charset="0"/>
              </a:rPr>
              <a:t>Generative AI</a:t>
            </a:r>
            <a:r>
              <a:rPr lang="en-US" altLang="en-US" sz="2000" dirty="0">
                <a:latin typeface="Microsoft Sans Serif" panose="020B0604020202020204" pitchFamily="34" charset="0"/>
                <a:cs typeface="Microsoft Sans Serif" panose="020B0604020202020204" pitchFamily="34" charset="0"/>
              </a:rPr>
              <a:t>: Creates new content based on learned patterns.</a:t>
            </a:r>
          </a:p>
          <a:p>
            <a:pPr algn="just">
              <a:lnSpc>
                <a:spcPct val="150000"/>
              </a:lnSpc>
              <a:spcBef>
                <a:spcPct val="0"/>
              </a:spcBef>
              <a:buFont typeface="Arial" panose="020B0604020202020204" pitchFamily="34" charset="0"/>
              <a:buChar char="•"/>
            </a:pPr>
            <a:r>
              <a:rPr lang="en-US" altLang="en-US" sz="2000" b="1" dirty="0">
                <a:latin typeface="Microsoft Sans Serif" panose="020B0604020202020204" pitchFamily="34" charset="0"/>
                <a:cs typeface="Microsoft Sans Serif" panose="020B0604020202020204" pitchFamily="34" charset="0"/>
              </a:rPr>
              <a:t>Agentic AI</a:t>
            </a:r>
            <a:r>
              <a:rPr lang="en-US" altLang="en-US" sz="2000" dirty="0">
                <a:latin typeface="Microsoft Sans Serif" panose="020B0604020202020204" pitchFamily="34" charset="0"/>
                <a:cs typeface="Microsoft Sans Serif" panose="020B0604020202020204" pitchFamily="34" charset="0"/>
              </a:rPr>
              <a:t>: Acts autonomously to achieve goals using reasoning and tools.</a:t>
            </a:r>
          </a:p>
        </p:txBody>
      </p:sp>
      <p:sp>
        <p:nvSpPr>
          <p:cNvPr id="356" name="Content Placeholder 4">
            <a:extLst>
              <a:ext uri="{FF2B5EF4-FFF2-40B4-BE49-F238E27FC236}">
                <a16:creationId xmlns:a16="http://schemas.microsoft.com/office/drawing/2014/main" id="{FA6E120C-BA76-B7D1-EF6F-BBCCD9E245A7}"/>
              </a:ext>
            </a:extLst>
          </p:cNvPr>
          <p:cNvSpPr txBox="1"/>
          <p:nvPr/>
        </p:nvSpPr>
        <p:spPr>
          <a:xfrm>
            <a:off x="299480" y="0"/>
            <a:ext cx="6233162"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dirty="0"/>
              <a:t>Differences</a:t>
            </a:r>
          </a:p>
        </p:txBody>
      </p:sp>
    </p:spTree>
    <p:extLst>
      <p:ext uri="{BB962C8B-B14F-4D97-AF65-F5344CB8AC3E}">
        <p14:creationId xmlns:p14="http://schemas.microsoft.com/office/powerpoint/2010/main" val="3069934910"/>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E019C-071A-694A-FCCE-17D204437EED}"/>
            </a:ext>
          </a:extLst>
        </p:cNvPr>
        <p:cNvGrpSpPr/>
        <p:nvPr/>
      </p:nvGrpSpPr>
      <p:grpSpPr>
        <a:xfrm>
          <a:off x="0" y="0"/>
          <a:ext cx="0" cy="0"/>
          <a:chOff x="0" y="0"/>
          <a:chExt cx="0" cy="0"/>
        </a:xfrm>
      </p:grpSpPr>
      <p:sp>
        <p:nvSpPr>
          <p:cNvPr id="355" name="Content Placeholder 2">
            <a:extLst>
              <a:ext uri="{FF2B5EF4-FFF2-40B4-BE49-F238E27FC236}">
                <a16:creationId xmlns:a16="http://schemas.microsoft.com/office/drawing/2014/main" id="{20373009-FE6A-A69C-D725-A75B527909CC}"/>
              </a:ext>
            </a:extLst>
          </p:cNvPr>
          <p:cNvSpPr txBox="1">
            <a:spLocks noGrp="1"/>
          </p:cNvSpPr>
          <p:nvPr>
            <p:ph type="body" idx="1"/>
          </p:nvPr>
        </p:nvSpPr>
        <p:spPr>
          <a:xfrm>
            <a:off x="149523" y="1295400"/>
            <a:ext cx="8643957" cy="4525964"/>
          </a:xfrm>
          <a:prstGeom prst="rect">
            <a:avLst/>
          </a:prstGeom>
        </p:spPr>
        <p:txBody>
          <a:bodyPr anchor="t">
            <a:noAutofit/>
          </a:bodyPr>
          <a:lstStyle>
            <a:lvl1pPr indent="-342900">
              <a:lnSpc>
                <a:spcPct val="100000"/>
              </a:lnSpc>
              <a:spcBef>
                <a:spcPts val="500"/>
              </a:spcBef>
              <a:defRPr sz="2400" b="0" spc="0">
                <a:latin typeface="Open Sans"/>
                <a:ea typeface="Open Sans"/>
                <a:cs typeface="Open Sans"/>
                <a:sym typeface="Open Sans"/>
              </a:defRPr>
            </a:lvl1pPr>
          </a:lstStyle>
          <a:p>
            <a:pPr marL="0" indent="0" algn="just">
              <a:lnSpc>
                <a:spcPct val="150000"/>
              </a:lnSpc>
              <a:spcBef>
                <a:spcPct val="0"/>
              </a:spcBef>
            </a:pPr>
            <a:r>
              <a:rPr lang="en-US" altLang="en-US" sz="2000" b="1" dirty="0">
                <a:latin typeface="Microsoft Sans Serif" panose="020B0604020202020204" pitchFamily="34" charset="0"/>
                <a:cs typeface="Microsoft Sans Serif" panose="020B0604020202020204" pitchFamily="34" charset="0"/>
              </a:rPr>
              <a:t>Definition</a:t>
            </a:r>
          </a:p>
          <a:p>
            <a:pPr marL="0" indent="0" algn="just">
              <a:lnSpc>
                <a:spcPct val="150000"/>
              </a:lnSpc>
              <a:spcBef>
                <a:spcPct val="0"/>
              </a:spcBef>
            </a:pPr>
            <a:r>
              <a:rPr lang="en-US" altLang="en-US" sz="2000" b="1" dirty="0">
                <a:solidFill>
                  <a:srgbClr val="002060"/>
                </a:solidFill>
                <a:latin typeface="Microsoft Sans Serif" panose="020B0604020202020204" pitchFamily="34" charset="0"/>
                <a:cs typeface="Microsoft Sans Serif" panose="020B0604020202020204" pitchFamily="34" charset="0"/>
              </a:rPr>
              <a:t>A system based on a foundation model that generates digital artifacts based on natural user instructions.</a:t>
            </a:r>
          </a:p>
          <a:p>
            <a:pPr marL="0" indent="0" algn="just">
              <a:lnSpc>
                <a:spcPct val="150000"/>
              </a:lnSpc>
              <a:spcBef>
                <a:spcPct val="0"/>
              </a:spcBef>
            </a:pPr>
            <a:r>
              <a:rPr lang="en-US" altLang="en-US" sz="2000" dirty="0">
                <a:latin typeface="Microsoft Sans Serif" panose="020B0604020202020204" pitchFamily="34" charset="0"/>
                <a:cs typeface="Microsoft Sans Serif" panose="020B0604020202020204" pitchFamily="34" charset="0"/>
              </a:rPr>
              <a:t>Digital artifacts can range from simple binary outputs to complex forms like text, images, and videos. </a:t>
            </a:r>
          </a:p>
          <a:p>
            <a:pPr marL="0" indent="0" algn="just">
              <a:lnSpc>
                <a:spcPct val="150000"/>
              </a:lnSpc>
              <a:spcBef>
                <a:spcPct val="0"/>
              </a:spcBef>
            </a:pPr>
            <a:r>
              <a:rPr lang="en-US" altLang="en-US" sz="2000" dirty="0">
                <a:latin typeface="Microsoft Sans Serif" panose="020B0604020202020204" pitchFamily="34" charset="0"/>
                <a:cs typeface="Microsoft Sans Serif" panose="020B0604020202020204" pitchFamily="34" charset="0"/>
              </a:rPr>
              <a:t>Natural user instructions are easy for humans to understand and do not require technical knowledge, such as everyday language or visual inputs like photos or sketches.</a:t>
            </a:r>
          </a:p>
        </p:txBody>
      </p:sp>
      <p:sp>
        <p:nvSpPr>
          <p:cNvPr id="356" name="Content Placeholder 4">
            <a:extLst>
              <a:ext uri="{FF2B5EF4-FFF2-40B4-BE49-F238E27FC236}">
                <a16:creationId xmlns:a16="http://schemas.microsoft.com/office/drawing/2014/main" id="{15C4136A-CA0C-C403-2C86-B09224FDB977}"/>
              </a:ext>
            </a:extLst>
          </p:cNvPr>
          <p:cNvSpPr txBox="1"/>
          <p:nvPr/>
        </p:nvSpPr>
        <p:spPr>
          <a:xfrm>
            <a:off x="299480" y="0"/>
            <a:ext cx="6233162"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dirty="0"/>
              <a:t>Generative AI</a:t>
            </a:r>
          </a:p>
        </p:txBody>
      </p:sp>
    </p:spTree>
    <p:extLst>
      <p:ext uri="{BB962C8B-B14F-4D97-AF65-F5344CB8AC3E}">
        <p14:creationId xmlns:p14="http://schemas.microsoft.com/office/powerpoint/2010/main" val="4025347559"/>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CFBD8-D6CE-F9A8-1816-8672F3C333D8}"/>
            </a:ext>
          </a:extLst>
        </p:cNvPr>
        <p:cNvGrpSpPr/>
        <p:nvPr/>
      </p:nvGrpSpPr>
      <p:grpSpPr>
        <a:xfrm>
          <a:off x="0" y="0"/>
          <a:ext cx="0" cy="0"/>
          <a:chOff x="0" y="0"/>
          <a:chExt cx="0" cy="0"/>
        </a:xfrm>
      </p:grpSpPr>
      <p:sp>
        <p:nvSpPr>
          <p:cNvPr id="356" name="Content Placeholder 4">
            <a:extLst>
              <a:ext uri="{FF2B5EF4-FFF2-40B4-BE49-F238E27FC236}">
                <a16:creationId xmlns:a16="http://schemas.microsoft.com/office/drawing/2014/main" id="{93F262E9-AAFA-BACB-4604-C3E3706D105F}"/>
              </a:ext>
            </a:extLst>
          </p:cNvPr>
          <p:cNvSpPr txBox="1"/>
          <p:nvPr/>
        </p:nvSpPr>
        <p:spPr>
          <a:xfrm>
            <a:off x="350519" y="152400"/>
            <a:ext cx="6233162"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dirty="0"/>
              <a:t>Generative AI Architecture</a:t>
            </a:r>
          </a:p>
        </p:txBody>
      </p:sp>
      <p:pic>
        <p:nvPicPr>
          <p:cNvPr id="4" name="Picture 2" descr="https://media.licdn.com/dms/image/v2/D5612AQHv3C4Uckfc0g/article-cover_image-shrink_720_1280/article-cover_image-shrink_720_1280/0/1710287868667?e=1746057600&amp;v=beta&amp;t=Ey6NLwwTsfl6tuffvs1wKFpFhyZ1le36XfkDkEnHIq0">
            <a:extLst>
              <a:ext uri="{FF2B5EF4-FFF2-40B4-BE49-F238E27FC236}">
                <a16:creationId xmlns:a16="http://schemas.microsoft.com/office/drawing/2014/main" id="{1264548B-921C-FC39-F6CF-528FCE38A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3266" y="1526875"/>
            <a:ext cx="6233162" cy="4815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94875159"/>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2C6B0-84CC-B2A5-31A6-BE295C8621F6}"/>
            </a:ext>
          </a:extLst>
        </p:cNvPr>
        <p:cNvGrpSpPr/>
        <p:nvPr/>
      </p:nvGrpSpPr>
      <p:grpSpPr>
        <a:xfrm>
          <a:off x="0" y="0"/>
          <a:ext cx="0" cy="0"/>
          <a:chOff x="0" y="0"/>
          <a:chExt cx="0" cy="0"/>
        </a:xfrm>
      </p:grpSpPr>
      <p:sp>
        <p:nvSpPr>
          <p:cNvPr id="356" name="Content Placeholder 4">
            <a:extLst>
              <a:ext uri="{FF2B5EF4-FFF2-40B4-BE49-F238E27FC236}">
                <a16:creationId xmlns:a16="http://schemas.microsoft.com/office/drawing/2014/main" id="{D2D6CC6B-4103-233B-E204-8D1663217F9B}"/>
              </a:ext>
            </a:extLst>
          </p:cNvPr>
          <p:cNvSpPr txBox="1"/>
          <p:nvPr/>
        </p:nvSpPr>
        <p:spPr>
          <a:xfrm>
            <a:off x="299480" y="0"/>
            <a:ext cx="6233162"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dirty="0"/>
              <a:t>Generative vs Predictive AI</a:t>
            </a:r>
          </a:p>
        </p:txBody>
      </p:sp>
      <p:pic>
        <p:nvPicPr>
          <p:cNvPr id="3" name="Picture 2">
            <a:extLst>
              <a:ext uri="{FF2B5EF4-FFF2-40B4-BE49-F238E27FC236}">
                <a16:creationId xmlns:a16="http://schemas.microsoft.com/office/drawing/2014/main" id="{62C8F44C-1DD4-E42D-5E30-F1F8BE187AC8}"/>
              </a:ext>
            </a:extLst>
          </p:cNvPr>
          <p:cNvPicPr>
            <a:picLocks noChangeAspect="1"/>
          </p:cNvPicPr>
          <p:nvPr/>
        </p:nvPicPr>
        <p:blipFill>
          <a:blip r:embed="rId2"/>
          <a:stretch>
            <a:fillRect/>
          </a:stretch>
        </p:blipFill>
        <p:spPr>
          <a:xfrm>
            <a:off x="299480" y="1477927"/>
            <a:ext cx="5460249" cy="4593089"/>
          </a:xfrm>
          <a:prstGeom prst="rect">
            <a:avLst/>
          </a:prstGeom>
        </p:spPr>
        <p:style>
          <a:lnRef idx="2">
            <a:schemeClr val="accent1"/>
          </a:lnRef>
          <a:fillRef idx="1">
            <a:schemeClr val="lt1"/>
          </a:fillRef>
          <a:effectRef idx="0">
            <a:schemeClr val="accent1"/>
          </a:effectRef>
          <a:fontRef idx="minor">
            <a:schemeClr val="dk1"/>
          </a:fontRef>
        </p:style>
      </p:pic>
      <p:sp>
        <p:nvSpPr>
          <p:cNvPr id="4" name="TextBox 3">
            <a:extLst>
              <a:ext uri="{FF2B5EF4-FFF2-40B4-BE49-F238E27FC236}">
                <a16:creationId xmlns:a16="http://schemas.microsoft.com/office/drawing/2014/main" id="{C124E1F2-CB2B-D7C2-14F4-5BDDDF3DD213}"/>
              </a:ext>
            </a:extLst>
          </p:cNvPr>
          <p:cNvSpPr txBox="1"/>
          <p:nvPr/>
        </p:nvSpPr>
        <p:spPr>
          <a:xfrm>
            <a:off x="299480" y="6235268"/>
            <a:ext cx="8413199" cy="3385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600" dirty="0">
                <a:solidFill>
                  <a:schemeClr val="tx1"/>
                </a:solidFill>
                <a:latin typeface="Microsoft Sans Serif" panose="020B0604020202020204" pitchFamily="34" charset="0"/>
                <a:ea typeface="Open Sans"/>
                <a:cs typeface="Microsoft Sans Serif" panose="020B0604020202020204" pitchFamily="34" charset="0"/>
                <a:sym typeface="Open Sans"/>
              </a:rPr>
              <a:t>Ref – “Cloud Native Artificial Intelligence”</a:t>
            </a:r>
          </a:p>
        </p:txBody>
      </p:sp>
    </p:spTree>
    <p:extLst>
      <p:ext uri="{BB962C8B-B14F-4D97-AF65-F5344CB8AC3E}">
        <p14:creationId xmlns:p14="http://schemas.microsoft.com/office/powerpoint/2010/main" val="2634342277"/>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F14CB-40E6-4928-9F5B-3400A64558D7}"/>
            </a:ext>
          </a:extLst>
        </p:cNvPr>
        <p:cNvGrpSpPr/>
        <p:nvPr/>
      </p:nvGrpSpPr>
      <p:grpSpPr>
        <a:xfrm>
          <a:off x="0" y="0"/>
          <a:ext cx="0" cy="0"/>
          <a:chOff x="0" y="0"/>
          <a:chExt cx="0" cy="0"/>
        </a:xfrm>
      </p:grpSpPr>
      <p:sp>
        <p:nvSpPr>
          <p:cNvPr id="355" name="Content Placeholder 2">
            <a:extLst>
              <a:ext uri="{FF2B5EF4-FFF2-40B4-BE49-F238E27FC236}">
                <a16:creationId xmlns:a16="http://schemas.microsoft.com/office/drawing/2014/main" id="{6A1747E6-7E72-2A04-E419-7C752F651799}"/>
              </a:ext>
            </a:extLst>
          </p:cNvPr>
          <p:cNvSpPr txBox="1">
            <a:spLocks noGrp="1"/>
          </p:cNvSpPr>
          <p:nvPr>
            <p:ph type="body" idx="1"/>
          </p:nvPr>
        </p:nvSpPr>
        <p:spPr>
          <a:xfrm>
            <a:off x="149523" y="1295400"/>
            <a:ext cx="8643957" cy="4525964"/>
          </a:xfrm>
          <a:prstGeom prst="rect">
            <a:avLst/>
          </a:prstGeom>
        </p:spPr>
        <p:txBody>
          <a:bodyPr anchor="t">
            <a:noAutofit/>
          </a:bodyPr>
          <a:lstStyle>
            <a:lvl1pPr indent="-342900">
              <a:lnSpc>
                <a:spcPct val="100000"/>
              </a:lnSpc>
              <a:spcBef>
                <a:spcPts val="500"/>
              </a:spcBef>
              <a:defRPr sz="2400" b="0" spc="0">
                <a:latin typeface="Open Sans"/>
                <a:ea typeface="Open Sans"/>
                <a:cs typeface="Open Sans"/>
                <a:sym typeface="Open Sans"/>
              </a:defRPr>
            </a:lvl1pPr>
          </a:lstStyle>
          <a:p>
            <a:pPr marL="0" indent="0" algn="just">
              <a:lnSpc>
                <a:spcPct val="150000"/>
              </a:lnSpc>
              <a:spcBef>
                <a:spcPct val="0"/>
              </a:spcBef>
            </a:pPr>
            <a:r>
              <a:rPr lang="en-US" altLang="en-US" sz="1800" b="1" dirty="0">
                <a:latin typeface="Microsoft Sans Serif" panose="020B0604020202020204" pitchFamily="34" charset="0"/>
                <a:cs typeface="Microsoft Sans Serif" panose="020B0604020202020204" pitchFamily="34" charset="0"/>
              </a:rPr>
              <a:t>Definition 1 [Nvidia]</a:t>
            </a:r>
          </a:p>
          <a:p>
            <a:pPr marL="0" indent="0" algn="just">
              <a:lnSpc>
                <a:spcPct val="150000"/>
              </a:lnSpc>
              <a:spcBef>
                <a:spcPct val="0"/>
              </a:spcBef>
            </a:pPr>
            <a:r>
              <a:rPr lang="en-US" altLang="en-US" sz="1800" dirty="0">
                <a:latin typeface="Microsoft Sans Serif" panose="020B0604020202020204" pitchFamily="34" charset="0"/>
                <a:cs typeface="Microsoft Sans Serif" panose="020B0604020202020204" pitchFamily="34" charset="0"/>
              </a:rPr>
              <a:t>"Agentic AI uses sophisticated reasoning and iterative planning to autonomously solve complex, multi-step problems.“</a:t>
            </a:r>
          </a:p>
          <a:p>
            <a:pPr marL="0" indent="0" algn="just">
              <a:lnSpc>
                <a:spcPct val="150000"/>
              </a:lnSpc>
              <a:spcBef>
                <a:spcPct val="0"/>
              </a:spcBef>
            </a:pPr>
            <a:r>
              <a:rPr lang="en-US" altLang="en-US" sz="1800" b="1" dirty="0">
                <a:latin typeface="Microsoft Sans Serif" panose="020B0604020202020204" pitchFamily="34" charset="0"/>
                <a:cs typeface="Microsoft Sans Serif" panose="020B0604020202020204" pitchFamily="34" charset="0"/>
              </a:rPr>
              <a:t>Definition 2 [OpenAI]</a:t>
            </a:r>
          </a:p>
          <a:p>
            <a:pPr marL="0" indent="0" algn="just">
              <a:lnSpc>
                <a:spcPct val="150000"/>
              </a:lnSpc>
              <a:spcBef>
                <a:spcPct val="0"/>
              </a:spcBef>
            </a:pPr>
            <a:r>
              <a:rPr lang="en-US" altLang="en-US" sz="1800" dirty="0">
                <a:latin typeface="Microsoft Sans Serif" panose="020B0604020202020204" pitchFamily="34" charset="0"/>
                <a:cs typeface="Microsoft Sans Serif" panose="020B0604020202020204" pitchFamily="34" charset="0"/>
              </a:rPr>
              <a:t>"Agentic AI systems are AI systems that can pursue complex goals with limited direct supervision" </a:t>
            </a:r>
          </a:p>
          <a:p>
            <a:pPr marL="0" indent="0" algn="just">
              <a:lnSpc>
                <a:spcPct val="150000"/>
              </a:lnSpc>
              <a:spcBef>
                <a:spcPct val="0"/>
              </a:spcBef>
            </a:pPr>
            <a:r>
              <a:rPr lang="en-US" altLang="en-US" sz="1800" b="1" dirty="0">
                <a:latin typeface="Microsoft Sans Serif" panose="020B0604020202020204" pitchFamily="34" charset="0"/>
                <a:cs typeface="Microsoft Sans Serif" panose="020B0604020202020204" pitchFamily="34" charset="0"/>
              </a:rPr>
              <a:t>Definition 3</a:t>
            </a:r>
            <a:endParaRPr lang="en-US" altLang="en-US" sz="1800" dirty="0">
              <a:latin typeface="Microsoft Sans Serif" panose="020B0604020202020204" pitchFamily="34" charset="0"/>
              <a:cs typeface="Microsoft Sans Serif" panose="020B0604020202020204" pitchFamily="34" charset="0"/>
            </a:endParaRPr>
          </a:p>
          <a:p>
            <a:pPr marL="0" indent="0" algn="just">
              <a:lnSpc>
                <a:spcPct val="150000"/>
              </a:lnSpc>
              <a:spcBef>
                <a:spcPct val="0"/>
              </a:spcBef>
            </a:pPr>
            <a:r>
              <a:rPr lang="en-US" altLang="en-US" sz="1800" dirty="0">
                <a:latin typeface="Microsoft Sans Serif" panose="020B0604020202020204" pitchFamily="34" charset="0"/>
                <a:cs typeface="Microsoft Sans Serif" panose="020B0604020202020204" pitchFamily="34" charset="0"/>
              </a:rPr>
              <a:t>“A system based on a foundation model that performs tasks potentially yielding artifacts based on natural user instructions, where the system is able to conduct and express complex reasoning including planning and reflection to solve tasks that require interaction with an environment or elaborate tool use”</a:t>
            </a:r>
          </a:p>
        </p:txBody>
      </p:sp>
      <p:sp>
        <p:nvSpPr>
          <p:cNvPr id="356" name="Content Placeholder 4">
            <a:extLst>
              <a:ext uri="{FF2B5EF4-FFF2-40B4-BE49-F238E27FC236}">
                <a16:creationId xmlns:a16="http://schemas.microsoft.com/office/drawing/2014/main" id="{60EEFA40-5136-82F6-172C-609D455BFE13}"/>
              </a:ext>
            </a:extLst>
          </p:cNvPr>
          <p:cNvSpPr txBox="1"/>
          <p:nvPr/>
        </p:nvSpPr>
        <p:spPr>
          <a:xfrm>
            <a:off x="299480" y="0"/>
            <a:ext cx="6233162"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dirty="0"/>
              <a:t>Agentic AI</a:t>
            </a:r>
          </a:p>
        </p:txBody>
      </p:sp>
    </p:spTree>
    <p:extLst>
      <p:ext uri="{BB962C8B-B14F-4D97-AF65-F5344CB8AC3E}">
        <p14:creationId xmlns:p14="http://schemas.microsoft.com/office/powerpoint/2010/main" val="2243398095"/>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BF7BF-F859-3137-6300-53B47D4BEC55}"/>
            </a:ext>
          </a:extLst>
        </p:cNvPr>
        <p:cNvGrpSpPr/>
        <p:nvPr/>
      </p:nvGrpSpPr>
      <p:grpSpPr>
        <a:xfrm>
          <a:off x="0" y="0"/>
          <a:ext cx="0" cy="0"/>
          <a:chOff x="0" y="0"/>
          <a:chExt cx="0" cy="0"/>
        </a:xfrm>
      </p:grpSpPr>
      <p:sp>
        <p:nvSpPr>
          <p:cNvPr id="356" name="Content Placeholder 4">
            <a:extLst>
              <a:ext uri="{FF2B5EF4-FFF2-40B4-BE49-F238E27FC236}">
                <a16:creationId xmlns:a16="http://schemas.microsoft.com/office/drawing/2014/main" id="{DB957BCA-1BD8-C7B6-3C46-277098F29AB4}"/>
              </a:ext>
            </a:extLst>
          </p:cNvPr>
          <p:cNvSpPr txBox="1"/>
          <p:nvPr/>
        </p:nvSpPr>
        <p:spPr>
          <a:xfrm>
            <a:off x="299480" y="0"/>
            <a:ext cx="6233162"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dirty="0"/>
              <a:t>Generative vs Agentic AI</a:t>
            </a:r>
          </a:p>
        </p:txBody>
      </p:sp>
      <p:pic>
        <p:nvPicPr>
          <p:cNvPr id="5" name="Picture 4">
            <a:extLst>
              <a:ext uri="{FF2B5EF4-FFF2-40B4-BE49-F238E27FC236}">
                <a16:creationId xmlns:a16="http://schemas.microsoft.com/office/drawing/2014/main" id="{B373C8A2-61A2-5533-CCED-0B6453FDF33B}"/>
              </a:ext>
            </a:extLst>
          </p:cNvPr>
          <p:cNvPicPr>
            <a:picLocks noChangeAspect="1"/>
          </p:cNvPicPr>
          <p:nvPr/>
        </p:nvPicPr>
        <p:blipFill>
          <a:blip r:embed="rId2"/>
          <a:stretch>
            <a:fillRect/>
          </a:stretch>
        </p:blipFill>
        <p:spPr>
          <a:xfrm>
            <a:off x="138023" y="1418675"/>
            <a:ext cx="7409666" cy="4188493"/>
          </a:xfrm>
          <a:prstGeom prst="rect">
            <a:avLst/>
          </a:prstGeom>
        </p:spPr>
      </p:pic>
      <p:sp>
        <p:nvSpPr>
          <p:cNvPr id="6" name="TextBox 5">
            <a:extLst>
              <a:ext uri="{FF2B5EF4-FFF2-40B4-BE49-F238E27FC236}">
                <a16:creationId xmlns:a16="http://schemas.microsoft.com/office/drawing/2014/main" id="{C27CDB60-2570-5EC0-633C-9206B0B742D5}"/>
              </a:ext>
            </a:extLst>
          </p:cNvPr>
          <p:cNvSpPr txBox="1"/>
          <p:nvPr/>
        </p:nvSpPr>
        <p:spPr>
          <a:xfrm>
            <a:off x="517586" y="5607169"/>
            <a:ext cx="8413199" cy="830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600" dirty="0">
                <a:solidFill>
                  <a:srgbClr val="002060"/>
                </a:solidFill>
                <a:latin typeface="Microsoft Sans Serif" panose="020B0604020202020204" pitchFamily="34" charset="0"/>
                <a:ea typeface="Open Sans"/>
                <a:cs typeface="Microsoft Sans Serif" panose="020B0604020202020204" pitchFamily="34" charset="0"/>
                <a:sym typeface="Open Sans"/>
              </a:rPr>
              <a:t>Generative AI: "Tell me what to do, I’ll generate an answer"</a:t>
            </a:r>
          </a:p>
          <a:p>
            <a:r>
              <a:rPr lang="en-US" sz="1600" dirty="0">
                <a:solidFill>
                  <a:srgbClr val="00B050"/>
                </a:solidFill>
                <a:latin typeface="Microsoft Sans Serif" panose="020B0604020202020204" pitchFamily="34" charset="0"/>
                <a:ea typeface="Open Sans"/>
                <a:cs typeface="Microsoft Sans Serif" panose="020B0604020202020204" pitchFamily="34" charset="0"/>
                <a:sym typeface="Open Sans"/>
              </a:rPr>
              <a:t>Agentic AI: "Give me a goal, I’ll figure out the steps, act, and improve until it’s done"</a:t>
            </a:r>
          </a:p>
          <a:p>
            <a:r>
              <a:rPr lang="en-US" sz="1600" dirty="0">
                <a:solidFill>
                  <a:srgbClr val="FF0000"/>
                </a:solidFill>
                <a:latin typeface="Microsoft Sans Serif" panose="020B0604020202020204" pitchFamily="34" charset="0"/>
                <a:ea typeface="Open Sans"/>
                <a:cs typeface="Microsoft Sans Serif" panose="020B0604020202020204" pitchFamily="34" charset="0"/>
                <a:sym typeface="Open Sans"/>
              </a:rPr>
              <a:t>Generative AI + Reasoning + Tools + Feedback Loops → Agentic AI</a:t>
            </a:r>
          </a:p>
        </p:txBody>
      </p:sp>
    </p:spTree>
    <p:extLst>
      <p:ext uri="{BB962C8B-B14F-4D97-AF65-F5344CB8AC3E}">
        <p14:creationId xmlns:p14="http://schemas.microsoft.com/office/powerpoint/2010/main" val="1191446250"/>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7EE2A-7D61-31D5-7103-31485D267B1C}"/>
            </a:ext>
          </a:extLst>
        </p:cNvPr>
        <p:cNvGrpSpPr/>
        <p:nvPr/>
      </p:nvGrpSpPr>
      <p:grpSpPr>
        <a:xfrm>
          <a:off x="0" y="0"/>
          <a:ext cx="0" cy="0"/>
          <a:chOff x="0" y="0"/>
          <a:chExt cx="0" cy="0"/>
        </a:xfrm>
      </p:grpSpPr>
      <p:sp>
        <p:nvSpPr>
          <p:cNvPr id="353" name="Content Placeholder 1">
            <a:extLst>
              <a:ext uri="{FF2B5EF4-FFF2-40B4-BE49-F238E27FC236}">
                <a16:creationId xmlns:a16="http://schemas.microsoft.com/office/drawing/2014/main" id="{43FCFE06-47A4-D7D9-EDD9-390F49184F28}"/>
              </a:ext>
            </a:extLst>
          </p:cNvPr>
          <p:cNvSpPr txBox="1">
            <a:spLocks noGrp="1"/>
          </p:cNvSpPr>
          <p:nvPr>
            <p:ph type="body" sz="half" idx="1"/>
          </p:nvPr>
        </p:nvSpPr>
        <p:spPr>
          <a:prstGeom prst="rect">
            <a:avLst/>
          </a:prstGeom>
        </p:spPr>
        <p:txBody>
          <a:bodyPr>
            <a:normAutofit/>
          </a:bodyPr>
          <a:lstStyle/>
          <a:p>
            <a:pPr lvl="0" algn="ctr"/>
            <a:r>
              <a:rPr lang="en-US" sz="2700" dirty="0"/>
              <a:t>Cloud Native ML Systems</a:t>
            </a:r>
          </a:p>
          <a:p>
            <a:pPr lvl="0" algn="ctr"/>
            <a:r>
              <a:rPr lang="en-US" sz="2700" dirty="0"/>
              <a:t>Reference R5 </a:t>
            </a:r>
          </a:p>
        </p:txBody>
      </p:sp>
    </p:spTree>
    <p:extLst>
      <p:ext uri="{BB962C8B-B14F-4D97-AF65-F5344CB8AC3E}">
        <p14:creationId xmlns:p14="http://schemas.microsoft.com/office/powerpoint/2010/main" val="1953382132"/>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5ADFA-387A-F8C5-8BFE-B48CB37F41BD}"/>
            </a:ext>
          </a:extLst>
        </p:cNvPr>
        <p:cNvGrpSpPr/>
        <p:nvPr/>
      </p:nvGrpSpPr>
      <p:grpSpPr>
        <a:xfrm>
          <a:off x="0" y="0"/>
          <a:ext cx="0" cy="0"/>
          <a:chOff x="0" y="0"/>
          <a:chExt cx="0" cy="0"/>
        </a:xfrm>
      </p:grpSpPr>
      <p:sp>
        <p:nvSpPr>
          <p:cNvPr id="355" name="Content Placeholder 2">
            <a:extLst>
              <a:ext uri="{FF2B5EF4-FFF2-40B4-BE49-F238E27FC236}">
                <a16:creationId xmlns:a16="http://schemas.microsoft.com/office/drawing/2014/main" id="{D0700FB9-5B26-4F29-BEFF-1960424EAB75}"/>
              </a:ext>
            </a:extLst>
          </p:cNvPr>
          <p:cNvSpPr txBox="1">
            <a:spLocks noGrp="1"/>
          </p:cNvSpPr>
          <p:nvPr>
            <p:ph type="body" idx="1"/>
          </p:nvPr>
        </p:nvSpPr>
        <p:spPr>
          <a:xfrm>
            <a:off x="149524" y="1295400"/>
            <a:ext cx="8229600" cy="4525964"/>
          </a:xfrm>
          <a:prstGeom prst="rect">
            <a:avLst/>
          </a:prstGeom>
        </p:spPr>
        <p:txBody>
          <a:bodyPr anchor="t">
            <a:normAutofit/>
          </a:bodyPr>
          <a:lstStyle>
            <a:lvl1pPr indent="-342900">
              <a:lnSpc>
                <a:spcPct val="100000"/>
              </a:lnSpc>
              <a:spcBef>
                <a:spcPts val="500"/>
              </a:spcBef>
              <a:defRPr sz="2400" b="0" spc="0">
                <a:latin typeface="Open Sans"/>
                <a:ea typeface="Open Sans"/>
                <a:cs typeface="Open Sans"/>
                <a:sym typeface="Open Sans"/>
              </a:defRPr>
            </a:lvl1pPr>
          </a:lstStyle>
          <a:p>
            <a:pPr algn="just">
              <a:lnSpc>
                <a:spcPct val="150000"/>
              </a:lnSpc>
              <a:spcBef>
                <a:spcPct val="0"/>
              </a:spcBef>
              <a:buFont typeface="Arial" panose="020B0604020202020204" pitchFamily="34" charset="0"/>
              <a:buChar char="•"/>
            </a:pPr>
            <a:r>
              <a:rPr lang="en-US" altLang="en-US" sz="2000" dirty="0"/>
              <a:t>Cloud Native technology provides a scalable and reliable platform for running applications. </a:t>
            </a:r>
          </a:p>
          <a:p>
            <a:pPr algn="just">
              <a:lnSpc>
                <a:spcPct val="150000"/>
              </a:lnSpc>
              <a:spcBef>
                <a:spcPct val="0"/>
              </a:spcBef>
              <a:buFont typeface="Arial" panose="020B0604020202020204" pitchFamily="34" charset="0"/>
              <a:buChar char="•"/>
            </a:pPr>
            <a:r>
              <a:rPr lang="en-US" altLang="en-US" sz="2000" dirty="0"/>
              <a:t>Advances in AI and ML is steadily rising as a dominant cloud workload.</a:t>
            </a:r>
          </a:p>
          <a:p>
            <a:pPr marL="0" indent="0" algn="just">
              <a:lnSpc>
                <a:spcPct val="150000"/>
              </a:lnSpc>
              <a:spcBef>
                <a:spcPct val="0"/>
              </a:spcBef>
            </a:pPr>
            <a:r>
              <a:rPr lang="en-US" altLang="en-US" sz="2000" dirty="0">
                <a:solidFill>
                  <a:srgbClr val="FF0000"/>
                </a:solidFill>
                <a:latin typeface="Microsoft Sans Serif" panose="020B0604020202020204" pitchFamily="34" charset="0"/>
                <a:cs typeface="Microsoft Sans Serif" panose="020B0604020202020204" pitchFamily="34" charset="0"/>
              </a:rPr>
              <a:t>CNCF defines Cloud-Native as</a:t>
            </a:r>
          </a:p>
          <a:p>
            <a:pPr marL="0" indent="0" algn="just">
              <a:lnSpc>
                <a:spcPct val="150000"/>
              </a:lnSpc>
              <a:spcBef>
                <a:spcPct val="0"/>
              </a:spcBef>
            </a:pPr>
            <a:r>
              <a:rPr lang="en-US" altLang="en-US" sz="2000" dirty="0">
                <a:solidFill>
                  <a:srgbClr val="002060"/>
                </a:solidFill>
                <a:latin typeface="Microsoft Sans Serif" panose="020B0604020202020204" pitchFamily="34" charset="0"/>
                <a:cs typeface="Microsoft Sans Serif" panose="020B0604020202020204" pitchFamily="34" charset="0"/>
              </a:rPr>
              <a:t>“Cloud Native technologies empower organizations to build and run scalable applications in modern, dynamic environments such as public, private, and hybrid clouds. Containers, service meshes, microservices, immutable infrastructure, and declarative APIs exemplify this approach.”</a:t>
            </a:r>
            <a:endParaRPr lang="en-IN" altLang="en-US" sz="2000" dirty="0">
              <a:solidFill>
                <a:srgbClr val="002060"/>
              </a:solidFill>
              <a:latin typeface="Microsoft Sans Serif" panose="020B0604020202020204" pitchFamily="34" charset="0"/>
              <a:cs typeface="Microsoft Sans Serif" panose="020B0604020202020204" pitchFamily="34" charset="0"/>
            </a:endParaRPr>
          </a:p>
        </p:txBody>
      </p:sp>
      <p:sp>
        <p:nvSpPr>
          <p:cNvPr id="356" name="Content Placeholder 4">
            <a:extLst>
              <a:ext uri="{FF2B5EF4-FFF2-40B4-BE49-F238E27FC236}">
                <a16:creationId xmlns:a16="http://schemas.microsoft.com/office/drawing/2014/main" id="{BCE1DE13-07D4-CCFC-64AE-B2DEB1F7B0F8}"/>
              </a:ext>
            </a:extLst>
          </p:cNvPr>
          <p:cNvSpPr txBox="1"/>
          <p:nvPr/>
        </p:nvSpPr>
        <p:spPr>
          <a:xfrm>
            <a:off x="350519" y="152400"/>
            <a:ext cx="6233162"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dirty="0"/>
              <a:t>Cloud Native ML Systems</a:t>
            </a:r>
          </a:p>
        </p:txBody>
      </p:sp>
    </p:spTree>
    <p:extLst>
      <p:ext uri="{BB962C8B-B14F-4D97-AF65-F5344CB8AC3E}">
        <p14:creationId xmlns:p14="http://schemas.microsoft.com/office/powerpoint/2010/main" val="4253624039"/>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CBFF5-8105-F107-F2E2-1F8955826F4D}"/>
            </a:ext>
          </a:extLst>
        </p:cNvPr>
        <p:cNvGrpSpPr/>
        <p:nvPr/>
      </p:nvGrpSpPr>
      <p:grpSpPr>
        <a:xfrm>
          <a:off x="0" y="0"/>
          <a:ext cx="0" cy="0"/>
          <a:chOff x="0" y="0"/>
          <a:chExt cx="0" cy="0"/>
        </a:xfrm>
      </p:grpSpPr>
      <p:sp>
        <p:nvSpPr>
          <p:cNvPr id="356" name="Content Placeholder 4">
            <a:extLst>
              <a:ext uri="{FF2B5EF4-FFF2-40B4-BE49-F238E27FC236}">
                <a16:creationId xmlns:a16="http://schemas.microsoft.com/office/drawing/2014/main" id="{7954B9C0-011F-C184-3F83-4CF6D1774E44}"/>
              </a:ext>
            </a:extLst>
          </p:cNvPr>
          <p:cNvSpPr txBox="1"/>
          <p:nvPr/>
        </p:nvSpPr>
        <p:spPr>
          <a:xfrm>
            <a:off x="350519" y="152400"/>
            <a:ext cx="6233162"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dirty="0"/>
              <a:t>Cloud Native ML Systems</a:t>
            </a:r>
          </a:p>
        </p:txBody>
      </p:sp>
      <p:pic>
        <p:nvPicPr>
          <p:cNvPr id="5" name="Picture 4">
            <a:extLst>
              <a:ext uri="{FF2B5EF4-FFF2-40B4-BE49-F238E27FC236}">
                <a16:creationId xmlns:a16="http://schemas.microsoft.com/office/drawing/2014/main" id="{9F023235-CDE3-DDC4-5002-743F8930081E}"/>
              </a:ext>
            </a:extLst>
          </p:cNvPr>
          <p:cNvPicPr>
            <a:picLocks noChangeAspect="1"/>
          </p:cNvPicPr>
          <p:nvPr/>
        </p:nvPicPr>
        <p:blipFill>
          <a:blip r:embed="rId2"/>
          <a:stretch>
            <a:fillRect/>
          </a:stretch>
        </p:blipFill>
        <p:spPr>
          <a:xfrm>
            <a:off x="350519" y="1546013"/>
            <a:ext cx="5583944" cy="4734865"/>
          </a:xfrm>
          <a:prstGeom prst="rect">
            <a:avLst/>
          </a:prstGeom>
        </p:spPr>
        <p:style>
          <a:lnRef idx="2">
            <a:schemeClr val="accent1"/>
          </a:lnRef>
          <a:fillRef idx="1">
            <a:schemeClr val="lt1"/>
          </a:fillRef>
          <a:effectRef idx="0">
            <a:schemeClr val="accent1"/>
          </a:effectRef>
          <a:fontRef idx="minor">
            <a:schemeClr val="dk1"/>
          </a:fontRef>
        </p:style>
      </p:pic>
    </p:spTree>
    <p:extLst>
      <p:ext uri="{BB962C8B-B14F-4D97-AF65-F5344CB8AC3E}">
        <p14:creationId xmlns:p14="http://schemas.microsoft.com/office/powerpoint/2010/main" val="1667725097"/>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C18B5-0F88-2921-4BF8-4816F65598E7}"/>
            </a:ext>
          </a:extLst>
        </p:cNvPr>
        <p:cNvGrpSpPr/>
        <p:nvPr/>
      </p:nvGrpSpPr>
      <p:grpSpPr>
        <a:xfrm>
          <a:off x="0" y="0"/>
          <a:ext cx="0" cy="0"/>
          <a:chOff x="0" y="0"/>
          <a:chExt cx="0" cy="0"/>
        </a:xfrm>
      </p:grpSpPr>
      <p:sp>
        <p:nvSpPr>
          <p:cNvPr id="353" name="Content Placeholder 1">
            <a:extLst>
              <a:ext uri="{FF2B5EF4-FFF2-40B4-BE49-F238E27FC236}">
                <a16:creationId xmlns:a16="http://schemas.microsoft.com/office/drawing/2014/main" id="{BB67CA30-6B67-8FEE-BA46-358AEA071B54}"/>
              </a:ext>
            </a:extLst>
          </p:cNvPr>
          <p:cNvSpPr txBox="1">
            <a:spLocks noGrp="1"/>
          </p:cNvSpPr>
          <p:nvPr>
            <p:ph type="body" sz="half" idx="1"/>
          </p:nvPr>
        </p:nvSpPr>
        <p:spPr>
          <a:prstGeom prst="rect">
            <a:avLst/>
          </a:prstGeom>
        </p:spPr>
        <p:txBody>
          <a:bodyPr>
            <a:normAutofit/>
          </a:bodyPr>
          <a:lstStyle/>
          <a:p>
            <a:pPr lvl="0" algn="ctr"/>
            <a:r>
              <a:rPr lang="en-US" sz="2800" dirty="0"/>
              <a:t>Case Studies</a:t>
            </a:r>
          </a:p>
          <a:p>
            <a:pPr lvl="0" algn="ctr"/>
            <a:r>
              <a:rPr lang="en-US" sz="2800" dirty="0"/>
              <a:t>R1, R2 reference materials</a:t>
            </a:r>
          </a:p>
        </p:txBody>
      </p:sp>
    </p:spTree>
    <p:extLst>
      <p:ext uri="{BB962C8B-B14F-4D97-AF65-F5344CB8AC3E}">
        <p14:creationId xmlns:p14="http://schemas.microsoft.com/office/powerpoint/2010/main" val="1143911717"/>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5709A-C37D-780C-2E1C-4E2078713E19}"/>
            </a:ext>
          </a:extLst>
        </p:cNvPr>
        <p:cNvGrpSpPr/>
        <p:nvPr/>
      </p:nvGrpSpPr>
      <p:grpSpPr>
        <a:xfrm>
          <a:off x="0" y="0"/>
          <a:ext cx="0" cy="0"/>
          <a:chOff x="0" y="0"/>
          <a:chExt cx="0" cy="0"/>
        </a:xfrm>
      </p:grpSpPr>
      <p:sp>
        <p:nvSpPr>
          <p:cNvPr id="353" name="Content Placeholder 1">
            <a:extLst>
              <a:ext uri="{FF2B5EF4-FFF2-40B4-BE49-F238E27FC236}">
                <a16:creationId xmlns:a16="http://schemas.microsoft.com/office/drawing/2014/main" id="{F830CED0-286D-5385-1AD0-AF604802BA1F}"/>
              </a:ext>
            </a:extLst>
          </p:cNvPr>
          <p:cNvSpPr txBox="1">
            <a:spLocks noGrp="1"/>
          </p:cNvSpPr>
          <p:nvPr>
            <p:ph type="body" sz="half" idx="1"/>
          </p:nvPr>
        </p:nvSpPr>
        <p:spPr>
          <a:prstGeom prst="rect">
            <a:avLst/>
          </a:prstGeom>
        </p:spPr>
        <p:txBody>
          <a:bodyPr>
            <a:normAutofit/>
          </a:bodyPr>
          <a:lstStyle/>
          <a:p>
            <a:pPr lvl="0" algn="ctr"/>
            <a:r>
              <a:rPr lang="en-US" sz="2800" dirty="0"/>
              <a:t>Apollo Case Study</a:t>
            </a:r>
          </a:p>
          <a:p>
            <a:pPr lvl="0" algn="ctr"/>
            <a:r>
              <a:rPr lang="en-US" sz="2800" dirty="0"/>
              <a:t>R1</a:t>
            </a:r>
          </a:p>
        </p:txBody>
      </p:sp>
    </p:spTree>
    <p:extLst>
      <p:ext uri="{BB962C8B-B14F-4D97-AF65-F5344CB8AC3E}">
        <p14:creationId xmlns:p14="http://schemas.microsoft.com/office/powerpoint/2010/main" val="328871543"/>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9FEAE-3F81-E42B-7D1A-01347988EA47}"/>
            </a:ext>
          </a:extLst>
        </p:cNvPr>
        <p:cNvGrpSpPr/>
        <p:nvPr/>
      </p:nvGrpSpPr>
      <p:grpSpPr>
        <a:xfrm>
          <a:off x="0" y="0"/>
          <a:ext cx="0" cy="0"/>
          <a:chOff x="0" y="0"/>
          <a:chExt cx="0" cy="0"/>
        </a:xfrm>
      </p:grpSpPr>
      <p:sp>
        <p:nvSpPr>
          <p:cNvPr id="355" name="Content Placeholder 2">
            <a:extLst>
              <a:ext uri="{FF2B5EF4-FFF2-40B4-BE49-F238E27FC236}">
                <a16:creationId xmlns:a16="http://schemas.microsoft.com/office/drawing/2014/main" id="{BC3E7A3B-F06A-D840-9FC7-D153BEFBCB00}"/>
              </a:ext>
            </a:extLst>
          </p:cNvPr>
          <p:cNvSpPr txBox="1">
            <a:spLocks noGrp="1"/>
          </p:cNvSpPr>
          <p:nvPr>
            <p:ph type="body" idx="1"/>
          </p:nvPr>
        </p:nvSpPr>
        <p:spPr>
          <a:xfrm>
            <a:off x="149524" y="1295400"/>
            <a:ext cx="8229600" cy="4525964"/>
          </a:xfrm>
          <a:prstGeom prst="rect">
            <a:avLst/>
          </a:prstGeom>
        </p:spPr>
        <p:txBody>
          <a:bodyPr anchor="t">
            <a:normAutofit fontScale="85000" lnSpcReduction="20000"/>
          </a:bodyPr>
          <a:lstStyle>
            <a:lvl1pPr indent="-342900">
              <a:lnSpc>
                <a:spcPct val="100000"/>
              </a:lnSpc>
              <a:spcBef>
                <a:spcPts val="500"/>
              </a:spcBef>
              <a:defRPr sz="2400" b="0" spc="0">
                <a:latin typeface="Open Sans"/>
                <a:ea typeface="Open Sans"/>
                <a:cs typeface="Open Sans"/>
                <a:sym typeface="Open Sans"/>
              </a:defRPr>
            </a:lvl1pPr>
          </a:lstStyle>
          <a:p>
            <a:pPr algn="just">
              <a:lnSpc>
                <a:spcPct val="150000"/>
              </a:lnSpc>
              <a:spcBef>
                <a:spcPct val="0"/>
              </a:spcBef>
              <a:buFont typeface="Arial" panose="020B0604020202020204" pitchFamily="34" charset="0"/>
              <a:buChar char="•"/>
            </a:pPr>
            <a:r>
              <a:rPr lang="en-US" altLang="en-US" sz="2000" dirty="0"/>
              <a:t>The Apollo case study examines how machine learning models are integrated into a large-scale, real-world autonomous driving system.</a:t>
            </a:r>
          </a:p>
          <a:p>
            <a:pPr algn="just">
              <a:lnSpc>
                <a:spcPct val="150000"/>
              </a:lnSpc>
              <a:spcBef>
                <a:spcPct val="0"/>
              </a:spcBef>
              <a:buFont typeface="Arial" panose="020B0604020202020204" pitchFamily="34" charset="0"/>
              <a:buChar char="•"/>
            </a:pPr>
            <a:r>
              <a:rPr lang="en-US" altLang="en-US" sz="2000" dirty="0"/>
              <a:t>It highlights that such systems are not built around a single model, but involve multiple interacting ML components combined with traditional software logic. </a:t>
            </a:r>
          </a:p>
          <a:p>
            <a:pPr algn="just">
              <a:lnSpc>
                <a:spcPct val="150000"/>
              </a:lnSpc>
              <a:spcBef>
                <a:spcPct val="0"/>
              </a:spcBef>
              <a:buFont typeface="Arial" panose="020B0604020202020204" pitchFamily="34" charset="0"/>
              <a:buChar char="•"/>
            </a:pPr>
            <a:r>
              <a:rPr lang="en-US" altLang="en-US" sz="2000" dirty="0"/>
              <a:t>Apollo, developed by Baidu, serves as a representative example of a complex ML-powered system used in industry. </a:t>
            </a:r>
          </a:p>
          <a:p>
            <a:pPr algn="just">
              <a:lnSpc>
                <a:spcPct val="150000"/>
              </a:lnSpc>
              <a:spcBef>
                <a:spcPct val="0"/>
              </a:spcBef>
              <a:buFont typeface="Arial" panose="020B0604020202020204" pitchFamily="34" charset="0"/>
              <a:buChar char="•"/>
            </a:pPr>
            <a:r>
              <a:rPr lang="en-US" altLang="en-US" sz="2000" dirty="0"/>
              <a:t>The study explores how different models handle tasks like perception, detection, and trajectory prediction. </a:t>
            </a:r>
          </a:p>
          <a:p>
            <a:pPr algn="just">
              <a:lnSpc>
                <a:spcPct val="150000"/>
              </a:lnSpc>
              <a:spcBef>
                <a:spcPct val="0"/>
              </a:spcBef>
              <a:buFont typeface="Arial" panose="020B0604020202020204" pitchFamily="34" charset="0"/>
              <a:buChar char="•"/>
            </a:pPr>
            <a:r>
              <a:rPr lang="en-US" altLang="en-US" sz="2000" dirty="0"/>
              <a:t>It also shows how these models interact with each other and with code to make real-time driving decisions. </a:t>
            </a:r>
          </a:p>
          <a:p>
            <a:pPr algn="just">
              <a:lnSpc>
                <a:spcPct val="150000"/>
              </a:lnSpc>
              <a:spcBef>
                <a:spcPct val="0"/>
              </a:spcBef>
              <a:buFont typeface="Arial" panose="020B0604020202020204" pitchFamily="34" charset="0"/>
              <a:buChar char="•"/>
            </a:pPr>
            <a:r>
              <a:rPr lang="en-US" altLang="en-US" sz="2000" dirty="0"/>
              <a:t>A key focus is on the challenges of integrating, testing, and maintaining such systems.</a:t>
            </a:r>
            <a:endParaRPr lang="en-IN" altLang="en-US" sz="2000" dirty="0">
              <a:latin typeface="Microsoft Sans Serif" panose="020B0604020202020204" pitchFamily="34" charset="0"/>
              <a:cs typeface="Microsoft Sans Serif" panose="020B0604020202020204" pitchFamily="34" charset="0"/>
            </a:endParaRPr>
          </a:p>
        </p:txBody>
      </p:sp>
      <p:sp>
        <p:nvSpPr>
          <p:cNvPr id="356" name="Content Placeholder 4">
            <a:extLst>
              <a:ext uri="{FF2B5EF4-FFF2-40B4-BE49-F238E27FC236}">
                <a16:creationId xmlns:a16="http://schemas.microsoft.com/office/drawing/2014/main" id="{D0D19FEE-359B-F709-C5A9-2B8C994C0818}"/>
              </a:ext>
            </a:extLst>
          </p:cNvPr>
          <p:cNvSpPr txBox="1"/>
          <p:nvPr/>
        </p:nvSpPr>
        <p:spPr>
          <a:xfrm>
            <a:off x="350519" y="152400"/>
            <a:ext cx="6233162"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dirty="0"/>
              <a:t>Apollo Case Study</a:t>
            </a:r>
          </a:p>
        </p:txBody>
      </p:sp>
    </p:spTree>
    <p:extLst>
      <p:ext uri="{BB962C8B-B14F-4D97-AF65-F5344CB8AC3E}">
        <p14:creationId xmlns:p14="http://schemas.microsoft.com/office/powerpoint/2010/main" val="3257777240"/>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E363F-75F0-2503-27F9-8F9C18761053}"/>
            </a:ext>
          </a:extLst>
        </p:cNvPr>
        <p:cNvGrpSpPr/>
        <p:nvPr/>
      </p:nvGrpSpPr>
      <p:grpSpPr>
        <a:xfrm>
          <a:off x="0" y="0"/>
          <a:ext cx="0" cy="0"/>
          <a:chOff x="0" y="0"/>
          <a:chExt cx="0" cy="0"/>
        </a:xfrm>
      </p:grpSpPr>
      <p:sp>
        <p:nvSpPr>
          <p:cNvPr id="356" name="Content Placeholder 4">
            <a:extLst>
              <a:ext uri="{FF2B5EF4-FFF2-40B4-BE49-F238E27FC236}">
                <a16:creationId xmlns:a16="http://schemas.microsoft.com/office/drawing/2014/main" id="{3623723D-D3B3-1DF1-F429-C2FAF17958A5}"/>
              </a:ext>
            </a:extLst>
          </p:cNvPr>
          <p:cNvSpPr txBox="1"/>
          <p:nvPr/>
        </p:nvSpPr>
        <p:spPr>
          <a:xfrm>
            <a:off x="350519" y="152400"/>
            <a:ext cx="6233162"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dirty="0"/>
              <a:t>Apollo ML Model</a:t>
            </a:r>
          </a:p>
        </p:txBody>
      </p:sp>
      <p:sp>
        <p:nvSpPr>
          <p:cNvPr id="4" name="Google Shape;631;p67">
            <a:extLst>
              <a:ext uri="{FF2B5EF4-FFF2-40B4-BE49-F238E27FC236}">
                <a16:creationId xmlns:a16="http://schemas.microsoft.com/office/drawing/2014/main" id="{759F6923-28C9-06E7-5BF1-1F2E86C15876}"/>
              </a:ext>
            </a:extLst>
          </p:cNvPr>
          <p:cNvSpPr/>
          <p:nvPr/>
        </p:nvSpPr>
        <p:spPr>
          <a:xfrm>
            <a:off x="147637" y="1393203"/>
            <a:ext cx="8848725" cy="3629025"/>
          </a:xfrm>
          <a:prstGeom prst="rect">
            <a:avLst/>
          </a:prstGeom>
          <a:blipFill rotWithShape="1">
            <a:blip r:embed="rId2">
              <a:alphaModFix/>
            </a:blip>
            <a:stretch>
              <a:fillRect/>
            </a:stretch>
          </a:blip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chemeClr val="dk1"/>
              </a:solidFill>
              <a:latin typeface="Calibri"/>
              <a:ea typeface="Calibri"/>
              <a:cs typeface="Calibri"/>
              <a:sym typeface="Calibri"/>
            </a:endParaRPr>
          </a:p>
        </p:txBody>
      </p:sp>
      <p:sp>
        <p:nvSpPr>
          <p:cNvPr id="3" name="TextBox 2">
            <a:extLst>
              <a:ext uri="{FF2B5EF4-FFF2-40B4-BE49-F238E27FC236}">
                <a16:creationId xmlns:a16="http://schemas.microsoft.com/office/drawing/2014/main" id="{4EF15DB9-9A19-70D2-2866-FE0FE0C8D8C7}"/>
              </a:ext>
            </a:extLst>
          </p:cNvPr>
          <p:cNvSpPr txBox="1"/>
          <p:nvPr/>
        </p:nvSpPr>
        <p:spPr>
          <a:xfrm>
            <a:off x="2438165" y="5718581"/>
            <a:ext cx="5284033"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dirty="0"/>
              <a:t>https://www.youtube.com/watch?v=W5mEAmdkt7E</a:t>
            </a:r>
          </a:p>
        </p:txBody>
      </p:sp>
      <p:pic>
        <p:nvPicPr>
          <p:cNvPr id="5" name="object 4">
            <a:extLst>
              <a:ext uri="{FF2B5EF4-FFF2-40B4-BE49-F238E27FC236}">
                <a16:creationId xmlns:a16="http://schemas.microsoft.com/office/drawing/2014/main" id="{9A95695C-E79B-166D-849C-4ECE3D6CB00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0519" y="5376103"/>
            <a:ext cx="1957966" cy="1054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243DEFD1-C9D6-629B-68E5-B0D6F421A11B}"/>
              </a:ext>
            </a:extLst>
          </p:cNvPr>
          <p:cNvSpPr txBox="1"/>
          <p:nvPr/>
        </p:nvSpPr>
        <p:spPr>
          <a:xfrm>
            <a:off x="6102129" y="4785357"/>
            <a:ext cx="2968052" cy="307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400" b="1" i="0" u="none" strike="noStrike" cap="none" spc="0" normalizeH="0" baseline="0" dirty="0">
                <a:ln>
                  <a:noFill/>
                </a:ln>
                <a:solidFill>
                  <a:srgbClr val="000000"/>
                </a:solidFill>
                <a:effectLst/>
                <a:uFillTx/>
                <a:latin typeface="Microsoft Sans Serif" panose="020B0604020202020204" pitchFamily="34" charset="0"/>
                <a:ea typeface="Microsoft Sans Serif" panose="020B0604020202020204" pitchFamily="34" charset="0"/>
                <a:cs typeface="Microsoft Sans Serif" panose="020B0604020202020204" pitchFamily="34" charset="0"/>
                <a:sym typeface="Calibri"/>
              </a:rPr>
              <a:t>Green boxes represent ML Models</a:t>
            </a:r>
          </a:p>
        </p:txBody>
      </p:sp>
    </p:spTree>
    <p:extLst>
      <p:ext uri="{BB962C8B-B14F-4D97-AF65-F5344CB8AC3E}">
        <p14:creationId xmlns:p14="http://schemas.microsoft.com/office/powerpoint/2010/main" val="780278892"/>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C8760-C830-ED50-79F1-275567F8A454}"/>
            </a:ext>
          </a:extLst>
        </p:cNvPr>
        <p:cNvGrpSpPr/>
        <p:nvPr/>
      </p:nvGrpSpPr>
      <p:grpSpPr>
        <a:xfrm>
          <a:off x="0" y="0"/>
          <a:ext cx="0" cy="0"/>
          <a:chOff x="0" y="0"/>
          <a:chExt cx="0" cy="0"/>
        </a:xfrm>
      </p:grpSpPr>
      <p:sp>
        <p:nvSpPr>
          <p:cNvPr id="356" name="Content Placeholder 4">
            <a:extLst>
              <a:ext uri="{FF2B5EF4-FFF2-40B4-BE49-F238E27FC236}">
                <a16:creationId xmlns:a16="http://schemas.microsoft.com/office/drawing/2014/main" id="{1D504B7D-6731-ED43-97D8-BCB43AAB1BC9}"/>
              </a:ext>
            </a:extLst>
          </p:cNvPr>
          <p:cNvSpPr txBox="1"/>
          <p:nvPr/>
        </p:nvSpPr>
        <p:spPr>
          <a:xfrm>
            <a:off x="350519" y="152400"/>
            <a:ext cx="6233162"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sz="3200" dirty="0"/>
              <a:t>Overview of ML Models in Apollo</a:t>
            </a:r>
          </a:p>
        </p:txBody>
      </p:sp>
      <p:pic>
        <p:nvPicPr>
          <p:cNvPr id="4" name="Picture 3">
            <a:extLst>
              <a:ext uri="{FF2B5EF4-FFF2-40B4-BE49-F238E27FC236}">
                <a16:creationId xmlns:a16="http://schemas.microsoft.com/office/drawing/2014/main" id="{452678BF-8506-6836-EA42-A4EAF20AA227}"/>
              </a:ext>
            </a:extLst>
          </p:cNvPr>
          <p:cNvPicPr>
            <a:picLocks noChangeAspect="1"/>
          </p:cNvPicPr>
          <p:nvPr/>
        </p:nvPicPr>
        <p:blipFill>
          <a:blip r:embed="rId2"/>
          <a:stretch>
            <a:fillRect/>
          </a:stretch>
        </p:blipFill>
        <p:spPr>
          <a:xfrm>
            <a:off x="134911" y="1400331"/>
            <a:ext cx="7285220" cy="5089549"/>
          </a:xfrm>
          <a:prstGeom prst="rect">
            <a:avLst/>
          </a:prstGeom>
        </p:spPr>
      </p:pic>
    </p:spTree>
    <p:extLst>
      <p:ext uri="{BB962C8B-B14F-4D97-AF65-F5344CB8AC3E}">
        <p14:creationId xmlns:p14="http://schemas.microsoft.com/office/powerpoint/2010/main" val="3776811664"/>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1A85CE-065A-D70C-B585-460D349384E6}"/>
            </a:ext>
          </a:extLst>
        </p:cNvPr>
        <p:cNvGrpSpPr/>
        <p:nvPr/>
      </p:nvGrpSpPr>
      <p:grpSpPr>
        <a:xfrm>
          <a:off x="0" y="0"/>
          <a:ext cx="0" cy="0"/>
          <a:chOff x="0" y="0"/>
          <a:chExt cx="0" cy="0"/>
        </a:xfrm>
      </p:grpSpPr>
      <p:sp>
        <p:nvSpPr>
          <p:cNvPr id="356" name="Content Placeholder 4">
            <a:extLst>
              <a:ext uri="{FF2B5EF4-FFF2-40B4-BE49-F238E27FC236}">
                <a16:creationId xmlns:a16="http://schemas.microsoft.com/office/drawing/2014/main" id="{3614B042-FE12-FCA9-C837-57502CFEC21B}"/>
              </a:ext>
            </a:extLst>
          </p:cNvPr>
          <p:cNvSpPr txBox="1"/>
          <p:nvPr/>
        </p:nvSpPr>
        <p:spPr>
          <a:xfrm>
            <a:off x="350519" y="152400"/>
            <a:ext cx="6233162"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dirty="0"/>
              <a:t>Apollo ML Model</a:t>
            </a:r>
          </a:p>
        </p:txBody>
      </p:sp>
      <p:sp>
        <p:nvSpPr>
          <p:cNvPr id="2" name="Google Shape;638;p179">
            <a:extLst>
              <a:ext uri="{FF2B5EF4-FFF2-40B4-BE49-F238E27FC236}">
                <a16:creationId xmlns:a16="http://schemas.microsoft.com/office/drawing/2014/main" id="{E5F3FA00-458A-80C6-ED8B-EFCF35671BD3}"/>
              </a:ext>
            </a:extLst>
          </p:cNvPr>
          <p:cNvSpPr/>
          <p:nvPr/>
        </p:nvSpPr>
        <p:spPr>
          <a:xfrm>
            <a:off x="217568" y="1735123"/>
            <a:ext cx="8708863" cy="3707042"/>
          </a:xfrm>
          <a:prstGeom prst="rect">
            <a:avLst/>
          </a:prstGeom>
          <a:blipFill rotWithShape="1">
            <a:blip r:embed="rId2">
              <a:alphaModFix/>
            </a:blip>
            <a:stretch>
              <a:fillRect/>
            </a:stretch>
          </a:blip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005248307"/>
      </p:ext>
    </p:ext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A4F0A-566A-7190-FF9A-F21C2A65227E}"/>
            </a:ext>
          </a:extLst>
        </p:cNvPr>
        <p:cNvGrpSpPr/>
        <p:nvPr/>
      </p:nvGrpSpPr>
      <p:grpSpPr>
        <a:xfrm>
          <a:off x="0" y="0"/>
          <a:ext cx="0" cy="0"/>
          <a:chOff x="0" y="0"/>
          <a:chExt cx="0" cy="0"/>
        </a:xfrm>
      </p:grpSpPr>
      <p:sp>
        <p:nvSpPr>
          <p:cNvPr id="355" name="Content Placeholder 2">
            <a:extLst>
              <a:ext uri="{FF2B5EF4-FFF2-40B4-BE49-F238E27FC236}">
                <a16:creationId xmlns:a16="http://schemas.microsoft.com/office/drawing/2014/main" id="{5600A356-DBB0-C3E0-8019-78A46FF8EAFD}"/>
              </a:ext>
            </a:extLst>
          </p:cNvPr>
          <p:cNvSpPr txBox="1">
            <a:spLocks noGrp="1"/>
          </p:cNvSpPr>
          <p:nvPr>
            <p:ph type="body" idx="1"/>
          </p:nvPr>
        </p:nvSpPr>
        <p:spPr>
          <a:xfrm>
            <a:off x="149523" y="1295400"/>
            <a:ext cx="8643957" cy="4525964"/>
          </a:xfrm>
          <a:prstGeom prst="rect">
            <a:avLst/>
          </a:prstGeom>
        </p:spPr>
        <p:txBody>
          <a:bodyPr anchor="t">
            <a:normAutofit fontScale="77500" lnSpcReduction="20000"/>
          </a:bodyPr>
          <a:lstStyle>
            <a:lvl1pPr indent="-342900">
              <a:lnSpc>
                <a:spcPct val="100000"/>
              </a:lnSpc>
              <a:spcBef>
                <a:spcPts val="500"/>
              </a:spcBef>
              <a:defRPr sz="2400" b="0" spc="0">
                <a:latin typeface="Open Sans"/>
                <a:ea typeface="Open Sans"/>
                <a:cs typeface="Open Sans"/>
                <a:sym typeface="Open Sans"/>
              </a:defRPr>
            </a:lvl1pPr>
          </a:lstStyle>
          <a:p>
            <a:pPr marL="457200" indent="-457200" algn="just">
              <a:lnSpc>
                <a:spcPct val="150000"/>
              </a:lnSpc>
              <a:spcBef>
                <a:spcPct val="0"/>
              </a:spcBef>
              <a:buFont typeface="+mj-lt"/>
              <a:buAutoNum type="arabicPeriod"/>
            </a:pPr>
            <a:r>
              <a:rPr lang="en-US" altLang="en-US" sz="2000" b="1" dirty="0"/>
              <a:t>ML systems ≠ standalone models:</a:t>
            </a:r>
            <a:r>
              <a:rPr lang="en-US" altLang="en-US" sz="2000" dirty="0"/>
              <a:t> Real-world systems integrate multiple ML models + traditional code logic working together.</a:t>
            </a:r>
          </a:p>
          <a:p>
            <a:pPr marL="457200" indent="-457200" algn="just">
              <a:lnSpc>
                <a:spcPct val="150000"/>
              </a:lnSpc>
              <a:spcBef>
                <a:spcPct val="0"/>
              </a:spcBef>
              <a:buFont typeface="+mj-lt"/>
              <a:buAutoNum type="arabicPeriod"/>
            </a:pPr>
            <a:r>
              <a:rPr lang="en-US" altLang="en-US" sz="2000" b="1" dirty="0"/>
              <a:t>Large-scale ML architecture:</a:t>
            </a:r>
            <a:r>
              <a:rPr lang="en-US" altLang="en-US" sz="2000" dirty="0"/>
              <a:t> Apollo uses 28 ML models across perception, detection, and prediction tasks.</a:t>
            </a:r>
          </a:p>
          <a:p>
            <a:pPr marL="457200" indent="-457200" algn="just">
              <a:lnSpc>
                <a:spcPct val="150000"/>
              </a:lnSpc>
              <a:spcBef>
                <a:spcPct val="0"/>
              </a:spcBef>
              <a:buFont typeface="+mj-lt"/>
              <a:buAutoNum type="arabicPeriod"/>
            </a:pPr>
            <a:r>
              <a:rPr lang="en-US" altLang="en-US" sz="2000" b="1" dirty="0"/>
              <a:t>Model interaction is complex:</a:t>
            </a:r>
            <a:r>
              <a:rPr lang="en-US" altLang="en-US" sz="2000" dirty="0"/>
              <a:t> Outputs of one model often become inputs to others, creating strong interdependencies.</a:t>
            </a:r>
          </a:p>
          <a:p>
            <a:pPr marL="457200" indent="-457200" algn="just">
              <a:lnSpc>
                <a:spcPct val="150000"/>
              </a:lnSpc>
              <a:spcBef>
                <a:spcPct val="0"/>
              </a:spcBef>
              <a:buFont typeface="+mj-lt"/>
              <a:buAutoNum type="arabicPeriod"/>
            </a:pPr>
            <a:r>
              <a:rPr lang="en-US" altLang="en-US" sz="2000" b="1" dirty="0"/>
              <a:t>Code plays a critical role:</a:t>
            </a:r>
            <a:r>
              <a:rPr lang="en-US" altLang="en-US" sz="2000" dirty="0"/>
              <a:t> Handles pre-processing, post-processing, validation, and decision logic around ML outputs.</a:t>
            </a:r>
          </a:p>
          <a:p>
            <a:pPr marL="457200" indent="-457200" algn="just">
              <a:lnSpc>
                <a:spcPct val="150000"/>
              </a:lnSpc>
              <a:spcBef>
                <a:spcPct val="0"/>
              </a:spcBef>
              <a:buFont typeface="+mj-lt"/>
              <a:buAutoNum type="arabicPeriod"/>
            </a:pPr>
            <a:r>
              <a:rPr lang="en-US" altLang="en-US" sz="2000" b="1" dirty="0"/>
              <a:t>Multi-source data fusion:</a:t>
            </a:r>
            <a:r>
              <a:rPr lang="en-US" altLang="en-US" sz="2000" dirty="0"/>
              <a:t> Combines inputs from camera, LiDAR, radar, and maps to improve accuracy.</a:t>
            </a:r>
          </a:p>
          <a:p>
            <a:pPr marL="457200" indent="-457200" algn="just">
              <a:lnSpc>
                <a:spcPct val="150000"/>
              </a:lnSpc>
              <a:spcBef>
                <a:spcPct val="0"/>
              </a:spcBef>
              <a:buFont typeface="+mj-lt"/>
              <a:buAutoNum type="arabicPeriod"/>
            </a:pPr>
            <a:r>
              <a:rPr lang="en-US" altLang="en-US" sz="2000" b="1" dirty="0"/>
              <a:t>Scenario-based model selection:</a:t>
            </a:r>
            <a:r>
              <a:rPr lang="en-US" altLang="en-US" sz="2000" dirty="0"/>
              <a:t> Different ML models are used dynamically based on context (e.g., traffic, road conditions).</a:t>
            </a:r>
          </a:p>
          <a:p>
            <a:pPr marL="457200" indent="-457200" algn="just">
              <a:lnSpc>
                <a:spcPct val="150000"/>
              </a:lnSpc>
              <a:spcBef>
                <a:spcPct val="0"/>
              </a:spcBef>
              <a:buFont typeface="+mj-lt"/>
              <a:buAutoNum type="arabicPeriod"/>
            </a:pPr>
            <a:r>
              <a:rPr lang="en-US" altLang="en-US" sz="2000" b="1" dirty="0"/>
              <a:t>Key SE4ML challenges:</a:t>
            </a:r>
            <a:r>
              <a:rPr lang="en-US" altLang="en-US" sz="2000" dirty="0"/>
              <a:t> High system complexity, low test coverage, model maintenance issues, and need for system-level quality assurance.</a:t>
            </a:r>
            <a:endParaRPr lang="en-IN" altLang="en-US" sz="2000" dirty="0">
              <a:latin typeface="Microsoft Sans Serif" panose="020B0604020202020204" pitchFamily="34" charset="0"/>
              <a:cs typeface="Microsoft Sans Serif" panose="020B0604020202020204" pitchFamily="34" charset="0"/>
            </a:endParaRPr>
          </a:p>
        </p:txBody>
      </p:sp>
      <p:sp>
        <p:nvSpPr>
          <p:cNvPr id="356" name="Content Placeholder 4">
            <a:extLst>
              <a:ext uri="{FF2B5EF4-FFF2-40B4-BE49-F238E27FC236}">
                <a16:creationId xmlns:a16="http://schemas.microsoft.com/office/drawing/2014/main" id="{A5799665-961C-7CEF-B22A-BB9FF793F4A8}"/>
              </a:ext>
            </a:extLst>
          </p:cNvPr>
          <p:cNvSpPr txBox="1"/>
          <p:nvPr/>
        </p:nvSpPr>
        <p:spPr>
          <a:xfrm>
            <a:off x="350519" y="152400"/>
            <a:ext cx="6233162"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fontScale="77500" lnSpcReduction="20000"/>
          </a:bodyPr>
          <a:lstStyle>
            <a:lvl1pPr marL="342900" indent="-685800">
              <a:lnSpc>
                <a:spcPts val="3600"/>
              </a:lnSpc>
              <a:defRPr sz="3600" b="1" spc="-200">
                <a:latin typeface="+mj-lt"/>
                <a:ea typeface="+mj-ea"/>
                <a:cs typeface="+mj-cs"/>
                <a:sym typeface="Arial"/>
              </a:defRPr>
            </a:lvl1pPr>
          </a:lstStyle>
          <a:p>
            <a:r>
              <a:rPr lang="en-US" dirty="0"/>
              <a:t>Apollo Case Study</a:t>
            </a:r>
          </a:p>
          <a:p>
            <a:r>
              <a:rPr lang="en-US" dirty="0"/>
              <a:t>[Integration of ML in Complex Systems]</a:t>
            </a:r>
          </a:p>
        </p:txBody>
      </p:sp>
    </p:spTree>
    <p:extLst>
      <p:ext uri="{BB962C8B-B14F-4D97-AF65-F5344CB8AC3E}">
        <p14:creationId xmlns:p14="http://schemas.microsoft.com/office/powerpoint/2010/main" val="2014291959"/>
      </p:ext>
    </p:ext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19894-C742-92F3-863A-D6DC64FA9C84}"/>
            </a:ext>
          </a:extLst>
        </p:cNvPr>
        <p:cNvGrpSpPr/>
        <p:nvPr/>
      </p:nvGrpSpPr>
      <p:grpSpPr>
        <a:xfrm>
          <a:off x="0" y="0"/>
          <a:ext cx="0" cy="0"/>
          <a:chOff x="0" y="0"/>
          <a:chExt cx="0" cy="0"/>
        </a:xfrm>
      </p:grpSpPr>
      <p:sp>
        <p:nvSpPr>
          <p:cNvPr id="353" name="Content Placeholder 1">
            <a:extLst>
              <a:ext uri="{FF2B5EF4-FFF2-40B4-BE49-F238E27FC236}">
                <a16:creationId xmlns:a16="http://schemas.microsoft.com/office/drawing/2014/main" id="{13370FA0-76FA-A746-436E-9593EF3D3664}"/>
              </a:ext>
            </a:extLst>
          </p:cNvPr>
          <p:cNvSpPr txBox="1">
            <a:spLocks noGrp="1"/>
          </p:cNvSpPr>
          <p:nvPr>
            <p:ph type="body" sz="half" idx="1"/>
          </p:nvPr>
        </p:nvSpPr>
        <p:spPr>
          <a:prstGeom prst="rect">
            <a:avLst/>
          </a:prstGeom>
        </p:spPr>
        <p:txBody>
          <a:bodyPr>
            <a:normAutofit/>
          </a:bodyPr>
          <a:lstStyle/>
          <a:p>
            <a:pPr lvl="0" algn="ctr"/>
            <a:r>
              <a:rPr lang="en-US" sz="2800" dirty="0"/>
              <a:t>Microsoft </a:t>
            </a:r>
            <a:r>
              <a:rPr lang="en-US" sz="2800"/>
              <a:t>Case Study [Self Study]</a:t>
            </a:r>
            <a:endParaRPr lang="en-US" sz="2800" dirty="0"/>
          </a:p>
          <a:p>
            <a:pPr lvl="0" algn="ctr"/>
            <a:r>
              <a:rPr lang="en-US" sz="2800" dirty="0"/>
              <a:t>R2</a:t>
            </a:r>
          </a:p>
        </p:txBody>
      </p:sp>
    </p:spTree>
    <p:extLst>
      <p:ext uri="{BB962C8B-B14F-4D97-AF65-F5344CB8AC3E}">
        <p14:creationId xmlns:p14="http://schemas.microsoft.com/office/powerpoint/2010/main" val="485692445"/>
      </p:ext>
    </p:ext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AF565-D39C-BAC9-EF91-1482975C5A5D}"/>
            </a:ext>
          </a:extLst>
        </p:cNvPr>
        <p:cNvGrpSpPr/>
        <p:nvPr/>
      </p:nvGrpSpPr>
      <p:grpSpPr>
        <a:xfrm>
          <a:off x="0" y="0"/>
          <a:ext cx="0" cy="0"/>
          <a:chOff x="0" y="0"/>
          <a:chExt cx="0" cy="0"/>
        </a:xfrm>
      </p:grpSpPr>
      <p:sp>
        <p:nvSpPr>
          <p:cNvPr id="355" name="Content Placeholder 2">
            <a:extLst>
              <a:ext uri="{FF2B5EF4-FFF2-40B4-BE49-F238E27FC236}">
                <a16:creationId xmlns:a16="http://schemas.microsoft.com/office/drawing/2014/main" id="{E2C349A9-2378-DB54-9838-1FE5EA6DEE94}"/>
              </a:ext>
            </a:extLst>
          </p:cNvPr>
          <p:cNvSpPr txBox="1">
            <a:spLocks noGrp="1"/>
          </p:cNvSpPr>
          <p:nvPr>
            <p:ph type="body" idx="1"/>
          </p:nvPr>
        </p:nvSpPr>
        <p:spPr>
          <a:xfrm>
            <a:off x="166776" y="1450675"/>
            <a:ext cx="8229600" cy="4525964"/>
          </a:xfrm>
          <a:prstGeom prst="rect">
            <a:avLst/>
          </a:prstGeom>
        </p:spPr>
        <p:txBody>
          <a:bodyPr anchor="t">
            <a:normAutofit/>
          </a:bodyPr>
          <a:lstStyle>
            <a:lvl1pPr indent="-342900">
              <a:lnSpc>
                <a:spcPct val="100000"/>
              </a:lnSpc>
              <a:spcBef>
                <a:spcPts val="500"/>
              </a:spcBef>
              <a:defRPr sz="2400" b="0" spc="0">
                <a:latin typeface="Open Sans"/>
                <a:ea typeface="Open Sans"/>
                <a:cs typeface="Open Sans"/>
                <a:sym typeface="Open Sans"/>
              </a:defRPr>
            </a:lvl1pPr>
          </a:lstStyle>
          <a:p>
            <a:pPr algn="just">
              <a:lnSpc>
                <a:spcPct val="150000"/>
              </a:lnSpc>
              <a:spcBef>
                <a:spcPct val="0"/>
              </a:spcBef>
              <a:buFont typeface="Arial" panose="020B0604020202020204" pitchFamily="34" charset="0"/>
              <a:buChar char="•"/>
            </a:pPr>
            <a:r>
              <a:rPr lang="en-US" altLang="en-US" sz="2000" dirty="0"/>
              <a:t>Studies show real-world software teams at Microsoft build AI/ML-based systems using adapted engineering practices.</a:t>
            </a:r>
          </a:p>
          <a:p>
            <a:pPr algn="just">
              <a:lnSpc>
                <a:spcPct val="150000"/>
              </a:lnSpc>
              <a:spcBef>
                <a:spcPct val="0"/>
              </a:spcBef>
              <a:buFont typeface="Arial" panose="020B0604020202020204" pitchFamily="34" charset="0"/>
              <a:buChar char="•"/>
            </a:pPr>
            <a:r>
              <a:rPr lang="en-US" altLang="en-US" sz="2000" dirty="0"/>
              <a:t>Proposes a 9-stage ML workflow covering data, model development, deployment, and monitoring.</a:t>
            </a:r>
          </a:p>
          <a:p>
            <a:pPr algn="just">
              <a:lnSpc>
                <a:spcPct val="150000"/>
              </a:lnSpc>
              <a:spcBef>
                <a:spcPct val="0"/>
              </a:spcBef>
              <a:buFont typeface="Arial" panose="020B0604020202020204" pitchFamily="34" charset="0"/>
              <a:buChar char="•"/>
            </a:pPr>
            <a:r>
              <a:rPr lang="en-US" altLang="en-US" sz="2000" dirty="0"/>
              <a:t>Highlights that ML development is highly iterative with multiple feedback loops, unlike traditional linear workflows.</a:t>
            </a:r>
          </a:p>
          <a:p>
            <a:pPr algn="just">
              <a:lnSpc>
                <a:spcPct val="150000"/>
              </a:lnSpc>
              <a:spcBef>
                <a:spcPct val="0"/>
              </a:spcBef>
              <a:buFont typeface="Arial" panose="020B0604020202020204" pitchFamily="34" charset="0"/>
              <a:buChar char="•"/>
            </a:pPr>
            <a:r>
              <a:rPr lang="en-US" altLang="en-US" sz="2000" dirty="0"/>
              <a:t>Identifies data as the central component, with challenges in data collection, cleaning, labeling, and versioning.</a:t>
            </a:r>
          </a:p>
        </p:txBody>
      </p:sp>
      <p:sp>
        <p:nvSpPr>
          <p:cNvPr id="356" name="Content Placeholder 4">
            <a:extLst>
              <a:ext uri="{FF2B5EF4-FFF2-40B4-BE49-F238E27FC236}">
                <a16:creationId xmlns:a16="http://schemas.microsoft.com/office/drawing/2014/main" id="{5B3F2024-C3C2-66CF-706B-2320D3F66DBC}"/>
              </a:ext>
            </a:extLst>
          </p:cNvPr>
          <p:cNvSpPr txBox="1"/>
          <p:nvPr/>
        </p:nvSpPr>
        <p:spPr>
          <a:xfrm>
            <a:off x="350519" y="152400"/>
            <a:ext cx="6233162"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dirty="0"/>
              <a:t>Microsoft Case Study</a:t>
            </a:r>
          </a:p>
        </p:txBody>
      </p:sp>
    </p:spTree>
    <p:extLst>
      <p:ext uri="{BB962C8B-B14F-4D97-AF65-F5344CB8AC3E}">
        <p14:creationId xmlns:p14="http://schemas.microsoft.com/office/powerpoint/2010/main" val="2765785217"/>
      </p:ext>
    </p:ext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1C4A2-503B-1702-61D0-59DD9E81D09F}"/>
            </a:ext>
          </a:extLst>
        </p:cNvPr>
        <p:cNvGrpSpPr/>
        <p:nvPr/>
      </p:nvGrpSpPr>
      <p:grpSpPr>
        <a:xfrm>
          <a:off x="0" y="0"/>
          <a:ext cx="0" cy="0"/>
          <a:chOff x="0" y="0"/>
          <a:chExt cx="0" cy="0"/>
        </a:xfrm>
      </p:grpSpPr>
      <p:sp>
        <p:nvSpPr>
          <p:cNvPr id="355" name="Content Placeholder 2">
            <a:extLst>
              <a:ext uri="{FF2B5EF4-FFF2-40B4-BE49-F238E27FC236}">
                <a16:creationId xmlns:a16="http://schemas.microsoft.com/office/drawing/2014/main" id="{AD576F8E-B212-6917-74D6-DBC0AF204C45}"/>
              </a:ext>
            </a:extLst>
          </p:cNvPr>
          <p:cNvSpPr txBox="1">
            <a:spLocks noGrp="1"/>
          </p:cNvSpPr>
          <p:nvPr>
            <p:ph type="body" idx="1"/>
          </p:nvPr>
        </p:nvSpPr>
        <p:spPr>
          <a:xfrm>
            <a:off x="166776" y="1450675"/>
            <a:ext cx="8229600" cy="4525964"/>
          </a:xfrm>
          <a:prstGeom prst="rect">
            <a:avLst/>
          </a:prstGeom>
        </p:spPr>
        <p:txBody>
          <a:bodyPr anchor="t">
            <a:normAutofit/>
          </a:bodyPr>
          <a:lstStyle>
            <a:lvl1pPr indent="-342900">
              <a:lnSpc>
                <a:spcPct val="100000"/>
              </a:lnSpc>
              <a:spcBef>
                <a:spcPts val="500"/>
              </a:spcBef>
              <a:defRPr sz="2400" b="0" spc="0">
                <a:latin typeface="Open Sans"/>
                <a:ea typeface="Open Sans"/>
                <a:cs typeface="Open Sans"/>
                <a:sym typeface="Open Sans"/>
              </a:defRPr>
            </a:lvl1pPr>
          </a:lstStyle>
          <a:p>
            <a:pPr algn="just">
              <a:lnSpc>
                <a:spcPct val="150000"/>
              </a:lnSpc>
              <a:spcBef>
                <a:spcPct val="0"/>
              </a:spcBef>
              <a:buFont typeface="Arial" panose="020B0604020202020204" pitchFamily="34" charset="0"/>
              <a:buChar char="•"/>
            </a:pPr>
            <a:r>
              <a:rPr lang="en-US" altLang="en-US" sz="2000" dirty="0"/>
              <a:t>Shows that ML systems require new roles (data scientists, ML engineers) alongside traditional developers.</a:t>
            </a:r>
          </a:p>
          <a:p>
            <a:pPr algn="just">
              <a:lnSpc>
                <a:spcPct val="150000"/>
              </a:lnSpc>
              <a:spcBef>
                <a:spcPct val="0"/>
              </a:spcBef>
              <a:buFont typeface="Arial" panose="020B0604020202020204" pitchFamily="34" charset="0"/>
              <a:buChar char="•"/>
            </a:pPr>
            <a:r>
              <a:rPr lang="en-US" altLang="en-US" sz="2000" dirty="0"/>
              <a:t>Emphasizes integration of ML workflows into Agile/DevOps practices for scalable development.</a:t>
            </a:r>
          </a:p>
          <a:p>
            <a:pPr algn="just">
              <a:lnSpc>
                <a:spcPct val="150000"/>
              </a:lnSpc>
              <a:spcBef>
                <a:spcPct val="0"/>
              </a:spcBef>
              <a:buFont typeface="Arial" panose="020B0604020202020204" pitchFamily="34" charset="0"/>
              <a:buChar char="•"/>
            </a:pPr>
            <a:r>
              <a:rPr lang="en-US" altLang="en-US" sz="2000" dirty="0"/>
              <a:t>Identifies key challenges: data management, model debugging, deployment, tooling, and system integration.</a:t>
            </a:r>
          </a:p>
          <a:p>
            <a:pPr algn="just">
              <a:lnSpc>
                <a:spcPct val="150000"/>
              </a:lnSpc>
              <a:spcBef>
                <a:spcPct val="0"/>
              </a:spcBef>
              <a:buFont typeface="Arial" panose="020B0604020202020204" pitchFamily="34" charset="0"/>
              <a:buChar char="•"/>
            </a:pPr>
            <a:r>
              <a:rPr lang="en-US" altLang="en-US" sz="2000" dirty="0"/>
              <a:t>Introduces a process maturity model to assess how effectively teams develop and manage ML systems.</a:t>
            </a:r>
            <a:endParaRPr lang="en-IN" altLang="en-US" sz="2000" dirty="0">
              <a:latin typeface="Microsoft Sans Serif" panose="020B0604020202020204" pitchFamily="34" charset="0"/>
              <a:cs typeface="Microsoft Sans Serif" panose="020B0604020202020204" pitchFamily="34" charset="0"/>
            </a:endParaRPr>
          </a:p>
        </p:txBody>
      </p:sp>
      <p:sp>
        <p:nvSpPr>
          <p:cNvPr id="356" name="Content Placeholder 4">
            <a:extLst>
              <a:ext uri="{FF2B5EF4-FFF2-40B4-BE49-F238E27FC236}">
                <a16:creationId xmlns:a16="http://schemas.microsoft.com/office/drawing/2014/main" id="{3ED98000-F8B8-045E-EA23-80007EB52991}"/>
              </a:ext>
            </a:extLst>
          </p:cNvPr>
          <p:cNvSpPr txBox="1"/>
          <p:nvPr/>
        </p:nvSpPr>
        <p:spPr>
          <a:xfrm>
            <a:off x="350519" y="152400"/>
            <a:ext cx="6233162"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dirty="0"/>
              <a:t>Microsoft Case Study</a:t>
            </a:r>
          </a:p>
        </p:txBody>
      </p:sp>
    </p:spTree>
    <p:extLst>
      <p:ext uri="{BB962C8B-B14F-4D97-AF65-F5344CB8AC3E}">
        <p14:creationId xmlns:p14="http://schemas.microsoft.com/office/powerpoint/2010/main" val="1686471455"/>
      </p:ext>
    </p:ext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FEC66-674B-51AE-FD29-93093AEE4032}"/>
            </a:ext>
          </a:extLst>
        </p:cNvPr>
        <p:cNvGrpSpPr/>
        <p:nvPr/>
      </p:nvGrpSpPr>
      <p:grpSpPr>
        <a:xfrm>
          <a:off x="0" y="0"/>
          <a:ext cx="0" cy="0"/>
          <a:chOff x="0" y="0"/>
          <a:chExt cx="0" cy="0"/>
        </a:xfrm>
      </p:grpSpPr>
      <p:sp>
        <p:nvSpPr>
          <p:cNvPr id="356" name="Content Placeholder 4">
            <a:extLst>
              <a:ext uri="{FF2B5EF4-FFF2-40B4-BE49-F238E27FC236}">
                <a16:creationId xmlns:a16="http://schemas.microsoft.com/office/drawing/2014/main" id="{217CF90E-1840-D014-453B-0121CC300DAB}"/>
              </a:ext>
            </a:extLst>
          </p:cNvPr>
          <p:cNvSpPr txBox="1"/>
          <p:nvPr/>
        </p:nvSpPr>
        <p:spPr>
          <a:xfrm>
            <a:off x="350519" y="152400"/>
            <a:ext cx="6233162"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dirty="0"/>
              <a:t>9 stages of ML Workflow</a:t>
            </a:r>
          </a:p>
        </p:txBody>
      </p:sp>
      <p:sp>
        <p:nvSpPr>
          <p:cNvPr id="7" name="TextBox 6">
            <a:extLst>
              <a:ext uri="{FF2B5EF4-FFF2-40B4-BE49-F238E27FC236}">
                <a16:creationId xmlns:a16="http://schemas.microsoft.com/office/drawing/2014/main" id="{CE7CEEEC-6936-9FBF-0B0B-C193D5B8D0AC}"/>
              </a:ext>
            </a:extLst>
          </p:cNvPr>
          <p:cNvSpPr txBox="1"/>
          <p:nvPr/>
        </p:nvSpPr>
        <p:spPr>
          <a:xfrm>
            <a:off x="16534" y="3073344"/>
            <a:ext cx="5004040" cy="3108543"/>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p>
            <a:pPr algn="just"/>
            <a:r>
              <a:rPr lang="en-US" sz="1400" b="1" dirty="0">
                <a:latin typeface="Microsoft Sans Serif" panose="020B0604020202020204" pitchFamily="34" charset="0"/>
                <a:ea typeface="Microsoft Sans Serif" panose="020B0604020202020204" pitchFamily="34" charset="0"/>
                <a:cs typeface="Microsoft Sans Serif" panose="020B0604020202020204" pitchFamily="34" charset="0"/>
              </a:rPr>
              <a:t>Model Requirements</a:t>
            </a:r>
            <a:r>
              <a:rPr lang="en-US" sz="1400" dirty="0">
                <a:latin typeface="Microsoft Sans Serif" panose="020B0604020202020204" pitchFamily="34" charset="0"/>
                <a:ea typeface="Microsoft Sans Serif" panose="020B0604020202020204" pitchFamily="34" charset="0"/>
                <a:cs typeface="Microsoft Sans Serif" panose="020B0604020202020204" pitchFamily="34" charset="0"/>
              </a:rPr>
              <a:t>: Designers decide which product features can be solved using ML and select appropriate model types for the specific problem.</a:t>
            </a:r>
          </a:p>
          <a:p>
            <a:pPr algn="just"/>
            <a:r>
              <a:rPr lang="en-US" sz="1400" b="1" dirty="0">
                <a:latin typeface="Microsoft Sans Serif" panose="020B0604020202020204" pitchFamily="34" charset="0"/>
                <a:ea typeface="Microsoft Sans Serif" panose="020B0604020202020204" pitchFamily="34" charset="0"/>
                <a:cs typeface="Microsoft Sans Serif" panose="020B0604020202020204" pitchFamily="34" charset="0"/>
              </a:rPr>
              <a:t>Data Collection:</a:t>
            </a:r>
            <a:r>
              <a:rPr lang="en-US" sz="1400" dirty="0">
                <a:latin typeface="Microsoft Sans Serif" panose="020B0604020202020204" pitchFamily="34" charset="0"/>
                <a:ea typeface="Microsoft Sans Serif" panose="020B0604020202020204" pitchFamily="34" charset="0"/>
                <a:cs typeface="Microsoft Sans Serif" panose="020B0604020202020204" pitchFamily="34" charset="0"/>
              </a:rPr>
              <a:t> Teams gather existing datasets or collect new data, often combining generic datasets with domain-specific data using transfer learning.</a:t>
            </a:r>
          </a:p>
          <a:p>
            <a:pPr algn="just"/>
            <a:r>
              <a:rPr lang="en-US" sz="1400" b="1" dirty="0">
                <a:latin typeface="Microsoft Sans Serif" panose="020B0604020202020204" pitchFamily="34" charset="0"/>
                <a:ea typeface="Microsoft Sans Serif" panose="020B0604020202020204" pitchFamily="34" charset="0"/>
                <a:cs typeface="Microsoft Sans Serif" panose="020B0604020202020204" pitchFamily="34" charset="0"/>
              </a:rPr>
              <a:t>Data Cleaning:</a:t>
            </a:r>
            <a:r>
              <a:rPr lang="en-US" sz="1400" dirty="0">
                <a:latin typeface="Microsoft Sans Serif" panose="020B0604020202020204" pitchFamily="34" charset="0"/>
                <a:ea typeface="Microsoft Sans Serif" panose="020B0604020202020204" pitchFamily="34" charset="0"/>
                <a:cs typeface="Microsoft Sans Serif" panose="020B0604020202020204" pitchFamily="34" charset="0"/>
              </a:rPr>
              <a:t> Noisy, inaccurate, or irrelevant data records are removed to improve data quality before training.</a:t>
            </a:r>
          </a:p>
          <a:p>
            <a:pPr algn="just"/>
            <a:r>
              <a:rPr lang="en-US" sz="1400" b="1" dirty="0">
                <a:latin typeface="Microsoft Sans Serif" panose="020B0604020202020204" pitchFamily="34" charset="0"/>
                <a:ea typeface="Microsoft Sans Serif" panose="020B0604020202020204" pitchFamily="34" charset="0"/>
                <a:cs typeface="Microsoft Sans Serif" panose="020B0604020202020204" pitchFamily="34" charset="0"/>
              </a:rPr>
              <a:t>Data Labeling:</a:t>
            </a:r>
            <a:r>
              <a:rPr lang="en-US" sz="1400" dirty="0">
                <a:latin typeface="Microsoft Sans Serif" panose="020B0604020202020204" pitchFamily="34" charset="0"/>
                <a:ea typeface="Microsoft Sans Serif" panose="020B0604020202020204" pitchFamily="34" charset="0"/>
                <a:cs typeface="Microsoft Sans Serif" panose="020B0604020202020204" pitchFamily="34" charset="0"/>
              </a:rPr>
              <a:t> Ground truth labels are assigned by engineers, domain experts, or crowd workers to enable supervised learning (or rewards for RL).</a:t>
            </a:r>
          </a:p>
          <a:p>
            <a:pPr algn="just"/>
            <a:r>
              <a:rPr lang="en-US" sz="1400" b="1" dirty="0">
                <a:latin typeface="Microsoft Sans Serif" panose="020B0604020202020204" pitchFamily="34" charset="0"/>
                <a:ea typeface="Microsoft Sans Serif" panose="020B0604020202020204" pitchFamily="34" charset="0"/>
                <a:cs typeface="Microsoft Sans Serif" panose="020B0604020202020204" pitchFamily="34" charset="0"/>
              </a:rPr>
              <a:t>Feature Engineering:</a:t>
            </a:r>
            <a:r>
              <a:rPr lang="en-US" sz="1400" dirty="0">
                <a:latin typeface="Microsoft Sans Serif" panose="020B0604020202020204" pitchFamily="34" charset="0"/>
                <a:ea typeface="Microsoft Sans Serif" panose="020B0604020202020204" pitchFamily="34" charset="0"/>
                <a:cs typeface="Microsoft Sans Serif" panose="020B0604020202020204" pitchFamily="34" charset="0"/>
              </a:rPr>
              <a:t> Relevant features are extracted and selected; in some models like CNNs, this step is implicit and merged with training.</a:t>
            </a:r>
          </a:p>
        </p:txBody>
      </p:sp>
      <p:sp>
        <p:nvSpPr>
          <p:cNvPr id="9" name="TextBox 8">
            <a:extLst>
              <a:ext uri="{FF2B5EF4-FFF2-40B4-BE49-F238E27FC236}">
                <a16:creationId xmlns:a16="http://schemas.microsoft.com/office/drawing/2014/main" id="{64846ECF-B5EA-1A57-BF7D-8DE561DED4FC}"/>
              </a:ext>
            </a:extLst>
          </p:cNvPr>
          <p:cNvSpPr txBox="1"/>
          <p:nvPr/>
        </p:nvSpPr>
        <p:spPr>
          <a:xfrm>
            <a:off x="5227607" y="3073344"/>
            <a:ext cx="3692105" cy="2677656"/>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p>
            <a:r>
              <a:rPr lang="en-US" sz="1400" b="1" dirty="0">
                <a:latin typeface="Microsoft Sans Serif" panose="020B0604020202020204" pitchFamily="34" charset="0"/>
                <a:ea typeface="Microsoft Sans Serif" panose="020B0604020202020204" pitchFamily="34" charset="0"/>
                <a:cs typeface="Microsoft Sans Serif" panose="020B0604020202020204" pitchFamily="34" charset="0"/>
              </a:rPr>
              <a:t>Model Training:</a:t>
            </a:r>
            <a:r>
              <a:rPr lang="en-US" sz="1400" dirty="0">
                <a:latin typeface="Microsoft Sans Serif" panose="020B0604020202020204" pitchFamily="34" charset="0"/>
                <a:ea typeface="Microsoft Sans Serif" panose="020B0604020202020204" pitchFamily="34" charset="0"/>
                <a:cs typeface="Microsoft Sans Serif" panose="020B0604020202020204" pitchFamily="34" charset="0"/>
              </a:rPr>
              <a:t> Models are trained and tuned using cleaned, labeled data and selected features.</a:t>
            </a:r>
          </a:p>
          <a:p>
            <a:r>
              <a:rPr lang="en-US" sz="1400" b="1" dirty="0">
                <a:latin typeface="Microsoft Sans Serif" panose="020B0604020202020204" pitchFamily="34" charset="0"/>
                <a:ea typeface="Microsoft Sans Serif" panose="020B0604020202020204" pitchFamily="34" charset="0"/>
                <a:cs typeface="Microsoft Sans Serif" panose="020B0604020202020204" pitchFamily="34" charset="0"/>
              </a:rPr>
              <a:t>Model Evaluation:</a:t>
            </a:r>
            <a:r>
              <a:rPr lang="en-US" sz="1400" dirty="0">
                <a:latin typeface="Microsoft Sans Serif" panose="020B0604020202020204" pitchFamily="34" charset="0"/>
                <a:ea typeface="Microsoft Sans Serif" panose="020B0604020202020204" pitchFamily="34" charset="0"/>
                <a:cs typeface="Microsoft Sans Serif" panose="020B0604020202020204" pitchFamily="34" charset="0"/>
              </a:rPr>
              <a:t> Models are evaluated using predefined metrics and, in critical cases, additional human validation.</a:t>
            </a:r>
          </a:p>
          <a:p>
            <a:r>
              <a:rPr lang="en-US" sz="1400" b="1" dirty="0">
                <a:latin typeface="Microsoft Sans Serif" panose="020B0604020202020204" pitchFamily="34" charset="0"/>
                <a:ea typeface="Microsoft Sans Serif" panose="020B0604020202020204" pitchFamily="34" charset="0"/>
                <a:cs typeface="Microsoft Sans Serif" panose="020B0604020202020204" pitchFamily="34" charset="0"/>
              </a:rPr>
              <a:t>Deployment:</a:t>
            </a:r>
            <a:r>
              <a:rPr lang="en-US" sz="1400" dirty="0">
                <a:latin typeface="Microsoft Sans Serif" panose="020B0604020202020204" pitchFamily="34" charset="0"/>
                <a:ea typeface="Microsoft Sans Serif" panose="020B0604020202020204" pitchFamily="34" charset="0"/>
                <a:cs typeface="Microsoft Sans Serif" panose="020B0604020202020204" pitchFamily="34" charset="0"/>
              </a:rPr>
              <a:t> The trained model’s inference code is integrated and deployed into the target application or system.</a:t>
            </a:r>
          </a:p>
          <a:p>
            <a:r>
              <a:rPr lang="en-US" sz="1400" b="1" dirty="0">
                <a:latin typeface="Microsoft Sans Serif" panose="020B0604020202020204" pitchFamily="34" charset="0"/>
                <a:ea typeface="Microsoft Sans Serif" panose="020B0604020202020204" pitchFamily="34" charset="0"/>
                <a:cs typeface="Microsoft Sans Serif" panose="020B0604020202020204" pitchFamily="34" charset="0"/>
              </a:rPr>
              <a:t>Monitoring:</a:t>
            </a:r>
            <a:r>
              <a:rPr lang="en-US" sz="1400" dirty="0">
                <a:latin typeface="Microsoft Sans Serif" panose="020B0604020202020204" pitchFamily="34" charset="0"/>
                <a:ea typeface="Microsoft Sans Serif" panose="020B0604020202020204" pitchFamily="34" charset="0"/>
                <a:cs typeface="Microsoft Sans Serif" panose="020B0604020202020204" pitchFamily="34" charset="0"/>
              </a:rPr>
              <a:t> The deployed model is continuously monitored in real-world settings to detect errors, drift, or performance issues.</a:t>
            </a:r>
          </a:p>
        </p:txBody>
      </p:sp>
      <p:pic>
        <p:nvPicPr>
          <p:cNvPr id="11" name="Picture 10">
            <a:extLst>
              <a:ext uri="{FF2B5EF4-FFF2-40B4-BE49-F238E27FC236}">
                <a16:creationId xmlns:a16="http://schemas.microsoft.com/office/drawing/2014/main" id="{F210B997-A623-AF4F-C11A-C784349451A9}"/>
              </a:ext>
            </a:extLst>
          </p:cNvPr>
          <p:cNvPicPr>
            <a:picLocks noChangeAspect="1"/>
          </p:cNvPicPr>
          <p:nvPr/>
        </p:nvPicPr>
        <p:blipFill>
          <a:blip r:embed="rId2"/>
          <a:stretch>
            <a:fillRect/>
          </a:stretch>
        </p:blipFill>
        <p:spPr>
          <a:xfrm>
            <a:off x="0" y="1490206"/>
            <a:ext cx="9144000" cy="1363795"/>
          </a:xfrm>
          <a:prstGeom prst="rect">
            <a:avLst/>
          </a:prstGeom>
        </p:spPr>
      </p:pic>
    </p:spTree>
    <p:extLst>
      <p:ext uri="{BB962C8B-B14F-4D97-AF65-F5344CB8AC3E}">
        <p14:creationId xmlns:p14="http://schemas.microsoft.com/office/powerpoint/2010/main" val="2937540583"/>
      </p:ext>
    </p:ext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5F039-1EDF-844A-7901-FB6102D88FD8}"/>
            </a:ext>
          </a:extLst>
        </p:cNvPr>
        <p:cNvGrpSpPr/>
        <p:nvPr/>
      </p:nvGrpSpPr>
      <p:grpSpPr>
        <a:xfrm>
          <a:off x="0" y="0"/>
          <a:ext cx="0" cy="0"/>
          <a:chOff x="0" y="0"/>
          <a:chExt cx="0" cy="0"/>
        </a:xfrm>
      </p:grpSpPr>
      <p:sp>
        <p:nvSpPr>
          <p:cNvPr id="355" name="Content Placeholder 2">
            <a:extLst>
              <a:ext uri="{FF2B5EF4-FFF2-40B4-BE49-F238E27FC236}">
                <a16:creationId xmlns:a16="http://schemas.microsoft.com/office/drawing/2014/main" id="{0EF15FA7-240A-A478-AE7D-6334AC80C6EB}"/>
              </a:ext>
            </a:extLst>
          </p:cNvPr>
          <p:cNvSpPr txBox="1">
            <a:spLocks noGrp="1"/>
          </p:cNvSpPr>
          <p:nvPr>
            <p:ph type="body" idx="1"/>
          </p:nvPr>
        </p:nvSpPr>
        <p:spPr>
          <a:xfrm>
            <a:off x="166776" y="1450675"/>
            <a:ext cx="8229600" cy="4525964"/>
          </a:xfrm>
          <a:prstGeom prst="rect">
            <a:avLst/>
          </a:prstGeom>
        </p:spPr>
        <p:txBody>
          <a:bodyPr anchor="t">
            <a:normAutofit fontScale="85000" lnSpcReduction="10000"/>
          </a:bodyPr>
          <a:lstStyle>
            <a:lvl1pPr indent="-342900">
              <a:lnSpc>
                <a:spcPct val="100000"/>
              </a:lnSpc>
              <a:spcBef>
                <a:spcPts val="500"/>
              </a:spcBef>
              <a:defRPr sz="2400" b="0" spc="0">
                <a:latin typeface="Open Sans"/>
                <a:ea typeface="Open Sans"/>
                <a:cs typeface="Open Sans"/>
                <a:sym typeface="Open Sans"/>
              </a:defRPr>
            </a:lvl1pPr>
          </a:lstStyle>
          <a:p>
            <a:pPr algn="just">
              <a:lnSpc>
                <a:spcPct val="150000"/>
              </a:lnSpc>
              <a:spcBef>
                <a:spcPct val="0"/>
              </a:spcBef>
              <a:buFont typeface="Arial" panose="020B0604020202020204" pitchFamily="34" charset="0"/>
              <a:buChar char="•"/>
            </a:pPr>
            <a:r>
              <a:rPr lang="en-US" altLang="en-US" sz="2000" b="1" dirty="0"/>
              <a:t>Integration with Agile/DevOps</a:t>
            </a:r>
            <a:r>
              <a:rPr lang="en-US" altLang="en-US" sz="2000" dirty="0"/>
              <a:t>: ML workflows are embedded into existing Agile and DevOps processes for continuous development and deployment.</a:t>
            </a:r>
          </a:p>
          <a:p>
            <a:pPr algn="just">
              <a:lnSpc>
                <a:spcPct val="150000"/>
              </a:lnSpc>
              <a:spcBef>
                <a:spcPct val="0"/>
              </a:spcBef>
              <a:buFont typeface="Arial" panose="020B0604020202020204" pitchFamily="34" charset="0"/>
              <a:buChar char="•"/>
            </a:pPr>
            <a:r>
              <a:rPr lang="en-US" altLang="en-US" sz="2000" b="1" dirty="0"/>
              <a:t>End-to-end ML pipelines</a:t>
            </a:r>
            <a:r>
              <a:rPr lang="en-US" altLang="en-US" sz="2000" dirty="0"/>
              <a:t>: Automated pipelines handle data, training, evaluation, and deployment as a unified engineering workflow.</a:t>
            </a:r>
          </a:p>
          <a:p>
            <a:pPr algn="just">
              <a:lnSpc>
                <a:spcPct val="150000"/>
              </a:lnSpc>
              <a:spcBef>
                <a:spcPct val="0"/>
              </a:spcBef>
              <a:buFont typeface="Arial" panose="020B0604020202020204" pitchFamily="34" charset="0"/>
              <a:buChar char="•"/>
            </a:pPr>
            <a:r>
              <a:rPr lang="en-US" altLang="en-US" sz="2000" b="1" dirty="0"/>
              <a:t>Data engineering as core SE activity</a:t>
            </a:r>
            <a:r>
              <a:rPr lang="en-US" altLang="en-US" sz="2000" dirty="0"/>
              <a:t>: Data collection, cleaning, versioning, and management become central engineering tasks (not just preprocessing).</a:t>
            </a:r>
          </a:p>
          <a:p>
            <a:pPr algn="just">
              <a:lnSpc>
                <a:spcPct val="150000"/>
              </a:lnSpc>
              <a:spcBef>
                <a:spcPct val="0"/>
              </a:spcBef>
              <a:buFont typeface="Arial" panose="020B0604020202020204" pitchFamily="34" charset="0"/>
              <a:buChar char="•"/>
            </a:pPr>
            <a:r>
              <a:rPr lang="en-US" altLang="en-US" sz="2000" b="1" dirty="0"/>
              <a:t>Experimentation-driven development</a:t>
            </a:r>
            <a:r>
              <a:rPr lang="en-US" altLang="en-US" sz="2000" dirty="0"/>
              <a:t>: Iterative experimentation (models, features, data) replaces traditional deterministic development cycles.</a:t>
            </a:r>
          </a:p>
          <a:p>
            <a:pPr algn="just">
              <a:lnSpc>
                <a:spcPct val="150000"/>
              </a:lnSpc>
              <a:spcBef>
                <a:spcPct val="0"/>
              </a:spcBef>
              <a:buFont typeface="Arial" panose="020B0604020202020204" pitchFamily="34" charset="0"/>
              <a:buChar char="•"/>
            </a:pPr>
            <a:r>
              <a:rPr lang="en-US" altLang="en-US" sz="2000" b="1" dirty="0"/>
              <a:t>Versioning beyond code</a:t>
            </a:r>
            <a:r>
              <a:rPr lang="en-US" altLang="en-US" sz="2000" dirty="0"/>
              <a:t>: Both models and datasets are versioned and tracked with provenance metadata.</a:t>
            </a:r>
          </a:p>
        </p:txBody>
      </p:sp>
      <p:sp>
        <p:nvSpPr>
          <p:cNvPr id="356" name="Content Placeholder 4">
            <a:extLst>
              <a:ext uri="{FF2B5EF4-FFF2-40B4-BE49-F238E27FC236}">
                <a16:creationId xmlns:a16="http://schemas.microsoft.com/office/drawing/2014/main" id="{83F2DC60-4E49-4BD9-426E-A2546308159F}"/>
              </a:ext>
            </a:extLst>
          </p:cNvPr>
          <p:cNvSpPr txBox="1"/>
          <p:nvPr/>
        </p:nvSpPr>
        <p:spPr>
          <a:xfrm>
            <a:off x="350519" y="152400"/>
            <a:ext cx="6233162"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dirty="0"/>
              <a:t>Adoption of Software Engineering Practices in ML</a:t>
            </a:r>
          </a:p>
        </p:txBody>
      </p:sp>
    </p:spTree>
    <p:extLst>
      <p:ext uri="{BB962C8B-B14F-4D97-AF65-F5344CB8AC3E}">
        <p14:creationId xmlns:p14="http://schemas.microsoft.com/office/powerpoint/2010/main" val="2280204971"/>
      </p:ext>
    </p:extLst>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30878-DB70-D128-37E4-2DE91D709EF6}"/>
            </a:ext>
          </a:extLst>
        </p:cNvPr>
        <p:cNvGrpSpPr/>
        <p:nvPr/>
      </p:nvGrpSpPr>
      <p:grpSpPr>
        <a:xfrm>
          <a:off x="0" y="0"/>
          <a:ext cx="0" cy="0"/>
          <a:chOff x="0" y="0"/>
          <a:chExt cx="0" cy="0"/>
        </a:xfrm>
      </p:grpSpPr>
      <p:sp>
        <p:nvSpPr>
          <p:cNvPr id="355" name="Content Placeholder 2">
            <a:extLst>
              <a:ext uri="{FF2B5EF4-FFF2-40B4-BE49-F238E27FC236}">
                <a16:creationId xmlns:a16="http://schemas.microsoft.com/office/drawing/2014/main" id="{DB506BF0-A897-4B8E-4E6E-30FD6215A37F}"/>
              </a:ext>
            </a:extLst>
          </p:cNvPr>
          <p:cNvSpPr txBox="1">
            <a:spLocks noGrp="1"/>
          </p:cNvSpPr>
          <p:nvPr>
            <p:ph type="body" idx="1"/>
          </p:nvPr>
        </p:nvSpPr>
        <p:spPr>
          <a:xfrm>
            <a:off x="166776" y="1450675"/>
            <a:ext cx="8229600" cy="4525964"/>
          </a:xfrm>
          <a:prstGeom prst="rect">
            <a:avLst/>
          </a:prstGeom>
        </p:spPr>
        <p:txBody>
          <a:bodyPr anchor="t">
            <a:normAutofit fontScale="85000" lnSpcReduction="10000"/>
          </a:bodyPr>
          <a:lstStyle>
            <a:lvl1pPr indent="-342900">
              <a:lnSpc>
                <a:spcPct val="100000"/>
              </a:lnSpc>
              <a:spcBef>
                <a:spcPts val="500"/>
              </a:spcBef>
              <a:defRPr sz="2400" b="0" spc="0">
                <a:latin typeface="Open Sans"/>
                <a:ea typeface="Open Sans"/>
                <a:cs typeface="Open Sans"/>
                <a:sym typeface="Open Sans"/>
              </a:defRPr>
            </a:lvl1pPr>
          </a:lstStyle>
          <a:p>
            <a:pPr algn="just">
              <a:lnSpc>
                <a:spcPct val="150000"/>
              </a:lnSpc>
              <a:spcBef>
                <a:spcPct val="0"/>
              </a:spcBef>
              <a:buFont typeface="Arial" panose="020B0604020202020204" pitchFamily="34" charset="0"/>
              <a:buChar char="•"/>
            </a:pPr>
            <a:r>
              <a:rPr lang="en-US" altLang="en-US" sz="2000" b="1" dirty="0"/>
              <a:t>Continuous evaluation &amp; monitoring</a:t>
            </a:r>
            <a:r>
              <a:rPr lang="en-US" altLang="en-US" sz="2000" dirty="0"/>
              <a:t>: Models are continuously evaluated using metrics, real-world feedback, and human-in-the-loop validation.</a:t>
            </a:r>
          </a:p>
          <a:p>
            <a:pPr algn="just">
              <a:lnSpc>
                <a:spcPct val="150000"/>
              </a:lnSpc>
              <a:spcBef>
                <a:spcPct val="0"/>
              </a:spcBef>
              <a:buFont typeface="Arial" panose="020B0604020202020204" pitchFamily="34" charset="0"/>
              <a:buChar char="•"/>
            </a:pPr>
            <a:r>
              <a:rPr lang="en-US" altLang="en-US" sz="2000" b="1" dirty="0"/>
              <a:t>Model debugging &amp; interpretability</a:t>
            </a:r>
            <a:r>
              <a:rPr lang="en-US" altLang="en-US" sz="2000" dirty="0"/>
              <a:t>: SE practices extend to debugging model behavior, requiring explainability and visualization tools.</a:t>
            </a:r>
          </a:p>
          <a:p>
            <a:pPr algn="just">
              <a:lnSpc>
                <a:spcPct val="150000"/>
              </a:lnSpc>
              <a:spcBef>
                <a:spcPct val="0"/>
              </a:spcBef>
              <a:buFont typeface="Arial" panose="020B0604020202020204" pitchFamily="34" charset="0"/>
              <a:buChar char="•"/>
            </a:pPr>
            <a:r>
              <a:rPr lang="en-US" altLang="en-US" sz="2000" b="1" dirty="0"/>
              <a:t>Cross-functional teams</a:t>
            </a:r>
            <a:r>
              <a:rPr lang="en-US" altLang="en-US" sz="2000" dirty="0"/>
              <a:t>: Inclusion of data scientists, ML engineers, and domain experts alongside traditional developers.</a:t>
            </a:r>
          </a:p>
          <a:p>
            <a:pPr algn="just">
              <a:lnSpc>
                <a:spcPct val="150000"/>
              </a:lnSpc>
              <a:spcBef>
                <a:spcPct val="0"/>
              </a:spcBef>
              <a:buFont typeface="Arial" panose="020B0604020202020204" pitchFamily="34" charset="0"/>
              <a:buChar char="•"/>
            </a:pPr>
            <a:r>
              <a:rPr lang="en-US" altLang="en-US" sz="2000" b="1" dirty="0"/>
              <a:t>Handling system-level complexity</a:t>
            </a:r>
            <a:r>
              <a:rPr lang="en-US" altLang="en-US" sz="2000" dirty="0"/>
              <a:t>: ML components are tightly coupled (“entangled”), requiring system-level testing and integration strategies.</a:t>
            </a:r>
          </a:p>
          <a:p>
            <a:pPr algn="just">
              <a:lnSpc>
                <a:spcPct val="150000"/>
              </a:lnSpc>
              <a:spcBef>
                <a:spcPct val="0"/>
              </a:spcBef>
              <a:buFont typeface="Arial" panose="020B0604020202020204" pitchFamily="34" charset="0"/>
              <a:buChar char="•"/>
            </a:pPr>
            <a:r>
              <a:rPr lang="en-US" altLang="en-US" sz="2000" b="1" dirty="0"/>
              <a:t>Process maturity for ML</a:t>
            </a:r>
            <a:r>
              <a:rPr lang="en-US" altLang="en-US" sz="2000" dirty="0"/>
              <a:t>: Adoption of maturity models (similar to CMM) to assess automation, consistency, and continuous improvement in ML workflows.</a:t>
            </a:r>
            <a:endParaRPr lang="en-IN" altLang="en-US" sz="2000" dirty="0">
              <a:latin typeface="Microsoft Sans Serif" panose="020B0604020202020204" pitchFamily="34" charset="0"/>
              <a:cs typeface="Microsoft Sans Serif" panose="020B0604020202020204" pitchFamily="34" charset="0"/>
            </a:endParaRPr>
          </a:p>
        </p:txBody>
      </p:sp>
      <p:sp>
        <p:nvSpPr>
          <p:cNvPr id="356" name="Content Placeholder 4">
            <a:extLst>
              <a:ext uri="{FF2B5EF4-FFF2-40B4-BE49-F238E27FC236}">
                <a16:creationId xmlns:a16="http://schemas.microsoft.com/office/drawing/2014/main" id="{05419D44-F9E9-CF85-5AB0-C6DE46609A7C}"/>
              </a:ext>
            </a:extLst>
          </p:cNvPr>
          <p:cNvSpPr txBox="1"/>
          <p:nvPr/>
        </p:nvSpPr>
        <p:spPr>
          <a:xfrm>
            <a:off x="350519" y="152400"/>
            <a:ext cx="6233162" cy="114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dirty="0"/>
              <a:t>Adoption of Software Engineering Practices in ML</a:t>
            </a:r>
          </a:p>
        </p:txBody>
      </p:sp>
    </p:spTree>
    <p:extLst>
      <p:ext uri="{BB962C8B-B14F-4D97-AF65-F5344CB8AC3E}">
        <p14:creationId xmlns:p14="http://schemas.microsoft.com/office/powerpoint/2010/main" val="2821247013"/>
      </p:ext>
    </p:extLst>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B218B-4008-1CAD-C722-54E1B8CBE9E1}"/>
            </a:ext>
          </a:extLst>
        </p:cNvPr>
        <p:cNvGrpSpPr/>
        <p:nvPr/>
      </p:nvGrpSpPr>
      <p:grpSpPr>
        <a:xfrm>
          <a:off x="0" y="0"/>
          <a:ext cx="0" cy="0"/>
          <a:chOff x="0" y="0"/>
          <a:chExt cx="0" cy="0"/>
        </a:xfrm>
      </p:grpSpPr>
      <p:pic>
        <p:nvPicPr>
          <p:cNvPr id="2050" name="Picture 2" descr="Thank You Stock Photos, Images and ...">
            <a:extLst>
              <a:ext uri="{FF2B5EF4-FFF2-40B4-BE49-F238E27FC236}">
                <a16:creationId xmlns:a16="http://schemas.microsoft.com/office/drawing/2014/main" id="{2501F4FB-E29C-180C-483D-7E20CE1EEC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9605" y="2396631"/>
            <a:ext cx="4206146" cy="26698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0117678"/>
      </p:ext>
    </p:extLst>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Arial"/>
        <a:ea typeface="Arial"/>
        <a:cs typeface="Arial"/>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Arial"/>
        <a:ea typeface="Arial"/>
        <a:cs typeface="Arial"/>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1781</TotalTime>
  <Words>1891</Words>
  <Application>Microsoft Office PowerPoint</Application>
  <PresentationFormat>On-screen Show (4:3)</PresentationFormat>
  <Paragraphs>185</Paragraphs>
  <Slides>49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49</vt:i4>
      </vt:variant>
    </vt:vector>
  </HeadingPairs>
  <TitlesOfParts>
    <vt:vector size="54" baseType="lpstr">
      <vt:lpstr>Arial</vt:lpstr>
      <vt:lpstr>Calibri</vt:lpstr>
      <vt:lpstr>Lato</vt:lpstr>
      <vt:lpstr>Microsoft Sans Serif</vt:lpstr>
      <vt:lpstr>Office Theme</vt:lpstr>
      <vt:lpstr>Software Engineering for Machine Learning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BITS Pilani presentation</dc:title>
  <dc:creator>Rohit WILP</dc:creator>
  <cp:lastModifiedBy>Shreyas Suresh Rao .</cp:lastModifiedBy>
  <cp:revision>146</cp:revision>
  <dcterms:modified xsi:type="dcterms:W3CDTF">2026-04-30T09:42:12Z</dcterms:modified>
</cp:coreProperties>
</file>